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34" r:id="rId1"/>
  </p:sldMasterIdLst>
  <p:notesMasterIdLst>
    <p:notesMasterId r:id="rId38"/>
  </p:notesMasterIdLst>
  <p:sldIdLst>
    <p:sldId id="256" r:id="rId2"/>
    <p:sldId id="257" r:id="rId3"/>
    <p:sldId id="258" r:id="rId4"/>
    <p:sldId id="297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33"/>
    <a:srgbClr val="CC0000"/>
    <a:srgbClr val="777777"/>
    <a:srgbClr val="FF3300"/>
    <a:srgbClr val="000066"/>
    <a:srgbClr val="800000"/>
    <a:srgbClr val="FFCC99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9" autoAdjust="0"/>
    <p:restoredTop sz="69757" autoAdjust="0"/>
  </p:normalViewPr>
  <p:slideViewPr>
    <p:cSldViewPr>
      <p:cViewPr>
        <p:scale>
          <a:sx n="70" d="100"/>
          <a:sy n="70" d="100"/>
        </p:scale>
        <p:origin x="2448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9311C5C0-D2B9-4A94-B817-258D77A68D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14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9EF8CB-6017-4EFD-A5E1-48FCA0609694}" type="slidenum">
              <a:rPr lang="en-US"/>
              <a:pPr/>
              <a:t>2</a:t>
            </a:fld>
            <a:endParaRPr lang="en-US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17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38B69E-E9A5-44D7-B3DC-1F206E9B56FA}" type="slidenum">
              <a:rPr lang="en-US"/>
              <a:pPr/>
              <a:t>3</a:t>
            </a:fld>
            <a:endParaRPr lang="en-US"/>
          </a:p>
        </p:txBody>
      </p:sp>
      <p:sp>
        <p:nvSpPr>
          <p:cNvPr id="555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1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38B69E-E9A5-44D7-B3DC-1F206E9B56FA}" type="slidenum">
              <a:rPr lang="en-US"/>
              <a:pPr/>
              <a:t>4</a:t>
            </a:fld>
            <a:endParaRPr lang="en-US"/>
          </a:p>
        </p:txBody>
      </p:sp>
      <p:sp>
        <p:nvSpPr>
          <p:cNvPr id="555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16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3D3895-2A56-407B-AA37-8CA7BA6550BC}" type="slidenum">
              <a:rPr lang="en-US"/>
              <a:pPr/>
              <a:t>5</a:t>
            </a:fld>
            <a:endParaRPr lang="en-US"/>
          </a:p>
        </p:txBody>
      </p:sp>
      <p:sp>
        <p:nvSpPr>
          <p:cNvPr id="626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7F653-6A61-4762-BDEB-8418F2076AC1}" type="slidenum">
              <a:rPr lang="en-US"/>
              <a:pPr/>
              <a:t>6</a:t>
            </a:fld>
            <a:endParaRPr lang="en-US"/>
          </a:p>
        </p:txBody>
      </p:sp>
      <p:sp>
        <p:nvSpPr>
          <p:cNvPr id="557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74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4151C7-C50F-4B90-B19E-72A5DFCEA3BF}" type="slidenum">
              <a:rPr lang="en-US"/>
              <a:pPr/>
              <a:t>7</a:t>
            </a:fld>
            <a:endParaRPr lang="en-US"/>
          </a:p>
        </p:txBody>
      </p:sp>
      <p:sp>
        <p:nvSpPr>
          <p:cNvPr id="56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27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C6F87E-B1DE-4575-8FE5-F63A46672BDA}" type="slidenum">
              <a:rPr lang="en-US"/>
              <a:pPr/>
              <a:t>8</a:t>
            </a:fld>
            <a:endParaRPr lang="en-US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017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7A58DE-9975-48C5-A7C5-193D75652BFC}" type="slidenum">
              <a:rPr lang="en-US"/>
              <a:pPr/>
              <a:t>9</a:t>
            </a:fld>
            <a:endParaRPr lang="en-US"/>
          </a:p>
        </p:txBody>
      </p:sp>
      <p:sp>
        <p:nvSpPr>
          <p:cNvPr id="56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91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8D46A5-9C1F-40FD-AC94-994066878D09}" type="slidenum">
              <a:rPr lang="en-US"/>
              <a:pPr/>
              <a:t>10</a:t>
            </a:fld>
            <a:endParaRPr lang="en-US"/>
          </a:p>
        </p:txBody>
      </p:sp>
      <p:sp>
        <p:nvSpPr>
          <p:cNvPr id="569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47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43A55A-CEE3-40E6-902D-4F2129C2D0E3}" type="slidenum">
              <a:rPr lang="en-US"/>
              <a:pPr/>
              <a:t>11</a:t>
            </a:fld>
            <a:endParaRPr lang="en-US"/>
          </a:p>
        </p:txBody>
      </p:sp>
      <p:sp>
        <p:nvSpPr>
          <p:cNvPr id="571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Kết quả sẽ loại bỏ các bộ trùng nhau.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75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5AC60E-1324-478C-B646-3F7B9E407A6C}" type="slidenum">
              <a:rPr lang="en-US"/>
              <a:pPr/>
              <a:t>12</a:t>
            </a:fld>
            <a:endParaRPr lang="en-US"/>
          </a:p>
        </p:txBody>
      </p:sp>
      <p:sp>
        <p:nvSpPr>
          <p:cNvPr id="57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Kết quả sẽ loại bỏ các bộ trùng nhau.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2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35C03E-9B99-4AE6-AE11-B27A06AA2DD1}" type="slidenum">
              <a:rPr lang="en-US"/>
              <a:pPr/>
              <a:t>13</a:t>
            </a:fld>
            <a:endParaRPr lang="en-US"/>
          </a:p>
        </p:txBody>
      </p:sp>
      <p:sp>
        <p:nvSpPr>
          <p:cNvPr id="57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816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D69704-31DE-46B7-8958-2ADD5726CC73}" type="slidenum">
              <a:rPr lang="en-US"/>
              <a:pPr/>
              <a:t>14</a:t>
            </a:fld>
            <a:endParaRPr lang="en-US"/>
          </a:p>
        </p:txBody>
      </p:sp>
      <p:sp>
        <p:nvSpPr>
          <p:cNvPr id="624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15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0112A7-CA65-4E9D-BE18-49B93D9EC80C}" type="slidenum">
              <a:rPr lang="en-US"/>
              <a:pPr/>
              <a:t>15</a:t>
            </a:fld>
            <a:endParaRPr lang="en-US"/>
          </a:p>
        </p:txBody>
      </p:sp>
      <p:sp>
        <p:nvSpPr>
          <p:cNvPr id="577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05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7921C5-47C7-4175-9433-FE838BC40404}" type="slidenum">
              <a:rPr lang="en-US"/>
              <a:pPr/>
              <a:t>16</a:t>
            </a:fld>
            <a:endParaRPr lang="en-US"/>
          </a:p>
        </p:txBody>
      </p:sp>
      <p:sp>
        <p:nvSpPr>
          <p:cNvPr id="58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82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D63E6E-5B5A-41CE-9DB2-8A88B1273FB4}" type="slidenum">
              <a:rPr lang="en-US"/>
              <a:pPr/>
              <a:t>17</a:t>
            </a:fld>
            <a:endParaRPr lang="en-US"/>
          </a:p>
        </p:txBody>
      </p:sp>
      <p:sp>
        <p:nvSpPr>
          <p:cNvPr id="559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665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02E6AA-7ACF-4747-A1BF-2F14BBA18994}" type="slidenum">
              <a:rPr lang="en-US"/>
              <a:pPr/>
              <a:t>18</a:t>
            </a:fld>
            <a:endParaRPr lang="en-US"/>
          </a:p>
        </p:txBody>
      </p:sp>
      <p:sp>
        <p:nvSpPr>
          <p:cNvPr id="587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01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4FB8C0-BBE4-4C1D-B507-05BEFD23FF00}" type="slidenum">
              <a:rPr lang="en-US"/>
              <a:pPr/>
              <a:t>19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6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AC0BF5-84C8-4A30-9E3F-A500659E22EA}" type="slidenum">
              <a:rPr lang="en-US"/>
              <a:pPr/>
              <a:t>20</a:t>
            </a:fld>
            <a:endParaRPr lang="en-US"/>
          </a:p>
        </p:txBody>
      </p:sp>
      <p:sp>
        <p:nvSpPr>
          <p:cNvPr id="593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80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7A1E35-4648-4AC3-BFCB-1C8DF595D386}" type="slidenum">
              <a:rPr lang="en-US"/>
              <a:pPr/>
              <a:t>21</a:t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248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6171A9-9CDA-4C8D-9E4C-040D257CF8A3}" type="slidenum">
              <a:rPr lang="en-US"/>
              <a:pPr/>
              <a:t>22</a:t>
            </a:fld>
            <a:endParaRPr lang="en-US"/>
          </a:p>
        </p:txBody>
      </p:sp>
      <p:sp>
        <p:nvSpPr>
          <p:cNvPr id="59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6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2CFEFB-0C84-4431-9359-4548C2FAF761}" type="slidenum">
              <a:rPr lang="en-US"/>
              <a:pPr/>
              <a:t>23</a:t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835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6ABEAD-114D-4E8E-97F1-8722688D2F11}" type="slidenum">
              <a:rPr lang="en-US"/>
              <a:pPr/>
              <a:t>24</a:t>
            </a:fld>
            <a:endParaRPr lang="en-US"/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102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431AC2-2484-4661-B02A-00D21A900AE0}" type="slidenum">
              <a:rPr lang="en-US"/>
              <a:pPr/>
              <a:t>25</a:t>
            </a:fld>
            <a:endParaRPr lang="en-US"/>
          </a:p>
        </p:txBody>
      </p:sp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60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8D2C8A-9965-4FB3-9210-89AA4E978EAF}" type="slidenum">
              <a:rPr lang="en-US"/>
              <a:pPr/>
              <a:t>26</a:t>
            </a:fld>
            <a:endParaRPr lang="en-US"/>
          </a:p>
        </p:txBody>
      </p:sp>
      <p:sp>
        <p:nvSpPr>
          <p:cNvPr id="608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8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745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975E34-3DF6-4088-959C-5934BF5F88DB}" type="slidenum">
              <a:rPr lang="en-US"/>
              <a:pPr/>
              <a:t>27</a:t>
            </a:fld>
            <a:endParaRPr lang="en-US"/>
          </a:p>
        </p:txBody>
      </p:sp>
      <p:sp>
        <p:nvSpPr>
          <p:cNvPr id="610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456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92DA47-2445-4554-90DE-212FA46B2FA7}" type="slidenum">
              <a:rPr lang="en-US"/>
              <a:pPr/>
              <a:t>28</a:t>
            </a:fld>
            <a:endParaRPr lang="en-US"/>
          </a:p>
        </p:txBody>
      </p:sp>
      <p:sp>
        <p:nvSpPr>
          <p:cNvPr id="612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2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895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189B91-B6C1-4817-8C8E-E50B4E275070}" type="slidenum">
              <a:rPr lang="en-US"/>
              <a:pPr/>
              <a:t>29</a:t>
            </a:fld>
            <a:endParaRPr lang="en-US"/>
          </a:p>
        </p:txBody>
      </p:sp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046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19D6B0-E9A5-4091-A5F3-E8933032F00A}" type="slidenum">
              <a:rPr lang="en-US"/>
              <a:pPr/>
              <a:t>30</a:t>
            </a:fld>
            <a:endParaRPr lang="en-US"/>
          </a:p>
        </p:txBody>
      </p:sp>
      <p:sp>
        <p:nvSpPr>
          <p:cNvPr id="618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8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314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BD7173-30D0-4FF4-8C8B-5A2A7381C286}" type="slidenum">
              <a:rPr lang="en-US"/>
              <a:pPr/>
              <a:t>31</a:t>
            </a:fld>
            <a:endParaRPr lang="en-US"/>
          </a:p>
        </p:txBody>
      </p:sp>
      <p:sp>
        <p:nvSpPr>
          <p:cNvPr id="630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0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89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FBE0F1-BFDB-45ED-A136-595FC4E4E1F7}" type="slidenum">
              <a:rPr lang="en-US"/>
              <a:pPr/>
              <a:t>32</a:t>
            </a:fld>
            <a:endParaRPr lang="en-US"/>
          </a:p>
        </p:txBody>
      </p:sp>
      <p:sp>
        <p:nvSpPr>
          <p:cNvPr id="620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0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845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2AA1F4-9D31-4347-BA55-C921C5470877}" type="slidenum">
              <a:rPr lang="en-US"/>
              <a:pPr/>
              <a:t>33</a:t>
            </a:fld>
            <a:endParaRPr lang="en-US"/>
          </a:p>
        </p:txBody>
      </p:sp>
      <p:sp>
        <p:nvSpPr>
          <p:cNvPr id="622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2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401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1DC501-1FE8-488B-95D0-1BDB964E083C}" type="slidenum">
              <a:rPr lang="en-US"/>
              <a:pPr/>
              <a:t>34</a:t>
            </a:fld>
            <a:endParaRPr lang="en-US"/>
          </a:p>
        </p:txBody>
      </p:sp>
      <p:sp>
        <p:nvSpPr>
          <p:cNvPr id="628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8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29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D01C03-BA94-4170-BB37-FF386D300A1A}" type="slidenum">
              <a:rPr lang="en-US"/>
              <a:pPr/>
              <a:t>35</a:t>
            </a:fld>
            <a:endParaRPr lang="en-US"/>
          </a:p>
        </p:txBody>
      </p:sp>
      <p:sp>
        <p:nvSpPr>
          <p:cNvPr id="632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Ở phép tính quan hệ có biến là bộ, để biết được biểu thức có an toàn hay không ta giới hạn các giá trị phải thuộc 1 miền giá nào đó.</a:t>
            </a:r>
          </a:p>
          <a:p>
            <a:r>
              <a:rPr lang="en-US"/>
              <a:t>Nhưng ở phép tính quan hệ có biến là miền, ta không thể giới hạn miền, mà phải thêm một số qui tắc để định nghĩa an toàn.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602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875F1F-DCF1-4C47-B864-DB68D109D58B}" type="slidenum">
              <a:rPr lang="en-US"/>
              <a:pPr/>
              <a:t>36</a:t>
            </a:fld>
            <a:endParaRPr lang="en-US"/>
          </a:p>
        </p:txBody>
      </p:sp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/>
              <a:t>Ta đặt ra các qui tắc cho lượng tự ‘với mọi’ và ‘tồn tại’ để giảm bớt việc kiểm tra tính hữu hạn.</a:t>
            </a:r>
          </a:p>
          <a:p>
            <a:pPr>
              <a:spcBef>
                <a:spcPct val="50000"/>
              </a:spcBef>
            </a:pPr>
            <a:r>
              <a:rPr lang="en-US">
                <a:sym typeface="Symbol" pitchFamily="18" charset="2"/>
              </a:rPr>
              <a:t>x (Q(x)) đúng, ta chỉ cần tìm ra một x để Q(x) đúng là đủ. Nói chung ta có rất nhiều giá trị để kiểm tra và các giá trị này là hữu hạn vì phải thuộc dom(Q).</a:t>
            </a:r>
          </a:p>
          <a:p>
            <a:pPr>
              <a:spcBef>
                <a:spcPct val="50000"/>
              </a:spcBef>
            </a:pPr>
            <a:r>
              <a:rPr lang="en-US">
                <a:sym typeface="Symbol" pitchFamily="18" charset="2"/>
              </a:rPr>
              <a:t>x (Q(x)) đúng, ta cần kiểm tra mọi giá trị của x làm cho Q(x) đúng. Các giá trị để kiểm tra cũng hoàn toàn hữu hạn vì phải thuộc dom(Q)</a:t>
            </a:r>
          </a:p>
        </p:txBody>
      </p:sp>
    </p:spTree>
    <p:extLst>
      <p:ext uri="{BB962C8B-B14F-4D97-AF65-F5344CB8AC3E}">
        <p14:creationId xmlns:p14="http://schemas.microsoft.com/office/powerpoint/2010/main" val="1492684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9A3F49D1-3A77-474C-87E8-A855FE083FB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58D16501-382F-4B6C-B9DC-74B0A870115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A70EDA-1396-41E5-8FA1-F4AC1FDA846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FFFC42EC-6801-4D07-A80A-E90D66743E5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pPr>
              <a:defRPr/>
            </a:pPr>
            <a:fld id="{3D720789-CDFD-4CDA-AF9A-5103F536F7B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6ADB3E4-BBE8-46D3-94D4-4227260B0B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0B4F769-2038-4E41-96C6-278C0EEEDF2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pPr>
              <a:defRPr/>
            </a:pPr>
            <a:fld id="{19D62CF5-A3C1-470A-B8AA-7ACF15B78DE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00C2EB-1B16-40D7-9FB5-5EC22D0CCB1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pPr>
              <a:defRPr/>
            </a:pPr>
            <a:fld id="{C3AB234F-0F8D-492C-AD1C-D2E95BFA177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D121BDC5-7E21-4F1D-ABCE-B720156810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  <p:sldLayoutId id="2147484038" r:id="rId4"/>
    <p:sldLayoutId id="2147484039" r:id="rId5"/>
    <p:sldLayoutId id="2147484040" r:id="rId6"/>
    <p:sldLayoutId id="2147484041" r:id="rId7"/>
    <p:sldLayoutId id="2147484042" r:id="rId8"/>
    <p:sldLayoutId id="2147484043" r:id="rId9"/>
    <p:sldLayoutId id="2147484044" r:id="rId10"/>
    <p:sldLayoutId id="2147484045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754117" y="2299138"/>
            <a:ext cx="7620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0"/>
              </a:spcBef>
            </a:pPr>
            <a:endParaRPr lang="en-US" sz="4400" dirty="0"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447800" y="5943600"/>
            <a:ext cx="6400800" cy="5334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KHOA </a:t>
            </a:r>
            <a:r>
              <a:rPr lang="en-US" sz="2400" dirty="0" err="1" smtClean="0"/>
              <a:t>Công</a:t>
            </a:r>
            <a:r>
              <a:rPr lang="en-US" sz="2400" dirty="0" smtClean="0"/>
              <a:t> </a:t>
            </a:r>
            <a:r>
              <a:rPr lang="en-US" sz="2400" dirty="0" err="1" smtClean="0"/>
              <a:t>nghệ</a:t>
            </a:r>
            <a:r>
              <a:rPr lang="en-US" sz="2400" dirty="0" smtClean="0"/>
              <a:t> </a:t>
            </a:r>
            <a:r>
              <a:rPr lang="en-US" sz="2400" dirty="0" err="1" smtClean="0"/>
              <a:t>thông</a:t>
            </a:r>
            <a:r>
              <a:rPr lang="en-US" sz="2400" dirty="0" smtClean="0"/>
              <a:t> tin</a:t>
            </a:r>
            <a:endParaRPr lang="en-US" sz="2400" dirty="0"/>
          </a:p>
        </p:txBody>
      </p:sp>
      <p:sp>
        <p:nvSpPr>
          <p:cNvPr id="6" name="Title 5"/>
          <p:cNvSpPr txBox="1">
            <a:spLocks/>
          </p:cNvSpPr>
          <p:nvPr/>
        </p:nvSpPr>
        <p:spPr>
          <a:xfrm>
            <a:off x="685800" y="685800"/>
            <a:ext cx="7772400" cy="9906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CƠ SỞ DỮ LIỆU</a:t>
            </a:r>
            <a:endParaRPr lang="en-US" sz="4400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itle 5"/>
          <p:cNvSpPr txBox="1">
            <a:spLocks/>
          </p:cNvSpPr>
          <p:nvPr/>
        </p:nvSpPr>
        <p:spPr>
          <a:xfrm>
            <a:off x="1371600" y="-76200"/>
            <a:ext cx="64008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8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BÀI GIẢNG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33800" y="4793397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 smtClean="0">
                <a:solidFill>
                  <a:srgbClr val="F7F7FF">
                    <a:lumMod val="10000"/>
                  </a:srgbClr>
                </a:solidFill>
              </a:rPr>
              <a:t>Giáo</a:t>
            </a:r>
            <a:r>
              <a:rPr lang="en-US" sz="2400" dirty="0" smtClean="0">
                <a:solidFill>
                  <a:srgbClr val="F7F7FF">
                    <a:lumMod val="10000"/>
                  </a:srgbClr>
                </a:solidFill>
              </a:rPr>
              <a:t> </a:t>
            </a:r>
            <a:r>
              <a:rPr lang="en-US" sz="2400" dirty="0" err="1" smtClean="0">
                <a:solidFill>
                  <a:srgbClr val="F7F7FF">
                    <a:lumMod val="10000"/>
                  </a:srgbClr>
                </a:solidFill>
              </a:rPr>
              <a:t>viên</a:t>
            </a:r>
            <a:r>
              <a:rPr lang="en-US" sz="2400" dirty="0" smtClean="0">
                <a:solidFill>
                  <a:srgbClr val="F7F7FF">
                    <a:lumMod val="10000"/>
                  </a:srgbClr>
                </a:solidFill>
              </a:rPr>
              <a:t>: </a:t>
            </a:r>
            <a:r>
              <a:rPr lang="en-US" sz="2400" dirty="0" err="1" smtClean="0">
                <a:solidFill>
                  <a:srgbClr val="F7F7FF">
                    <a:lumMod val="10000"/>
                  </a:srgbClr>
                </a:solidFill>
              </a:rPr>
              <a:t>ThS</a:t>
            </a:r>
            <a:r>
              <a:rPr lang="en-US" sz="2400" dirty="0" smtClean="0">
                <a:solidFill>
                  <a:srgbClr val="F7F7FF">
                    <a:lumMod val="10000"/>
                  </a:srgbClr>
                </a:solidFill>
              </a:rPr>
              <a:t>. </a:t>
            </a:r>
            <a:r>
              <a:rPr lang="en-US" sz="2400" dirty="0" err="1" smtClean="0">
                <a:solidFill>
                  <a:srgbClr val="F7F7FF">
                    <a:lumMod val="10000"/>
                  </a:srgbClr>
                </a:solidFill>
              </a:rPr>
              <a:t>Nguyễn</a:t>
            </a:r>
            <a:r>
              <a:rPr lang="en-US" sz="2400" dirty="0" smtClean="0">
                <a:solidFill>
                  <a:srgbClr val="F7F7FF">
                    <a:lumMod val="10000"/>
                  </a:srgbClr>
                </a:solidFill>
              </a:rPr>
              <a:t> </a:t>
            </a:r>
            <a:r>
              <a:rPr lang="en-US" sz="2400" dirty="0" err="1" smtClean="0">
                <a:solidFill>
                  <a:srgbClr val="F7F7FF">
                    <a:lumMod val="10000"/>
                  </a:srgbClr>
                </a:solidFill>
              </a:rPr>
              <a:t>Thị</a:t>
            </a:r>
            <a:r>
              <a:rPr lang="en-US" sz="2400" dirty="0" smtClean="0">
                <a:solidFill>
                  <a:srgbClr val="F7F7FF">
                    <a:lumMod val="10000"/>
                  </a:srgbClr>
                </a:solidFill>
              </a:rPr>
              <a:t> </a:t>
            </a:r>
            <a:r>
              <a:rPr lang="en-US" sz="2400" dirty="0" err="1" smtClean="0">
                <a:solidFill>
                  <a:srgbClr val="F7F7FF">
                    <a:lumMod val="10000"/>
                  </a:srgbClr>
                </a:solidFill>
              </a:rPr>
              <a:t>Uyên</a:t>
            </a:r>
            <a:r>
              <a:rPr lang="en-US" sz="2400" dirty="0" smtClean="0">
                <a:solidFill>
                  <a:srgbClr val="F7F7FF">
                    <a:lumMod val="10000"/>
                  </a:srgbClr>
                </a:solidFill>
              </a:rPr>
              <a:t> </a:t>
            </a:r>
            <a:r>
              <a:rPr lang="en-US" sz="2400" dirty="0" err="1" smtClean="0">
                <a:solidFill>
                  <a:srgbClr val="F7F7FF">
                    <a:lumMod val="10000"/>
                  </a:srgbClr>
                </a:solidFill>
              </a:rPr>
              <a:t>Nhi</a:t>
            </a:r>
            <a:endParaRPr lang="en-US" sz="2400" dirty="0" smtClean="0">
              <a:solidFill>
                <a:srgbClr val="F7F7FF">
                  <a:lumMod val="10000"/>
                </a:srgbClr>
              </a:solidFill>
            </a:endParaRPr>
          </a:p>
          <a:p>
            <a:pPr algn="ctr"/>
            <a:r>
              <a:rPr lang="en-US" sz="2400" dirty="0" smtClean="0">
                <a:solidFill>
                  <a:srgbClr val="F7F7FF">
                    <a:lumMod val="10000"/>
                  </a:srgbClr>
                </a:solidFill>
              </a:rPr>
              <a:t>Email: uyennhisgu@gmail.com</a:t>
            </a:r>
          </a:p>
        </p:txBody>
      </p:sp>
      <p:sp>
        <p:nvSpPr>
          <p:cNvPr id="9" name="Title 5"/>
          <p:cNvSpPr txBox="1">
            <a:spLocks/>
          </p:cNvSpPr>
          <p:nvPr/>
        </p:nvSpPr>
        <p:spPr>
          <a:xfrm>
            <a:off x="685800" y="2819400"/>
            <a:ext cx="7772400" cy="1371600"/>
          </a:xfrm>
          <a:prstGeom prst="rect">
            <a:avLst/>
          </a:prstGeom>
        </p:spPr>
        <p:txBody>
          <a:bodyPr vert="horz" anchor="b">
            <a:normAutofit lnSpcReduction="1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 err="1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sz="4000" b="1" dirty="0" smtClean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5</a:t>
            </a:r>
          </a:p>
          <a:p>
            <a:pPr lvl="0"/>
            <a:r>
              <a:rPr lang="en-US" sz="4800" b="1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Phép</a:t>
            </a:r>
            <a:r>
              <a:rPr lang="en-US" sz="48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tính</a:t>
            </a:r>
            <a:r>
              <a:rPr lang="en-US" sz="48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</a:t>
            </a:r>
            <a:r>
              <a:rPr lang="en-US" sz="48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 err="1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hệ</a:t>
            </a:r>
            <a:endParaRPr lang="en-US" sz="4800" b="1" dirty="0">
              <a:solidFill>
                <a:schemeClr val="bg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511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Nội</a:t>
            </a:r>
            <a:r>
              <a:rPr lang="en-US" sz="3500" b="1" dirty="0"/>
              <a:t> dung chi </a:t>
            </a:r>
            <a:r>
              <a:rPr lang="en-US" sz="3500" b="1" dirty="0" err="1"/>
              <a:t>tiết</a:t>
            </a:r>
            <a:endParaRPr lang="en-US" sz="3500" b="1" dirty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828800"/>
            <a:ext cx="8229600" cy="43021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miền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90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thiệu</a:t>
            </a:r>
            <a:r>
              <a:rPr lang="en-US" b="1" dirty="0"/>
              <a:t> </a:t>
            </a:r>
          </a:p>
        </p:txBody>
      </p:sp>
      <p:sp>
        <p:nvSpPr>
          <p:cNvPr id="553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72440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ngôn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 smtClean="0"/>
              <a:t>thức</a:t>
            </a:r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Do </a:t>
            </a:r>
            <a:r>
              <a:rPr lang="en-US" dirty="0" err="1"/>
              <a:t>Codd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nghị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1972, “Data Base Systems”, Prentice Hall, </a:t>
            </a:r>
            <a:r>
              <a:rPr lang="en-US" dirty="0" smtClean="0"/>
              <a:t>p33-98</a:t>
            </a:r>
            <a:endParaRPr lang="en-US" sz="27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  <a:p>
            <a:pPr marL="788670" lvl="2" indent="-514350" algn="just">
              <a:buClr>
                <a:schemeClr val="accent1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tx1"/>
                </a:solidFill>
              </a:rPr>
              <a:t>Phi </a:t>
            </a:r>
            <a:r>
              <a:rPr lang="en-US" sz="2500" dirty="0" err="1">
                <a:solidFill>
                  <a:schemeClr val="tx1"/>
                </a:solidFill>
              </a:rPr>
              <a:t>thủ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tục</a:t>
            </a:r>
            <a:endParaRPr lang="en-US" sz="2500" dirty="0">
              <a:solidFill>
                <a:schemeClr val="tx1"/>
              </a:solidFill>
            </a:endParaRPr>
          </a:p>
          <a:p>
            <a:pPr marL="788670" lvl="2" indent="-514350" algn="just">
              <a:buClr>
                <a:schemeClr val="accent1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sz="2500" dirty="0" err="1">
                <a:solidFill>
                  <a:schemeClr val="tx1"/>
                </a:solidFill>
              </a:rPr>
              <a:t>Dựa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vào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lý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thuyết</a:t>
            </a:r>
            <a:r>
              <a:rPr lang="en-US" sz="2500" dirty="0">
                <a:solidFill>
                  <a:schemeClr val="tx1"/>
                </a:solidFill>
              </a:rPr>
              <a:t> logic</a:t>
            </a:r>
          </a:p>
          <a:p>
            <a:pPr marL="788670" lvl="2" indent="-514350" algn="just">
              <a:buClr>
                <a:schemeClr val="accent1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sz="2500" dirty="0" err="1">
                <a:solidFill>
                  <a:schemeClr val="tx1"/>
                </a:solidFill>
              </a:rPr>
              <a:t>Rút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trích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cái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gì</a:t>
            </a:r>
            <a:r>
              <a:rPr lang="en-US" sz="2500" dirty="0">
                <a:solidFill>
                  <a:schemeClr val="tx1"/>
                </a:solidFill>
              </a:rPr>
              <a:t> (what) </a:t>
            </a:r>
            <a:r>
              <a:rPr lang="en-US" sz="2500" dirty="0">
                <a:solidFill>
                  <a:schemeClr val="tx1"/>
                </a:solidFill>
                <a:sym typeface="Symbol" pitchFamily="18" charset="2"/>
              </a:rPr>
              <a:t> </a:t>
            </a:r>
            <a:r>
              <a:rPr lang="en-US" sz="2500" dirty="0" err="1">
                <a:solidFill>
                  <a:schemeClr val="tx1"/>
                </a:solidFill>
                <a:sym typeface="Symbol" pitchFamily="18" charset="2"/>
              </a:rPr>
              <a:t>rút</a:t>
            </a:r>
            <a:r>
              <a:rPr lang="en-US" sz="25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500" dirty="0" err="1">
                <a:solidFill>
                  <a:schemeClr val="tx1"/>
                </a:solidFill>
                <a:sym typeface="Symbol" pitchFamily="18" charset="2"/>
              </a:rPr>
              <a:t>trích</a:t>
            </a:r>
            <a:r>
              <a:rPr lang="en-US" sz="25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500" dirty="0" err="1">
                <a:solidFill>
                  <a:schemeClr val="tx1"/>
                </a:solidFill>
                <a:sym typeface="Symbol" pitchFamily="18" charset="2"/>
              </a:rPr>
              <a:t>như</a:t>
            </a:r>
            <a:r>
              <a:rPr lang="en-US" sz="25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500" dirty="0" err="1">
                <a:solidFill>
                  <a:schemeClr val="tx1"/>
                </a:solidFill>
                <a:sym typeface="Symbol" pitchFamily="18" charset="2"/>
              </a:rPr>
              <a:t>thế</a:t>
            </a:r>
            <a:r>
              <a:rPr lang="en-US" sz="2500" dirty="0">
                <a:solidFill>
                  <a:schemeClr val="tx1"/>
                </a:solidFill>
                <a:sym typeface="Symbol" pitchFamily="18" charset="2"/>
              </a:rPr>
              <a:t> </a:t>
            </a:r>
            <a:r>
              <a:rPr lang="en-US" sz="2500" dirty="0" err="1">
                <a:solidFill>
                  <a:schemeClr val="tx1"/>
                </a:solidFill>
                <a:sym typeface="Symbol" pitchFamily="18" charset="2"/>
              </a:rPr>
              <a:t>nào</a:t>
            </a:r>
            <a:r>
              <a:rPr lang="en-US" sz="2500" dirty="0">
                <a:solidFill>
                  <a:schemeClr val="tx1"/>
                </a:solidFill>
                <a:sym typeface="Symbol" pitchFamily="18" charset="2"/>
              </a:rPr>
              <a:t> (how)</a:t>
            </a:r>
          </a:p>
          <a:p>
            <a:pPr marL="788670" lvl="2" indent="-514350" algn="just">
              <a:buClr>
                <a:schemeClr val="accent1"/>
              </a:buClr>
              <a:buSzPct val="85000"/>
              <a:buFont typeface="Wingdings" panose="05000000000000000000" pitchFamily="2" charset="2"/>
              <a:buChar char="Ø"/>
            </a:pPr>
            <a:r>
              <a:rPr lang="en-US" sz="2500" dirty="0" err="1">
                <a:solidFill>
                  <a:schemeClr val="tx1"/>
                </a:solidFill>
              </a:rPr>
              <a:t>Khả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năng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diễn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đạt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tương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đương</a:t>
            </a:r>
            <a:r>
              <a:rPr lang="en-US" sz="2500" dirty="0">
                <a:solidFill>
                  <a:schemeClr val="tx1"/>
                </a:solidFill>
              </a:rPr>
              <a:t> </a:t>
            </a:r>
            <a:r>
              <a:rPr lang="en-US" sz="2500" dirty="0" err="1">
                <a:solidFill>
                  <a:schemeClr val="tx1"/>
                </a:solidFill>
              </a:rPr>
              <a:t>với</a:t>
            </a:r>
            <a:r>
              <a:rPr lang="en-US" sz="2500" dirty="0">
                <a:solidFill>
                  <a:schemeClr val="tx1"/>
                </a:solidFill>
              </a:rPr>
              <a:t> ĐSQH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78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1. </a:t>
            </a:r>
            <a:r>
              <a:rPr lang="en-US" sz="3500" b="1" dirty="0" err="1" smtClean="0"/>
              <a:t>Giới</a:t>
            </a:r>
            <a:r>
              <a:rPr lang="en-US" sz="3500" b="1" dirty="0" smtClean="0"/>
              <a:t> </a:t>
            </a:r>
            <a:r>
              <a:rPr lang="en-US" sz="3500" b="1" dirty="0" err="1" smtClean="0"/>
              <a:t>thiệu</a:t>
            </a:r>
            <a:r>
              <a:rPr lang="en-US" sz="3500" b="1" dirty="0" smtClean="0"/>
              <a:t> </a:t>
            </a:r>
            <a:endParaRPr lang="en-US" sz="3500" b="1" dirty="0"/>
          </a:p>
        </p:txBody>
      </p:sp>
      <p:sp>
        <p:nvSpPr>
          <p:cNvPr id="553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None/>
              <a:defRPr/>
            </a:pPr>
            <a:r>
              <a:rPr lang="en-US" sz="2800" dirty="0" err="1"/>
              <a:t>Đại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r>
              <a:rPr lang="en-US" sz="2800" dirty="0"/>
              <a:t> </a:t>
            </a:r>
            <a:r>
              <a:rPr lang="en-US" sz="2800" dirty="0" err="1"/>
              <a:t>hệ</a:t>
            </a:r>
            <a:r>
              <a:rPr lang="en-US" sz="2800" dirty="0"/>
              <a:t> (relational algebra)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thủ</a:t>
            </a:r>
            <a:r>
              <a:rPr lang="en-US" sz="2800" dirty="0"/>
              <a:t> </a:t>
            </a:r>
            <a:r>
              <a:rPr lang="en-US" sz="2800" dirty="0" err="1"/>
              <a:t>tục</a:t>
            </a:r>
            <a:r>
              <a:rPr lang="en-US" sz="2800" dirty="0"/>
              <a:t>, </a:t>
            </a:r>
            <a:r>
              <a:rPr lang="en-US" sz="2800" dirty="0" err="1"/>
              <a:t>gần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ngôn</a:t>
            </a:r>
            <a:r>
              <a:rPr lang="en-US" sz="2800" dirty="0"/>
              <a:t> </a:t>
            </a:r>
            <a:r>
              <a:rPr lang="en-US" sz="2800" dirty="0" err="1"/>
              <a:t>ngữ</a:t>
            </a:r>
            <a:r>
              <a:rPr lang="en-US" sz="2800" dirty="0"/>
              <a:t> </a:t>
            </a:r>
            <a:r>
              <a:rPr lang="en-US" sz="2800" dirty="0" err="1"/>
              <a:t>lập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endParaRPr lang="en-US" sz="2800" dirty="0"/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None/>
              <a:defRPr/>
            </a:pPr>
            <a:endParaRPr lang="en-US" sz="2800" b="1" dirty="0" smtClean="0"/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None/>
              <a:defRPr/>
            </a:pPr>
            <a:r>
              <a:rPr lang="en-US" sz="2800" b="1" dirty="0" smtClean="0"/>
              <a:t>vs</a:t>
            </a: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None/>
              <a:defRPr/>
            </a:pPr>
            <a:endParaRPr lang="en-US" sz="2800" b="1" dirty="0"/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None/>
              <a:defRPr/>
            </a:pPr>
            <a:r>
              <a:rPr lang="en-US" sz="2800" dirty="0" err="1"/>
              <a:t>Phép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quan</a:t>
            </a:r>
            <a:r>
              <a:rPr lang="en-US" sz="2800" dirty="0"/>
              <a:t> </a:t>
            </a:r>
            <a:r>
              <a:rPr lang="en-US" sz="2800" dirty="0" err="1"/>
              <a:t>hệ</a:t>
            </a:r>
            <a:r>
              <a:rPr lang="en-US" sz="2800" dirty="0"/>
              <a:t> (relational calculus)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thủ</a:t>
            </a:r>
            <a:r>
              <a:rPr lang="en-US" sz="2800" dirty="0"/>
              <a:t> </a:t>
            </a:r>
            <a:r>
              <a:rPr lang="en-US" sz="2800" dirty="0" err="1"/>
              <a:t>tục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gần</a:t>
            </a:r>
            <a:r>
              <a:rPr lang="en-US" sz="2800" dirty="0"/>
              <a:t>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ngôn</a:t>
            </a:r>
            <a:r>
              <a:rPr lang="en-US" sz="2800" dirty="0"/>
              <a:t> </a:t>
            </a:r>
            <a:r>
              <a:rPr lang="en-US" sz="2800" dirty="0" err="1"/>
              <a:t>ngữ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nhiên</a:t>
            </a:r>
            <a:r>
              <a:rPr lang="en-US" sz="2800" dirty="0"/>
              <a:t> </a:t>
            </a:r>
            <a:r>
              <a:rPr lang="en-US" sz="2800" dirty="0" err="1"/>
              <a:t>hơn</a:t>
            </a:r>
            <a:endParaRPr 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45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dirty="0" smtClean="0"/>
              <a:t>1. </a:t>
            </a:r>
            <a:r>
              <a:rPr lang="en-US" sz="3500" dirty="0" err="1" smtClean="0"/>
              <a:t>Giới</a:t>
            </a:r>
            <a:r>
              <a:rPr lang="en-US" sz="3500" dirty="0" smtClean="0"/>
              <a:t> </a:t>
            </a:r>
            <a:r>
              <a:rPr lang="en-US" sz="3500" dirty="0" err="1"/>
              <a:t>thiệu</a:t>
            </a:r>
            <a:r>
              <a:rPr lang="en-US" sz="3500" dirty="0"/>
              <a:t> </a:t>
            </a:r>
          </a:p>
        </p:txBody>
      </p:sp>
      <p:sp>
        <p:nvSpPr>
          <p:cNvPr id="6256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600200"/>
            <a:ext cx="8229600" cy="4724400"/>
          </a:xfrm>
        </p:spPr>
        <p:txBody>
          <a:bodyPr/>
          <a:lstStyle/>
          <a:p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loại</a:t>
            </a:r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Phép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bộ</a:t>
            </a:r>
            <a:r>
              <a:rPr lang="en-US" dirty="0">
                <a:solidFill>
                  <a:schemeClr val="tx1"/>
                </a:solidFill>
              </a:rPr>
              <a:t> (Tuple Rational Calculus)</a:t>
            </a:r>
          </a:p>
          <a:p>
            <a:pPr lvl="2"/>
            <a:r>
              <a:rPr lang="en-US" dirty="0"/>
              <a:t>SQL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Phép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tính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hệ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miền</a:t>
            </a:r>
            <a:r>
              <a:rPr lang="en-US" dirty="0">
                <a:solidFill>
                  <a:schemeClr val="tx1"/>
                </a:solidFill>
              </a:rPr>
              <a:t> (Domain Rational Calculus)</a:t>
            </a:r>
          </a:p>
          <a:p>
            <a:pPr lvl="2"/>
            <a:r>
              <a:rPr lang="en-US" dirty="0"/>
              <a:t>QBE (Query By Example)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48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2. </a:t>
            </a:r>
            <a:r>
              <a:rPr lang="en-US" sz="3500" b="1" dirty="0" err="1" smtClean="0"/>
              <a:t>Phép</a:t>
            </a:r>
            <a:r>
              <a:rPr lang="en-US" sz="3500" b="1" dirty="0" smtClean="0"/>
              <a:t> </a:t>
            </a:r>
            <a:r>
              <a:rPr lang="en-US" sz="3500" b="1" dirty="0" err="1"/>
              <a:t>tính</a:t>
            </a:r>
            <a:r>
              <a:rPr lang="en-US" sz="3500" b="1" dirty="0"/>
              <a:t> </a:t>
            </a:r>
            <a:r>
              <a:rPr lang="en-US" sz="3500" b="1" dirty="0" err="1"/>
              <a:t>quan</a:t>
            </a:r>
            <a:r>
              <a:rPr lang="en-US" sz="3500" b="1" dirty="0"/>
              <a:t> </a:t>
            </a:r>
            <a:r>
              <a:rPr lang="en-US" sz="3500" b="1" dirty="0" err="1"/>
              <a:t>hệ</a:t>
            </a:r>
            <a:r>
              <a:rPr lang="en-US" sz="3500" b="1" dirty="0"/>
              <a:t> </a:t>
            </a:r>
            <a:r>
              <a:rPr lang="en-US" sz="3500" b="1" dirty="0" err="1"/>
              <a:t>trên</a:t>
            </a:r>
            <a:r>
              <a:rPr lang="en-US" sz="3500" b="1" dirty="0"/>
              <a:t> </a:t>
            </a:r>
            <a:r>
              <a:rPr lang="en-US" sz="3500" b="1" dirty="0" err="1"/>
              <a:t>bộ</a:t>
            </a:r>
            <a:r>
              <a:rPr lang="en-US" sz="3500" b="1" dirty="0"/>
              <a:t> </a:t>
            </a:r>
          </a:p>
        </p:txBody>
      </p:sp>
      <p:sp>
        <p:nvSpPr>
          <p:cNvPr id="556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dạng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t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biến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bộ</a:t>
            </a:r>
            <a:endParaRPr lang="en-US" dirty="0">
              <a:solidFill>
                <a:schemeClr val="tx1"/>
              </a:solidFill>
            </a:endParaRPr>
          </a:p>
          <a:p>
            <a:pPr lvl="2"/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CSDL</a:t>
            </a:r>
          </a:p>
          <a:p>
            <a:pPr lvl="2"/>
            <a:r>
              <a:rPr lang="en-US" dirty="0" err="1"/>
              <a:t>t.A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t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A</a:t>
            </a:r>
          </a:p>
          <a:p>
            <a:pPr lvl="2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P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công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có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liên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đến</a:t>
            </a:r>
            <a:r>
              <a:rPr lang="en-US" dirty="0">
                <a:solidFill>
                  <a:schemeClr val="tx1"/>
                </a:solidFill>
              </a:rPr>
              <a:t> t</a:t>
            </a:r>
          </a:p>
          <a:p>
            <a:pPr lvl="2"/>
            <a:r>
              <a:rPr lang="en-US" dirty="0"/>
              <a:t>P(t)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ĐÚNG </a:t>
            </a:r>
            <a:r>
              <a:rPr lang="en-US" dirty="0" err="1"/>
              <a:t>hoặc</a:t>
            </a:r>
            <a:r>
              <a:rPr lang="en-US" dirty="0"/>
              <a:t> SAI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t</a:t>
            </a:r>
          </a:p>
          <a:p>
            <a:pPr lvl="2"/>
            <a:endParaRPr lang="en-US" dirty="0"/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Kết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quả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trả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về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là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các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bộ</a:t>
            </a:r>
            <a:r>
              <a:rPr lang="en-US" dirty="0">
                <a:solidFill>
                  <a:schemeClr val="tx1"/>
                </a:solidFill>
              </a:rPr>
              <a:t> t </a:t>
            </a:r>
            <a:r>
              <a:rPr lang="en-US" dirty="0" err="1">
                <a:solidFill>
                  <a:schemeClr val="tx1"/>
                </a:solidFill>
              </a:rPr>
              <a:t>sao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cho</a:t>
            </a:r>
            <a:r>
              <a:rPr lang="en-US" dirty="0">
                <a:solidFill>
                  <a:schemeClr val="tx1"/>
                </a:solidFill>
              </a:rPr>
              <a:t> P(t) </a:t>
            </a:r>
            <a:r>
              <a:rPr lang="en-US" dirty="0" err="1">
                <a:solidFill>
                  <a:schemeClr val="tx1"/>
                </a:solidFill>
              </a:rPr>
              <a:t>đúng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6036" name="Rectangle 4"/>
          <p:cNvSpPr>
            <a:spLocks noChangeArrowheads="1"/>
          </p:cNvSpPr>
          <p:nvPr/>
        </p:nvSpPr>
        <p:spPr bwMode="auto">
          <a:xfrm>
            <a:off x="3028949" y="2286000"/>
            <a:ext cx="1806575" cy="50165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600">
                <a:latin typeface="Arial" charset="0"/>
              </a:rPr>
              <a:t>{ t.A | P(t)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80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 </a:t>
            </a:r>
          </a:p>
        </p:txBody>
      </p:sp>
      <p:sp>
        <p:nvSpPr>
          <p:cNvPr id="5601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30000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t </a:t>
            </a:r>
            <a:r>
              <a:rPr lang="en-US" dirty="0">
                <a:solidFill>
                  <a:schemeClr val="tx1"/>
                </a:solidFill>
                <a:sym typeface="Symbol" pitchFamily="18" charset="2"/>
              </a:rPr>
              <a:t> NHANVIEN </a:t>
            </a:r>
            <a:r>
              <a:rPr lang="en-US" dirty="0" err="1">
                <a:solidFill>
                  <a:schemeClr val="tx1"/>
                </a:solidFill>
                <a:sym typeface="Symbol" pitchFamily="18" charset="2"/>
              </a:rPr>
              <a:t>đúng</a:t>
            </a:r>
            <a:r>
              <a:rPr lang="en-US" dirty="0">
                <a:solidFill>
                  <a:schemeClr val="tx1"/>
                </a:solidFill>
                <a:sym typeface="Symbol" pitchFamily="18" charset="2"/>
              </a:rPr>
              <a:t> </a:t>
            </a:r>
          </a:p>
          <a:p>
            <a:pPr lvl="2"/>
            <a:r>
              <a:rPr lang="en-US" dirty="0" err="1">
                <a:sym typeface="Symbol" pitchFamily="18" charset="2"/>
              </a:rPr>
              <a:t>Nếu</a:t>
            </a:r>
            <a:r>
              <a:rPr lang="en-US" dirty="0">
                <a:sym typeface="Symbol" pitchFamily="18" charset="2"/>
              </a:rPr>
              <a:t> t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một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thể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hiện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của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quan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hệ</a:t>
            </a:r>
            <a:r>
              <a:rPr lang="en-US" dirty="0">
                <a:sym typeface="Symbol" pitchFamily="18" charset="2"/>
              </a:rPr>
              <a:t> NHANVIEN</a:t>
            </a:r>
          </a:p>
          <a:p>
            <a:pPr lvl="1"/>
            <a:r>
              <a:rPr lang="en-US" dirty="0" err="1">
                <a:solidFill>
                  <a:schemeClr val="tx1"/>
                </a:solidFill>
                <a:sym typeface="Symbol" pitchFamily="18" charset="2"/>
              </a:rPr>
              <a:t>t.LUONG</a:t>
            </a:r>
            <a:r>
              <a:rPr lang="en-US" dirty="0">
                <a:solidFill>
                  <a:schemeClr val="tx1"/>
                </a:solidFill>
                <a:sym typeface="Symbol" pitchFamily="18" charset="2"/>
              </a:rPr>
              <a:t> &gt; 30000 </a:t>
            </a:r>
            <a:r>
              <a:rPr lang="en-US" dirty="0" err="1">
                <a:solidFill>
                  <a:schemeClr val="tx1"/>
                </a:solidFill>
                <a:sym typeface="Symbol" pitchFamily="18" charset="2"/>
              </a:rPr>
              <a:t>đúng</a:t>
            </a:r>
            <a:endParaRPr lang="en-US" dirty="0">
              <a:solidFill>
                <a:schemeClr val="tx1"/>
              </a:solidFill>
              <a:sym typeface="Symbol" pitchFamily="18" charset="2"/>
            </a:endParaRPr>
          </a:p>
          <a:p>
            <a:pPr lvl="2"/>
            <a:r>
              <a:rPr lang="en-US" dirty="0" err="1">
                <a:sym typeface="Symbol" pitchFamily="18" charset="2"/>
              </a:rPr>
              <a:t>Nếu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thuộc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tính</a:t>
            </a:r>
            <a:r>
              <a:rPr lang="en-US" dirty="0">
                <a:sym typeface="Symbol" pitchFamily="18" charset="2"/>
              </a:rPr>
              <a:t> LUONG </a:t>
            </a:r>
            <a:r>
              <a:rPr lang="en-US" dirty="0" err="1">
                <a:sym typeface="Symbol" pitchFamily="18" charset="2"/>
              </a:rPr>
              <a:t>của</a:t>
            </a:r>
            <a:r>
              <a:rPr lang="en-US" dirty="0">
                <a:sym typeface="Symbol" pitchFamily="18" charset="2"/>
              </a:rPr>
              <a:t> t </a:t>
            </a:r>
            <a:r>
              <a:rPr lang="en-US" dirty="0" err="1">
                <a:sym typeface="Symbol" pitchFamily="18" charset="2"/>
              </a:rPr>
              <a:t>có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giá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trị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trên</a:t>
            </a:r>
            <a:r>
              <a:rPr lang="en-US" dirty="0">
                <a:sym typeface="Symbol" pitchFamily="18" charset="2"/>
              </a:rPr>
              <a:t> 30000</a:t>
            </a:r>
          </a:p>
        </p:txBody>
      </p:sp>
      <p:sp>
        <p:nvSpPr>
          <p:cNvPr id="560133" name="Text Box 5"/>
          <p:cNvSpPr txBox="1">
            <a:spLocks noChangeArrowheads="1"/>
          </p:cNvSpPr>
          <p:nvPr/>
        </p:nvSpPr>
        <p:spPr bwMode="auto">
          <a:xfrm>
            <a:off x="1524000" y="2438400"/>
            <a:ext cx="6553200" cy="4270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{ t | t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NHANVIEN </a:t>
            </a:r>
            <a:r>
              <a:rPr lang="en-US" sz="2200" b="1" dirty="0">
                <a:sym typeface="Symbol" pitchFamily="18" charset="2"/>
              </a:rPr>
              <a:t>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t.LUONG</a:t>
            </a:r>
            <a:r>
              <a:rPr lang="en-US" sz="2200" dirty="0">
                <a:sym typeface="Symbol" pitchFamily="18" charset="2"/>
              </a:rPr>
              <a:t> &gt; 30000 }</a:t>
            </a:r>
          </a:p>
        </p:txBody>
      </p:sp>
      <p:sp>
        <p:nvSpPr>
          <p:cNvPr id="560134" name="AutoShape 6"/>
          <p:cNvSpPr>
            <a:spLocks/>
          </p:cNvSpPr>
          <p:nvPr/>
        </p:nvSpPr>
        <p:spPr bwMode="auto">
          <a:xfrm rot="5400000" flipH="1">
            <a:off x="3009900" y="2171700"/>
            <a:ext cx="228600" cy="1676400"/>
          </a:xfrm>
          <a:prstGeom prst="leftBrace">
            <a:avLst>
              <a:gd name="adj1" fmla="val 61111"/>
              <a:gd name="adj2" fmla="val 49167"/>
            </a:avLst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0135" name="AutoShape 7"/>
          <p:cNvSpPr>
            <a:spLocks/>
          </p:cNvSpPr>
          <p:nvPr/>
        </p:nvSpPr>
        <p:spPr bwMode="auto">
          <a:xfrm rot="5400000" flipH="1">
            <a:off x="5372100" y="1943100"/>
            <a:ext cx="228600" cy="2133600"/>
          </a:xfrm>
          <a:prstGeom prst="leftBrace">
            <a:avLst>
              <a:gd name="adj1" fmla="val 77778"/>
              <a:gd name="adj2" fmla="val 49167"/>
            </a:avLst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560136" name="Text Box 8"/>
          <p:cNvSpPr txBox="1">
            <a:spLocks noChangeArrowheads="1"/>
          </p:cNvSpPr>
          <p:nvPr/>
        </p:nvSpPr>
        <p:spPr bwMode="auto">
          <a:xfrm>
            <a:off x="2590800" y="3214688"/>
            <a:ext cx="12192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P(t)</a:t>
            </a:r>
          </a:p>
        </p:txBody>
      </p:sp>
      <p:sp>
        <p:nvSpPr>
          <p:cNvPr id="560137" name="Text Box 9"/>
          <p:cNvSpPr txBox="1">
            <a:spLocks noChangeArrowheads="1"/>
          </p:cNvSpPr>
          <p:nvPr/>
        </p:nvSpPr>
        <p:spPr bwMode="auto">
          <a:xfrm>
            <a:off x="5029200" y="3214688"/>
            <a:ext cx="1219200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/>
              <a:t>P(t)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635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0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0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0133" grpId="0"/>
      <p:bldP spid="560134" grpId="0" animBg="1"/>
      <p:bldP spid="560135" grpId="0" animBg="1"/>
      <p:bldP spid="560136" grpId="0"/>
      <p:bldP spid="5601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2 </a:t>
            </a:r>
          </a:p>
        </p:txBody>
      </p:sp>
      <p:sp>
        <p:nvSpPr>
          <p:cNvPr id="5621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572000"/>
          </a:xfrm>
        </p:spPr>
        <p:txBody>
          <a:bodyPr>
            <a:normAutofit/>
          </a:bodyPr>
          <a:lstStyle/>
          <a:p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30000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t </a:t>
            </a:r>
            <a:r>
              <a:rPr lang="en-US" dirty="0" err="1"/>
              <a:t>thuộc</a:t>
            </a:r>
            <a:r>
              <a:rPr lang="en-US" dirty="0"/>
              <a:t> NHANVIEN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30000</a:t>
            </a:r>
          </a:p>
          <a:p>
            <a:pPr lvl="1"/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MANV </a:t>
            </a:r>
            <a:r>
              <a:rPr lang="en-US" dirty="0" err="1"/>
              <a:t>và</a:t>
            </a:r>
            <a:r>
              <a:rPr lang="en-US" dirty="0"/>
              <a:t> TENNV</a:t>
            </a:r>
          </a:p>
          <a:p>
            <a:pPr lvl="1"/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lvl="1"/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MANV </a:t>
            </a:r>
            <a:r>
              <a:rPr lang="en-US" dirty="0" err="1"/>
              <a:t>và</a:t>
            </a:r>
            <a:r>
              <a:rPr lang="en-US" dirty="0"/>
              <a:t> TENNV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t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NHANVIEN </a:t>
            </a:r>
            <a:r>
              <a:rPr lang="en-US" dirty="0" err="1"/>
              <a:t>và</a:t>
            </a:r>
            <a:r>
              <a:rPr lang="en-US" dirty="0"/>
              <a:t> t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30000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LUONG</a:t>
            </a:r>
          </a:p>
        </p:txBody>
      </p:sp>
      <p:sp>
        <p:nvSpPr>
          <p:cNvPr id="562185" name="Text Box 9"/>
          <p:cNvSpPr txBox="1">
            <a:spLocks noChangeArrowheads="1"/>
          </p:cNvSpPr>
          <p:nvPr/>
        </p:nvSpPr>
        <p:spPr bwMode="auto">
          <a:xfrm>
            <a:off x="937146" y="3721881"/>
            <a:ext cx="7543800" cy="4270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{ </a:t>
            </a:r>
            <a:r>
              <a:rPr lang="en-US" sz="2200" dirty="0" err="1">
                <a:sym typeface="Symbol" pitchFamily="18" charset="2"/>
              </a:rPr>
              <a:t>t.MANV</a:t>
            </a:r>
            <a:r>
              <a:rPr lang="en-US" sz="2200" dirty="0">
                <a:sym typeface="Symbol" pitchFamily="18" charset="2"/>
              </a:rPr>
              <a:t>, </a:t>
            </a:r>
            <a:r>
              <a:rPr lang="en-US" sz="2200" dirty="0" err="1">
                <a:sym typeface="Symbol" pitchFamily="18" charset="2"/>
              </a:rPr>
              <a:t>t.TENNV</a:t>
            </a:r>
            <a:r>
              <a:rPr lang="en-US" sz="2200" dirty="0">
                <a:sym typeface="Symbol" pitchFamily="18" charset="2"/>
              </a:rPr>
              <a:t> | t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NHANVIEN </a:t>
            </a:r>
            <a:r>
              <a:rPr lang="en-US" sz="2200" b="1" dirty="0">
                <a:sym typeface="Symbol" pitchFamily="18" charset="2"/>
              </a:rPr>
              <a:t>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t.LUONG</a:t>
            </a:r>
            <a:r>
              <a:rPr lang="en-US" sz="2200" dirty="0">
                <a:sym typeface="Symbol" pitchFamily="18" charset="2"/>
              </a:rPr>
              <a:t> &gt; 30000 }</a:t>
            </a:r>
            <a:endParaRPr lang="en-US" sz="4000" baseline="-25000" dirty="0">
              <a:sym typeface="Symbol" pitchFamily="18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768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2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2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3 </a:t>
            </a:r>
          </a:p>
        </p:txBody>
      </p:sp>
      <p:sp>
        <p:nvSpPr>
          <p:cNvPr id="566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(MANV)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ở </a:t>
            </a:r>
            <a:r>
              <a:rPr lang="en-US" dirty="0" err="1"/>
              <a:t>phòng</a:t>
            </a:r>
            <a:r>
              <a:rPr lang="en-US" dirty="0"/>
              <a:t> ‘</a:t>
            </a:r>
            <a:r>
              <a:rPr lang="en-US" dirty="0" err="1"/>
              <a:t>Nghien</a:t>
            </a:r>
            <a:r>
              <a:rPr lang="en-US" dirty="0"/>
              <a:t> </a:t>
            </a:r>
            <a:r>
              <a:rPr lang="en-US" dirty="0" err="1"/>
              <a:t>cuu</a:t>
            </a:r>
            <a:r>
              <a:rPr lang="en-US" dirty="0"/>
              <a:t>’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t </a:t>
            </a:r>
            <a:r>
              <a:rPr lang="en-US" dirty="0" err="1"/>
              <a:t>thuộc</a:t>
            </a:r>
            <a:r>
              <a:rPr lang="en-US" dirty="0"/>
              <a:t> NHANVIEN</a:t>
            </a:r>
          </a:p>
          <a:p>
            <a:pPr lvl="1" algn="just"/>
            <a:r>
              <a:rPr lang="en-US" dirty="0"/>
              <a:t>So </a:t>
            </a:r>
            <a:r>
              <a:rPr lang="en-US" dirty="0" err="1"/>
              <a:t>sánh</a:t>
            </a:r>
            <a:r>
              <a:rPr lang="en-US" dirty="0"/>
              <a:t> t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s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ở </a:t>
            </a:r>
            <a:r>
              <a:rPr lang="en-US" dirty="0" err="1"/>
              <a:t>phòng</a:t>
            </a:r>
            <a:r>
              <a:rPr lang="en-US" dirty="0"/>
              <a:t> ‘</a:t>
            </a:r>
            <a:r>
              <a:rPr lang="en-US" dirty="0" err="1"/>
              <a:t>Nghien</a:t>
            </a:r>
            <a:r>
              <a:rPr lang="en-US" dirty="0"/>
              <a:t> </a:t>
            </a:r>
            <a:r>
              <a:rPr lang="en-US" dirty="0" err="1"/>
              <a:t>cuu</a:t>
            </a:r>
            <a:r>
              <a:rPr lang="en-US" dirty="0"/>
              <a:t>’</a:t>
            </a:r>
          </a:p>
          <a:p>
            <a:pPr lvl="1" algn="just"/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“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”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logic</a:t>
            </a:r>
          </a:p>
        </p:txBody>
      </p:sp>
      <p:sp>
        <p:nvSpPr>
          <p:cNvPr id="566279" name="Text Box 7"/>
          <p:cNvSpPr txBox="1">
            <a:spLocks noChangeArrowheads="1"/>
          </p:cNvSpPr>
          <p:nvPr/>
        </p:nvSpPr>
        <p:spPr bwMode="auto">
          <a:xfrm>
            <a:off x="1752600" y="3001963"/>
            <a:ext cx="5791200" cy="4270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s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PHONGBAN </a:t>
            </a:r>
            <a:r>
              <a:rPr lang="en-US" sz="2200" b="1" dirty="0">
                <a:sym typeface="Symbol" pitchFamily="18" charset="2"/>
              </a:rPr>
              <a:t>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s.TENPHG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</a:t>
            </a:r>
            <a:r>
              <a:rPr lang="en-US" sz="2200" dirty="0">
                <a:sym typeface="Symbol" pitchFamily="18" charset="2"/>
              </a:rPr>
              <a:t> ‘</a:t>
            </a:r>
            <a:r>
              <a:rPr lang="en-US" sz="2200" dirty="0" err="1">
                <a:sym typeface="Symbol" pitchFamily="18" charset="2"/>
              </a:rPr>
              <a:t>Nghien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cuu</a:t>
            </a:r>
            <a:r>
              <a:rPr lang="en-US" sz="2200" dirty="0">
                <a:sym typeface="Symbol" pitchFamily="18" charset="2"/>
              </a:rPr>
              <a:t>’ </a:t>
            </a:r>
            <a:endParaRPr lang="en-US" sz="4000" baseline="-25000" dirty="0">
              <a:sym typeface="Symbol" pitchFamily="18" charset="2"/>
            </a:endParaRPr>
          </a:p>
        </p:txBody>
      </p:sp>
      <p:sp>
        <p:nvSpPr>
          <p:cNvPr id="566280" name="Text Box 8"/>
          <p:cNvSpPr txBox="1">
            <a:spLocks noChangeArrowheads="1"/>
          </p:cNvSpPr>
          <p:nvPr/>
        </p:nvSpPr>
        <p:spPr bwMode="auto">
          <a:xfrm>
            <a:off x="1828800" y="2468562"/>
            <a:ext cx="3429000" cy="4270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 err="1">
                <a:sym typeface="Symbol" pitchFamily="18" charset="2"/>
              </a:rPr>
              <a:t>t.MANV</a:t>
            </a:r>
            <a:r>
              <a:rPr lang="en-US" sz="2200" dirty="0">
                <a:sym typeface="Symbol" pitchFamily="18" charset="2"/>
              </a:rPr>
              <a:t> | t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NHANVIEN</a:t>
            </a:r>
            <a:endParaRPr lang="en-US" sz="4000" baseline="-25000" dirty="0">
              <a:sym typeface="Symbol" pitchFamily="18" charset="2"/>
            </a:endParaRPr>
          </a:p>
        </p:txBody>
      </p:sp>
      <p:sp>
        <p:nvSpPr>
          <p:cNvPr id="566281" name="Text Box 9"/>
          <p:cNvSpPr txBox="1">
            <a:spLocks noChangeArrowheads="1"/>
          </p:cNvSpPr>
          <p:nvPr/>
        </p:nvSpPr>
        <p:spPr bwMode="auto">
          <a:xfrm>
            <a:off x="2971800" y="5334000"/>
            <a:ext cx="2209800" cy="50165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600" b="1">
                <a:sym typeface="Symbol" pitchFamily="18" charset="2"/>
              </a:rPr>
              <a:t></a:t>
            </a:r>
            <a:r>
              <a:rPr lang="en-US" sz="2600">
                <a:sym typeface="Symbol" pitchFamily="18" charset="2"/>
              </a:rPr>
              <a:t>t </a:t>
            </a:r>
            <a:r>
              <a:rPr lang="en-US" sz="2600" b="1">
                <a:sym typeface="Symbol" pitchFamily="18" charset="2"/>
              </a:rPr>
              <a:t></a:t>
            </a:r>
            <a:r>
              <a:rPr lang="en-US" sz="2600">
                <a:sym typeface="Symbol" pitchFamily="18" charset="2"/>
              </a:rPr>
              <a:t> R (Q(t))</a:t>
            </a:r>
          </a:p>
        </p:txBody>
      </p:sp>
      <p:sp>
        <p:nvSpPr>
          <p:cNvPr id="566282" name="Text Box 10"/>
          <p:cNvSpPr txBox="1">
            <a:spLocks noChangeArrowheads="1"/>
          </p:cNvSpPr>
          <p:nvPr/>
        </p:nvSpPr>
        <p:spPr bwMode="auto">
          <a:xfrm>
            <a:off x="990600" y="6019800"/>
            <a:ext cx="609600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dirty="0" err="1">
                <a:sym typeface="Symbol" pitchFamily="18" charset="2"/>
              </a:rPr>
              <a:t>Tồn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tại</a:t>
            </a:r>
            <a:r>
              <a:rPr lang="en-US" dirty="0">
                <a:sym typeface="Symbol" pitchFamily="18" charset="2"/>
              </a:rPr>
              <a:t> 1 </a:t>
            </a:r>
            <a:r>
              <a:rPr lang="en-US" dirty="0" err="1">
                <a:sym typeface="Symbol" pitchFamily="18" charset="2"/>
              </a:rPr>
              <a:t>bộ</a:t>
            </a:r>
            <a:r>
              <a:rPr lang="en-US" dirty="0">
                <a:sym typeface="Symbol" pitchFamily="18" charset="2"/>
              </a:rPr>
              <a:t> t </a:t>
            </a:r>
            <a:r>
              <a:rPr lang="en-US" dirty="0" err="1">
                <a:sym typeface="Symbol" pitchFamily="18" charset="2"/>
              </a:rPr>
              <a:t>thuộc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quan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hệ</a:t>
            </a:r>
            <a:r>
              <a:rPr lang="en-US" dirty="0">
                <a:sym typeface="Symbol" pitchFamily="18" charset="2"/>
              </a:rPr>
              <a:t> R </a:t>
            </a:r>
            <a:r>
              <a:rPr lang="en-US" dirty="0" err="1">
                <a:sym typeface="Symbol" pitchFamily="18" charset="2"/>
              </a:rPr>
              <a:t>sao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cho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vị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từ</a:t>
            </a:r>
            <a:r>
              <a:rPr lang="en-US" dirty="0">
                <a:sym typeface="Symbol" pitchFamily="18" charset="2"/>
              </a:rPr>
              <a:t> Q(t) </a:t>
            </a:r>
            <a:r>
              <a:rPr lang="en-US" dirty="0" err="1">
                <a:sym typeface="Symbol" pitchFamily="18" charset="2"/>
              </a:rPr>
              <a:t>đúng</a:t>
            </a:r>
            <a:endParaRPr lang="en-US" dirty="0">
              <a:sym typeface="Symbol" pitchFamily="18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48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3 </a:t>
            </a:r>
          </a:p>
        </p:txBody>
      </p:sp>
      <p:sp>
        <p:nvSpPr>
          <p:cNvPr id="5683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(MANV)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ở </a:t>
            </a:r>
            <a:r>
              <a:rPr lang="en-US" dirty="0" err="1"/>
              <a:t>phòng</a:t>
            </a:r>
            <a:r>
              <a:rPr lang="en-US" dirty="0"/>
              <a:t> ‘</a:t>
            </a:r>
            <a:r>
              <a:rPr lang="en-US" dirty="0" err="1"/>
              <a:t>Nghien</a:t>
            </a:r>
            <a:r>
              <a:rPr lang="en-US" dirty="0"/>
              <a:t> </a:t>
            </a:r>
            <a:r>
              <a:rPr lang="en-US" dirty="0" err="1"/>
              <a:t>cuu</a:t>
            </a:r>
            <a:r>
              <a:rPr lang="en-US" dirty="0"/>
              <a:t>’</a:t>
            </a:r>
          </a:p>
        </p:txBody>
      </p:sp>
      <p:grpSp>
        <p:nvGrpSpPr>
          <p:cNvPr id="568339" name="Group 19"/>
          <p:cNvGrpSpPr>
            <a:grpSpLocks/>
          </p:cNvGrpSpPr>
          <p:nvPr/>
        </p:nvGrpSpPr>
        <p:grpSpPr bwMode="auto">
          <a:xfrm>
            <a:off x="3276600" y="3733801"/>
            <a:ext cx="4191000" cy="1589088"/>
            <a:chOff x="2064" y="2352"/>
            <a:chExt cx="2640" cy="1001"/>
          </a:xfrm>
        </p:grpSpPr>
        <p:sp>
          <p:nvSpPr>
            <p:cNvPr id="568336" name="Rectangle 16"/>
            <p:cNvSpPr>
              <a:spLocks noChangeArrowheads="1"/>
            </p:cNvSpPr>
            <p:nvPr/>
          </p:nvSpPr>
          <p:spPr bwMode="auto">
            <a:xfrm>
              <a:off x="2064" y="2352"/>
              <a:ext cx="2208" cy="62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8337" name="Text Box 17"/>
            <p:cNvSpPr txBox="1">
              <a:spLocks noChangeArrowheads="1"/>
            </p:cNvSpPr>
            <p:nvPr/>
          </p:nvSpPr>
          <p:spPr bwMode="auto">
            <a:xfrm>
              <a:off x="4032" y="3120"/>
              <a:ext cx="672" cy="233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b="1" dirty="0"/>
                <a:t>Q(s)</a:t>
              </a:r>
            </a:p>
          </p:txBody>
        </p:sp>
        <p:sp>
          <p:nvSpPr>
            <p:cNvPr id="568338" name="Line 18"/>
            <p:cNvSpPr>
              <a:spLocks noChangeShapeType="1"/>
            </p:cNvSpPr>
            <p:nvPr/>
          </p:nvSpPr>
          <p:spPr bwMode="auto">
            <a:xfrm>
              <a:off x="4128" y="2880"/>
              <a:ext cx="144" cy="288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68324" name="Text Box 4"/>
          <p:cNvSpPr txBox="1">
            <a:spLocks noChangeArrowheads="1"/>
          </p:cNvSpPr>
          <p:nvPr/>
        </p:nvSpPr>
        <p:spPr bwMode="auto">
          <a:xfrm>
            <a:off x="1447800" y="2711450"/>
            <a:ext cx="5867400" cy="1936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{ </a:t>
            </a:r>
            <a:r>
              <a:rPr lang="en-US" sz="2200" dirty="0" err="1">
                <a:sym typeface="Symbol" pitchFamily="18" charset="2"/>
              </a:rPr>
              <a:t>t.MANV</a:t>
            </a:r>
            <a:r>
              <a:rPr lang="en-US" sz="2200" dirty="0">
                <a:sym typeface="Symbol" pitchFamily="18" charset="2"/>
              </a:rPr>
              <a:t> | t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NHANVIEN </a:t>
            </a:r>
            <a:r>
              <a:rPr lang="en-US" sz="2200" b="1" dirty="0">
                <a:sym typeface="Symbol" pitchFamily="18" charset="2"/>
              </a:rPr>
              <a:t></a:t>
            </a:r>
            <a:r>
              <a:rPr lang="en-US" sz="2200" dirty="0">
                <a:sym typeface="Symbol" pitchFamily="18" charset="2"/>
              </a:rPr>
              <a:t> </a:t>
            </a:r>
          </a:p>
          <a:p>
            <a:pPr algn="l"/>
            <a:r>
              <a:rPr lang="en-US" sz="2200" dirty="0">
                <a:sym typeface="Symbol" pitchFamily="18" charset="2"/>
              </a:rPr>
              <a:t>	</a:t>
            </a:r>
            <a:r>
              <a:rPr lang="en-US" sz="2200" b="1" dirty="0">
                <a:sym typeface="Symbol" pitchFamily="18" charset="2"/>
              </a:rPr>
              <a:t></a:t>
            </a:r>
            <a:r>
              <a:rPr lang="en-US" sz="2200" dirty="0">
                <a:sym typeface="Symbol" pitchFamily="18" charset="2"/>
              </a:rPr>
              <a:t>s  PHONGBAN ( </a:t>
            </a:r>
          </a:p>
          <a:p>
            <a:pPr algn="l"/>
            <a:r>
              <a:rPr lang="en-US" sz="2200" dirty="0">
                <a:sym typeface="Symbol" pitchFamily="18" charset="2"/>
              </a:rPr>
              <a:t>		</a:t>
            </a:r>
            <a:r>
              <a:rPr lang="en-US" sz="2200" dirty="0" err="1">
                <a:sym typeface="Symbol" pitchFamily="18" charset="2"/>
              </a:rPr>
              <a:t>s.TENPHG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</a:t>
            </a:r>
            <a:r>
              <a:rPr lang="en-US" sz="2200" dirty="0">
                <a:sym typeface="Symbol" pitchFamily="18" charset="2"/>
              </a:rPr>
              <a:t> ‘</a:t>
            </a:r>
            <a:r>
              <a:rPr lang="en-US" sz="2200" dirty="0" err="1">
                <a:sym typeface="Symbol" pitchFamily="18" charset="2"/>
              </a:rPr>
              <a:t>Nghien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cuu</a:t>
            </a:r>
            <a:r>
              <a:rPr lang="en-US" sz="2200" dirty="0">
                <a:sym typeface="Symbol" pitchFamily="18" charset="2"/>
              </a:rPr>
              <a:t>’ </a:t>
            </a:r>
            <a:r>
              <a:rPr lang="en-US" sz="2200" b="1" dirty="0">
                <a:sym typeface="Symbol" pitchFamily="18" charset="2"/>
              </a:rPr>
              <a:t></a:t>
            </a:r>
          </a:p>
          <a:p>
            <a:pPr algn="l"/>
            <a:r>
              <a:rPr lang="en-US" sz="2200" dirty="0">
                <a:sym typeface="Symbol" pitchFamily="18" charset="2"/>
              </a:rPr>
              <a:t>		</a:t>
            </a:r>
            <a:r>
              <a:rPr lang="en-US" sz="2200" dirty="0" err="1">
                <a:sym typeface="Symbol" pitchFamily="18" charset="2"/>
              </a:rPr>
              <a:t>s.MAPHG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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t.PHG</a:t>
            </a:r>
            <a:r>
              <a:rPr lang="en-US" sz="2200" dirty="0">
                <a:sym typeface="Symbol" pitchFamily="18" charset="2"/>
              </a:rPr>
              <a:t> 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49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8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8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7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4 </a:t>
            </a:r>
          </a:p>
        </p:txBody>
      </p:sp>
      <p:sp>
        <p:nvSpPr>
          <p:cNvPr id="570378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(TENNV)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đê</a:t>
            </a:r>
            <a:r>
              <a:rPr lang="en-US" dirty="0"/>
              <a:t>̀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dirty="0"/>
          </a:p>
        </p:txBody>
      </p:sp>
      <p:sp>
        <p:nvSpPr>
          <p:cNvPr id="570379" name="Text Box 11"/>
          <p:cNvSpPr txBox="1">
            <a:spLocks noChangeArrowheads="1"/>
          </p:cNvSpPr>
          <p:nvPr/>
        </p:nvSpPr>
        <p:spPr bwMode="auto">
          <a:xfrm>
            <a:off x="914400" y="2627313"/>
            <a:ext cx="7543800" cy="16176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>
                <a:sym typeface="Symbol" pitchFamily="18" charset="2"/>
              </a:rPr>
              <a:t>{ t.TENNV | t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NHANVIEN </a:t>
            </a:r>
            <a:r>
              <a:rPr lang="en-US" sz="2200" b="1">
                <a:sym typeface="Symbol" pitchFamily="18" charset="2"/>
              </a:rPr>
              <a:t></a:t>
            </a:r>
            <a:r>
              <a:rPr lang="en-US" sz="2200">
                <a:sym typeface="Symbol" pitchFamily="18" charset="2"/>
              </a:rPr>
              <a:t> (</a:t>
            </a:r>
          </a:p>
          <a:p>
            <a:pPr algn="l"/>
            <a:r>
              <a:rPr lang="en-US" sz="2600" b="1">
                <a:sym typeface="Symbol" pitchFamily="18" charset="2"/>
              </a:rPr>
              <a:t>	</a:t>
            </a:r>
            <a:r>
              <a:rPr lang="en-US" sz="2200">
                <a:sym typeface="Symbol" pitchFamily="18" charset="2"/>
              </a:rPr>
              <a:t>s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PHANCONG (t.MANV </a:t>
            </a:r>
            <a:r>
              <a:rPr lang="en-US" sz="2200" b="1">
                <a:sym typeface="Symbol" pitchFamily="18" charset="2"/>
              </a:rPr>
              <a:t></a:t>
            </a:r>
            <a:r>
              <a:rPr lang="en-US" sz="2200">
                <a:sym typeface="Symbol" pitchFamily="18" charset="2"/>
              </a:rPr>
              <a:t> s.MA_NVIEN) </a:t>
            </a:r>
            <a:r>
              <a:rPr lang="en-US" sz="2200" b="1">
                <a:sym typeface="Symbol" pitchFamily="18" charset="2"/>
              </a:rPr>
              <a:t></a:t>
            </a:r>
          </a:p>
          <a:p>
            <a:pPr algn="l"/>
            <a:r>
              <a:rPr lang="en-US" sz="2200">
                <a:sym typeface="Symbol" pitchFamily="18" charset="2"/>
              </a:rPr>
              <a:t> 	</a:t>
            </a:r>
            <a:r>
              <a:rPr lang="en-US" sz="2600" b="1">
                <a:sym typeface="Symbol" pitchFamily="18" charset="2"/>
              </a:rPr>
              <a:t></a:t>
            </a:r>
            <a:r>
              <a:rPr lang="en-US" sz="2200">
                <a:sym typeface="Symbol" pitchFamily="18" charset="2"/>
              </a:rPr>
              <a:t>u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THANNHAN (t.MANV </a:t>
            </a:r>
            <a:r>
              <a:rPr lang="en-US" sz="2200" b="1">
                <a:sym typeface="Symbol" pitchFamily="18" charset="2"/>
              </a:rPr>
              <a:t></a:t>
            </a:r>
            <a:r>
              <a:rPr lang="en-US" sz="2200">
                <a:sym typeface="Symbol" pitchFamily="18" charset="2"/>
              </a:rPr>
              <a:t> u.MA_NVIEN))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154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0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0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5 </a:t>
            </a:r>
          </a:p>
        </p:txBody>
      </p:sp>
      <p:sp>
        <p:nvSpPr>
          <p:cNvPr id="572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(TENNV)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đê</a:t>
            </a:r>
            <a:r>
              <a:rPr lang="en-US" dirty="0"/>
              <a:t>̀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dirty="0"/>
          </a:p>
        </p:txBody>
      </p:sp>
      <p:sp>
        <p:nvSpPr>
          <p:cNvPr id="572420" name="Text Box 4"/>
          <p:cNvSpPr txBox="1">
            <a:spLocks noChangeArrowheads="1"/>
          </p:cNvSpPr>
          <p:nvPr/>
        </p:nvSpPr>
        <p:spPr bwMode="auto">
          <a:xfrm>
            <a:off x="914400" y="2627313"/>
            <a:ext cx="7543800" cy="16176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>
                <a:sym typeface="Symbol" pitchFamily="18" charset="2"/>
              </a:rPr>
              <a:t>{ t.TENNV | t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NHANVIEN </a:t>
            </a:r>
            <a:r>
              <a:rPr lang="en-US" sz="2200" b="1">
                <a:sym typeface="Symbol" pitchFamily="18" charset="2"/>
              </a:rPr>
              <a:t></a:t>
            </a:r>
            <a:r>
              <a:rPr lang="en-US" sz="2200">
                <a:sym typeface="Symbol" pitchFamily="18" charset="2"/>
              </a:rPr>
              <a:t> (</a:t>
            </a:r>
          </a:p>
          <a:p>
            <a:pPr algn="l"/>
            <a:r>
              <a:rPr lang="en-US" sz="2200">
                <a:sym typeface="Symbol" pitchFamily="18" charset="2"/>
              </a:rPr>
              <a:t>	</a:t>
            </a:r>
            <a:r>
              <a:rPr lang="en-US" sz="2600" b="1">
                <a:sym typeface="Symbol" pitchFamily="18" charset="2"/>
              </a:rPr>
              <a:t></a:t>
            </a:r>
            <a:r>
              <a:rPr lang="en-US" sz="2200">
                <a:sym typeface="Symbol" pitchFamily="18" charset="2"/>
              </a:rPr>
              <a:t>s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PHANCONG (t.MANV </a:t>
            </a:r>
            <a:r>
              <a:rPr lang="en-US" sz="2200" b="1">
                <a:sym typeface="Symbol" pitchFamily="18" charset="2"/>
              </a:rPr>
              <a:t></a:t>
            </a:r>
            <a:r>
              <a:rPr lang="en-US" sz="2200">
                <a:sym typeface="Symbol" pitchFamily="18" charset="2"/>
              </a:rPr>
              <a:t> s.MA_NVIEN) </a:t>
            </a:r>
            <a:r>
              <a:rPr lang="en-US" sz="2200" b="1">
                <a:sym typeface="Symbol" pitchFamily="18" charset="2"/>
              </a:rPr>
              <a:t></a:t>
            </a:r>
            <a:r>
              <a:rPr lang="en-US" sz="2200">
                <a:sym typeface="Symbol" pitchFamily="18" charset="2"/>
              </a:rPr>
              <a:t> </a:t>
            </a:r>
          </a:p>
          <a:p>
            <a:pPr algn="l"/>
            <a:r>
              <a:rPr lang="en-US" sz="2600" b="1">
                <a:sym typeface="Symbol" pitchFamily="18" charset="2"/>
              </a:rPr>
              <a:t>	</a:t>
            </a:r>
            <a:r>
              <a:rPr lang="en-US" sz="2200">
                <a:sym typeface="Symbol" pitchFamily="18" charset="2"/>
              </a:rPr>
              <a:t>u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THANNHAN (t.MANV </a:t>
            </a:r>
            <a:r>
              <a:rPr lang="en-US" sz="2200" b="1">
                <a:sym typeface="Symbol" pitchFamily="18" charset="2"/>
              </a:rPr>
              <a:t></a:t>
            </a:r>
            <a:r>
              <a:rPr lang="en-US" sz="2200">
                <a:sym typeface="Symbol" pitchFamily="18" charset="2"/>
              </a:rPr>
              <a:t> u.MA_NVIEN))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215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/>
              <a:t>Ví dụ 6 </a:t>
            </a:r>
          </a:p>
        </p:txBody>
      </p:sp>
      <p:sp>
        <p:nvSpPr>
          <p:cNvPr id="5744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(TENNV)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đê</a:t>
            </a:r>
            <a:r>
              <a:rPr lang="en-US" dirty="0"/>
              <a:t>̀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</p:txBody>
      </p:sp>
      <p:sp>
        <p:nvSpPr>
          <p:cNvPr id="574468" name="Text Box 4"/>
          <p:cNvSpPr txBox="1">
            <a:spLocks noChangeArrowheads="1"/>
          </p:cNvSpPr>
          <p:nvPr/>
        </p:nvSpPr>
        <p:spPr bwMode="auto">
          <a:xfrm>
            <a:off x="762000" y="2627313"/>
            <a:ext cx="7772400" cy="16176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{ </a:t>
            </a:r>
            <a:r>
              <a:rPr lang="en-US" sz="2200" dirty="0" err="1">
                <a:sym typeface="Symbol" pitchFamily="18" charset="2"/>
              </a:rPr>
              <a:t>t.TENNV</a:t>
            </a:r>
            <a:r>
              <a:rPr lang="en-US" sz="2200" dirty="0">
                <a:sym typeface="Symbol" pitchFamily="18" charset="2"/>
              </a:rPr>
              <a:t> | t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NHANVIEN </a:t>
            </a:r>
            <a:r>
              <a:rPr lang="en-US" sz="2200" b="1" dirty="0">
                <a:sym typeface="Symbol" pitchFamily="18" charset="2"/>
              </a:rPr>
              <a:t></a:t>
            </a:r>
          </a:p>
          <a:p>
            <a:pPr algn="l"/>
            <a:r>
              <a:rPr lang="en-US" sz="2600" b="1" dirty="0">
                <a:sym typeface="Symbol" pitchFamily="18" charset="2"/>
              </a:rPr>
              <a:t>	</a:t>
            </a:r>
            <a:r>
              <a:rPr lang="en-US" sz="2200" dirty="0">
                <a:sym typeface="Symbol" pitchFamily="18" charset="2"/>
              </a:rPr>
              <a:t>s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PHANCONG (</a:t>
            </a:r>
            <a:r>
              <a:rPr lang="en-US" sz="2200" dirty="0" err="1">
                <a:sym typeface="Symbol" pitchFamily="18" charset="2"/>
              </a:rPr>
              <a:t>t.MANV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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s.MA_NVIEN</a:t>
            </a:r>
            <a:r>
              <a:rPr lang="en-US" sz="2200" dirty="0">
                <a:sym typeface="Symbol" pitchFamily="18" charset="2"/>
              </a:rPr>
              <a:t>) </a:t>
            </a:r>
            <a:r>
              <a:rPr lang="en-US" sz="2200" b="1" dirty="0">
                <a:sym typeface="Symbol" pitchFamily="18" charset="2"/>
              </a:rPr>
              <a:t></a:t>
            </a:r>
            <a:r>
              <a:rPr lang="en-US" sz="2200" dirty="0">
                <a:sym typeface="Symbol" pitchFamily="18" charset="2"/>
              </a:rPr>
              <a:t> </a:t>
            </a:r>
          </a:p>
          <a:p>
            <a:pPr algn="l"/>
            <a:r>
              <a:rPr lang="en-US" sz="2500" b="1" dirty="0">
                <a:sym typeface="Symbol" pitchFamily="18" charset="2"/>
              </a:rPr>
              <a:t>	 </a:t>
            </a:r>
            <a:r>
              <a:rPr lang="en-US" sz="2600" b="1" dirty="0">
                <a:sym typeface="Symbol" pitchFamily="18" charset="2"/>
              </a:rPr>
              <a:t></a:t>
            </a:r>
            <a:r>
              <a:rPr lang="en-US" sz="2200" dirty="0">
                <a:sym typeface="Symbol" pitchFamily="18" charset="2"/>
              </a:rPr>
              <a:t>u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THANNHAN (</a:t>
            </a:r>
            <a:r>
              <a:rPr lang="en-US" sz="2200" dirty="0" err="1">
                <a:sym typeface="Symbol" pitchFamily="18" charset="2"/>
              </a:rPr>
              <a:t>t.MANV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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u.MA_NVIEN</a:t>
            </a:r>
            <a:r>
              <a:rPr lang="en-US" sz="2200" dirty="0">
                <a:sym typeface="Symbol" pitchFamily="18" charset="2"/>
              </a:rPr>
              <a:t>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888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/>
              <a:t>Ví dụ 7 </a:t>
            </a:r>
          </a:p>
        </p:txBody>
      </p:sp>
      <p:sp>
        <p:nvSpPr>
          <p:cNvPr id="6236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pPr algn="just"/>
            <a:r>
              <a:rPr lang="en-US" dirty="0" err="1"/>
              <a:t>Với</a:t>
            </a:r>
            <a:r>
              <a:rPr lang="en-US" dirty="0"/>
              <a:t> </a:t>
            </a:r>
            <a:r>
              <a:rPr lang="en-US" dirty="0" err="1"/>
              <a:t>mỗi</a:t>
            </a:r>
            <a:r>
              <a:rPr lang="en-US" dirty="0"/>
              <a:t> </a:t>
            </a:r>
            <a:r>
              <a:rPr lang="en-US" dirty="0" err="1"/>
              <a:t>đê</a:t>
            </a:r>
            <a:r>
              <a:rPr lang="en-US" dirty="0"/>
              <a:t>̀ </a:t>
            </a:r>
            <a:r>
              <a:rPr lang="en-US" dirty="0" err="1"/>
              <a:t>án</a:t>
            </a:r>
            <a:r>
              <a:rPr lang="en-US" dirty="0"/>
              <a:t> ở ‘TP HCM’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biết</a:t>
            </a:r>
            <a:r>
              <a:rPr lang="en-US" dirty="0"/>
              <a:t> mã </a:t>
            </a:r>
            <a:r>
              <a:rPr lang="en-US" dirty="0" err="1"/>
              <a:t>đê</a:t>
            </a:r>
            <a:r>
              <a:rPr lang="en-US" dirty="0"/>
              <a:t>̀ </a:t>
            </a:r>
            <a:r>
              <a:rPr lang="en-US" dirty="0" err="1"/>
              <a:t>án</a:t>
            </a:r>
            <a:r>
              <a:rPr lang="en-US" dirty="0"/>
              <a:t>, mã </a:t>
            </a:r>
            <a:r>
              <a:rPr lang="en-US" dirty="0" err="1"/>
              <a:t>phòng</a:t>
            </a:r>
            <a:r>
              <a:rPr lang="en-US" dirty="0"/>
              <a:t> ban </a:t>
            </a:r>
            <a:r>
              <a:rPr lang="en-US" dirty="0" err="1"/>
              <a:t>chu</a:t>
            </a:r>
            <a:r>
              <a:rPr lang="en-US" dirty="0"/>
              <a:t>̉ trì </a:t>
            </a:r>
            <a:r>
              <a:rPr lang="en-US" dirty="0" err="1"/>
              <a:t>va</a:t>
            </a:r>
            <a:r>
              <a:rPr lang="en-US" dirty="0"/>
              <a:t>̀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người</a:t>
            </a:r>
            <a:r>
              <a:rPr lang="en-US" dirty="0"/>
              <a:t> </a:t>
            </a:r>
            <a:r>
              <a:rPr lang="en-US" dirty="0" err="1"/>
              <a:t>trưởng</a:t>
            </a:r>
            <a:r>
              <a:rPr lang="en-US" dirty="0"/>
              <a:t> </a:t>
            </a:r>
            <a:r>
              <a:rPr lang="en-US" dirty="0" err="1"/>
              <a:t>phòng</a:t>
            </a:r>
            <a:endParaRPr lang="en-US" dirty="0"/>
          </a:p>
        </p:txBody>
      </p:sp>
      <p:sp>
        <p:nvSpPr>
          <p:cNvPr id="623620" name="Text Box 4"/>
          <p:cNvSpPr txBox="1">
            <a:spLocks noChangeArrowheads="1"/>
          </p:cNvSpPr>
          <p:nvPr/>
        </p:nvSpPr>
        <p:spPr bwMode="auto">
          <a:xfrm>
            <a:off x="762000" y="2627313"/>
            <a:ext cx="7772400" cy="20288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>
                <a:sym typeface="Symbol" pitchFamily="18" charset="2"/>
              </a:rPr>
              <a:t>{ s.MADA, s.PHONG, t.TENNV | s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DEAN </a:t>
            </a:r>
            <a:r>
              <a:rPr lang="en-US" sz="2200" b="1">
                <a:sym typeface="Symbol" pitchFamily="18" charset="2"/>
              </a:rPr>
              <a:t></a:t>
            </a:r>
            <a:r>
              <a:rPr lang="en-US" sz="2200">
                <a:sym typeface="Symbol" pitchFamily="18" charset="2"/>
              </a:rPr>
              <a:t> t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NHANVIEN </a:t>
            </a:r>
            <a:r>
              <a:rPr lang="en-US" sz="2200" b="1">
                <a:sym typeface="Symbol" pitchFamily="18" charset="2"/>
              </a:rPr>
              <a:t></a:t>
            </a:r>
          </a:p>
          <a:p>
            <a:pPr algn="l"/>
            <a:r>
              <a:rPr lang="en-US" sz="2200">
                <a:sym typeface="Symbol" pitchFamily="18" charset="2"/>
              </a:rPr>
              <a:t>	s.DDIEM_DA </a:t>
            </a:r>
            <a:r>
              <a:rPr lang="en-US" sz="2200" b="1">
                <a:sym typeface="Symbol" pitchFamily="18" charset="2"/>
              </a:rPr>
              <a:t></a:t>
            </a:r>
            <a:r>
              <a:rPr lang="en-US" sz="2200">
                <a:sym typeface="Symbol" pitchFamily="18" charset="2"/>
              </a:rPr>
              <a:t> ‘TP HCM’ </a:t>
            </a:r>
            <a:r>
              <a:rPr lang="en-US" sz="2200" b="1">
                <a:sym typeface="Symbol" pitchFamily="18" charset="2"/>
              </a:rPr>
              <a:t></a:t>
            </a:r>
            <a:r>
              <a:rPr lang="en-US" sz="2200">
                <a:sym typeface="Symbol" pitchFamily="18" charset="2"/>
              </a:rPr>
              <a:t> </a:t>
            </a:r>
          </a:p>
          <a:p>
            <a:pPr algn="l"/>
            <a:r>
              <a:rPr lang="en-US" sz="2600" b="1">
                <a:sym typeface="Symbol" pitchFamily="18" charset="2"/>
              </a:rPr>
              <a:t>	</a:t>
            </a:r>
            <a:r>
              <a:rPr lang="en-US" sz="2200">
                <a:sym typeface="Symbol" pitchFamily="18" charset="2"/>
              </a:rPr>
              <a:t>u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PHONGBAN (s.PHONG </a:t>
            </a:r>
            <a:r>
              <a:rPr lang="en-US" sz="2200" b="1">
                <a:sym typeface="Symbol" pitchFamily="18" charset="2"/>
              </a:rPr>
              <a:t></a:t>
            </a:r>
            <a:r>
              <a:rPr lang="en-US" sz="2200">
                <a:sym typeface="Symbol" pitchFamily="18" charset="2"/>
              </a:rPr>
              <a:t> u.MAPHG </a:t>
            </a:r>
            <a:r>
              <a:rPr lang="en-US" sz="2200" b="1">
                <a:sym typeface="Symbol" pitchFamily="18" charset="2"/>
              </a:rPr>
              <a:t></a:t>
            </a:r>
            <a:r>
              <a:rPr lang="en-US" sz="2200">
                <a:sym typeface="Symbol" pitchFamily="18" charset="2"/>
              </a:rPr>
              <a:t> </a:t>
            </a:r>
          </a:p>
          <a:p>
            <a:pPr algn="l"/>
            <a:r>
              <a:rPr lang="en-US" sz="2200">
                <a:sym typeface="Symbol" pitchFamily="18" charset="2"/>
              </a:rPr>
              <a:t>		u.TRPHG </a:t>
            </a:r>
            <a:r>
              <a:rPr lang="en-US" sz="2200" b="1">
                <a:sym typeface="Symbol" pitchFamily="18" charset="2"/>
              </a:rPr>
              <a:t></a:t>
            </a:r>
            <a:r>
              <a:rPr lang="en-US" sz="2200">
                <a:sym typeface="Symbol" pitchFamily="18" charset="2"/>
              </a:rPr>
              <a:t> t.MANV)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199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3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3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8 </a:t>
            </a:r>
          </a:p>
        </p:txBody>
      </p:sp>
      <p:sp>
        <p:nvSpPr>
          <p:cNvPr id="5765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229600" cy="4530725"/>
          </a:xfrm>
        </p:spPr>
        <p:txBody>
          <a:bodyPr/>
          <a:lstStyle/>
          <a:p>
            <a:pPr algn="just"/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</a:t>
            </a:r>
            <a:r>
              <a:rPr lang="en-US" dirty="0" smtClean="0"/>
              <a:t>MA</a:t>
            </a:r>
            <a:r>
              <a:rPr lang="vi-VN" dirty="0" smtClean="0"/>
              <a:t>NV</a:t>
            </a:r>
            <a:r>
              <a:rPr lang="en-US" dirty="0" smtClean="0"/>
              <a:t>)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u="sng" dirty="0" err="1"/>
              <a:t>tất</a:t>
            </a:r>
            <a:r>
              <a:rPr lang="en-US" u="sng" dirty="0"/>
              <a:t> </a:t>
            </a:r>
            <a:r>
              <a:rPr lang="en-US" u="sng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 smtClean="0"/>
              <a:t>án</a:t>
            </a:r>
            <a:endParaRPr lang="en-US" dirty="0"/>
          </a:p>
          <a:p>
            <a:pPr lvl="1" algn="just"/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“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”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logic</a:t>
            </a:r>
          </a:p>
        </p:txBody>
      </p:sp>
      <p:sp>
        <p:nvSpPr>
          <p:cNvPr id="576517" name="Text Box 5"/>
          <p:cNvSpPr txBox="1">
            <a:spLocks noChangeArrowheads="1"/>
          </p:cNvSpPr>
          <p:nvPr/>
        </p:nvSpPr>
        <p:spPr bwMode="auto">
          <a:xfrm>
            <a:off x="2895600" y="2774950"/>
            <a:ext cx="2209800" cy="50165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600" b="1">
                <a:sym typeface="Symbol" pitchFamily="18" charset="2"/>
              </a:rPr>
              <a:t></a:t>
            </a:r>
            <a:r>
              <a:rPr lang="en-US" sz="2600">
                <a:sym typeface="Symbol" pitchFamily="18" charset="2"/>
              </a:rPr>
              <a:t>t </a:t>
            </a:r>
            <a:r>
              <a:rPr lang="en-US" sz="2600" b="1">
                <a:sym typeface="Symbol" pitchFamily="18" charset="2"/>
              </a:rPr>
              <a:t></a:t>
            </a:r>
            <a:r>
              <a:rPr lang="en-US" sz="2600">
                <a:sym typeface="Symbol" pitchFamily="18" charset="2"/>
              </a:rPr>
              <a:t> R (Q(t))</a:t>
            </a:r>
          </a:p>
        </p:txBody>
      </p:sp>
      <p:sp>
        <p:nvSpPr>
          <p:cNvPr id="576518" name="Text Box 6"/>
          <p:cNvSpPr txBox="1">
            <a:spLocks noChangeArrowheads="1"/>
          </p:cNvSpPr>
          <p:nvPr/>
        </p:nvSpPr>
        <p:spPr bwMode="auto">
          <a:xfrm>
            <a:off x="1905000" y="3429000"/>
            <a:ext cx="419100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dirty="0">
                <a:sym typeface="Symbol" pitchFamily="18" charset="2"/>
              </a:rPr>
              <a:t>Q </a:t>
            </a:r>
            <a:r>
              <a:rPr lang="en-US" dirty="0" err="1">
                <a:sym typeface="Symbol" pitchFamily="18" charset="2"/>
              </a:rPr>
              <a:t>đúng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với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mọi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bộ</a:t>
            </a:r>
            <a:r>
              <a:rPr lang="en-US" dirty="0">
                <a:sym typeface="Symbol" pitchFamily="18" charset="2"/>
              </a:rPr>
              <a:t> t </a:t>
            </a:r>
            <a:r>
              <a:rPr lang="en-US" dirty="0" err="1">
                <a:sym typeface="Symbol" pitchFamily="18" charset="2"/>
              </a:rPr>
              <a:t>thuộc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quan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hệ</a:t>
            </a:r>
            <a:r>
              <a:rPr lang="en-US" dirty="0">
                <a:sym typeface="Symbol" pitchFamily="18" charset="2"/>
              </a:rPr>
              <a:t> R 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050878" y="4038600"/>
            <a:ext cx="7086600" cy="20050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{ </a:t>
            </a:r>
            <a:r>
              <a:rPr lang="en-US" sz="2200" dirty="0" err="1">
                <a:sym typeface="Symbol" pitchFamily="18" charset="2"/>
              </a:rPr>
              <a:t>t.MANV</a:t>
            </a:r>
            <a:r>
              <a:rPr lang="en-US" sz="2200" dirty="0">
                <a:sym typeface="Symbol" pitchFamily="18" charset="2"/>
              </a:rPr>
              <a:t>, </a:t>
            </a:r>
            <a:r>
              <a:rPr lang="en-US" sz="2200" dirty="0" err="1">
                <a:sym typeface="Symbol" pitchFamily="18" charset="2"/>
              </a:rPr>
              <a:t>t.HONV</a:t>
            </a:r>
            <a:r>
              <a:rPr lang="en-US" sz="2200" dirty="0">
                <a:sym typeface="Symbol" pitchFamily="18" charset="2"/>
              </a:rPr>
              <a:t>, </a:t>
            </a:r>
            <a:r>
              <a:rPr lang="en-US" sz="2200" dirty="0" err="1">
                <a:sym typeface="Symbol" pitchFamily="18" charset="2"/>
              </a:rPr>
              <a:t>t.TENNV</a:t>
            </a:r>
            <a:r>
              <a:rPr lang="en-US" sz="2200" dirty="0">
                <a:sym typeface="Symbol" pitchFamily="18" charset="2"/>
              </a:rPr>
              <a:t> | t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NHANVIEN </a:t>
            </a:r>
            <a:r>
              <a:rPr lang="en-US" sz="2200" b="1" dirty="0">
                <a:sym typeface="Symbol" pitchFamily="18" charset="2"/>
              </a:rPr>
              <a:t></a:t>
            </a:r>
            <a:r>
              <a:rPr lang="en-US" sz="2200" dirty="0">
                <a:sym typeface="Symbol" pitchFamily="18" charset="2"/>
              </a:rPr>
              <a:t> </a:t>
            </a:r>
          </a:p>
          <a:p>
            <a:pPr algn="l"/>
            <a:r>
              <a:rPr lang="en-US" sz="2500" b="1" dirty="0">
                <a:sym typeface="Symbol" pitchFamily="18" charset="2"/>
              </a:rPr>
              <a:t>	</a:t>
            </a:r>
            <a:r>
              <a:rPr lang="en-US" sz="2200" dirty="0">
                <a:sym typeface="Symbol" pitchFamily="18" charset="2"/>
              </a:rPr>
              <a:t>s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DEAN ( </a:t>
            </a:r>
            <a:r>
              <a:rPr lang="en-US" sz="2500" b="1" dirty="0">
                <a:sym typeface="Symbol" pitchFamily="18" charset="2"/>
              </a:rPr>
              <a:t></a:t>
            </a:r>
            <a:r>
              <a:rPr lang="en-US" sz="2200" dirty="0">
                <a:sym typeface="Symbol" pitchFamily="18" charset="2"/>
              </a:rPr>
              <a:t>u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PHANCONG (</a:t>
            </a:r>
          </a:p>
          <a:p>
            <a:pPr algn="l"/>
            <a:r>
              <a:rPr lang="en-US" sz="2200" dirty="0">
                <a:sym typeface="Symbol" pitchFamily="18" charset="2"/>
              </a:rPr>
              <a:t>		</a:t>
            </a:r>
            <a:r>
              <a:rPr lang="en-US" sz="2200" dirty="0" err="1">
                <a:sym typeface="Symbol" pitchFamily="18" charset="2"/>
              </a:rPr>
              <a:t>u.SODA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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s.MADA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</a:t>
            </a:r>
            <a:r>
              <a:rPr lang="en-US" sz="2200" dirty="0">
                <a:sym typeface="Symbol" pitchFamily="18" charset="2"/>
              </a:rPr>
              <a:t> </a:t>
            </a:r>
          </a:p>
          <a:p>
            <a:pPr algn="l"/>
            <a:r>
              <a:rPr lang="en-US" sz="2200" dirty="0">
                <a:sym typeface="Symbol" pitchFamily="18" charset="2"/>
              </a:rPr>
              <a:t>		</a:t>
            </a:r>
            <a:r>
              <a:rPr lang="en-US" sz="2200" dirty="0" err="1">
                <a:sym typeface="Symbol" pitchFamily="18" charset="2"/>
              </a:rPr>
              <a:t>t.MANV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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u.MA_NVIEN</a:t>
            </a:r>
            <a:r>
              <a:rPr lang="en-US" sz="2200" dirty="0">
                <a:sym typeface="Symbol" pitchFamily="18" charset="2"/>
              </a:rPr>
              <a:t> ))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838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7" grpId="0" animBg="1"/>
      <p:bldP spid="576518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9 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606925"/>
          </a:xfrm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(MANV, HONV, TENNV)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u="sng" dirty="0" err="1"/>
              <a:t>tất</a:t>
            </a:r>
            <a:r>
              <a:rPr lang="en-US" u="sng" dirty="0"/>
              <a:t> </a:t>
            </a:r>
            <a:r>
              <a:rPr lang="en-US" u="sng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do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4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 smtClean="0"/>
              <a:t>trách</a:t>
            </a:r>
            <a:endParaRPr lang="en-US" dirty="0"/>
          </a:p>
          <a:p>
            <a:pPr lvl="1"/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“</a:t>
            </a:r>
            <a:r>
              <a:rPr lang="en-US" dirty="0" err="1"/>
              <a:t>kéo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”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logic</a:t>
            </a:r>
          </a:p>
        </p:txBody>
      </p:sp>
      <p:sp>
        <p:nvSpPr>
          <p:cNvPr id="580613" name="Text Box 5"/>
          <p:cNvSpPr txBox="1">
            <a:spLocks noChangeArrowheads="1"/>
          </p:cNvSpPr>
          <p:nvPr/>
        </p:nvSpPr>
        <p:spPr bwMode="auto">
          <a:xfrm>
            <a:off x="3124200" y="3025775"/>
            <a:ext cx="1905000" cy="50165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600">
                <a:sym typeface="Symbol" pitchFamily="18" charset="2"/>
              </a:rPr>
              <a:t>P </a:t>
            </a:r>
            <a:r>
              <a:rPr lang="en-US" sz="2600" b="1">
                <a:sym typeface="Symbol" pitchFamily="18" charset="2"/>
              </a:rPr>
              <a:t></a:t>
            </a:r>
            <a:r>
              <a:rPr lang="en-US" sz="2600">
                <a:sym typeface="Symbol" pitchFamily="18" charset="2"/>
              </a:rPr>
              <a:t> Q</a:t>
            </a:r>
          </a:p>
        </p:txBody>
      </p:sp>
      <p:sp>
        <p:nvSpPr>
          <p:cNvPr id="580614" name="Text Box 6"/>
          <p:cNvSpPr txBox="1">
            <a:spLocks noChangeArrowheads="1"/>
          </p:cNvSpPr>
          <p:nvPr/>
        </p:nvSpPr>
        <p:spPr bwMode="auto">
          <a:xfrm>
            <a:off x="3314700" y="3627609"/>
            <a:ext cx="1524000" cy="36933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dirty="0" err="1">
                <a:sym typeface="Symbol" pitchFamily="18" charset="2"/>
              </a:rPr>
              <a:t>Nếu</a:t>
            </a:r>
            <a:r>
              <a:rPr lang="en-US" dirty="0">
                <a:sym typeface="Symbol" pitchFamily="18" charset="2"/>
              </a:rPr>
              <a:t> P </a:t>
            </a:r>
            <a:r>
              <a:rPr lang="en-US" dirty="0" err="1">
                <a:sym typeface="Symbol" pitchFamily="18" charset="2"/>
              </a:rPr>
              <a:t>thì</a:t>
            </a:r>
            <a:r>
              <a:rPr lang="en-US" dirty="0">
                <a:sym typeface="Symbol" pitchFamily="18" charset="2"/>
              </a:rPr>
              <a:t> Q 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81000" y="3996941"/>
            <a:ext cx="8229600" cy="2215991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2200" dirty="0">
                <a:sym typeface="Symbol" pitchFamily="18" charset="2"/>
              </a:rPr>
              <a:t>{ </a:t>
            </a:r>
            <a:r>
              <a:rPr lang="en-US" sz="2200" dirty="0" err="1">
                <a:sym typeface="Symbol" pitchFamily="18" charset="2"/>
              </a:rPr>
              <a:t>t.MANV</a:t>
            </a:r>
            <a:r>
              <a:rPr lang="en-US" sz="2200" dirty="0">
                <a:sym typeface="Symbol" pitchFamily="18" charset="2"/>
              </a:rPr>
              <a:t>, </a:t>
            </a:r>
            <a:r>
              <a:rPr lang="en-US" sz="2200" dirty="0" err="1">
                <a:sym typeface="Symbol" pitchFamily="18" charset="2"/>
              </a:rPr>
              <a:t>t.HONV</a:t>
            </a:r>
            <a:r>
              <a:rPr lang="en-US" sz="2200" dirty="0">
                <a:sym typeface="Symbol" pitchFamily="18" charset="2"/>
              </a:rPr>
              <a:t>, </a:t>
            </a:r>
            <a:r>
              <a:rPr lang="en-US" sz="2200" dirty="0" err="1">
                <a:sym typeface="Symbol" pitchFamily="18" charset="2"/>
              </a:rPr>
              <a:t>t.TENNV</a:t>
            </a:r>
            <a:r>
              <a:rPr lang="en-US" sz="2200" dirty="0">
                <a:sym typeface="Symbol" pitchFamily="18" charset="2"/>
              </a:rPr>
              <a:t> | t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NHANVIEN </a:t>
            </a:r>
            <a:r>
              <a:rPr lang="en-US" sz="2200" b="1" dirty="0">
                <a:sym typeface="Symbol" pitchFamily="18" charset="2"/>
              </a:rPr>
              <a:t></a:t>
            </a:r>
            <a:r>
              <a:rPr lang="en-US" sz="2200" dirty="0">
                <a:sym typeface="Symbol" pitchFamily="18" charset="2"/>
              </a:rPr>
              <a:t>  </a:t>
            </a:r>
          </a:p>
          <a:p>
            <a:pPr algn="l">
              <a:spcBef>
                <a:spcPts val="600"/>
              </a:spcBef>
            </a:pPr>
            <a:r>
              <a:rPr lang="en-US" sz="2600" b="1" dirty="0">
                <a:sym typeface="Symbol" pitchFamily="18" charset="2"/>
              </a:rPr>
              <a:t>	</a:t>
            </a:r>
            <a:r>
              <a:rPr lang="en-US" sz="2200" dirty="0">
                <a:sym typeface="Symbol" pitchFamily="18" charset="2"/>
              </a:rPr>
              <a:t>s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DEAN (</a:t>
            </a:r>
          </a:p>
          <a:p>
            <a:pPr algn="l">
              <a:spcBef>
                <a:spcPts val="600"/>
              </a:spcBef>
            </a:pPr>
            <a:r>
              <a:rPr lang="en-US" sz="2200" dirty="0">
                <a:sym typeface="Symbol" pitchFamily="18" charset="2"/>
              </a:rPr>
              <a:t>		</a:t>
            </a:r>
            <a:r>
              <a:rPr lang="en-US" sz="2200" dirty="0" err="1">
                <a:sym typeface="Symbol" pitchFamily="18" charset="2"/>
              </a:rPr>
              <a:t>s.PHONG</a:t>
            </a:r>
            <a:r>
              <a:rPr lang="en-US" sz="2200" dirty="0">
                <a:sym typeface="Symbol" pitchFamily="18" charset="2"/>
              </a:rPr>
              <a:t> = 4  ( </a:t>
            </a:r>
            <a:r>
              <a:rPr lang="en-US" sz="2600" b="1" dirty="0">
                <a:sym typeface="Symbol" pitchFamily="18" charset="2"/>
              </a:rPr>
              <a:t></a:t>
            </a:r>
            <a:r>
              <a:rPr lang="en-US" sz="2200" dirty="0">
                <a:sym typeface="Symbol" pitchFamily="18" charset="2"/>
              </a:rPr>
              <a:t>u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PHANCONG (</a:t>
            </a:r>
          </a:p>
          <a:p>
            <a:pPr algn="l">
              <a:spcBef>
                <a:spcPts val="600"/>
              </a:spcBef>
            </a:pPr>
            <a:r>
              <a:rPr lang="en-US" sz="2200" dirty="0">
                <a:sym typeface="Symbol" pitchFamily="18" charset="2"/>
              </a:rPr>
              <a:t>			</a:t>
            </a:r>
            <a:r>
              <a:rPr lang="en-US" sz="2200" dirty="0" err="1">
                <a:sym typeface="Symbol" pitchFamily="18" charset="2"/>
              </a:rPr>
              <a:t>u.SODA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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s.MADA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</a:t>
            </a:r>
            <a:r>
              <a:rPr lang="en-US" sz="2200" dirty="0">
                <a:sym typeface="Symbol" pitchFamily="18" charset="2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lang="en-US" sz="2200" dirty="0">
                <a:sym typeface="Symbol" pitchFamily="18" charset="2"/>
              </a:rPr>
              <a:t>			</a:t>
            </a:r>
            <a:r>
              <a:rPr lang="en-US" sz="2200" dirty="0" err="1">
                <a:sym typeface="Symbol" pitchFamily="18" charset="2"/>
              </a:rPr>
              <a:t>t.MANV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b="1" dirty="0">
                <a:sym typeface="Symbol" pitchFamily="18" charset="2"/>
              </a:rPr>
              <a:t>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u.MA_NVIEN</a:t>
            </a:r>
            <a:r>
              <a:rPr lang="en-US" sz="2200" dirty="0">
                <a:sym typeface="Symbol" pitchFamily="18" charset="2"/>
              </a:rPr>
              <a:t> )))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262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3" grpId="0" animBg="1"/>
      <p:bldP spid="580614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Định</a:t>
            </a:r>
            <a:r>
              <a:rPr lang="en-US" sz="3500" b="1" dirty="0"/>
              <a:t> </a:t>
            </a:r>
            <a:r>
              <a:rPr lang="en-US" sz="3500" b="1" dirty="0" err="1"/>
              <a:t>nghĩa</a:t>
            </a:r>
            <a:r>
              <a:rPr lang="en-US" sz="3500" b="1" dirty="0"/>
              <a:t> </a:t>
            </a:r>
            <a:r>
              <a:rPr lang="en-US" sz="3500" b="1" dirty="0" err="1"/>
              <a:t>hình</a:t>
            </a:r>
            <a:r>
              <a:rPr lang="en-US" sz="3500" b="1" dirty="0"/>
              <a:t> </a:t>
            </a:r>
            <a:r>
              <a:rPr lang="en-US" sz="3500" b="1" dirty="0" err="1"/>
              <a:t>thức</a:t>
            </a:r>
            <a:endParaRPr lang="en-US" sz="3500" b="1" dirty="0"/>
          </a:p>
        </p:txBody>
      </p:sp>
      <p:sp>
        <p:nvSpPr>
          <p:cNvPr id="558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752600"/>
            <a:ext cx="8229600" cy="4378325"/>
          </a:xfrm>
        </p:spPr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dạng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t</a:t>
            </a:r>
            <a:r>
              <a:rPr lang="en-US" baseline="-25000" dirty="0" err="1"/>
              <a:t>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các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  <a:p>
            <a:pPr lvl="1"/>
            <a:r>
              <a:rPr lang="en-US" dirty="0"/>
              <a:t>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A</a:t>
            </a:r>
            <a:r>
              <a:rPr lang="en-US" baseline="-25000" dirty="0" err="1"/>
              <a:t>j</a:t>
            </a:r>
            <a:r>
              <a:rPr lang="en-US" dirty="0"/>
              <a:t>, …, </a:t>
            </a:r>
            <a:r>
              <a:rPr lang="en-US" dirty="0" err="1"/>
              <a:t>A</a:t>
            </a:r>
            <a:r>
              <a:rPr lang="en-US" baseline="-25000" dirty="0" err="1"/>
              <a:t>k</a:t>
            </a:r>
            <a:r>
              <a:rPr lang="en-US" dirty="0"/>
              <a:t> là </a:t>
            </a:r>
            <a:r>
              <a:rPr lang="en-US" dirty="0" err="1"/>
              <a:t>các</a:t>
            </a:r>
            <a:r>
              <a:rPr lang="en-US" dirty="0"/>
              <a:t> </a:t>
            </a:r>
            <a:r>
              <a:rPr lang="en-US" dirty="0" err="1"/>
              <a:t>thuộc</a:t>
            </a:r>
            <a:r>
              <a:rPr lang="en-US" dirty="0"/>
              <a:t> </a:t>
            </a:r>
            <a:r>
              <a:rPr lang="en-US" dirty="0" err="1"/>
              <a:t>tính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các</a:t>
            </a:r>
            <a:r>
              <a:rPr lang="en-US" dirty="0"/>
              <a:t> </a:t>
            </a:r>
            <a:r>
              <a:rPr lang="en-US" dirty="0" err="1"/>
              <a:t>bô</a:t>
            </a:r>
            <a:r>
              <a:rPr lang="en-US" dirty="0"/>
              <a:t>̣ t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ứng</a:t>
            </a:r>
            <a:endParaRPr lang="en-US" dirty="0"/>
          </a:p>
          <a:p>
            <a:pPr lvl="1"/>
            <a:r>
              <a:rPr lang="en-US" dirty="0"/>
              <a:t>P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P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endParaRPr lang="en-US" dirty="0"/>
          </a:p>
        </p:txBody>
      </p:sp>
      <p:sp>
        <p:nvSpPr>
          <p:cNvPr id="558084" name="Rectangle 4"/>
          <p:cNvSpPr>
            <a:spLocks noChangeArrowheads="1"/>
          </p:cNvSpPr>
          <p:nvPr/>
        </p:nvSpPr>
        <p:spPr bwMode="auto">
          <a:xfrm>
            <a:off x="1402639" y="2710313"/>
            <a:ext cx="5308600" cy="50165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600">
                <a:latin typeface="Arial" charset="0"/>
              </a:rPr>
              <a:t>{ t</a:t>
            </a:r>
            <a:r>
              <a:rPr lang="en-US" sz="2600" baseline="-25000">
                <a:latin typeface="Arial" charset="0"/>
              </a:rPr>
              <a:t>1</a:t>
            </a:r>
            <a:r>
              <a:rPr lang="en-US" sz="2600">
                <a:latin typeface="Arial" charset="0"/>
              </a:rPr>
              <a:t>.A</a:t>
            </a:r>
            <a:r>
              <a:rPr lang="en-US" sz="2600" baseline="-25000">
                <a:latin typeface="Arial" charset="0"/>
              </a:rPr>
              <a:t>i</a:t>
            </a:r>
            <a:r>
              <a:rPr lang="en-US" sz="2600">
                <a:latin typeface="Arial" charset="0"/>
              </a:rPr>
              <a:t>, t</a:t>
            </a:r>
            <a:r>
              <a:rPr lang="en-US" sz="2600" baseline="-25000">
                <a:latin typeface="Arial" charset="0"/>
              </a:rPr>
              <a:t>2</a:t>
            </a:r>
            <a:r>
              <a:rPr lang="en-US" sz="2600">
                <a:latin typeface="Arial" charset="0"/>
              </a:rPr>
              <a:t>.A</a:t>
            </a:r>
            <a:r>
              <a:rPr lang="en-US" sz="2600" baseline="-25000">
                <a:latin typeface="Arial" charset="0"/>
              </a:rPr>
              <a:t>j</a:t>
            </a:r>
            <a:r>
              <a:rPr lang="en-US" sz="2600">
                <a:latin typeface="Arial" charset="0"/>
              </a:rPr>
              <a:t>, …t</a:t>
            </a:r>
            <a:r>
              <a:rPr lang="en-US" sz="2600" baseline="-25000">
                <a:latin typeface="Arial" charset="0"/>
              </a:rPr>
              <a:t>n</a:t>
            </a:r>
            <a:r>
              <a:rPr lang="en-US" sz="2600">
                <a:latin typeface="Arial" charset="0"/>
              </a:rPr>
              <a:t>.A</a:t>
            </a:r>
            <a:r>
              <a:rPr lang="en-US" sz="2600" baseline="-25000">
                <a:latin typeface="Arial" charset="0"/>
              </a:rPr>
              <a:t>k</a:t>
            </a:r>
            <a:r>
              <a:rPr lang="en-US" sz="2600">
                <a:latin typeface="Arial" charset="0"/>
              </a:rPr>
              <a:t> | P(t</a:t>
            </a:r>
            <a:r>
              <a:rPr lang="en-US" sz="2600" baseline="-25000">
                <a:latin typeface="Arial" charset="0"/>
              </a:rPr>
              <a:t>1</a:t>
            </a:r>
            <a:r>
              <a:rPr lang="en-US" sz="2600">
                <a:latin typeface="Arial" charset="0"/>
              </a:rPr>
              <a:t>, t</a:t>
            </a:r>
            <a:r>
              <a:rPr lang="en-US" sz="2600" baseline="-25000">
                <a:latin typeface="Arial" charset="0"/>
              </a:rPr>
              <a:t>2</a:t>
            </a:r>
            <a:r>
              <a:rPr lang="en-US" sz="2600">
                <a:latin typeface="Arial" charset="0"/>
              </a:rPr>
              <a:t>, …, t</a:t>
            </a:r>
            <a:r>
              <a:rPr lang="en-US" sz="2600" baseline="-25000">
                <a:latin typeface="Arial" charset="0"/>
              </a:rPr>
              <a:t>n</a:t>
            </a:r>
            <a:r>
              <a:rPr lang="en-US" sz="2600">
                <a:latin typeface="Arial" charset="0"/>
              </a:rPr>
              <a:t>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820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Biến</a:t>
            </a:r>
            <a:r>
              <a:rPr lang="en-US" sz="3500" b="1" dirty="0"/>
              <a:t> </a:t>
            </a:r>
            <a:r>
              <a:rPr lang="en-US" sz="3500" b="1" dirty="0" err="1"/>
              <a:t>bộ</a:t>
            </a:r>
            <a:endParaRPr lang="en-US" sz="3500" b="1" dirty="0"/>
          </a:p>
        </p:txBody>
      </p:sp>
      <p:sp>
        <p:nvSpPr>
          <p:cNvPr id="5867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683125"/>
          </a:xfrm>
        </p:spPr>
        <p:txBody>
          <a:bodyPr/>
          <a:lstStyle/>
          <a:p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do (free variable)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(bound variable)</a:t>
            </a:r>
          </a:p>
        </p:txBody>
      </p:sp>
      <p:grpSp>
        <p:nvGrpSpPr>
          <p:cNvPr id="586767" name="Group 15"/>
          <p:cNvGrpSpPr>
            <a:grpSpLocks/>
          </p:cNvGrpSpPr>
          <p:nvPr/>
        </p:nvGrpSpPr>
        <p:grpSpPr bwMode="auto">
          <a:xfrm>
            <a:off x="533400" y="2133600"/>
            <a:ext cx="5486400" cy="1066800"/>
            <a:chOff x="672" y="1344"/>
            <a:chExt cx="3456" cy="672"/>
          </a:xfrm>
        </p:grpSpPr>
        <p:sp>
          <p:nvSpPr>
            <p:cNvPr id="586757" name="Text Box 5"/>
            <p:cNvSpPr txBox="1">
              <a:spLocks noChangeArrowheads="1"/>
            </p:cNvSpPr>
            <p:nvPr/>
          </p:nvSpPr>
          <p:spPr bwMode="auto">
            <a:xfrm>
              <a:off x="672" y="1344"/>
              <a:ext cx="3456" cy="26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sz="2200">
                  <a:sym typeface="Symbol" pitchFamily="18" charset="2"/>
                </a:rPr>
                <a:t>{ t | t </a:t>
              </a:r>
              <a:r>
                <a:rPr lang="en-US" sz="2200" b="1">
                  <a:sym typeface="Symbol" pitchFamily="18" charset="2"/>
                </a:rPr>
                <a:t></a:t>
              </a:r>
              <a:r>
                <a:rPr lang="en-US" sz="2200">
                  <a:sym typeface="Symbol" pitchFamily="18" charset="2"/>
                </a:rPr>
                <a:t> NHANVIEN </a:t>
              </a:r>
              <a:r>
                <a:rPr lang="en-US" sz="2200" b="1">
                  <a:sym typeface="Symbol" pitchFamily="18" charset="2"/>
                </a:rPr>
                <a:t></a:t>
              </a:r>
              <a:r>
                <a:rPr lang="en-US" sz="2200">
                  <a:sym typeface="Symbol" pitchFamily="18" charset="2"/>
                </a:rPr>
                <a:t> t.LUONG &gt; 30000 }</a:t>
              </a:r>
            </a:p>
          </p:txBody>
        </p:sp>
        <p:sp>
          <p:nvSpPr>
            <p:cNvPr id="586758" name="Text Box 6"/>
            <p:cNvSpPr txBox="1">
              <a:spLocks noChangeArrowheads="1"/>
            </p:cNvSpPr>
            <p:nvPr/>
          </p:nvSpPr>
          <p:spPr bwMode="auto">
            <a:xfrm>
              <a:off x="816" y="1824"/>
              <a:ext cx="1056" cy="19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1400"/>
                <a:t>t là biến tự do</a:t>
              </a:r>
            </a:p>
          </p:txBody>
        </p:sp>
        <p:sp>
          <p:nvSpPr>
            <p:cNvPr id="586759" name="Line 7"/>
            <p:cNvSpPr>
              <a:spLocks noChangeShapeType="1"/>
            </p:cNvSpPr>
            <p:nvPr/>
          </p:nvSpPr>
          <p:spPr bwMode="auto">
            <a:xfrm>
              <a:off x="1152" y="1584"/>
              <a:ext cx="96" cy="24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86768" name="Text Box 16"/>
          <p:cNvSpPr txBox="1">
            <a:spLocks noChangeArrowheads="1"/>
          </p:cNvSpPr>
          <p:nvPr/>
        </p:nvSpPr>
        <p:spPr bwMode="auto">
          <a:xfrm>
            <a:off x="609600" y="4464050"/>
            <a:ext cx="7924800" cy="4270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>
                <a:sym typeface="Symbol" pitchFamily="18" charset="2"/>
              </a:rPr>
              <a:t>{ t | t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NHANVIEN </a:t>
            </a:r>
            <a:r>
              <a:rPr lang="en-US" sz="2200" b="1">
                <a:sym typeface="Symbol" pitchFamily="18" charset="2"/>
              </a:rPr>
              <a:t></a:t>
            </a:r>
            <a:r>
              <a:rPr lang="en-US" sz="2200">
                <a:sym typeface="Symbol" pitchFamily="18" charset="2"/>
              </a:rPr>
              <a:t> </a:t>
            </a:r>
            <a:r>
              <a:rPr lang="en-US" sz="2200" b="1">
                <a:sym typeface="Symbol" pitchFamily="18" charset="2"/>
              </a:rPr>
              <a:t></a:t>
            </a:r>
            <a:r>
              <a:rPr lang="en-US" sz="2200">
                <a:sym typeface="Symbol" pitchFamily="18" charset="2"/>
              </a:rPr>
              <a:t>s  PHONGBAN (s.MAPHG </a:t>
            </a:r>
            <a:r>
              <a:rPr lang="en-US" sz="2200" b="1">
                <a:sym typeface="Symbol" pitchFamily="18" charset="2"/>
              </a:rPr>
              <a:t></a:t>
            </a:r>
            <a:r>
              <a:rPr lang="en-US" sz="2200">
                <a:sym typeface="Symbol" pitchFamily="18" charset="2"/>
              </a:rPr>
              <a:t> t.PHG) }</a:t>
            </a:r>
          </a:p>
        </p:txBody>
      </p:sp>
      <p:sp>
        <p:nvSpPr>
          <p:cNvPr id="586769" name="Text Box 17"/>
          <p:cNvSpPr txBox="1">
            <a:spLocks noChangeArrowheads="1"/>
          </p:cNvSpPr>
          <p:nvPr/>
        </p:nvSpPr>
        <p:spPr bwMode="auto">
          <a:xfrm>
            <a:off x="3505200" y="5334000"/>
            <a:ext cx="15240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Biến kết buộc</a:t>
            </a:r>
          </a:p>
        </p:txBody>
      </p:sp>
      <p:sp>
        <p:nvSpPr>
          <p:cNvPr id="586770" name="Line 18"/>
          <p:cNvSpPr>
            <a:spLocks noChangeShapeType="1"/>
          </p:cNvSpPr>
          <p:nvPr/>
        </p:nvSpPr>
        <p:spPr bwMode="auto">
          <a:xfrm>
            <a:off x="3733800" y="4876800"/>
            <a:ext cx="228600" cy="4572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86771" name="Text Box 19"/>
          <p:cNvSpPr txBox="1">
            <a:spLocks noChangeArrowheads="1"/>
          </p:cNvSpPr>
          <p:nvPr/>
        </p:nvSpPr>
        <p:spPr bwMode="auto">
          <a:xfrm>
            <a:off x="1143000" y="5334000"/>
            <a:ext cx="1524000" cy="3048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/>
              <a:t>Biến tự do</a:t>
            </a:r>
          </a:p>
        </p:txBody>
      </p:sp>
      <p:sp>
        <p:nvSpPr>
          <p:cNvPr id="586772" name="Line 20"/>
          <p:cNvSpPr>
            <a:spLocks noChangeShapeType="1"/>
          </p:cNvSpPr>
          <p:nvPr/>
        </p:nvSpPr>
        <p:spPr bwMode="auto">
          <a:xfrm>
            <a:off x="1371600" y="4876800"/>
            <a:ext cx="228600" cy="457200"/>
          </a:xfrm>
          <a:prstGeom prst="line">
            <a:avLst/>
          </a:prstGeom>
          <a:noFill/>
          <a:ln w="12700">
            <a:solidFill>
              <a:srgbClr val="777777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229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6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6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6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Công</a:t>
            </a:r>
            <a:r>
              <a:rPr lang="en-US" sz="3500" b="1" dirty="0"/>
              <a:t> </a:t>
            </a:r>
            <a:r>
              <a:rPr lang="en-US" sz="3500" b="1" dirty="0" err="1"/>
              <a:t>thức</a:t>
            </a:r>
            <a:r>
              <a:rPr lang="en-US" sz="3500" b="1" dirty="0"/>
              <a:t> </a:t>
            </a:r>
            <a:r>
              <a:rPr lang="en-US" sz="3500" b="1" dirty="0" err="1"/>
              <a:t>nguyên</a:t>
            </a:r>
            <a:r>
              <a:rPr lang="en-US" sz="3500" b="1" dirty="0"/>
              <a:t> </a:t>
            </a:r>
            <a:r>
              <a:rPr lang="en-US" sz="3500" b="1" dirty="0" err="1"/>
              <a:t>tố</a:t>
            </a:r>
            <a:endParaRPr lang="en-US" sz="3500" b="1" dirty="0"/>
          </a:p>
        </p:txBody>
      </p:sp>
      <p:sp>
        <p:nvSpPr>
          <p:cNvPr id="5888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99394"/>
            <a:ext cx="8229600" cy="4901406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(i)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R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(ii)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t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B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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các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phép</a:t>
            </a:r>
            <a:r>
              <a:rPr lang="en-US" dirty="0">
                <a:sym typeface="Symbol" pitchFamily="18" charset="2"/>
              </a:rPr>
              <a:t> so </a:t>
            </a:r>
            <a:r>
              <a:rPr lang="en-US" dirty="0" err="1">
                <a:sym typeface="Symbol" pitchFamily="18" charset="2"/>
              </a:rPr>
              <a:t>sánh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="1" dirty="0">
                <a:sym typeface="Symbol" pitchFamily="18" charset="2"/>
              </a:rPr>
              <a:t>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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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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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</a:t>
            </a:r>
            <a:endParaRPr lang="en-US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(iii)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A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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các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phép</a:t>
            </a:r>
            <a:r>
              <a:rPr lang="en-US" dirty="0">
                <a:sym typeface="Symbol" pitchFamily="18" charset="2"/>
              </a:rPr>
              <a:t> so </a:t>
            </a:r>
            <a:r>
              <a:rPr lang="en-US" dirty="0" err="1">
                <a:sym typeface="Symbol" pitchFamily="18" charset="2"/>
              </a:rPr>
              <a:t>sánh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="1" dirty="0">
                <a:sym typeface="Symbol" pitchFamily="18" charset="2"/>
              </a:rPr>
              <a:t>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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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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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</a:t>
            </a:r>
          </a:p>
        </p:txBody>
      </p:sp>
      <p:sp>
        <p:nvSpPr>
          <p:cNvPr id="588814" name="Rectangle 14"/>
          <p:cNvSpPr>
            <a:spLocks noChangeArrowheads="1"/>
          </p:cNvSpPr>
          <p:nvPr/>
        </p:nvSpPr>
        <p:spPr bwMode="auto">
          <a:xfrm>
            <a:off x="1454150" y="1389062"/>
            <a:ext cx="831850" cy="439738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sz="2200">
                <a:latin typeface="Arial" charset="0"/>
              </a:rPr>
              <a:t>t </a:t>
            </a:r>
            <a:r>
              <a:rPr lang="en-US" sz="2200" b="1">
                <a:latin typeface="Arial" charset="0"/>
                <a:sym typeface="Symbol" pitchFamily="18" charset="2"/>
              </a:rPr>
              <a:t></a:t>
            </a:r>
            <a:r>
              <a:rPr lang="en-US" sz="2200">
                <a:latin typeface="Arial" charset="0"/>
                <a:sym typeface="Symbol" pitchFamily="18" charset="2"/>
              </a:rPr>
              <a:t> R</a:t>
            </a:r>
          </a:p>
        </p:txBody>
      </p:sp>
      <p:sp>
        <p:nvSpPr>
          <p:cNvPr id="588815" name="Rectangle 15"/>
          <p:cNvSpPr>
            <a:spLocks noChangeArrowheads="1"/>
          </p:cNvSpPr>
          <p:nvPr/>
        </p:nvSpPr>
        <p:spPr bwMode="auto">
          <a:xfrm>
            <a:off x="1466850" y="2824851"/>
            <a:ext cx="1243013" cy="439737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200">
                <a:latin typeface="Arial" charset="0"/>
              </a:rPr>
              <a:t>t.A </a:t>
            </a:r>
            <a:r>
              <a:rPr lang="en-US" sz="2200">
                <a:latin typeface="Arial" charset="0"/>
                <a:sym typeface="Symbol" pitchFamily="18" charset="2"/>
              </a:rPr>
              <a:t> s.B</a:t>
            </a:r>
          </a:p>
        </p:txBody>
      </p:sp>
      <p:sp>
        <p:nvSpPr>
          <p:cNvPr id="588816" name="Rectangle 16"/>
          <p:cNvSpPr>
            <a:spLocks noChangeArrowheads="1"/>
          </p:cNvSpPr>
          <p:nvPr/>
        </p:nvSpPr>
        <p:spPr bwMode="auto">
          <a:xfrm>
            <a:off x="1463675" y="4687094"/>
            <a:ext cx="979488" cy="439737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200">
                <a:latin typeface="Arial" charset="0"/>
              </a:rPr>
              <a:t>t.A </a:t>
            </a:r>
            <a:r>
              <a:rPr lang="en-US" sz="2200">
                <a:latin typeface="Arial" charset="0"/>
                <a:sym typeface="Symbol" pitchFamily="18" charset="2"/>
              </a:rPr>
              <a:t> c</a:t>
            </a:r>
          </a:p>
        </p:txBody>
      </p:sp>
      <p:sp>
        <p:nvSpPr>
          <p:cNvPr id="588817" name="Text Box 17"/>
          <p:cNvSpPr txBox="1">
            <a:spLocks noChangeArrowheads="1"/>
          </p:cNvSpPr>
          <p:nvPr/>
        </p:nvSpPr>
        <p:spPr bwMode="auto">
          <a:xfrm>
            <a:off x="5943600" y="1828800"/>
            <a:ext cx="2057400" cy="4270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t </a:t>
            </a:r>
            <a:r>
              <a:rPr lang="en-US" sz="2200" b="1" dirty="0">
                <a:solidFill>
                  <a:srgbClr val="FF0000"/>
                </a:solidFill>
                <a:sym typeface="Symbol" pitchFamily="18" charset="2"/>
              </a:rPr>
              <a:t></a:t>
            </a: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 NHANVIEN</a:t>
            </a:r>
          </a:p>
        </p:txBody>
      </p:sp>
      <p:sp>
        <p:nvSpPr>
          <p:cNvPr id="588818" name="Text Box 18"/>
          <p:cNvSpPr txBox="1">
            <a:spLocks noChangeArrowheads="1"/>
          </p:cNvSpPr>
          <p:nvPr/>
        </p:nvSpPr>
        <p:spPr bwMode="auto">
          <a:xfrm>
            <a:off x="5943600" y="3276600"/>
            <a:ext cx="2438400" cy="4270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 err="1">
                <a:solidFill>
                  <a:srgbClr val="FF0000"/>
                </a:solidFill>
                <a:sym typeface="Symbol" pitchFamily="18" charset="2"/>
              </a:rPr>
              <a:t>t.MANV</a:t>
            </a: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 = </a:t>
            </a:r>
            <a:r>
              <a:rPr lang="en-US" sz="2200" dirty="0" err="1">
                <a:solidFill>
                  <a:srgbClr val="FF0000"/>
                </a:solidFill>
                <a:sym typeface="Symbol" pitchFamily="18" charset="2"/>
              </a:rPr>
              <a:t>s.MANV</a:t>
            </a:r>
            <a:endParaRPr lang="en-US" sz="2200" dirty="0">
              <a:solidFill>
                <a:srgbClr val="FF0000"/>
              </a:solidFill>
              <a:sym typeface="Symbol" pitchFamily="18" charset="2"/>
            </a:endParaRPr>
          </a:p>
        </p:txBody>
      </p:sp>
      <p:sp>
        <p:nvSpPr>
          <p:cNvPr id="588819" name="Text Box 19"/>
          <p:cNvSpPr txBox="1">
            <a:spLocks noChangeArrowheads="1"/>
          </p:cNvSpPr>
          <p:nvPr/>
        </p:nvSpPr>
        <p:spPr bwMode="auto">
          <a:xfrm>
            <a:off x="5943600" y="5334000"/>
            <a:ext cx="2438400" cy="4270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 err="1">
                <a:solidFill>
                  <a:srgbClr val="FF0000"/>
                </a:solidFill>
                <a:sym typeface="Symbol" pitchFamily="18" charset="2"/>
              </a:rPr>
              <a:t>s.LUONG</a:t>
            </a:r>
            <a:r>
              <a:rPr lang="en-US" sz="2200" dirty="0">
                <a:solidFill>
                  <a:srgbClr val="FF0000"/>
                </a:solidFill>
                <a:sym typeface="Symbol" pitchFamily="18" charset="2"/>
              </a:rPr>
              <a:t> &gt; 30000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193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Công</a:t>
            </a:r>
            <a:r>
              <a:rPr lang="en-US" sz="3500" b="1" dirty="0"/>
              <a:t> </a:t>
            </a:r>
            <a:r>
              <a:rPr lang="en-US" sz="3500" b="1" dirty="0" err="1"/>
              <a:t>thức</a:t>
            </a:r>
            <a:r>
              <a:rPr lang="en-US" sz="3500" b="1" dirty="0"/>
              <a:t> </a:t>
            </a:r>
            <a:r>
              <a:rPr lang="en-US" sz="3500" b="1" dirty="0" err="1"/>
              <a:t>nguyên</a:t>
            </a:r>
            <a:r>
              <a:rPr lang="en-US" sz="3500" b="1" dirty="0"/>
              <a:t> </a:t>
            </a:r>
            <a:r>
              <a:rPr lang="en-US" sz="3500" b="1" dirty="0" err="1" smtClean="0"/>
              <a:t>tố</a:t>
            </a:r>
            <a:endParaRPr lang="en-US" sz="3500" b="1" dirty="0"/>
          </a:p>
        </p:txBody>
      </p:sp>
      <p:sp>
        <p:nvSpPr>
          <p:cNvPr id="5928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algn="just"/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ĐÚNG </a:t>
            </a:r>
            <a:r>
              <a:rPr lang="en-US" dirty="0" err="1"/>
              <a:t>hoặc</a:t>
            </a:r>
            <a:r>
              <a:rPr lang="en-US" dirty="0"/>
              <a:t> SAI</a:t>
            </a:r>
          </a:p>
          <a:p>
            <a:pPr lvl="1" algn="just"/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(i) </a:t>
            </a:r>
            <a:endParaRPr lang="en-US" dirty="0">
              <a:sym typeface="Symbol" pitchFamily="18" charset="2"/>
            </a:endParaRPr>
          </a:p>
          <a:p>
            <a:pPr lvl="1" algn="just"/>
            <a:r>
              <a:rPr lang="en-US" dirty="0" err="1">
                <a:sym typeface="Symbol" pitchFamily="18" charset="2"/>
              </a:rPr>
              <a:t>Chân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trị</a:t>
            </a:r>
            <a:r>
              <a:rPr lang="en-US" dirty="0">
                <a:sym typeface="Symbol" pitchFamily="18" charset="2"/>
              </a:rPr>
              <a:t> ĐÚNG </a:t>
            </a:r>
            <a:r>
              <a:rPr lang="en-US" dirty="0" err="1">
                <a:sym typeface="Symbol" pitchFamily="18" charset="2"/>
              </a:rPr>
              <a:t>nếu</a:t>
            </a:r>
            <a:r>
              <a:rPr lang="en-US" dirty="0">
                <a:sym typeface="Symbol" pitchFamily="18" charset="2"/>
              </a:rPr>
              <a:t> t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một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bộ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thuộc</a:t>
            </a:r>
            <a:r>
              <a:rPr lang="en-US" dirty="0">
                <a:sym typeface="Symbol" pitchFamily="18" charset="2"/>
              </a:rPr>
              <a:t> R</a:t>
            </a:r>
          </a:p>
          <a:p>
            <a:pPr lvl="1" algn="just"/>
            <a:r>
              <a:rPr lang="en-US" dirty="0" err="1">
                <a:sym typeface="Symbol" pitchFamily="18" charset="2"/>
              </a:rPr>
              <a:t>Chân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trị</a:t>
            </a:r>
            <a:r>
              <a:rPr lang="en-US" dirty="0">
                <a:sym typeface="Symbol" pitchFamily="18" charset="2"/>
              </a:rPr>
              <a:t> SAI </a:t>
            </a:r>
            <a:r>
              <a:rPr lang="en-US" dirty="0" err="1">
                <a:sym typeface="Symbol" pitchFamily="18" charset="2"/>
              </a:rPr>
              <a:t>nếu</a:t>
            </a:r>
            <a:r>
              <a:rPr lang="en-US" dirty="0">
                <a:sym typeface="Symbol" pitchFamily="18" charset="2"/>
              </a:rPr>
              <a:t> t </a:t>
            </a:r>
            <a:r>
              <a:rPr lang="en-US" dirty="0" err="1">
                <a:sym typeface="Symbol" pitchFamily="18" charset="2"/>
              </a:rPr>
              <a:t>không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thuộc</a:t>
            </a:r>
            <a:r>
              <a:rPr lang="en-US" dirty="0">
                <a:sym typeface="Symbol" pitchFamily="18" charset="2"/>
              </a:rPr>
              <a:t> R</a:t>
            </a:r>
          </a:p>
        </p:txBody>
      </p:sp>
      <p:grpSp>
        <p:nvGrpSpPr>
          <p:cNvPr id="592958" name="Group 62"/>
          <p:cNvGrpSpPr>
            <a:grpSpLocks/>
          </p:cNvGrpSpPr>
          <p:nvPr/>
        </p:nvGrpSpPr>
        <p:grpSpPr bwMode="auto">
          <a:xfrm>
            <a:off x="762000" y="4876800"/>
            <a:ext cx="8001000" cy="1066800"/>
            <a:chOff x="528" y="3072"/>
            <a:chExt cx="5040" cy="672"/>
          </a:xfrm>
        </p:grpSpPr>
        <p:grpSp>
          <p:nvGrpSpPr>
            <p:cNvPr id="592935" name="Group 39"/>
            <p:cNvGrpSpPr>
              <a:grpSpLocks/>
            </p:cNvGrpSpPr>
            <p:nvPr/>
          </p:nvGrpSpPr>
          <p:grpSpPr bwMode="auto">
            <a:xfrm>
              <a:off x="528" y="3072"/>
              <a:ext cx="1200" cy="672"/>
              <a:chOff x="1152" y="2976"/>
              <a:chExt cx="1200" cy="672"/>
            </a:xfrm>
          </p:grpSpPr>
          <p:sp>
            <p:nvSpPr>
              <p:cNvPr id="592936" name="Line 40"/>
              <p:cNvSpPr>
                <a:spLocks noChangeShapeType="1"/>
              </p:cNvSpPr>
              <p:nvPr/>
            </p:nvSpPr>
            <p:spPr bwMode="auto">
              <a:xfrm>
                <a:off x="1152" y="3168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2937" name="Text Box 41"/>
              <p:cNvSpPr txBox="1">
                <a:spLocks noChangeArrowheads="1"/>
              </p:cNvSpPr>
              <p:nvPr/>
            </p:nvSpPr>
            <p:spPr bwMode="auto">
              <a:xfrm>
                <a:off x="1488" y="2976"/>
                <a:ext cx="28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/>
                  <a:t>A</a:t>
                </a:r>
              </a:p>
            </p:txBody>
          </p:sp>
          <p:sp>
            <p:nvSpPr>
              <p:cNvPr id="592938" name="Text Box 42"/>
              <p:cNvSpPr txBox="1">
                <a:spLocks noChangeArrowheads="1"/>
              </p:cNvSpPr>
              <p:nvPr/>
            </p:nvSpPr>
            <p:spPr bwMode="auto">
              <a:xfrm>
                <a:off x="1776" y="2976"/>
                <a:ext cx="28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/>
                  <a:t>B</a:t>
                </a:r>
              </a:p>
            </p:txBody>
          </p:sp>
          <p:sp>
            <p:nvSpPr>
              <p:cNvPr id="592939" name="Text Box 43"/>
              <p:cNvSpPr txBox="1">
                <a:spLocks noChangeArrowheads="1"/>
              </p:cNvSpPr>
              <p:nvPr/>
            </p:nvSpPr>
            <p:spPr bwMode="auto">
              <a:xfrm>
                <a:off x="1488" y="3216"/>
                <a:ext cx="28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>
                    <a:sym typeface="Symbol" pitchFamily="18" charset="2"/>
                  </a:rPr>
                  <a:t></a:t>
                </a:r>
              </a:p>
            </p:txBody>
          </p:sp>
          <p:sp>
            <p:nvSpPr>
              <p:cNvPr id="592940" name="Line 44"/>
              <p:cNvSpPr>
                <a:spLocks noChangeShapeType="1"/>
              </p:cNvSpPr>
              <p:nvPr/>
            </p:nvSpPr>
            <p:spPr bwMode="auto">
              <a:xfrm>
                <a:off x="1152" y="2976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2941" name="Line 45"/>
              <p:cNvSpPr>
                <a:spLocks noChangeShapeType="1"/>
              </p:cNvSpPr>
              <p:nvPr/>
            </p:nvSpPr>
            <p:spPr bwMode="auto">
              <a:xfrm>
                <a:off x="1488" y="3648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2942" name="Text Box 46"/>
              <p:cNvSpPr txBox="1">
                <a:spLocks noChangeArrowheads="1"/>
              </p:cNvSpPr>
              <p:nvPr/>
            </p:nvSpPr>
            <p:spPr bwMode="auto">
              <a:xfrm>
                <a:off x="1152" y="2976"/>
                <a:ext cx="336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b="1"/>
                  <a:t>R</a:t>
                </a:r>
              </a:p>
            </p:txBody>
          </p:sp>
          <p:sp>
            <p:nvSpPr>
              <p:cNvPr id="592943" name="Line 47"/>
              <p:cNvSpPr>
                <a:spLocks noChangeShapeType="1"/>
              </p:cNvSpPr>
              <p:nvPr/>
            </p:nvSpPr>
            <p:spPr bwMode="auto">
              <a:xfrm>
                <a:off x="1152" y="2976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2944" name="Text Box 48"/>
              <p:cNvSpPr txBox="1">
                <a:spLocks noChangeArrowheads="1"/>
              </p:cNvSpPr>
              <p:nvPr/>
            </p:nvSpPr>
            <p:spPr bwMode="auto">
              <a:xfrm>
                <a:off x="1488" y="3408"/>
                <a:ext cx="28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>
                    <a:sym typeface="Symbol" pitchFamily="18" charset="2"/>
                  </a:rPr>
                  <a:t></a:t>
                </a:r>
              </a:p>
            </p:txBody>
          </p:sp>
          <p:sp>
            <p:nvSpPr>
              <p:cNvPr id="592945" name="Text Box 49"/>
              <p:cNvSpPr txBox="1">
                <a:spLocks noChangeArrowheads="1"/>
              </p:cNvSpPr>
              <p:nvPr/>
            </p:nvSpPr>
            <p:spPr bwMode="auto">
              <a:xfrm>
                <a:off x="1776" y="3216"/>
                <a:ext cx="28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>
                    <a:sym typeface="Symbol" pitchFamily="18" charset="2"/>
                  </a:rPr>
                  <a:t>10</a:t>
                </a:r>
              </a:p>
            </p:txBody>
          </p:sp>
          <p:sp>
            <p:nvSpPr>
              <p:cNvPr id="592946" name="Text Box 50"/>
              <p:cNvSpPr txBox="1">
                <a:spLocks noChangeArrowheads="1"/>
              </p:cNvSpPr>
              <p:nvPr/>
            </p:nvSpPr>
            <p:spPr bwMode="auto">
              <a:xfrm>
                <a:off x="1776" y="3408"/>
                <a:ext cx="28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>
                    <a:sym typeface="Symbol" pitchFamily="18" charset="2"/>
                  </a:rPr>
                  <a:t>20</a:t>
                </a:r>
              </a:p>
            </p:txBody>
          </p:sp>
          <p:sp>
            <p:nvSpPr>
              <p:cNvPr id="592947" name="Text Box 51"/>
              <p:cNvSpPr txBox="1">
                <a:spLocks noChangeArrowheads="1"/>
              </p:cNvSpPr>
              <p:nvPr/>
            </p:nvSpPr>
            <p:spPr bwMode="auto">
              <a:xfrm>
                <a:off x="2064" y="2976"/>
                <a:ext cx="28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/>
                  <a:t>C</a:t>
                </a:r>
              </a:p>
            </p:txBody>
          </p:sp>
          <p:sp>
            <p:nvSpPr>
              <p:cNvPr id="592948" name="Text Box 52"/>
              <p:cNvSpPr txBox="1">
                <a:spLocks noChangeArrowheads="1"/>
              </p:cNvSpPr>
              <p:nvPr/>
            </p:nvSpPr>
            <p:spPr bwMode="auto">
              <a:xfrm>
                <a:off x="2064" y="3216"/>
                <a:ext cx="28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>
                    <a:sym typeface="Symbol" pitchFamily="18" charset="2"/>
                  </a:rPr>
                  <a:t>1</a:t>
                </a:r>
              </a:p>
            </p:txBody>
          </p:sp>
          <p:sp>
            <p:nvSpPr>
              <p:cNvPr id="592949" name="Text Box 53"/>
              <p:cNvSpPr txBox="1">
                <a:spLocks noChangeArrowheads="1"/>
              </p:cNvSpPr>
              <p:nvPr/>
            </p:nvSpPr>
            <p:spPr bwMode="auto">
              <a:xfrm>
                <a:off x="2064" y="3408"/>
                <a:ext cx="288" cy="231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>
                    <a:sym typeface="Symbol" pitchFamily="18" charset="2"/>
                  </a:rPr>
                  <a:t>1</a:t>
                </a:r>
              </a:p>
            </p:txBody>
          </p:sp>
          <p:grpSp>
            <p:nvGrpSpPr>
              <p:cNvPr id="592950" name="Group 54"/>
              <p:cNvGrpSpPr>
                <a:grpSpLocks/>
              </p:cNvGrpSpPr>
              <p:nvPr/>
            </p:nvGrpSpPr>
            <p:grpSpPr bwMode="auto">
              <a:xfrm>
                <a:off x="1488" y="2976"/>
                <a:ext cx="864" cy="672"/>
                <a:chOff x="1488" y="2976"/>
                <a:chExt cx="864" cy="1056"/>
              </a:xfrm>
            </p:grpSpPr>
            <p:sp>
              <p:nvSpPr>
                <p:cNvPr id="592951" name="Line 55"/>
                <p:cNvSpPr>
                  <a:spLocks noChangeShapeType="1"/>
                </p:cNvSpPr>
                <p:nvPr/>
              </p:nvSpPr>
              <p:spPr bwMode="auto">
                <a:xfrm>
                  <a:off x="1776" y="2976"/>
                  <a:ext cx="0" cy="10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2952" name="Line 56"/>
                <p:cNvSpPr>
                  <a:spLocks noChangeShapeType="1"/>
                </p:cNvSpPr>
                <p:nvPr/>
              </p:nvSpPr>
              <p:spPr bwMode="auto">
                <a:xfrm>
                  <a:off x="1488" y="2976"/>
                  <a:ext cx="0" cy="10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2953" name="Line 57"/>
                <p:cNvSpPr>
                  <a:spLocks noChangeShapeType="1"/>
                </p:cNvSpPr>
                <p:nvPr/>
              </p:nvSpPr>
              <p:spPr bwMode="auto">
                <a:xfrm>
                  <a:off x="2064" y="2976"/>
                  <a:ext cx="0" cy="10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592954" name="Line 58"/>
                <p:cNvSpPr>
                  <a:spLocks noChangeShapeType="1"/>
                </p:cNvSpPr>
                <p:nvPr/>
              </p:nvSpPr>
              <p:spPr bwMode="auto">
                <a:xfrm>
                  <a:off x="2352" y="2976"/>
                  <a:ext cx="0" cy="105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592955" name="Text Box 59"/>
            <p:cNvSpPr txBox="1">
              <a:spLocks noChangeArrowheads="1"/>
            </p:cNvSpPr>
            <p:nvPr/>
          </p:nvSpPr>
          <p:spPr bwMode="auto">
            <a:xfrm>
              <a:off x="2256" y="3216"/>
              <a:ext cx="1200" cy="49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dirty="0"/>
                <a:t>t1 = &lt;</a:t>
              </a:r>
              <a:r>
                <a:rPr lang="en-US" dirty="0">
                  <a:sym typeface="Symbol" pitchFamily="18" charset="2"/>
                </a:rPr>
                <a:t>, 10, 1</a:t>
              </a:r>
              <a:r>
                <a:rPr lang="en-US" dirty="0"/>
                <a:t>&gt;</a:t>
              </a:r>
            </a:p>
            <a:p>
              <a:pPr algn="l"/>
              <a:r>
                <a:rPr lang="en-US" dirty="0"/>
                <a:t>t2 = &lt;</a:t>
              </a:r>
              <a:r>
                <a:rPr lang="en-US" dirty="0">
                  <a:sym typeface="Symbol" pitchFamily="18" charset="2"/>
                </a:rPr>
                <a:t>, 20, 2</a:t>
              </a:r>
              <a:r>
                <a:rPr lang="en-US" dirty="0"/>
                <a:t>&gt;</a:t>
              </a:r>
            </a:p>
          </p:txBody>
        </p:sp>
        <p:sp>
          <p:nvSpPr>
            <p:cNvPr id="592956" name="Text Box 60"/>
            <p:cNvSpPr txBox="1">
              <a:spLocks noChangeArrowheads="1"/>
            </p:cNvSpPr>
            <p:nvPr/>
          </p:nvSpPr>
          <p:spPr bwMode="auto">
            <a:xfrm>
              <a:off x="3744" y="3205"/>
              <a:ext cx="1824" cy="49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/>
                <a:t>t1 </a:t>
              </a:r>
              <a:r>
                <a:rPr lang="en-US" b="1">
                  <a:sym typeface="Symbol" pitchFamily="18" charset="2"/>
                </a:rPr>
                <a:t></a:t>
              </a:r>
              <a:r>
                <a:rPr lang="en-US">
                  <a:sym typeface="Symbol" pitchFamily="18" charset="2"/>
                </a:rPr>
                <a:t> R có chân trị ĐÚNG</a:t>
              </a:r>
            </a:p>
            <a:p>
              <a:pPr algn="l"/>
              <a:r>
                <a:rPr lang="en-US"/>
                <a:t>t2 </a:t>
              </a:r>
              <a:r>
                <a:rPr lang="en-US" b="1">
                  <a:sym typeface="Symbol" pitchFamily="18" charset="2"/>
                </a:rPr>
                <a:t></a:t>
              </a:r>
              <a:r>
                <a:rPr lang="en-US"/>
                <a:t> R có chân trị SAI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472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Công</a:t>
            </a:r>
            <a:r>
              <a:rPr lang="en-US" sz="3500" b="1" dirty="0"/>
              <a:t> </a:t>
            </a:r>
            <a:r>
              <a:rPr lang="en-US" sz="3500" b="1" dirty="0" err="1"/>
              <a:t>thức</a:t>
            </a:r>
            <a:r>
              <a:rPr lang="en-US" sz="3500" b="1" dirty="0"/>
              <a:t> </a:t>
            </a:r>
            <a:r>
              <a:rPr lang="en-US" sz="3500" b="1" dirty="0" err="1"/>
              <a:t>nguyên</a:t>
            </a:r>
            <a:r>
              <a:rPr lang="en-US" sz="3500" b="1" dirty="0"/>
              <a:t> </a:t>
            </a:r>
            <a:r>
              <a:rPr lang="en-US" sz="3500" b="1" dirty="0" err="1" smtClean="0"/>
              <a:t>tố</a:t>
            </a:r>
            <a:endParaRPr lang="en-US" sz="3500" b="1" dirty="0"/>
          </a:p>
        </p:txBody>
      </p:sp>
      <p:sp>
        <p:nvSpPr>
          <p:cNvPr id="5949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(ii) </a:t>
            </a:r>
            <a:r>
              <a:rPr lang="en-US" dirty="0" err="1"/>
              <a:t>và</a:t>
            </a:r>
            <a:r>
              <a:rPr lang="en-US" dirty="0"/>
              <a:t> (iii) </a:t>
            </a:r>
          </a:p>
          <a:p>
            <a:pPr lvl="1"/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</p:txBody>
      </p:sp>
      <p:grpSp>
        <p:nvGrpSpPr>
          <p:cNvPr id="594971" name="Group 27"/>
          <p:cNvGrpSpPr>
            <a:grpSpLocks/>
          </p:cNvGrpSpPr>
          <p:nvPr/>
        </p:nvGrpSpPr>
        <p:grpSpPr bwMode="auto">
          <a:xfrm>
            <a:off x="1066800" y="3048000"/>
            <a:ext cx="1905000" cy="1066800"/>
            <a:chOff x="1152" y="2976"/>
            <a:chExt cx="1200" cy="672"/>
          </a:xfrm>
        </p:grpSpPr>
        <p:sp>
          <p:nvSpPr>
            <p:cNvPr id="594972" name="Line 28"/>
            <p:cNvSpPr>
              <a:spLocks noChangeShapeType="1"/>
            </p:cNvSpPr>
            <p:nvPr/>
          </p:nvSpPr>
          <p:spPr bwMode="auto">
            <a:xfrm>
              <a:off x="1152" y="3168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73" name="Text Box 29"/>
            <p:cNvSpPr txBox="1">
              <a:spLocks noChangeArrowheads="1"/>
            </p:cNvSpPr>
            <p:nvPr/>
          </p:nvSpPr>
          <p:spPr bwMode="auto">
            <a:xfrm>
              <a:off x="1488" y="2976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A</a:t>
              </a:r>
            </a:p>
          </p:txBody>
        </p:sp>
        <p:sp>
          <p:nvSpPr>
            <p:cNvPr id="594974" name="Text Box 30"/>
            <p:cNvSpPr txBox="1">
              <a:spLocks noChangeArrowheads="1"/>
            </p:cNvSpPr>
            <p:nvPr/>
          </p:nvSpPr>
          <p:spPr bwMode="auto">
            <a:xfrm>
              <a:off x="1776" y="2976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B</a:t>
              </a:r>
            </a:p>
          </p:txBody>
        </p:sp>
        <p:sp>
          <p:nvSpPr>
            <p:cNvPr id="594975" name="Text Box 31"/>
            <p:cNvSpPr txBox="1">
              <a:spLocks noChangeArrowheads="1"/>
            </p:cNvSpPr>
            <p:nvPr/>
          </p:nvSpPr>
          <p:spPr bwMode="auto">
            <a:xfrm>
              <a:off x="1488" y="3216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sym typeface="Symbol" pitchFamily="18" charset="2"/>
                </a:rPr>
                <a:t></a:t>
              </a:r>
            </a:p>
          </p:txBody>
        </p:sp>
        <p:sp>
          <p:nvSpPr>
            <p:cNvPr id="594976" name="Line 32"/>
            <p:cNvSpPr>
              <a:spLocks noChangeShapeType="1"/>
            </p:cNvSpPr>
            <p:nvPr/>
          </p:nvSpPr>
          <p:spPr bwMode="auto">
            <a:xfrm>
              <a:off x="1152" y="2976"/>
              <a:ext cx="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77" name="Line 33"/>
            <p:cNvSpPr>
              <a:spLocks noChangeShapeType="1"/>
            </p:cNvSpPr>
            <p:nvPr/>
          </p:nvSpPr>
          <p:spPr bwMode="auto">
            <a:xfrm>
              <a:off x="1488" y="3648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78" name="Text Box 34"/>
            <p:cNvSpPr txBox="1">
              <a:spLocks noChangeArrowheads="1"/>
            </p:cNvSpPr>
            <p:nvPr/>
          </p:nvSpPr>
          <p:spPr bwMode="auto">
            <a:xfrm>
              <a:off x="1152" y="2976"/>
              <a:ext cx="336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b="1"/>
                <a:t>R</a:t>
              </a:r>
            </a:p>
          </p:txBody>
        </p:sp>
        <p:sp>
          <p:nvSpPr>
            <p:cNvPr id="594979" name="Line 35"/>
            <p:cNvSpPr>
              <a:spLocks noChangeShapeType="1"/>
            </p:cNvSpPr>
            <p:nvPr/>
          </p:nvSpPr>
          <p:spPr bwMode="auto">
            <a:xfrm>
              <a:off x="1152" y="297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94980" name="Text Box 36"/>
            <p:cNvSpPr txBox="1">
              <a:spLocks noChangeArrowheads="1"/>
            </p:cNvSpPr>
            <p:nvPr/>
          </p:nvSpPr>
          <p:spPr bwMode="auto">
            <a:xfrm>
              <a:off x="1488" y="3408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sym typeface="Symbol" pitchFamily="18" charset="2"/>
                </a:rPr>
                <a:t></a:t>
              </a:r>
            </a:p>
          </p:txBody>
        </p:sp>
        <p:sp>
          <p:nvSpPr>
            <p:cNvPr id="594981" name="Text Box 37"/>
            <p:cNvSpPr txBox="1">
              <a:spLocks noChangeArrowheads="1"/>
            </p:cNvSpPr>
            <p:nvPr/>
          </p:nvSpPr>
          <p:spPr bwMode="auto">
            <a:xfrm>
              <a:off x="1776" y="3216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sym typeface="Symbol" pitchFamily="18" charset="2"/>
                </a:rPr>
                <a:t>10</a:t>
              </a:r>
            </a:p>
          </p:txBody>
        </p:sp>
        <p:sp>
          <p:nvSpPr>
            <p:cNvPr id="594982" name="Text Box 38"/>
            <p:cNvSpPr txBox="1">
              <a:spLocks noChangeArrowheads="1"/>
            </p:cNvSpPr>
            <p:nvPr/>
          </p:nvSpPr>
          <p:spPr bwMode="auto">
            <a:xfrm>
              <a:off x="1776" y="3408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sym typeface="Symbol" pitchFamily="18" charset="2"/>
                </a:rPr>
                <a:t>20</a:t>
              </a:r>
            </a:p>
          </p:txBody>
        </p:sp>
        <p:sp>
          <p:nvSpPr>
            <p:cNvPr id="594983" name="Text Box 39"/>
            <p:cNvSpPr txBox="1">
              <a:spLocks noChangeArrowheads="1"/>
            </p:cNvSpPr>
            <p:nvPr/>
          </p:nvSpPr>
          <p:spPr bwMode="auto">
            <a:xfrm>
              <a:off x="2064" y="2976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/>
                <a:t>C</a:t>
              </a:r>
            </a:p>
          </p:txBody>
        </p:sp>
        <p:sp>
          <p:nvSpPr>
            <p:cNvPr id="594984" name="Text Box 40"/>
            <p:cNvSpPr txBox="1">
              <a:spLocks noChangeArrowheads="1"/>
            </p:cNvSpPr>
            <p:nvPr/>
          </p:nvSpPr>
          <p:spPr bwMode="auto">
            <a:xfrm>
              <a:off x="2064" y="3216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sym typeface="Symbol" pitchFamily="18" charset="2"/>
                </a:rPr>
                <a:t>1</a:t>
              </a:r>
            </a:p>
          </p:txBody>
        </p:sp>
        <p:sp>
          <p:nvSpPr>
            <p:cNvPr id="594985" name="Text Box 41"/>
            <p:cNvSpPr txBox="1">
              <a:spLocks noChangeArrowheads="1"/>
            </p:cNvSpPr>
            <p:nvPr/>
          </p:nvSpPr>
          <p:spPr bwMode="auto">
            <a:xfrm>
              <a:off x="2064" y="3408"/>
              <a:ext cx="288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>
                  <a:sym typeface="Symbol" pitchFamily="18" charset="2"/>
                </a:rPr>
                <a:t>1</a:t>
              </a:r>
            </a:p>
          </p:txBody>
        </p:sp>
        <p:grpSp>
          <p:nvGrpSpPr>
            <p:cNvPr id="594986" name="Group 42"/>
            <p:cNvGrpSpPr>
              <a:grpSpLocks/>
            </p:cNvGrpSpPr>
            <p:nvPr/>
          </p:nvGrpSpPr>
          <p:grpSpPr bwMode="auto">
            <a:xfrm>
              <a:off x="1488" y="2976"/>
              <a:ext cx="864" cy="672"/>
              <a:chOff x="1488" y="2976"/>
              <a:chExt cx="864" cy="1056"/>
            </a:xfrm>
          </p:grpSpPr>
          <p:sp>
            <p:nvSpPr>
              <p:cNvPr id="594987" name="Line 43"/>
              <p:cNvSpPr>
                <a:spLocks noChangeShapeType="1"/>
              </p:cNvSpPr>
              <p:nvPr/>
            </p:nvSpPr>
            <p:spPr bwMode="auto">
              <a:xfrm>
                <a:off x="1776" y="2976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4988" name="Line 44"/>
              <p:cNvSpPr>
                <a:spLocks noChangeShapeType="1"/>
              </p:cNvSpPr>
              <p:nvPr/>
            </p:nvSpPr>
            <p:spPr bwMode="auto">
              <a:xfrm>
                <a:off x="1488" y="2976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4989" name="Line 45"/>
              <p:cNvSpPr>
                <a:spLocks noChangeShapeType="1"/>
              </p:cNvSpPr>
              <p:nvPr/>
            </p:nvSpPr>
            <p:spPr bwMode="auto">
              <a:xfrm>
                <a:off x="2064" y="2976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94990" name="Line 46"/>
              <p:cNvSpPr>
                <a:spLocks noChangeShapeType="1"/>
              </p:cNvSpPr>
              <p:nvPr/>
            </p:nvSpPr>
            <p:spPr bwMode="auto">
              <a:xfrm>
                <a:off x="2352" y="2976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94991" name="Text Box 47"/>
          <p:cNvSpPr txBox="1">
            <a:spLocks noChangeArrowheads="1"/>
          </p:cNvSpPr>
          <p:nvPr/>
        </p:nvSpPr>
        <p:spPr bwMode="auto">
          <a:xfrm>
            <a:off x="3581400" y="3124200"/>
            <a:ext cx="4648200" cy="7794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dirty="0" err="1"/>
              <a:t>Nếu</a:t>
            </a:r>
            <a:r>
              <a:rPr lang="en-US" dirty="0"/>
              <a:t> 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 &lt;</a:t>
            </a:r>
            <a:r>
              <a:rPr lang="en-US" dirty="0">
                <a:sym typeface="Symbol" pitchFamily="18" charset="2"/>
              </a:rPr>
              <a:t>, 10, 1</a:t>
            </a:r>
            <a:r>
              <a:rPr lang="en-US" dirty="0"/>
              <a:t>&gt;</a:t>
            </a:r>
          </a:p>
          <a:p>
            <a:pPr algn="l"/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t.B</a:t>
            </a:r>
            <a:r>
              <a:rPr lang="en-US" dirty="0"/>
              <a:t> &gt; 5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ĐÚNG (10 &gt; 5)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3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Qui </a:t>
            </a:r>
            <a:r>
              <a:rPr lang="en-US" sz="3500" b="1" dirty="0" err="1"/>
              <a:t>tắc</a:t>
            </a:r>
            <a:endParaRPr lang="en-US" sz="3500" b="1" dirty="0"/>
          </a:p>
        </p:txBody>
      </p:sp>
      <p:sp>
        <p:nvSpPr>
          <p:cNvPr id="5969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724400"/>
          </a:xfrm>
        </p:spPr>
        <p:txBody>
          <a:bodyPr/>
          <a:lstStyle/>
          <a:p>
            <a:r>
              <a:rPr lang="en-US" dirty="0"/>
              <a:t>(1)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endParaRPr lang="en-US" dirty="0"/>
          </a:p>
          <a:p>
            <a:r>
              <a:rPr lang="en-US" dirty="0"/>
              <a:t>(2)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>
                <a:latin typeface="Tahoma" pitchFamily="34" charset="0"/>
              </a:rPr>
              <a:t>P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latin typeface="Tahoma" pitchFamily="34" charset="0"/>
                <a:sym typeface="Symbol" pitchFamily="18" charset="2"/>
              </a:rPr>
              <a:t>P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công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thức</a:t>
            </a:r>
            <a:endParaRPr lang="en-US" dirty="0">
              <a:sym typeface="Symbol" pitchFamily="18" charset="2"/>
            </a:endParaRPr>
          </a:p>
          <a:p>
            <a:pPr lvl="1"/>
            <a:r>
              <a:rPr lang="en-US" dirty="0">
                <a:latin typeface="Tahoma" pitchFamily="34" charset="0"/>
                <a:sym typeface="Symbol" pitchFamily="18" charset="2"/>
              </a:rPr>
              <a:t>(P)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công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thức</a:t>
            </a:r>
            <a:endParaRPr lang="en-US" dirty="0">
              <a:sym typeface="Symbol" pitchFamily="18" charset="2"/>
            </a:endParaRPr>
          </a:p>
          <a:p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(3) </a:t>
            </a:r>
            <a:r>
              <a:rPr lang="en-US" dirty="0" err="1">
                <a:sym typeface="Symbol" pitchFamily="18" charset="2"/>
              </a:rPr>
              <a:t>Nếu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và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các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công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thức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thì</a:t>
            </a:r>
            <a:endParaRPr lang="en-US" dirty="0">
              <a:sym typeface="Symbol" pitchFamily="18" charset="2"/>
            </a:endParaRPr>
          </a:p>
          <a:p>
            <a:pPr lvl="1"/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1700" dirty="0">
                <a:latin typeface="Tahoma" pitchFamily="34" charset="0"/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 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1700" dirty="0">
                <a:latin typeface="Tahoma" pitchFamily="34" charset="0"/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công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thức</a:t>
            </a:r>
            <a:endParaRPr lang="en-US" dirty="0">
              <a:sym typeface="Symbol" pitchFamily="18" charset="2"/>
            </a:endParaRPr>
          </a:p>
          <a:p>
            <a:pPr lvl="1"/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1700" dirty="0">
                <a:latin typeface="Tahoma" pitchFamily="34" charset="0"/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 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1700" dirty="0">
                <a:latin typeface="Tahoma" pitchFamily="34" charset="0"/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công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thức</a:t>
            </a:r>
            <a:endParaRPr lang="en-US" dirty="0">
              <a:sym typeface="Symbol" pitchFamily="18" charset="2"/>
            </a:endParaRPr>
          </a:p>
          <a:p>
            <a:pPr lvl="1"/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1700" dirty="0">
                <a:latin typeface="Tahoma" pitchFamily="34" charset="0"/>
                <a:sym typeface="Symbol" pitchFamily="18" charset="2"/>
              </a:rPr>
              <a:t>1</a:t>
            </a:r>
            <a:r>
              <a:rPr lang="en-US" dirty="0">
                <a:sym typeface="Symbol" pitchFamily="18" charset="2"/>
              </a:rPr>
              <a:t>  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1700" dirty="0">
                <a:latin typeface="Tahoma" pitchFamily="34" charset="0"/>
                <a:sym typeface="Symbol" pitchFamily="18" charset="2"/>
              </a:rPr>
              <a:t>2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công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thức</a:t>
            </a:r>
            <a:endParaRPr lang="en-US" dirty="0">
              <a:sym typeface="Symbol" pitchFamily="18" charset="2"/>
            </a:endParaRPr>
          </a:p>
          <a:p>
            <a:pPr lvl="1"/>
            <a:endParaRPr lang="en-US" dirty="0">
              <a:sym typeface="Symbol" pitchFamily="18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26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Qui </a:t>
            </a:r>
            <a:r>
              <a:rPr lang="en-US" sz="3500" b="1" dirty="0" err="1" smtClean="0"/>
              <a:t>tắc</a:t>
            </a:r>
            <a:endParaRPr lang="en-US" sz="3500" b="1" dirty="0"/>
          </a:p>
        </p:txBody>
      </p:sp>
      <p:sp>
        <p:nvSpPr>
          <p:cNvPr id="5990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r>
              <a:rPr lang="en-US" dirty="0"/>
              <a:t>(4)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>
                <a:latin typeface="Tahoma" pitchFamily="34" charset="0"/>
              </a:rPr>
              <a:t>P(t)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thì</a:t>
            </a:r>
            <a:endParaRPr lang="en-US" dirty="0"/>
          </a:p>
          <a:p>
            <a:pPr lvl="1"/>
            <a:r>
              <a:rPr lang="en-US" b="1" dirty="0">
                <a:latin typeface="Tahoma" pitchFamily="34" charset="0"/>
                <a:sym typeface="Symbol" pitchFamily="18" charset="2"/>
              </a:rPr>
              <a:t></a:t>
            </a:r>
            <a:r>
              <a:rPr lang="en-US" dirty="0">
                <a:latin typeface="Tahoma" pitchFamily="34" charset="0"/>
                <a:sym typeface="Symbol" pitchFamily="18" charset="2"/>
              </a:rPr>
              <a:t>t  R (P(t))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công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thức</a:t>
            </a:r>
            <a:endParaRPr lang="en-US" dirty="0">
              <a:sym typeface="Symbol" pitchFamily="18" charset="2"/>
            </a:endParaRPr>
          </a:p>
          <a:p>
            <a:pPr lvl="2"/>
            <a:r>
              <a:rPr lang="en-US" dirty="0" err="1">
                <a:sym typeface="Symbol" pitchFamily="18" charset="2"/>
              </a:rPr>
              <a:t>Chân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trị</a:t>
            </a:r>
            <a:r>
              <a:rPr lang="en-US" dirty="0">
                <a:sym typeface="Symbol" pitchFamily="18" charset="2"/>
              </a:rPr>
              <a:t> ĐÚNG </a:t>
            </a:r>
            <a:r>
              <a:rPr lang="en-US" dirty="0" err="1">
                <a:sym typeface="Symbol" pitchFamily="18" charset="2"/>
              </a:rPr>
              <a:t>khi</a:t>
            </a:r>
            <a:r>
              <a:rPr lang="en-US" dirty="0">
                <a:sym typeface="Symbol" pitchFamily="18" charset="2"/>
              </a:rPr>
              <a:t> P(t) ĐÚNG </a:t>
            </a:r>
            <a:r>
              <a:rPr lang="en-US" dirty="0" err="1">
                <a:sym typeface="Symbol" pitchFamily="18" charset="2"/>
              </a:rPr>
              <a:t>với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mọi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bộ</a:t>
            </a:r>
            <a:r>
              <a:rPr lang="en-US" dirty="0">
                <a:sym typeface="Symbol" pitchFamily="18" charset="2"/>
              </a:rPr>
              <a:t> t </a:t>
            </a:r>
            <a:r>
              <a:rPr lang="en-US" dirty="0" err="1">
                <a:sym typeface="Symbol" pitchFamily="18" charset="2"/>
              </a:rPr>
              <a:t>trong</a:t>
            </a:r>
            <a:r>
              <a:rPr lang="en-US" dirty="0">
                <a:sym typeface="Symbol" pitchFamily="18" charset="2"/>
              </a:rPr>
              <a:t> R</a:t>
            </a:r>
          </a:p>
          <a:p>
            <a:pPr lvl="2"/>
            <a:r>
              <a:rPr lang="en-US" dirty="0" err="1">
                <a:sym typeface="Symbol" pitchFamily="18" charset="2"/>
              </a:rPr>
              <a:t>Chân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trị</a:t>
            </a:r>
            <a:r>
              <a:rPr lang="en-US" dirty="0">
                <a:sym typeface="Symbol" pitchFamily="18" charset="2"/>
              </a:rPr>
              <a:t> SAI </a:t>
            </a:r>
            <a:r>
              <a:rPr lang="en-US" dirty="0" err="1">
                <a:sym typeface="Symbol" pitchFamily="18" charset="2"/>
              </a:rPr>
              <a:t>khi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có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ít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nhất</a:t>
            </a:r>
            <a:r>
              <a:rPr lang="en-US" dirty="0">
                <a:sym typeface="Symbol" pitchFamily="18" charset="2"/>
              </a:rPr>
              <a:t> 1 </a:t>
            </a:r>
            <a:r>
              <a:rPr lang="en-US" dirty="0" err="1">
                <a:sym typeface="Symbol" pitchFamily="18" charset="2"/>
              </a:rPr>
              <a:t>bộ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làm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cho</a:t>
            </a:r>
            <a:r>
              <a:rPr lang="en-US" dirty="0">
                <a:sym typeface="Symbol" pitchFamily="18" charset="2"/>
              </a:rPr>
              <a:t> P(t) SAI</a:t>
            </a:r>
          </a:p>
          <a:p>
            <a:pPr lvl="2"/>
            <a:endParaRPr lang="en-US" dirty="0">
              <a:sym typeface="Symbol" pitchFamily="18" charset="2"/>
            </a:endParaRPr>
          </a:p>
          <a:p>
            <a:pPr lvl="1"/>
            <a:r>
              <a:rPr lang="en-US" b="1" dirty="0">
                <a:latin typeface="Tahoma" pitchFamily="34" charset="0"/>
                <a:sym typeface="Symbol" pitchFamily="18" charset="2"/>
              </a:rPr>
              <a:t></a:t>
            </a:r>
            <a:r>
              <a:rPr lang="en-US" dirty="0">
                <a:latin typeface="Tahoma" pitchFamily="34" charset="0"/>
                <a:sym typeface="Symbol" pitchFamily="18" charset="2"/>
              </a:rPr>
              <a:t>t  R (P(t))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công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thức</a:t>
            </a:r>
            <a:endParaRPr lang="en-US" dirty="0">
              <a:sym typeface="Symbol" pitchFamily="18" charset="2"/>
            </a:endParaRPr>
          </a:p>
          <a:p>
            <a:pPr lvl="2"/>
            <a:r>
              <a:rPr lang="en-US" dirty="0" err="1">
                <a:sym typeface="Symbol" pitchFamily="18" charset="2"/>
              </a:rPr>
              <a:t>Chân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trị</a:t>
            </a:r>
            <a:r>
              <a:rPr lang="en-US" dirty="0">
                <a:sym typeface="Symbol" pitchFamily="18" charset="2"/>
              </a:rPr>
              <a:t> ĐÚNG </a:t>
            </a:r>
            <a:r>
              <a:rPr lang="en-US" dirty="0" err="1">
                <a:sym typeface="Symbol" pitchFamily="18" charset="2"/>
              </a:rPr>
              <a:t>khi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có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ít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nhất</a:t>
            </a:r>
            <a:r>
              <a:rPr lang="en-US" dirty="0">
                <a:sym typeface="Symbol" pitchFamily="18" charset="2"/>
              </a:rPr>
              <a:t> 1 </a:t>
            </a:r>
            <a:r>
              <a:rPr lang="en-US" dirty="0" err="1">
                <a:sym typeface="Symbol" pitchFamily="18" charset="2"/>
              </a:rPr>
              <a:t>bộ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làm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cho</a:t>
            </a:r>
            <a:r>
              <a:rPr lang="en-US" dirty="0">
                <a:sym typeface="Symbol" pitchFamily="18" charset="2"/>
              </a:rPr>
              <a:t> P(t) ĐÚNG</a:t>
            </a:r>
          </a:p>
          <a:p>
            <a:pPr lvl="2"/>
            <a:r>
              <a:rPr lang="en-US" dirty="0" err="1">
                <a:sym typeface="Symbol" pitchFamily="18" charset="2"/>
              </a:rPr>
              <a:t>Chân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trị</a:t>
            </a:r>
            <a:r>
              <a:rPr lang="en-US" dirty="0">
                <a:sym typeface="Symbol" pitchFamily="18" charset="2"/>
              </a:rPr>
              <a:t> SAI </a:t>
            </a:r>
            <a:r>
              <a:rPr lang="en-US" dirty="0" err="1">
                <a:sym typeface="Symbol" pitchFamily="18" charset="2"/>
              </a:rPr>
              <a:t>khi</a:t>
            </a:r>
            <a:r>
              <a:rPr lang="en-US" dirty="0">
                <a:sym typeface="Symbol" pitchFamily="18" charset="2"/>
              </a:rPr>
              <a:t> P(t) SAI </a:t>
            </a:r>
            <a:r>
              <a:rPr lang="en-US" dirty="0" err="1">
                <a:sym typeface="Symbol" pitchFamily="18" charset="2"/>
              </a:rPr>
              <a:t>với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mọi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bộ</a:t>
            </a:r>
            <a:r>
              <a:rPr lang="en-US" dirty="0">
                <a:sym typeface="Symbol" pitchFamily="18" charset="2"/>
              </a:rPr>
              <a:t> t </a:t>
            </a:r>
            <a:r>
              <a:rPr lang="en-US" dirty="0" err="1">
                <a:sym typeface="Symbol" pitchFamily="18" charset="2"/>
              </a:rPr>
              <a:t>trong</a:t>
            </a:r>
            <a:r>
              <a:rPr lang="en-US" dirty="0">
                <a:sym typeface="Symbol" pitchFamily="18" charset="2"/>
              </a:rPr>
              <a:t> 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609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/>
              <a:t>Qui </a:t>
            </a:r>
            <a:r>
              <a:rPr lang="en-US" sz="3500" b="1" dirty="0" err="1" smtClean="0"/>
              <a:t>tắc</a:t>
            </a:r>
            <a:endParaRPr lang="en-US" sz="3500" b="1" dirty="0"/>
          </a:p>
        </p:txBody>
      </p:sp>
      <p:sp>
        <p:nvSpPr>
          <p:cNvPr id="6010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267200"/>
          </a:xfrm>
        </p:spPr>
        <p:txBody>
          <a:bodyPr/>
          <a:lstStyle/>
          <a:p>
            <a:r>
              <a:rPr lang="en-US" dirty="0"/>
              <a:t>(5)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>
                <a:latin typeface="Tahoma" pitchFamily="34" charset="0"/>
              </a:rPr>
              <a:t>P </a:t>
            </a:r>
            <a:r>
              <a:rPr lang="en-US" dirty="0" err="1">
                <a:latin typeface="Tahoma" pitchFamily="34" charset="0"/>
              </a:rPr>
              <a:t>là</a:t>
            </a:r>
            <a:r>
              <a:rPr lang="en-US" dirty="0">
                <a:latin typeface="Tahoma" pitchFamily="34" charset="0"/>
              </a:rPr>
              <a:t> </a:t>
            </a:r>
            <a:r>
              <a:rPr lang="en-US" dirty="0" err="1">
                <a:latin typeface="Tahoma" pitchFamily="34" charset="0"/>
              </a:rPr>
              <a:t>công</a:t>
            </a:r>
            <a:r>
              <a:rPr lang="en-US" dirty="0">
                <a:latin typeface="Tahoma" pitchFamily="34" charset="0"/>
              </a:rPr>
              <a:t> </a:t>
            </a:r>
            <a:r>
              <a:rPr lang="en-US" dirty="0" err="1">
                <a:latin typeface="Tahoma" pitchFamily="34" charset="0"/>
              </a:rPr>
              <a:t>thức</a:t>
            </a:r>
            <a:r>
              <a:rPr lang="en-US" dirty="0">
                <a:latin typeface="Tahoma" pitchFamily="34" charset="0"/>
              </a:rPr>
              <a:t> </a:t>
            </a:r>
            <a:r>
              <a:rPr lang="en-US" dirty="0" err="1">
                <a:latin typeface="Tahoma" pitchFamily="34" charset="0"/>
              </a:rPr>
              <a:t>nguyên</a:t>
            </a:r>
            <a:r>
              <a:rPr lang="en-US" dirty="0">
                <a:latin typeface="Tahoma" pitchFamily="34" charset="0"/>
              </a:rPr>
              <a:t> </a:t>
            </a:r>
            <a:r>
              <a:rPr lang="en-US" dirty="0" err="1">
                <a:latin typeface="Tahoma" pitchFamily="34" charset="0"/>
              </a:rPr>
              <a:t>tố</a:t>
            </a:r>
            <a:r>
              <a:rPr lang="en-US" dirty="0">
                <a:latin typeface="Tahoma" pitchFamily="34" charset="0"/>
              </a:rPr>
              <a:t> </a:t>
            </a:r>
            <a:r>
              <a:rPr lang="en-US" dirty="0" err="1">
                <a:latin typeface="Tahoma" pitchFamily="34" charset="0"/>
              </a:rPr>
              <a:t>thì</a:t>
            </a:r>
            <a:endParaRPr lang="en-US" dirty="0">
              <a:latin typeface="Tahoma" pitchFamily="34" charset="0"/>
            </a:endParaRP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t </a:t>
            </a:r>
            <a:r>
              <a:rPr lang="en-US" dirty="0" err="1"/>
              <a:t>trong</a:t>
            </a:r>
            <a:r>
              <a:rPr lang="en-US" dirty="0"/>
              <a:t> P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do</a:t>
            </a:r>
          </a:p>
          <a:p>
            <a:endParaRPr lang="en-US" dirty="0"/>
          </a:p>
          <a:p>
            <a:r>
              <a:rPr lang="en-US" dirty="0"/>
              <a:t>(6)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>
                <a:latin typeface="Tahoma" pitchFamily="34" charset="0"/>
                <a:sym typeface="Symbol" pitchFamily="18" charset="2"/>
              </a:rPr>
              <a:t>P=P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1</a:t>
            </a:r>
            <a:r>
              <a:rPr lang="en-US" b="1" dirty="0">
                <a:sym typeface="Symbol" pitchFamily="18" charset="2"/>
              </a:rPr>
              <a:t>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2 </a:t>
            </a:r>
            <a:r>
              <a:rPr lang="en-US" dirty="0">
                <a:sym typeface="Symbol" pitchFamily="18" charset="2"/>
              </a:rPr>
              <a:t>, </a:t>
            </a:r>
            <a:r>
              <a:rPr lang="en-US" dirty="0">
                <a:latin typeface="Tahoma" pitchFamily="34" charset="0"/>
                <a:sym typeface="Symbol" pitchFamily="18" charset="2"/>
              </a:rPr>
              <a:t>P=P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1</a:t>
            </a:r>
            <a:r>
              <a:rPr lang="en-US" b="1" dirty="0">
                <a:sym typeface="Symbol" pitchFamily="18" charset="2"/>
              </a:rPr>
              <a:t>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2 </a:t>
            </a:r>
            <a:r>
              <a:rPr lang="en-US" dirty="0">
                <a:sym typeface="Symbol" pitchFamily="18" charset="2"/>
              </a:rPr>
              <a:t>, </a:t>
            </a:r>
            <a:r>
              <a:rPr lang="en-US" dirty="0">
                <a:latin typeface="Tahoma" pitchFamily="34" charset="0"/>
                <a:sym typeface="Symbol" pitchFamily="18" charset="2"/>
              </a:rPr>
              <a:t>P=P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1</a:t>
            </a:r>
            <a:r>
              <a:rPr lang="en-US" b="1" dirty="0">
                <a:sym typeface="Symbol" pitchFamily="18" charset="2"/>
              </a:rPr>
              <a:t>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2</a:t>
            </a:r>
          </a:p>
          <a:p>
            <a:pPr lvl="1"/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t </a:t>
            </a:r>
            <a:r>
              <a:rPr lang="en-US" dirty="0" err="1"/>
              <a:t>trong</a:t>
            </a:r>
            <a:r>
              <a:rPr lang="en-US" dirty="0"/>
              <a:t> P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do hay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do hay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1700" dirty="0">
                <a:latin typeface="Tahoma" pitchFamily="34" charset="0"/>
                <a:sym typeface="Symbol" pitchFamily="18" charset="2"/>
              </a:rPr>
              <a:t>1</a:t>
            </a:r>
            <a:r>
              <a:rPr lang="en-US" sz="1900" dirty="0">
                <a:latin typeface="Tahoma" pitchFamily="34" charset="0"/>
                <a:sym typeface="Symbol" pitchFamily="18" charset="2"/>
              </a:rPr>
              <a:t>, 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1700" dirty="0">
                <a:latin typeface="Tahoma" pitchFamily="34" charset="0"/>
                <a:sym typeface="Symbol" pitchFamily="18" charset="2"/>
              </a:rPr>
              <a:t>2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72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Một</a:t>
            </a:r>
            <a:r>
              <a:rPr lang="en-US" sz="3500" b="1" dirty="0"/>
              <a:t> </a:t>
            </a:r>
            <a:r>
              <a:rPr lang="en-US" sz="3500" b="1" dirty="0" err="1"/>
              <a:t>số</a:t>
            </a:r>
            <a:r>
              <a:rPr lang="en-US" sz="3500" b="1" dirty="0"/>
              <a:t> </a:t>
            </a:r>
            <a:r>
              <a:rPr lang="en-US" sz="3500" b="1" dirty="0" err="1"/>
              <a:t>biến</a:t>
            </a:r>
            <a:r>
              <a:rPr lang="en-US" sz="3500" b="1" dirty="0"/>
              <a:t> </a:t>
            </a:r>
            <a:r>
              <a:rPr lang="en-US" sz="3500" b="1" dirty="0" err="1"/>
              <a:t>đổi</a:t>
            </a:r>
            <a:endParaRPr lang="en-US" sz="3500" b="1" dirty="0"/>
          </a:p>
        </p:txBody>
      </p:sp>
      <p:sp>
        <p:nvSpPr>
          <p:cNvPr id="6051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495800"/>
          </a:xfrm>
        </p:spPr>
        <p:txBody>
          <a:bodyPr/>
          <a:lstStyle/>
          <a:p>
            <a:r>
              <a:rPr lang="en-US" dirty="0"/>
              <a:t>(i) 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1 </a:t>
            </a:r>
            <a:r>
              <a:rPr lang="en-US" b="1" dirty="0">
                <a:sym typeface="Symbol" pitchFamily="18" charset="2"/>
              </a:rPr>
              <a:t> 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2 </a:t>
            </a:r>
            <a:r>
              <a:rPr lang="en-US" sz="2300" dirty="0">
                <a:latin typeface="Tahoma" pitchFamily="34" charset="0"/>
                <a:sym typeface="Symbol" pitchFamily="18" charset="2"/>
              </a:rPr>
              <a:t>= </a:t>
            </a:r>
            <a:r>
              <a:rPr lang="en-US" sz="2300" b="1" dirty="0">
                <a:latin typeface="Tahoma" pitchFamily="34" charset="0"/>
                <a:sym typeface="Symbol" pitchFamily="18" charset="2"/>
              </a:rPr>
              <a:t> </a:t>
            </a:r>
            <a:r>
              <a:rPr lang="en-US" sz="2300" dirty="0">
                <a:latin typeface="Tahoma" pitchFamily="34" charset="0"/>
                <a:sym typeface="Symbol" pitchFamily="18" charset="2"/>
              </a:rPr>
              <a:t>(</a:t>
            </a:r>
            <a:r>
              <a:rPr lang="en-US" sz="2300" b="1" dirty="0">
                <a:latin typeface="Tahoma" pitchFamily="34" charset="0"/>
                <a:sym typeface="Symbol" pitchFamily="18" charset="2"/>
              </a:rPr>
              <a:t>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1 </a:t>
            </a:r>
            <a:r>
              <a:rPr lang="en-US" b="1" dirty="0">
                <a:sym typeface="Symbol" pitchFamily="18" charset="2"/>
              </a:rPr>
              <a:t> </a:t>
            </a:r>
            <a:r>
              <a:rPr lang="en-US" sz="2300" b="1" dirty="0">
                <a:latin typeface="Tahoma" pitchFamily="34" charset="0"/>
                <a:sym typeface="Symbol" pitchFamily="18" charset="2"/>
              </a:rPr>
              <a:t></a:t>
            </a:r>
            <a:r>
              <a:rPr lang="en-US" dirty="0">
                <a:latin typeface="Tahoma" pitchFamily="34" charset="0"/>
                <a:sym typeface="Symbol" pitchFamily="18" charset="2"/>
              </a:rPr>
              <a:t>P</a:t>
            </a:r>
            <a:r>
              <a:rPr lang="en-US" sz="2000" dirty="0">
                <a:latin typeface="Tahoma" pitchFamily="34" charset="0"/>
                <a:sym typeface="Symbol" pitchFamily="18" charset="2"/>
              </a:rPr>
              <a:t>2</a:t>
            </a:r>
            <a:r>
              <a:rPr lang="en-US" sz="2300" dirty="0">
                <a:latin typeface="Tahoma" pitchFamily="34" charset="0"/>
                <a:sym typeface="Symbol" pitchFamily="18" charset="2"/>
              </a:rPr>
              <a:t>)</a:t>
            </a:r>
            <a:endParaRPr lang="en-US" dirty="0">
              <a:latin typeface="Tahoma" pitchFamily="34" charset="0"/>
              <a:sym typeface="Symbol" pitchFamily="18" charset="2"/>
            </a:endParaRPr>
          </a:p>
          <a:p>
            <a:endParaRPr lang="en-US" dirty="0"/>
          </a:p>
          <a:p>
            <a:r>
              <a:rPr lang="en-US" dirty="0"/>
              <a:t>(ii) </a:t>
            </a:r>
            <a:r>
              <a:rPr lang="en-US" b="1" dirty="0">
                <a:latin typeface="Tahoma" pitchFamily="34" charset="0"/>
                <a:sym typeface="Symbol" pitchFamily="18" charset="2"/>
              </a:rPr>
              <a:t></a:t>
            </a:r>
            <a:r>
              <a:rPr lang="en-US" dirty="0" err="1">
                <a:latin typeface="Tahoma" pitchFamily="34" charset="0"/>
                <a:sym typeface="Symbol" pitchFamily="18" charset="2"/>
              </a:rPr>
              <a:t>t</a:t>
            </a:r>
            <a:r>
              <a:rPr lang="en-US" b="1" dirty="0" err="1">
                <a:latin typeface="Tahoma" pitchFamily="34" charset="0"/>
                <a:sym typeface="Symbol" pitchFamily="18" charset="2"/>
              </a:rPr>
              <a:t></a:t>
            </a:r>
            <a:r>
              <a:rPr lang="en-US" dirty="0" err="1">
                <a:latin typeface="Tahoma" pitchFamily="34" charset="0"/>
                <a:sym typeface="Symbol" pitchFamily="18" charset="2"/>
              </a:rPr>
              <a:t>R</a:t>
            </a:r>
            <a:r>
              <a:rPr lang="en-US" dirty="0">
                <a:latin typeface="Tahoma" pitchFamily="34" charset="0"/>
                <a:sym typeface="Symbol" pitchFamily="18" charset="2"/>
              </a:rPr>
              <a:t> (P(t)) = </a:t>
            </a:r>
            <a:r>
              <a:rPr lang="en-US" b="1" dirty="0">
                <a:latin typeface="Tahoma" pitchFamily="34" charset="0"/>
                <a:sym typeface="Symbol" pitchFamily="18" charset="2"/>
              </a:rPr>
              <a:t></a:t>
            </a:r>
            <a:r>
              <a:rPr lang="en-US" dirty="0" err="1">
                <a:latin typeface="Tahoma" pitchFamily="34" charset="0"/>
                <a:sym typeface="Symbol" pitchFamily="18" charset="2"/>
              </a:rPr>
              <a:t>t</a:t>
            </a:r>
            <a:r>
              <a:rPr lang="en-US" b="1" dirty="0" err="1">
                <a:latin typeface="Tahoma" pitchFamily="34" charset="0"/>
                <a:sym typeface="Symbol" pitchFamily="18" charset="2"/>
              </a:rPr>
              <a:t></a:t>
            </a:r>
            <a:r>
              <a:rPr lang="en-US" dirty="0" err="1">
                <a:latin typeface="Tahoma" pitchFamily="34" charset="0"/>
                <a:sym typeface="Symbol" pitchFamily="18" charset="2"/>
              </a:rPr>
              <a:t>R</a:t>
            </a:r>
            <a:r>
              <a:rPr lang="en-US" dirty="0">
                <a:latin typeface="Tahoma" pitchFamily="34" charset="0"/>
                <a:sym typeface="Symbol" pitchFamily="18" charset="2"/>
              </a:rPr>
              <a:t> (</a:t>
            </a:r>
            <a:r>
              <a:rPr lang="en-US" b="1" dirty="0">
                <a:latin typeface="Tahoma" pitchFamily="34" charset="0"/>
                <a:sym typeface="Symbol" pitchFamily="18" charset="2"/>
              </a:rPr>
              <a:t></a:t>
            </a:r>
            <a:r>
              <a:rPr lang="en-US" dirty="0">
                <a:latin typeface="Tahoma" pitchFamily="34" charset="0"/>
                <a:sym typeface="Symbol" pitchFamily="18" charset="2"/>
              </a:rPr>
              <a:t>P(t))</a:t>
            </a:r>
            <a:r>
              <a:rPr lang="en-US" dirty="0">
                <a:sym typeface="Symbol" pitchFamily="18" charset="2"/>
              </a:rPr>
              <a:t> </a:t>
            </a:r>
          </a:p>
          <a:p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(iii) </a:t>
            </a:r>
            <a:r>
              <a:rPr lang="en-US" b="1" dirty="0">
                <a:sym typeface="Symbol" pitchFamily="18" charset="2"/>
              </a:rPr>
              <a:t></a:t>
            </a:r>
            <a:r>
              <a:rPr lang="en-US" dirty="0" err="1">
                <a:latin typeface="Tahoma" pitchFamily="34" charset="0"/>
                <a:sym typeface="Symbol" pitchFamily="18" charset="2"/>
              </a:rPr>
              <a:t>t</a:t>
            </a:r>
            <a:r>
              <a:rPr lang="en-US" b="1" dirty="0" err="1">
                <a:sym typeface="Symbol" pitchFamily="18" charset="2"/>
              </a:rPr>
              <a:t></a:t>
            </a:r>
            <a:r>
              <a:rPr lang="en-US" dirty="0" err="1">
                <a:latin typeface="Tahoma" pitchFamily="34" charset="0"/>
                <a:sym typeface="Symbol" pitchFamily="18" charset="2"/>
              </a:rPr>
              <a:t>R</a:t>
            </a:r>
            <a:r>
              <a:rPr lang="en-US" dirty="0">
                <a:latin typeface="Tahoma" pitchFamily="34" charset="0"/>
                <a:sym typeface="Symbol" pitchFamily="18" charset="2"/>
              </a:rPr>
              <a:t> (P(t))</a:t>
            </a:r>
            <a:r>
              <a:rPr lang="en-US" dirty="0">
                <a:sym typeface="Symbol" pitchFamily="18" charset="2"/>
              </a:rPr>
              <a:t> = </a:t>
            </a:r>
            <a:r>
              <a:rPr lang="en-US" b="1" dirty="0">
                <a:sym typeface="Symbol" pitchFamily="18" charset="2"/>
              </a:rPr>
              <a:t></a:t>
            </a:r>
            <a:r>
              <a:rPr lang="en-US" dirty="0" err="1">
                <a:latin typeface="Tahoma" pitchFamily="34" charset="0"/>
                <a:sym typeface="Symbol" pitchFamily="18" charset="2"/>
              </a:rPr>
              <a:t>t</a:t>
            </a:r>
            <a:r>
              <a:rPr lang="en-US" b="1" dirty="0" err="1">
                <a:sym typeface="Symbol" pitchFamily="18" charset="2"/>
              </a:rPr>
              <a:t></a:t>
            </a:r>
            <a:r>
              <a:rPr lang="en-US" dirty="0" err="1">
                <a:latin typeface="Tahoma" pitchFamily="34" charset="0"/>
                <a:sym typeface="Symbol" pitchFamily="18" charset="2"/>
              </a:rPr>
              <a:t>R</a:t>
            </a:r>
            <a:r>
              <a:rPr lang="en-US" dirty="0">
                <a:latin typeface="Tahoma" pitchFamily="34" charset="0"/>
                <a:sym typeface="Symbol" pitchFamily="18" charset="2"/>
              </a:rPr>
              <a:t> (</a:t>
            </a:r>
            <a:r>
              <a:rPr lang="en-US" b="1" dirty="0">
                <a:sym typeface="Symbol" pitchFamily="18" charset="2"/>
              </a:rPr>
              <a:t></a:t>
            </a:r>
            <a:r>
              <a:rPr lang="en-US" dirty="0">
                <a:latin typeface="Tahoma" pitchFamily="34" charset="0"/>
                <a:sym typeface="Symbol" pitchFamily="18" charset="2"/>
              </a:rPr>
              <a:t>P(t))</a:t>
            </a:r>
          </a:p>
          <a:p>
            <a:endParaRPr lang="en-US" dirty="0">
              <a:sym typeface="Symbol" pitchFamily="18" charset="2"/>
            </a:endParaRPr>
          </a:p>
          <a:p>
            <a:r>
              <a:rPr lang="en-US" dirty="0">
                <a:sym typeface="Symbol" pitchFamily="18" charset="2"/>
              </a:rPr>
              <a:t>(iv) </a:t>
            </a:r>
            <a:r>
              <a:rPr lang="en-US" dirty="0">
                <a:latin typeface="Tahoma" pitchFamily="34" charset="0"/>
                <a:sym typeface="Symbol" pitchFamily="18" charset="2"/>
              </a:rPr>
              <a:t>P </a:t>
            </a:r>
            <a:r>
              <a:rPr lang="en-US" b="1" dirty="0">
                <a:latin typeface="Tahoma" pitchFamily="34" charset="0"/>
                <a:sym typeface="Symbol" pitchFamily="18" charset="2"/>
              </a:rPr>
              <a:t></a:t>
            </a:r>
            <a:r>
              <a:rPr lang="en-US" dirty="0">
                <a:latin typeface="Tahoma" pitchFamily="34" charset="0"/>
                <a:sym typeface="Symbol" pitchFamily="18" charset="2"/>
              </a:rPr>
              <a:t> Q = </a:t>
            </a:r>
            <a:r>
              <a:rPr lang="en-US" b="1" dirty="0">
                <a:latin typeface="Tahoma" pitchFamily="34" charset="0"/>
                <a:sym typeface="Symbol" pitchFamily="18" charset="2"/>
              </a:rPr>
              <a:t></a:t>
            </a:r>
            <a:r>
              <a:rPr lang="en-US" dirty="0">
                <a:latin typeface="Tahoma" pitchFamily="34" charset="0"/>
                <a:sym typeface="Symbol" pitchFamily="18" charset="2"/>
              </a:rPr>
              <a:t>P </a:t>
            </a:r>
            <a:r>
              <a:rPr lang="en-US" b="1" dirty="0">
                <a:latin typeface="Tahoma" pitchFamily="34" charset="0"/>
                <a:sym typeface="Symbol" pitchFamily="18" charset="2"/>
              </a:rPr>
              <a:t></a:t>
            </a:r>
            <a:r>
              <a:rPr lang="en-US" dirty="0">
                <a:latin typeface="Tahoma" pitchFamily="34" charset="0"/>
                <a:sym typeface="Symbol" pitchFamily="18" charset="2"/>
              </a:rPr>
              <a:t> Q</a:t>
            </a:r>
            <a:endParaRPr lang="en-US" dirty="0">
              <a:sym typeface="Symbol" pitchFamily="18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385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Công</a:t>
            </a:r>
            <a:r>
              <a:rPr lang="en-US" sz="3500" b="1" dirty="0"/>
              <a:t> </a:t>
            </a:r>
            <a:r>
              <a:rPr lang="en-US" sz="3500" b="1" dirty="0" err="1"/>
              <a:t>thức</a:t>
            </a:r>
            <a:r>
              <a:rPr lang="en-US" sz="3500" b="1" dirty="0"/>
              <a:t> an </a:t>
            </a:r>
            <a:r>
              <a:rPr lang="en-US" sz="3500" b="1" dirty="0" err="1"/>
              <a:t>toàn</a:t>
            </a:r>
            <a:endParaRPr lang="en-US" sz="3500" b="1" dirty="0"/>
          </a:p>
        </p:txBody>
      </p:sp>
      <p:sp>
        <p:nvSpPr>
          <p:cNvPr id="6072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NHANVIEN</a:t>
            </a:r>
          </a:p>
          <a:p>
            <a:pPr lvl="1"/>
            <a:r>
              <a:rPr lang="en-US" dirty="0" err="1"/>
              <a:t>Thậm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CSDL</a:t>
            </a:r>
          </a:p>
          <a:p>
            <a:pPr lvl="1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P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u="sng" dirty="0" err="1"/>
              <a:t>miền</a:t>
            </a:r>
            <a:r>
              <a:rPr lang="en-US" u="sng" dirty="0"/>
              <a:t> </a:t>
            </a:r>
            <a:r>
              <a:rPr lang="en-US" u="sng" dirty="0" err="1"/>
              <a:t>giá</a:t>
            </a:r>
            <a:r>
              <a:rPr lang="en-US" u="sng" dirty="0"/>
              <a:t> </a:t>
            </a:r>
            <a:r>
              <a:rPr lang="en-US" u="sng" dirty="0" err="1"/>
              <a:t>trị</a:t>
            </a:r>
            <a:r>
              <a:rPr lang="en-US" u="sng" dirty="0"/>
              <a:t> </a:t>
            </a:r>
            <a:r>
              <a:rPr lang="en-US" u="sng" dirty="0" err="1"/>
              <a:t>của</a:t>
            </a:r>
            <a:r>
              <a:rPr lang="en-US" u="sng" dirty="0"/>
              <a:t> P</a:t>
            </a:r>
          </a:p>
          <a:p>
            <a:pPr lvl="1"/>
            <a:r>
              <a:rPr lang="en-US" dirty="0"/>
              <a:t>Dom(P)</a:t>
            </a:r>
          </a:p>
          <a:p>
            <a:pPr lvl="1"/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P </a:t>
            </a:r>
          </a:p>
        </p:txBody>
      </p:sp>
      <p:sp>
        <p:nvSpPr>
          <p:cNvPr id="607236" name="Text Box 4"/>
          <p:cNvSpPr txBox="1">
            <a:spLocks noChangeArrowheads="1"/>
          </p:cNvSpPr>
          <p:nvPr/>
        </p:nvSpPr>
        <p:spPr bwMode="auto">
          <a:xfrm>
            <a:off x="1451212" y="2345733"/>
            <a:ext cx="3733800" cy="4270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{ t | (t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NHANVIEN) }</a:t>
            </a:r>
            <a:endParaRPr lang="en-US" sz="4000" baseline="-25000" dirty="0">
              <a:sym typeface="Symbol" pitchFamily="18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24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Công</a:t>
            </a:r>
            <a:r>
              <a:rPr lang="en-US" sz="3500" b="1" dirty="0"/>
              <a:t> </a:t>
            </a:r>
            <a:r>
              <a:rPr lang="en-US" sz="3500" b="1" dirty="0" err="1"/>
              <a:t>thức</a:t>
            </a:r>
            <a:r>
              <a:rPr lang="en-US" sz="3500" b="1" dirty="0"/>
              <a:t> an </a:t>
            </a:r>
            <a:r>
              <a:rPr lang="en-US" sz="3500" b="1" dirty="0" err="1" smtClean="0"/>
              <a:t>toàn</a:t>
            </a:r>
            <a:endParaRPr lang="en-US" sz="3500" b="1" dirty="0"/>
          </a:p>
        </p:txBody>
      </p:sp>
      <p:sp>
        <p:nvSpPr>
          <p:cNvPr id="6092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lvl="1"/>
            <a:r>
              <a:rPr lang="en-US" dirty="0"/>
              <a:t>Dom(</a:t>
            </a:r>
            <a:r>
              <a:rPr lang="en-US" dirty="0">
                <a:sym typeface="Symbol" pitchFamily="18" charset="2"/>
              </a:rPr>
              <a:t>t </a:t>
            </a:r>
            <a:r>
              <a:rPr lang="en-US" b="1" dirty="0">
                <a:sym typeface="Symbol" pitchFamily="18" charset="2"/>
              </a:rPr>
              <a:t></a:t>
            </a:r>
            <a:r>
              <a:rPr lang="en-US" dirty="0">
                <a:sym typeface="Symbol" pitchFamily="18" charset="2"/>
              </a:rPr>
              <a:t> NHANVIEN </a:t>
            </a:r>
            <a:r>
              <a:rPr lang="en-US" b="1" dirty="0">
                <a:sym typeface="Symbol" pitchFamily="18" charset="2"/>
              </a:rPr>
              <a:t>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t.LUONG</a:t>
            </a:r>
            <a:r>
              <a:rPr lang="en-US" dirty="0">
                <a:sym typeface="Symbol" pitchFamily="18" charset="2"/>
              </a:rPr>
              <a:t> &gt; 30000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30000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LUONG </a:t>
            </a:r>
          </a:p>
          <a:p>
            <a:pPr lvl="2"/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lại</a:t>
            </a:r>
            <a:endParaRPr lang="en-US" dirty="0"/>
          </a:p>
          <a:p>
            <a:pPr lvl="1"/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an </a:t>
            </a:r>
            <a:r>
              <a:rPr lang="en-US" dirty="0" err="1"/>
              <a:t>toàn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609285" name="Text Box 5"/>
          <p:cNvSpPr txBox="1">
            <a:spLocks noChangeArrowheads="1"/>
          </p:cNvSpPr>
          <p:nvPr/>
        </p:nvSpPr>
        <p:spPr bwMode="auto">
          <a:xfrm>
            <a:off x="914400" y="2257319"/>
            <a:ext cx="6553200" cy="42703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{ t | t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NHANVIEN </a:t>
            </a:r>
            <a:r>
              <a:rPr lang="en-US" sz="2200" b="1" dirty="0">
                <a:sym typeface="Symbol" pitchFamily="18" charset="2"/>
              </a:rPr>
              <a:t></a:t>
            </a:r>
            <a:r>
              <a:rPr lang="en-US" sz="2200" dirty="0">
                <a:sym typeface="Symbol" pitchFamily="18" charset="2"/>
              </a:rPr>
              <a:t> </a:t>
            </a:r>
            <a:r>
              <a:rPr lang="en-US" sz="2200" dirty="0" err="1">
                <a:sym typeface="Symbol" pitchFamily="18" charset="2"/>
              </a:rPr>
              <a:t>t.LUONG</a:t>
            </a:r>
            <a:r>
              <a:rPr lang="en-US" sz="2200" dirty="0">
                <a:sym typeface="Symbol" pitchFamily="18" charset="2"/>
              </a:rPr>
              <a:t> &gt; 30000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984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smtClean="0"/>
              <a:t>3. </a:t>
            </a:r>
            <a:r>
              <a:rPr lang="en-US" sz="3500" b="1" dirty="0" err="1" smtClean="0"/>
              <a:t>Phép</a:t>
            </a:r>
            <a:r>
              <a:rPr lang="en-US" sz="3500" b="1" dirty="0" smtClean="0"/>
              <a:t> </a:t>
            </a:r>
            <a:r>
              <a:rPr lang="en-US" sz="3500" b="1" dirty="0" err="1"/>
              <a:t>tính</a:t>
            </a:r>
            <a:r>
              <a:rPr lang="en-US" sz="3500" b="1" dirty="0"/>
              <a:t> </a:t>
            </a:r>
            <a:r>
              <a:rPr lang="en-US" sz="3500" b="1" dirty="0" err="1"/>
              <a:t>quan</a:t>
            </a:r>
            <a:r>
              <a:rPr lang="en-US" sz="3500" b="1" dirty="0"/>
              <a:t> </a:t>
            </a:r>
            <a:r>
              <a:rPr lang="en-US" sz="3500" b="1" dirty="0" err="1"/>
              <a:t>hệ</a:t>
            </a:r>
            <a:r>
              <a:rPr lang="en-US" sz="3500" b="1" dirty="0"/>
              <a:t> </a:t>
            </a:r>
            <a:r>
              <a:rPr lang="en-US" sz="3500" b="1" dirty="0" err="1"/>
              <a:t>trên</a:t>
            </a:r>
            <a:r>
              <a:rPr lang="en-US" sz="3500" b="1" dirty="0"/>
              <a:t> </a:t>
            </a:r>
            <a:r>
              <a:rPr lang="en-US" sz="3500" b="1" dirty="0" err="1"/>
              <a:t>miền</a:t>
            </a:r>
            <a:r>
              <a:rPr lang="en-US" sz="3500" b="1" dirty="0"/>
              <a:t> </a:t>
            </a:r>
          </a:p>
        </p:txBody>
      </p:sp>
      <p:sp>
        <p:nvSpPr>
          <p:cNvPr id="6113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530725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dạng</a:t>
            </a:r>
            <a:endParaRPr lang="en-US" dirty="0"/>
          </a:p>
          <a:p>
            <a:pPr algn="just">
              <a:lnSpc>
                <a:spcPct val="90000"/>
              </a:lnSpc>
            </a:pPr>
            <a:endParaRPr lang="en-US" dirty="0"/>
          </a:p>
          <a:p>
            <a:pPr marL="0" indent="0" algn="just">
              <a:lnSpc>
                <a:spcPct val="90000"/>
              </a:lnSpc>
              <a:buNone/>
            </a:pPr>
            <a:endParaRPr lang="en-US" dirty="0"/>
          </a:p>
          <a:p>
            <a:pPr lvl="1" algn="just">
              <a:lnSpc>
                <a:spcPct val="90000"/>
              </a:lnSpc>
            </a:pP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miền</a:t>
            </a:r>
            <a:endParaRPr lang="en-US" dirty="0"/>
          </a:p>
          <a:p>
            <a:pPr lvl="2" algn="just">
              <a:lnSpc>
                <a:spcPct val="90000"/>
              </a:lnSpc>
            </a:pP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lvl="2" algn="just">
              <a:lnSpc>
                <a:spcPct val="90000"/>
              </a:lnSpc>
            </a:pPr>
            <a:endParaRPr lang="en-US" dirty="0"/>
          </a:p>
          <a:p>
            <a:pPr lvl="1" algn="just">
              <a:lnSpc>
                <a:spcPct val="90000"/>
              </a:lnSpc>
            </a:pPr>
            <a:r>
              <a:rPr lang="en-US" dirty="0"/>
              <a:t>P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 </a:t>
            </a:r>
          </a:p>
          <a:p>
            <a:pPr lvl="2" algn="just">
              <a:lnSpc>
                <a:spcPct val="90000"/>
              </a:lnSpc>
            </a:pPr>
            <a:r>
              <a:rPr lang="en-US" dirty="0"/>
              <a:t>P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endParaRPr lang="en-US" dirty="0"/>
          </a:p>
          <a:p>
            <a:pPr lvl="2" algn="just">
              <a:lnSpc>
                <a:spcPct val="90000"/>
              </a:lnSpc>
            </a:pPr>
            <a:endParaRPr lang="en-US" dirty="0"/>
          </a:p>
          <a:p>
            <a:pPr lvl="1" algn="just">
              <a:lnSpc>
                <a:spcPct val="90000"/>
              </a:lnSpc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x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P </a:t>
            </a:r>
            <a:r>
              <a:rPr lang="en-US" dirty="0" err="1"/>
              <a:t>đúng</a:t>
            </a:r>
            <a:endParaRPr lang="en-US" dirty="0"/>
          </a:p>
        </p:txBody>
      </p:sp>
      <p:sp>
        <p:nvSpPr>
          <p:cNvPr id="611332" name="Rectangle 4"/>
          <p:cNvSpPr>
            <a:spLocks noChangeArrowheads="1"/>
          </p:cNvSpPr>
          <p:nvPr/>
        </p:nvSpPr>
        <p:spPr bwMode="auto">
          <a:xfrm>
            <a:off x="1700213" y="2133600"/>
            <a:ext cx="4789487" cy="501650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600">
                <a:latin typeface="Arial" charset="0"/>
              </a:rPr>
              <a:t>{ x</a:t>
            </a:r>
            <a:r>
              <a:rPr lang="en-US" sz="2600" baseline="-25000">
                <a:latin typeface="Arial" charset="0"/>
              </a:rPr>
              <a:t>1</a:t>
            </a:r>
            <a:r>
              <a:rPr lang="en-US" sz="2600">
                <a:latin typeface="Arial" charset="0"/>
              </a:rPr>
              <a:t>, x</a:t>
            </a:r>
            <a:r>
              <a:rPr lang="en-US" sz="2600" baseline="-25000">
                <a:latin typeface="Arial" charset="0"/>
              </a:rPr>
              <a:t>2</a:t>
            </a:r>
            <a:r>
              <a:rPr lang="en-US" sz="2600">
                <a:latin typeface="Arial" charset="0"/>
              </a:rPr>
              <a:t>, …, x</a:t>
            </a:r>
            <a:r>
              <a:rPr lang="en-US" sz="2600" baseline="-25000">
                <a:latin typeface="Arial" charset="0"/>
              </a:rPr>
              <a:t>n</a:t>
            </a:r>
            <a:r>
              <a:rPr lang="en-US" sz="2600">
                <a:latin typeface="Arial" charset="0"/>
              </a:rPr>
              <a:t> | P(x</a:t>
            </a:r>
            <a:r>
              <a:rPr lang="en-US" sz="2600" baseline="-25000">
                <a:latin typeface="Arial" charset="0"/>
              </a:rPr>
              <a:t>1</a:t>
            </a:r>
            <a:r>
              <a:rPr lang="en-US" sz="2600">
                <a:latin typeface="Arial" charset="0"/>
              </a:rPr>
              <a:t>, x</a:t>
            </a:r>
            <a:r>
              <a:rPr lang="en-US" sz="2600" baseline="-25000">
                <a:latin typeface="Arial" charset="0"/>
              </a:rPr>
              <a:t>2</a:t>
            </a:r>
            <a:r>
              <a:rPr lang="en-US" sz="2600">
                <a:latin typeface="Arial" charset="0"/>
              </a:rPr>
              <a:t>, …, x</a:t>
            </a:r>
            <a:r>
              <a:rPr lang="en-US" sz="2600" baseline="-25000">
                <a:latin typeface="Arial" charset="0"/>
              </a:rPr>
              <a:t>n</a:t>
            </a:r>
            <a:r>
              <a:rPr lang="en-US" sz="2600">
                <a:latin typeface="Arial" charset="0"/>
              </a:rPr>
              <a:t>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610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3</a:t>
            </a:r>
          </a:p>
        </p:txBody>
      </p:sp>
      <p:sp>
        <p:nvSpPr>
          <p:cNvPr id="584709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606925"/>
          </a:xfrm>
          <a:noFill/>
          <a:ln/>
        </p:spPr>
        <p:txBody>
          <a:bodyPr/>
          <a:lstStyle/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30000</a:t>
            </a:r>
          </a:p>
        </p:txBody>
      </p:sp>
      <p:sp>
        <p:nvSpPr>
          <p:cNvPr id="584710" name="Text Box 6"/>
          <p:cNvSpPr txBox="1">
            <a:spLocks noChangeArrowheads="1"/>
          </p:cNvSpPr>
          <p:nvPr/>
        </p:nvSpPr>
        <p:spPr bwMode="auto">
          <a:xfrm>
            <a:off x="1219200" y="2362200"/>
            <a:ext cx="6781800" cy="143351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>
                <a:sym typeface="Symbol" pitchFamily="18" charset="2"/>
              </a:rPr>
              <a:t>{ r, s | x (</a:t>
            </a:r>
          </a:p>
          <a:p>
            <a:pPr algn="l"/>
            <a:r>
              <a:rPr lang="en-US" sz="2200">
                <a:sym typeface="Symbol" pitchFamily="18" charset="2"/>
              </a:rPr>
              <a:t>	&lt;p, q, r, s, t, u, v, x, y, z&gt;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NHANVIEN </a:t>
            </a:r>
            <a:r>
              <a:rPr lang="en-US" sz="2200" b="1">
                <a:sym typeface="Symbol" pitchFamily="18" charset="2"/>
              </a:rPr>
              <a:t></a:t>
            </a:r>
            <a:r>
              <a:rPr lang="en-US" sz="2200">
                <a:sym typeface="Symbol" pitchFamily="18" charset="2"/>
              </a:rPr>
              <a:t> </a:t>
            </a:r>
          </a:p>
          <a:p>
            <a:pPr algn="l"/>
            <a:r>
              <a:rPr lang="en-US" sz="2200">
                <a:sym typeface="Symbol" pitchFamily="18" charset="2"/>
              </a:rPr>
              <a:t>	x &gt; 30000 )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140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4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4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81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4 </a:t>
            </a:r>
          </a:p>
        </p:txBody>
      </p:sp>
      <p:sp>
        <p:nvSpPr>
          <p:cNvPr id="617482" name="Rectangle 10"/>
          <p:cNvSpPr>
            <a:spLocks noGrp="1" noChangeArrowheads="1"/>
          </p:cNvSpPr>
          <p:nvPr>
            <p:ph sz="quarter" idx="1"/>
          </p:nvPr>
        </p:nvSpPr>
        <p:spPr>
          <a:xfrm>
            <a:off x="457200" y="1676400"/>
            <a:ext cx="8229600" cy="4454525"/>
          </a:xfrm>
        </p:spPr>
        <p:txBody>
          <a:bodyPr/>
          <a:lstStyle/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(MANV)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ở </a:t>
            </a:r>
            <a:r>
              <a:rPr lang="en-US" dirty="0" err="1"/>
              <a:t>phòng</a:t>
            </a:r>
            <a:r>
              <a:rPr lang="en-US" dirty="0"/>
              <a:t> ‘</a:t>
            </a:r>
            <a:r>
              <a:rPr lang="en-US" dirty="0" err="1"/>
              <a:t>Nghien</a:t>
            </a:r>
            <a:r>
              <a:rPr lang="en-US" dirty="0"/>
              <a:t> </a:t>
            </a:r>
            <a:r>
              <a:rPr lang="en-US" dirty="0" err="1"/>
              <a:t>cuu</a:t>
            </a:r>
            <a:r>
              <a:rPr lang="en-US" dirty="0"/>
              <a:t>’</a:t>
            </a:r>
          </a:p>
        </p:txBody>
      </p:sp>
      <p:sp>
        <p:nvSpPr>
          <p:cNvPr id="617484" name="Text Box 12"/>
          <p:cNvSpPr txBox="1">
            <a:spLocks noChangeArrowheads="1"/>
          </p:cNvSpPr>
          <p:nvPr/>
        </p:nvSpPr>
        <p:spPr bwMode="auto">
          <a:xfrm>
            <a:off x="1219200" y="2605088"/>
            <a:ext cx="6781800" cy="19367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>
                <a:sym typeface="Symbol" pitchFamily="18" charset="2"/>
              </a:rPr>
              <a:t>{ s | z (</a:t>
            </a:r>
          </a:p>
          <a:p>
            <a:pPr algn="l"/>
            <a:r>
              <a:rPr lang="en-US" sz="2200">
                <a:sym typeface="Symbol" pitchFamily="18" charset="2"/>
              </a:rPr>
              <a:t>	&lt;p, q, r, s, t, u, v, x, y, z&gt;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NHANVIEN </a:t>
            </a:r>
            <a:r>
              <a:rPr lang="en-US" sz="2200" b="1">
                <a:sym typeface="Symbol" pitchFamily="18" charset="2"/>
              </a:rPr>
              <a:t></a:t>
            </a:r>
          </a:p>
          <a:p>
            <a:pPr algn="l"/>
            <a:r>
              <a:rPr lang="en-US" sz="2200" b="1">
                <a:sym typeface="Symbol" pitchFamily="18" charset="2"/>
              </a:rPr>
              <a:t>	</a:t>
            </a:r>
            <a:r>
              <a:rPr lang="en-US" sz="2200">
                <a:sym typeface="Symbol" pitchFamily="18" charset="2"/>
              </a:rPr>
              <a:t>a, b ( &lt;a, b, c, d&gt;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PHONGBAN </a:t>
            </a:r>
            <a:r>
              <a:rPr lang="en-US" b="1">
                <a:sym typeface="Symbol" pitchFamily="18" charset="2"/>
              </a:rPr>
              <a:t></a:t>
            </a:r>
            <a:endParaRPr lang="en-US" sz="2200">
              <a:sym typeface="Symbol" pitchFamily="18" charset="2"/>
            </a:endParaRPr>
          </a:p>
          <a:p>
            <a:pPr algn="l"/>
            <a:r>
              <a:rPr lang="en-US" sz="2200">
                <a:sym typeface="Symbol" pitchFamily="18" charset="2"/>
              </a:rPr>
              <a:t>		a = ‘Nghien cuu’ </a:t>
            </a:r>
            <a:r>
              <a:rPr lang="en-US" b="1">
                <a:sym typeface="Symbol" pitchFamily="18" charset="2"/>
              </a:rPr>
              <a:t> </a:t>
            </a:r>
            <a:r>
              <a:rPr lang="en-US" sz="2200">
                <a:sym typeface="Symbol" pitchFamily="18" charset="2"/>
              </a:rPr>
              <a:t>b = z ))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156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7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7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48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Ví</a:t>
            </a:r>
            <a:r>
              <a:rPr lang="en-US" sz="3500" b="1" dirty="0"/>
              <a:t> </a:t>
            </a:r>
            <a:r>
              <a:rPr lang="en-US" sz="3500" b="1" dirty="0" err="1"/>
              <a:t>dụ</a:t>
            </a:r>
            <a:r>
              <a:rPr lang="en-US" sz="3500" b="1" dirty="0"/>
              <a:t> 10 </a:t>
            </a:r>
          </a:p>
        </p:txBody>
      </p:sp>
      <p:sp>
        <p:nvSpPr>
          <p:cNvPr id="6297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algn="just"/>
            <a:r>
              <a:rPr lang="en-US" dirty="0"/>
              <a:t>Cho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(MANV, HONV, TENNV)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</p:txBody>
      </p:sp>
      <p:sp>
        <p:nvSpPr>
          <p:cNvPr id="629764" name="Text Box 4"/>
          <p:cNvSpPr txBox="1">
            <a:spLocks noChangeArrowheads="1"/>
          </p:cNvSpPr>
          <p:nvPr/>
        </p:nvSpPr>
        <p:spPr bwMode="auto">
          <a:xfrm>
            <a:off x="1219200" y="2605088"/>
            <a:ext cx="7239000" cy="14335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>
                <a:sym typeface="Symbol" pitchFamily="18" charset="2"/>
              </a:rPr>
              <a:t>{ p, r, s | </a:t>
            </a:r>
            <a:r>
              <a:rPr lang="en-US" sz="2200" b="1">
                <a:sym typeface="Symbol" pitchFamily="18" charset="2"/>
              </a:rPr>
              <a:t></a:t>
            </a:r>
            <a:r>
              <a:rPr lang="en-US" sz="2200">
                <a:sym typeface="Symbol" pitchFamily="18" charset="2"/>
              </a:rPr>
              <a:t>s (</a:t>
            </a:r>
          </a:p>
          <a:p>
            <a:pPr algn="l"/>
            <a:r>
              <a:rPr lang="en-US" sz="2200">
                <a:sym typeface="Symbol" pitchFamily="18" charset="2"/>
              </a:rPr>
              <a:t>	&lt;p, q, r, s, t, u, v, x, y, z&gt;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NHANVIEN </a:t>
            </a:r>
            <a:r>
              <a:rPr lang="en-US" sz="2200" b="1">
                <a:sym typeface="Symbol" pitchFamily="18" charset="2"/>
              </a:rPr>
              <a:t></a:t>
            </a:r>
          </a:p>
          <a:p>
            <a:pPr algn="l"/>
            <a:r>
              <a:rPr lang="en-US" sz="2200" b="1">
                <a:sym typeface="Symbol" pitchFamily="18" charset="2"/>
              </a:rPr>
              <a:t>	</a:t>
            </a:r>
            <a:r>
              <a:rPr lang="en-US" sz="2200">
                <a:sym typeface="Symbol" pitchFamily="18" charset="2"/>
              </a:rPr>
              <a:t>a ( &lt;a, b, c, d, e&gt; </a:t>
            </a:r>
            <a:r>
              <a:rPr lang="en-US" sz="2200" b="1">
                <a:sym typeface="Symbol" pitchFamily="18" charset="2"/>
              </a:rPr>
              <a:t></a:t>
            </a:r>
            <a:r>
              <a:rPr lang="en-US" sz="2200">
                <a:sym typeface="Symbol" pitchFamily="18" charset="2"/>
              </a:rPr>
              <a:t> THANNHAN </a:t>
            </a:r>
            <a:r>
              <a:rPr lang="en-US" b="1">
                <a:sym typeface="Symbol" pitchFamily="18" charset="2"/>
              </a:rPr>
              <a:t></a:t>
            </a:r>
            <a:r>
              <a:rPr lang="en-US" sz="2200" b="1">
                <a:sym typeface="Symbol" pitchFamily="18" charset="2"/>
              </a:rPr>
              <a:t> </a:t>
            </a:r>
            <a:r>
              <a:rPr lang="en-US" sz="2200">
                <a:sym typeface="Symbol" pitchFamily="18" charset="2"/>
              </a:rPr>
              <a:t>a = s ))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04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Công</a:t>
            </a:r>
            <a:r>
              <a:rPr lang="en-US" sz="3500" b="1" dirty="0"/>
              <a:t> </a:t>
            </a:r>
            <a:r>
              <a:rPr lang="en-US" sz="3500" b="1" dirty="0" err="1"/>
              <a:t>thức</a:t>
            </a:r>
            <a:r>
              <a:rPr lang="en-US" sz="3500" b="1" dirty="0"/>
              <a:t> </a:t>
            </a:r>
            <a:r>
              <a:rPr lang="en-US" sz="3500" b="1" dirty="0" err="1"/>
              <a:t>nguyên</a:t>
            </a:r>
            <a:r>
              <a:rPr lang="en-US" sz="3500" b="1" dirty="0"/>
              <a:t> </a:t>
            </a:r>
            <a:r>
              <a:rPr lang="en-US" sz="3500" b="1" dirty="0" err="1"/>
              <a:t>tố</a:t>
            </a:r>
            <a:endParaRPr lang="en-US" sz="3500" b="1" dirty="0"/>
          </a:p>
        </p:txBody>
      </p:sp>
      <p:sp>
        <p:nvSpPr>
          <p:cNvPr id="6195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99394"/>
            <a:ext cx="8229600" cy="490140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(i)</a:t>
            </a:r>
          </a:p>
          <a:p>
            <a:pPr lvl="1">
              <a:lnSpc>
                <a:spcPct val="90000"/>
              </a:lnSpc>
            </a:pPr>
            <a:endParaRPr lang="en-US" dirty="0" smtClean="0"/>
          </a:p>
          <a:p>
            <a:pPr lvl="1">
              <a:lnSpc>
                <a:spcPct val="90000"/>
              </a:lnSpc>
            </a:pPr>
            <a:r>
              <a:rPr lang="en-US" dirty="0" smtClean="0"/>
              <a:t>x</a:t>
            </a:r>
            <a:r>
              <a:rPr lang="en-US" baseline="-25000" dirty="0" smtClean="0"/>
              <a:t>i</a:t>
            </a:r>
            <a:r>
              <a:rPr lang="en-US" dirty="0" smtClean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miền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R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n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(ii)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x, y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miền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x </a:t>
            </a:r>
            <a:r>
              <a:rPr lang="en-US" dirty="0" err="1"/>
              <a:t>và</a:t>
            </a:r>
            <a:r>
              <a:rPr lang="en-US" dirty="0"/>
              <a:t> y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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các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phép</a:t>
            </a:r>
            <a:r>
              <a:rPr lang="en-US" dirty="0">
                <a:sym typeface="Symbol" pitchFamily="18" charset="2"/>
              </a:rPr>
              <a:t> so </a:t>
            </a:r>
            <a:r>
              <a:rPr lang="en-US" dirty="0" err="1">
                <a:sym typeface="Symbol" pitchFamily="18" charset="2"/>
              </a:rPr>
              <a:t>sánh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="1" dirty="0">
                <a:sym typeface="Symbol" pitchFamily="18" charset="2"/>
              </a:rPr>
              <a:t>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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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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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</a:t>
            </a:r>
            <a:endParaRPr lang="en-US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(iii)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hằng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x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miền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 </a:t>
            </a:r>
            <a:r>
              <a:rPr lang="en-US" dirty="0" err="1">
                <a:sym typeface="Symbol" pitchFamily="18" charset="2"/>
              </a:rPr>
              <a:t>là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các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phép</a:t>
            </a:r>
            <a:r>
              <a:rPr lang="en-US" dirty="0">
                <a:sym typeface="Symbol" pitchFamily="18" charset="2"/>
              </a:rPr>
              <a:t> so </a:t>
            </a:r>
            <a:r>
              <a:rPr lang="en-US" dirty="0" err="1">
                <a:sym typeface="Symbol" pitchFamily="18" charset="2"/>
              </a:rPr>
              <a:t>sánh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="1" dirty="0">
                <a:sym typeface="Symbol" pitchFamily="18" charset="2"/>
              </a:rPr>
              <a:t>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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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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</a:t>
            </a:r>
            <a:r>
              <a:rPr lang="en-US" dirty="0">
                <a:sym typeface="Symbol" pitchFamily="18" charset="2"/>
              </a:rPr>
              <a:t> , </a:t>
            </a:r>
            <a:r>
              <a:rPr lang="en-US" b="1" dirty="0">
                <a:sym typeface="Symbol" pitchFamily="18" charset="2"/>
              </a:rPr>
              <a:t></a:t>
            </a:r>
          </a:p>
        </p:txBody>
      </p:sp>
      <p:sp>
        <p:nvSpPr>
          <p:cNvPr id="619524" name="Rectangle 4"/>
          <p:cNvSpPr>
            <a:spLocks noChangeArrowheads="1"/>
          </p:cNvSpPr>
          <p:nvPr/>
        </p:nvSpPr>
        <p:spPr bwMode="auto">
          <a:xfrm>
            <a:off x="1295400" y="1499394"/>
            <a:ext cx="2660650" cy="439738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l"/>
            <a:r>
              <a:rPr lang="en-US" sz="2200">
                <a:latin typeface="Arial" charset="0"/>
              </a:rPr>
              <a:t>&lt;x</a:t>
            </a:r>
            <a:r>
              <a:rPr lang="en-US" sz="2200" baseline="-25000">
                <a:latin typeface="Arial" charset="0"/>
              </a:rPr>
              <a:t>1</a:t>
            </a:r>
            <a:r>
              <a:rPr lang="en-US" sz="2200">
                <a:latin typeface="Arial" charset="0"/>
              </a:rPr>
              <a:t>, x</a:t>
            </a:r>
            <a:r>
              <a:rPr lang="en-US" sz="2200" baseline="-25000">
                <a:latin typeface="Arial" charset="0"/>
              </a:rPr>
              <a:t>2</a:t>
            </a:r>
            <a:r>
              <a:rPr lang="en-US" sz="2200">
                <a:latin typeface="Arial" charset="0"/>
              </a:rPr>
              <a:t>, …, x</a:t>
            </a:r>
            <a:r>
              <a:rPr lang="en-US" sz="2200" baseline="-25000">
                <a:latin typeface="Arial" charset="0"/>
              </a:rPr>
              <a:t>n</a:t>
            </a:r>
            <a:r>
              <a:rPr lang="en-US" sz="2200">
                <a:latin typeface="Arial" charset="0"/>
              </a:rPr>
              <a:t>&gt; </a:t>
            </a:r>
            <a:r>
              <a:rPr lang="en-US" sz="2200" b="1">
                <a:latin typeface="Arial" charset="0"/>
                <a:sym typeface="Symbol" pitchFamily="18" charset="2"/>
              </a:rPr>
              <a:t></a:t>
            </a:r>
            <a:r>
              <a:rPr lang="en-US" sz="2200">
                <a:latin typeface="Arial" charset="0"/>
                <a:sym typeface="Symbol" pitchFamily="18" charset="2"/>
              </a:rPr>
              <a:t> R</a:t>
            </a:r>
          </a:p>
        </p:txBody>
      </p:sp>
      <p:sp>
        <p:nvSpPr>
          <p:cNvPr id="619525" name="Rectangle 5"/>
          <p:cNvSpPr>
            <a:spLocks noChangeArrowheads="1"/>
          </p:cNvSpPr>
          <p:nvPr/>
        </p:nvSpPr>
        <p:spPr bwMode="auto">
          <a:xfrm>
            <a:off x="1524000" y="2989263"/>
            <a:ext cx="777875" cy="439737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200">
                <a:latin typeface="Arial" charset="0"/>
              </a:rPr>
              <a:t>x </a:t>
            </a:r>
            <a:r>
              <a:rPr lang="en-US" sz="2200">
                <a:latin typeface="Arial" charset="0"/>
                <a:sym typeface="Symbol" pitchFamily="18" charset="2"/>
              </a:rPr>
              <a:t> y</a:t>
            </a:r>
          </a:p>
        </p:txBody>
      </p:sp>
      <p:sp>
        <p:nvSpPr>
          <p:cNvPr id="619526" name="Rectangle 6"/>
          <p:cNvSpPr>
            <a:spLocks noChangeArrowheads="1"/>
          </p:cNvSpPr>
          <p:nvPr/>
        </p:nvSpPr>
        <p:spPr bwMode="auto">
          <a:xfrm>
            <a:off x="1523999" y="4687094"/>
            <a:ext cx="777875" cy="439737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200">
                <a:latin typeface="Arial" charset="0"/>
              </a:rPr>
              <a:t>x </a:t>
            </a:r>
            <a:r>
              <a:rPr lang="en-US" sz="2200">
                <a:latin typeface="Arial" charset="0"/>
                <a:sym typeface="Symbol" pitchFamily="18" charset="2"/>
              </a:rPr>
              <a:t> c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96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Nhận</a:t>
            </a:r>
            <a:r>
              <a:rPr lang="en-US" sz="3500" b="1" dirty="0"/>
              <a:t> </a:t>
            </a:r>
            <a:r>
              <a:rPr lang="en-US" sz="3500" b="1" dirty="0" err="1"/>
              <a:t>xét</a:t>
            </a:r>
            <a:endParaRPr lang="en-US" sz="3500" b="1" dirty="0"/>
          </a:p>
        </p:txBody>
      </p:sp>
      <p:sp>
        <p:nvSpPr>
          <p:cNvPr id="6215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algn="just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ĐÚNG </a:t>
            </a:r>
            <a:r>
              <a:rPr lang="en-US" dirty="0" err="1"/>
              <a:t>hoặc</a:t>
            </a:r>
            <a:r>
              <a:rPr lang="en-US" dirty="0"/>
              <a:t> SAI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miền</a:t>
            </a:r>
            <a:endParaRPr lang="en-US" dirty="0"/>
          </a:p>
          <a:p>
            <a:pPr lvl="1" algn="just"/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tố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qui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240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Công</a:t>
            </a:r>
            <a:r>
              <a:rPr lang="en-US" sz="3500" b="1" dirty="0"/>
              <a:t> </a:t>
            </a:r>
            <a:r>
              <a:rPr lang="en-US" sz="3500" b="1" dirty="0" err="1"/>
              <a:t>thức</a:t>
            </a:r>
            <a:r>
              <a:rPr lang="en-US" sz="3500" b="1" dirty="0"/>
              <a:t> an </a:t>
            </a:r>
            <a:r>
              <a:rPr lang="en-US" sz="3500" b="1" dirty="0" err="1"/>
              <a:t>toàn</a:t>
            </a:r>
            <a:endParaRPr lang="en-US" sz="3500" b="1" dirty="0"/>
          </a:p>
        </p:txBody>
      </p:sp>
      <p:sp>
        <p:nvSpPr>
          <p:cNvPr id="6277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pPr lvl="1"/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an </a:t>
            </a:r>
            <a:r>
              <a:rPr lang="en-US" dirty="0" err="1"/>
              <a:t>toàn</a:t>
            </a:r>
            <a:endParaRPr lang="en-US" dirty="0"/>
          </a:p>
        </p:txBody>
      </p:sp>
      <p:sp>
        <p:nvSpPr>
          <p:cNvPr id="627716" name="Text Box 4"/>
          <p:cNvSpPr txBox="1">
            <a:spLocks noChangeArrowheads="1"/>
          </p:cNvSpPr>
          <p:nvPr/>
        </p:nvSpPr>
        <p:spPr bwMode="auto">
          <a:xfrm>
            <a:off x="1066800" y="2332038"/>
            <a:ext cx="7162800" cy="42703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2200" dirty="0">
                <a:sym typeface="Symbol" pitchFamily="18" charset="2"/>
              </a:rPr>
              <a:t>{ p, r, s | </a:t>
            </a:r>
            <a:r>
              <a:rPr lang="en-US" sz="2200" b="1" dirty="0">
                <a:sym typeface="Symbol" pitchFamily="18" charset="2"/>
              </a:rPr>
              <a:t></a:t>
            </a:r>
            <a:r>
              <a:rPr lang="en-US" sz="2200" dirty="0">
                <a:sym typeface="Symbol" pitchFamily="18" charset="2"/>
              </a:rPr>
              <a:t> (&lt;p, q, r, s, t, u, v, x, y, z&gt; </a:t>
            </a:r>
            <a:r>
              <a:rPr lang="en-US" sz="2200" b="1" dirty="0">
                <a:sym typeface="Symbol" pitchFamily="18" charset="2"/>
              </a:rPr>
              <a:t></a:t>
            </a:r>
            <a:r>
              <a:rPr lang="en-US" sz="2200" dirty="0">
                <a:sym typeface="Symbol" pitchFamily="18" charset="2"/>
              </a:rPr>
              <a:t> NHANVIEN)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477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Công</a:t>
            </a:r>
            <a:r>
              <a:rPr lang="en-US" sz="3500" b="1" dirty="0"/>
              <a:t> </a:t>
            </a:r>
            <a:r>
              <a:rPr lang="en-US" sz="3500" b="1" dirty="0" err="1"/>
              <a:t>thức</a:t>
            </a:r>
            <a:r>
              <a:rPr lang="en-US" sz="3500" b="1" dirty="0"/>
              <a:t> an </a:t>
            </a:r>
            <a:r>
              <a:rPr lang="en-US" sz="3500" b="1" dirty="0" err="1" smtClean="0"/>
              <a:t>toàn</a:t>
            </a:r>
            <a:endParaRPr lang="en-US" sz="3500" b="1" dirty="0"/>
          </a:p>
        </p:txBody>
      </p:sp>
      <p:sp>
        <p:nvSpPr>
          <p:cNvPr id="6318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R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endParaRPr lang="en-US" dirty="0"/>
          </a:p>
          <a:p>
            <a:pPr lvl="1"/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1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R</a:t>
            </a:r>
          </a:p>
          <a:p>
            <a:pPr lvl="1"/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1: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 </a:t>
            </a:r>
          </a:p>
          <a:p>
            <a:pPr lvl="1"/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2: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z</a:t>
            </a:r>
          </a:p>
        </p:txBody>
      </p:sp>
      <p:grpSp>
        <p:nvGrpSpPr>
          <p:cNvPr id="631821" name="Group 13"/>
          <p:cNvGrpSpPr>
            <a:grpSpLocks/>
          </p:cNvGrpSpPr>
          <p:nvPr/>
        </p:nvGrpSpPr>
        <p:grpSpPr bwMode="auto">
          <a:xfrm>
            <a:off x="1113430" y="2490989"/>
            <a:ext cx="7086600" cy="1143000"/>
            <a:chOff x="720" y="1296"/>
            <a:chExt cx="4464" cy="720"/>
          </a:xfrm>
        </p:grpSpPr>
        <p:sp>
          <p:nvSpPr>
            <p:cNvPr id="631812" name="Text Box 4"/>
            <p:cNvSpPr txBox="1">
              <a:spLocks noChangeArrowheads="1"/>
            </p:cNvSpPr>
            <p:nvPr/>
          </p:nvSpPr>
          <p:spPr bwMode="auto">
            <a:xfrm>
              <a:off x="720" y="1296"/>
              <a:ext cx="4464" cy="26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/>
              <a:r>
                <a:rPr lang="en-US" sz="2200" dirty="0">
                  <a:sym typeface="Symbol" pitchFamily="18" charset="2"/>
                </a:rPr>
                <a:t>{ x | </a:t>
              </a:r>
              <a:r>
                <a:rPr lang="en-US" sz="2200" b="1" dirty="0">
                  <a:sym typeface="Symbol" pitchFamily="18" charset="2"/>
                </a:rPr>
                <a:t></a:t>
              </a:r>
              <a:r>
                <a:rPr lang="en-US" sz="2200" dirty="0">
                  <a:sym typeface="Symbol" pitchFamily="18" charset="2"/>
                </a:rPr>
                <a:t>y (&lt;x, y&gt; </a:t>
              </a:r>
              <a:r>
                <a:rPr lang="en-US" sz="2200" b="1" dirty="0">
                  <a:sym typeface="Symbol" pitchFamily="18" charset="2"/>
                </a:rPr>
                <a:t></a:t>
              </a:r>
              <a:r>
                <a:rPr lang="en-US" sz="2200" dirty="0">
                  <a:sym typeface="Symbol" pitchFamily="18" charset="2"/>
                </a:rPr>
                <a:t> R) </a:t>
              </a:r>
              <a:r>
                <a:rPr lang="en-US" sz="2200" b="1" dirty="0">
                  <a:sym typeface="Symbol" pitchFamily="18" charset="2"/>
                </a:rPr>
                <a:t></a:t>
              </a:r>
              <a:r>
                <a:rPr lang="en-US" sz="2200" dirty="0">
                  <a:sym typeface="Symbol" pitchFamily="18" charset="2"/>
                </a:rPr>
                <a:t> </a:t>
              </a:r>
              <a:r>
                <a:rPr lang="en-US" sz="2200" b="1" dirty="0">
                  <a:sym typeface="Symbol" pitchFamily="18" charset="2"/>
                </a:rPr>
                <a:t></a:t>
              </a:r>
              <a:r>
                <a:rPr lang="en-US" sz="2200" dirty="0">
                  <a:sym typeface="Symbol" pitchFamily="18" charset="2"/>
                </a:rPr>
                <a:t>z (</a:t>
              </a:r>
              <a:r>
                <a:rPr lang="en-US" sz="2200" b="1" dirty="0">
                  <a:sym typeface="Symbol" pitchFamily="18" charset="2"/>
                </a:rPr>
                <a:t></a:t>
              </a:r>
              <a:r>
                <a:rPr lang="en-US" sz="2200" dirty="0">
                  <a:sym typeface="Symbol" pitchFamily="18" charset="2"/>
                </a:rPr>
                <a:t> &lt;x, z&gt; </a:t>
              </a:r>
              <a:r>
                <a:rPr lang="en-US" sz="2200" b="1" dirty="0">
                  <a:sym typeface="Symbol" pitchFamily="18" charset="2"/>
                </a:rPr>
                <a:t></a:t>
              </a:r>
              <a:r>
                <a:rPr lang="en-US" sz="2200" dirty="0">
                  <a:sym typeface="Symbol" pitchFamily="18" charset="2"/>
                </a:rPr>
                <a:t> R </a:t>
              </a:r>
              <a:r>
                <a:rPr lang="en-US" sz="2200" b="1" dirty="0">
                  <a:sym typeface="Symbol" pitchFamily="18" charset="2"/>
                </a:rPr>
                <a:t></a:t>
              </a:r>
              <a:r>
                <a:rPr lang="en-US" sz="2200" dirty="0">
                  <a:sym typeface="Symbol" pitchFamily="18" charset="2"/>
                </a:rPr>
                <a:t> P(x, z)) }</a:t>
              </a:r>
            </a:p>
          </p:txBody>
        </p:sp>
        <p:grpSp>
          <p:nvGrpSpPr>
            <p:cNvPr id="631817" name="Group 9"/>
            <p:cNvGrpSpPr>
              <a:grpSpLocks/>
            </p:cNvGrpSpPr>
            <p:nvPr/>
          </p:nvGrpSpPr>
          <p:grpSpPr bwMode="auto">
            <a:xfrm>
              <a:off x="1248" y="1680"/>
              <a:ext cx="1152" cy="336"/>
              <a:chOff x="1200" y="1584"/>
              <a:chExt cx="1152" cy="336"/>
            </a:xfrm>
          </p:grpSpPr>
          <p:sp>
            <p:nvSpPr>
              <p:cNvPr id="631813" name="AutoShape 5"/>
              <p:cNvSpPr>
                <a:spLocks/>
              </p:cNvSpPr>
              <p:nvPr/>
            </p:nvSpPr>
            <p:spPr bwMode="auto">
              <a:xfrm rot="16200000">
                <a:off x="1728" y="1056"/>
                <a:ext cx="96" cy="1152"/>
              </a:xfrm>
              <a:prstGeom prst="leftBrace">
                <a:avLst>
                  <a:gd name="adj1" fmla="val 100000"/>
                  <a:gd name="adj2" fmla="val 50000"/>
                </a:avLst>
              </a:prstGeom>
              <a:noFill/>
              <a:ln w="12700">
                <a:solidFill>
                  <a:srgbClr val="777777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1815" name="Text Box 7"/>
              <p:cNvSpPr txBox="1">
                <a:spLocks noChangeArrowheads="1"/>
              </p:cNvSpPr>
              <p:nvPr/>
            </p:nvSpPr>
            <p:spPr bwMode="auto">
              <a:xfrm>
                <a:off x="1248" y="1728"/>
                <a:ext cx="105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Công thức 1</a:t>
                </a:r>
              </a:p>
            </p:txBody>
          </p:sp>
        </p:grpSp>
        <p:grpSp>
          <p:nvGrpSpPr>
            <p:cNvPr id="631820" name="Group 12"/>
            <p:cNvGrpSpPr>
              <a:grpSpLocks/>
            </p:cNvGrpSpPr>
            <p:nvPr/>
          </p:nvGrpSpPr>
          <p:grpSpPr bwMode="auto">
            <a:xfrm>
              <a:off x="2688" y="1680"/>
              <a:ext cx="2112" cy="336"/>
              <a:chOff x="2688" y="1680"/>
              <a:chExt cx="2112" cy="336"/>
            </a:xfrm>
          </p:grpSpPr>
          <p:sp>
            <p:nvSpPr>
              <p:cNvPr id="631814" name="AutoShape 6"/>
              <p:cNvSpPr>
                <a:spLocks/>
              </p:cNvSpPr>
              <p:nvPr/>
            </p:nvSpPr>
            <p:spPr bwMode="auto">
              <a:xfrm rot="16200000">
                <a:off x="3696" y="672"/>
                <a:ext cx="96" cy="2112"/>
              </a:xfrm>
              <a:prstGeom prst="leftBrace">
                <a:avLst>
                  <a:gd name="adj1" fmla="val 183333"/>
                  <a:gd name="adj2" fmla="val 50000"/>
                </a:avLst>
              </a:prstGeom>
              <a:noFill/>
              <a:ln w="12700">
                <a:solidFill>
                  <a:srgbClr val="777777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1816" name="Text Box 8"/>
              <p:cNvSpPr txBox="1">
                <a:spLocks noChangeArrowheads="1"/>
              </p:cNvSpPr>
              <p:nvPr/>
            </p:nvSpPr>
            <p:spPr bwMode="auto">
              <a:xfrm>
                <a:off x="3264" y="1824"/>
                <a:ext cx="1056" cy="192"/>
              </a:xfrm>
              <a:prstGeom prst="rect">
                <a:avLst/>
              </a:prstGeom>
              <a:noFill/>
              <a:ln w="12700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1400"/>
                  <a:t>Công thức 2</a:t>
                </a:r>
              </a:p>
            </p:txBody>
          </p:sp>
        </p:grp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0597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>
            <a:normAutofit fontScale="90000"/>
          </a:bodyPr>
          <a:lstStyle/>
          <a:p>
            <a:r>
              <a:rPr lang="en-US" sz="3500" b="1" dirty="0" err="1"/>
              <a:t>Công</a:t>
            </a:r>
            <a:r>
              <a:rPr lang="en-US" sz="3500" b="1" dirty="0"/>
              <a:t> </a:t>
            </a:r>
            <a:r>
              <a:rPr lang="en-US" sz="3500" b="1" dirty="0" err="1"/>
              <a:t>thức</a:t>
            </a:r>
            <a:r>
              <a:rPr lang="en-US" sz="3500" b="1" dirty="0"/>
              <a:t> an </a:t>
            </a:r>
            <a:r>
              <a:rPr lang="en-US" sz="3500" b="1" dirty="0" err="1" smtClean="0"/>
              <a:t>toàn</a:t>
            </a:r>
            <a:endParaRPr lang="en-US" sz="3500" b="1" dirty="0"/>
          </a:p>
        </p:txBody>
      </p:sp>
      <p:sp>
        <p:nvSpPr>
          <p:cNvPr id="6338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 					 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>
              <a:buFont typeface="Wingdings 2" pitchFamily="18" charset="2"/>
              <a:buNone/>
            </a:pPr>
            <a:r>
              <a:rPr lang="en-US" dirty="0"/>
              <a:t>	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smtClean="0"/>
              <a:t>:</a:t>
            </a:r>
            <a:endParaRPr lang="en-US" dirty="0"/>
          </a:p>
          <a:p>
            <a:pPr lvl="1"/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P</a:t>
            </a:r>
          </a:p>
          <a:p>
            <a:pPr lvl="1"/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b="1" dirty="0">
                <a:sym typeface="Symbol" pitchFamily="18" charset="2"/>
              </a:rPr>
              <a:t></a:t>
            </a:r>
            <a:r>
              <a:rPr lang="en-US" dirty="0"/>
              <a:t>: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b="1" dirty="0">
                <a:sym typeface="Symbol" pitchFamily="18" charset="2"/>
              </a:rPr>
              <a:t></a:t>
            </a:r>
            <a:r>
              <a:rPr lang="en-US" dirty="0">
                <a:sym typeface="Symbol" pitchFamily="18" charset="2"/>
              </a:rPr>
              <a:t>x (Q(x)) </a:t>
            </a:r>
            <a:r>
              <a:rPr lang="en-US" dirty="0" err="1">
                <a:sym typeface="Symbol" pitchFamily="18" charset="2"/>
              </a:rPr>
              <a:t>đúng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khi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và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chỉ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khi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xác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định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được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giá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trị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của</a:t>
            </a:r>
            <a:r>
              <a:rPr lang="en-US" dirty="0">
                <a:sym typeface="Symbol" pitchFamily="18" charset="2"/>
              </a:rPr>
              <a:t> x </a:t>
            </a:r>
            <a:r>
              <a:rPr lang="en-US" dirty="0" err="1">
                <a:sym typeface="Symbol" pitchFamily="18" charset="2"/>
              </a:rPr>
              <a:t>thuộc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dom</a:t>
            </a:r>
            <a:r>
              <a:rPr lang="en-US" dirty="0">
                <a:sym typeface="Symbol" pitchFamily="18" charset="2"/>
              </a:rPr>
              <a:t>(Q) </a:t>
            </a:r>
            <a:r>
              <a:rPr lang="en-US" dirty="0" err="1">
                <a:sym typeface="Symbol" pitchFamily="18" charset="2"/>
              </a:rPr>
              <a:t>làm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cho</a:t>
            </a:r>
            <a:r>
              <a:rPr lang="en-US" dirty="0">
                <a:sym typeface="Symbol" pitchFamily="18" charset="2"/>
              </a:rPr>
              <a:t> Q(x) </a:t>
            </a:r>
            <a:r>
              <a:rPr lang="en-US" dirty="0" err="1">
                <a:sym typeface="Symbol" pitchFamily="18" charset="2"/>
              </a:rPr>
              <a:t>đúng</a:t>
            </a:r>
            <a:endParaRPr lang="en-US" dirty="0">
              <a:sym typeface="Symbol" pitchFamily="18" charset="2"/>
            </a:endParaRPr>
          </a:p>
          <a:p>
            <a:pPr lvl="1"/>
            <a:r>
              <a:rPr lang="en-US" dirty="0" err="1">
                <a:sym typeface="Symbol" pitchFamily="18" charset="2"/>
              </a:rPr>
              <a:t>Vị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từ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="1" dirty="0">
                <a:sym typeface="Symbol" pitchFamily="18" charset="2"/>
              </a:rPr>
              <a:t></a:t>
            </a:r>
            <a:r>
              <a:rPr lang="en-US" dirty="0">
                <a:sym typeface="Symbol" pitchFamily="18" charset="2"/>
              </a:rPr>
              <a:t>: </a:t>
            </a:r>
            <a:r>
              <a:rPr lang="en-US" dirty="0" err="1">
                <a:sym typeface="Symbol" pitchFamily="18" charset="2"/>
              </a:rPr>
              <a:t>biểu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thức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b="1" dirty="0">
                <a:sym typeface="Symbol" pitchFamily="18" charset="2"/>
              </a:rPr>
              <a:t></a:t>
            </a:r>
            <a:r>
              <a:rPr lang="en-US" dirty="0">
                <a:sym typeface="Symbol" pitchFamily="18" charset="2"/>
              </a:rPr>
              <a:t>x (Q(x)) </a:t>
            </a:r>
            <a:r>
              <a:rPr lang="en-US" dirty="0" err="1">
                <a:sym typeface="Symbol" pitchFamily="18" charset="2"/>
              </a:rPr>
              <a:t>đúng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khi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và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chỉ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khi</a:t>
            </a:r>
            <a:r>
              <a:rPr lang="en-US" dirty="0">
                <a:sym typeface="Symbol" pitchFamily="18" charset="2"/>
              </a:rPr>
              <a:t> Q(x) </a:t>
            </a:r>
            <a:r>
              <a:rPr lang="en-US" dirty="0" err="1">
                <a:sym typeface="Symbol" pitchFamily="18" charset="2"/>
              </a:rPr>
              <a:t>đúng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với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mọi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giá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trị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của</a:t>
            </a:r>
            <a:r>
              <a:rPr lang="en-US" dirty="0">
                <a:sym typeface="Symbol" pitchFamily="18" charset="2"/>
              </a:rPr>
              <a:t> x </a:t>
            </a:r>
            <a:r>
              <a:rPr lang="en-US" dirty="0" err="1">
                <a:sym typeface="Symbol" pitchFamily="18" charset="2"/>
              </a:rPr>
              <a:t>thuộc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dirty="0" err="1">
                <a:sym typeface="Symbol" pitchFamily="18" charset="2"/>
              </a:rPr>
              <a:t>dom</a:t>
            </a:r>
            <a:r>
              <a:rPr lang="en-US" dirty="0">
                <a:sym typeface="Symbol" pitchFamily="18" charset="2"/>
              </a:rPr>
              <a:t>(Q)</a:t>
            </a:r>
          </a:p>
        </p:txBody>
      </p:sp>
      <p:sp>
        <p:nvSpPr>
          <p:cNvPr id="633865" name="Rectangle 9"/>
          <p:cNvSpPr>
            <a:spLocks noChangeArrowheads="1"/>
          </p:cNvSpPr>
          <p:nvPr/>
        </p:nvSpPr>
        <p:spPr bwMode="auto">
          <a:xfrm>
            <a:off x="1708245" y="2317750"/>
            <a:ext cx="4776788" cy="4889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2600" dirty="0">
                <a:latin typeface="Arial" charset="0"/>
              </a:rPr>
              <a:t>{ x</a:t>
            </a:r>
            <a:r>
              <a:rPr lang="en-US" sz="2600" baseline="-25000" dirty="0">
                <a:latin typeface="Arial" charset="0"/>
              </a:rPr>
              <a:t>1</a:t>
            </a:r>
            <a:r>
              <a:rPr lang="en-US" sz="2600" dirty="0">
                <a:latin typeface="Arial" charset="0"/>
              </a:rPr>
              <a:t>, x</a:t>
            </a:r>
            <a:r>
              <a:rPr lang="en-US" sz="2600" baseline="-25000" dirty="0">
                <a:latin typeface="Arial" charset="0"/>
              </a:rPr>
              <a:t>2</a:t>
            </a:r>
            <a:r>
              <a:rPr lang="en-US" sz="2600" dirty="0">
                <a:latin typeface="Arial" charset="0"/>
              </a:rPr>
              <a:t>, …, </a:t>
            </a:r>
            <a:r>
              <a:rPr lang="en-US" sz="2600" dirty="0" err="1">
                <a:latin typeface="Arial" charset="0"/>
              </a:rPr>
              <a:t>x</a:t>
            </a:r>
            <a:r>
              <a:rPr lang="en-US" sz="2600" baseline="-25000" dirty="0" err="1">
                <a:latin typeface="Arial" charset="0"/>
              </a:rPr>
              <a:t>n</a:t>
            </a:r>
            <a:r>
              <a:rPr lang="en-US" sz="2600" dirty="0">
                <a:latin typeface="Arial" charset="0"/>
              </a:rPr>
              <a:t> | P(x</a:t>
            </a:r>
            <a:r>
              <a:rPr lang="en-US" sz="2600" baseline="-25000" dirty="0">
                <a:latin typeface="Arial" charset="0"/>
              </a:rPr>
              <a:t>1</a:t>
            </a:r>
            <a:r>
              <a:rPr lang="en-US" sz="2600" dirty="0">
                <a:latin typeface="Arial" charset="0"/>
              </a:rPr>
              <a:t>, x</a:t>
            </a:r>
            <a:r>
              <a:rPr lang="en-US" sz="2600" baseline="-25000" dirty="0">
                <a:latin typeface="Arial" charset="0"/>
              </a:rPr>
              <a:t>2</a:t>
            </a:r>
            <a:r>
              <a:rPr lang="en-US" sz="2600" dirty="0">
                <a:latin typeface="Arial" charset="0"/>
              </a:rPr>
              <a:t>, …, </a:t>
            </a:r>
            <a:r>
              <a:rPr lang="en-US" sz="2600" dirty="0" err="1">
                <a:latin typeface="Arial" charset="0"/>
              </a:rPr>
              <a:t>x</a:t>
            </a:r>
            <a:r>
              <a:rPr lang="en-US" sz="2600" baseline="-25000" dirty="0" err="1">
                <a:latin typeface="Arial" charset="0"/>
              </a:rPr>
              <a:t>n</a:t>
            </a:r>
            <a:r>
              <a:rPr lang="en-US" sz="2600" dirty="0">
                <a:latin typeface="Arial" charset="0"/>
              </a:rPr>
              <a:t>) }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Nguyễn Thị Uyên Nhi - Khoa CNTT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AE541-0444-4136-8702-7A35D945224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98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ivic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5506</TotalTime>
  <Words>2607</Words>
  <Application>Microsoft Macintosh PowerPoint</Application>
  <PresentationFormat>On-screen Show (4:3)</PresentationFormat>
  <Paragraphs>451</Paragraphs>
  <Slides>36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Calibri</vt:lpstr>
      <vt:lpstr>Symbol</vt:lpstr>
      <vt:lpstr>Tahoma</vt:lpstr>
      <vt:lpstr>Times New Roman</vt:lpstr>
      <vt:lpstr>Verdana</vt:lpstr>
      <vt:lpstr>Wingdings</vt:lpstr>
      <vt:lpstr>Wingdings 2</vt:lpstr>
      <vt:lpstr>Civic</vt:lpstr>
      <vt:lpstr>PowerPoint Presentation</vt:lpstr>
      <vt:lpstr>Nội dung chi tiết</vt:lpstr>
      <vt:lpstr>1. Giới thiệu </vt:lpstr>
      <vt:lpstr>1. Giới thiệu </vt:lpstr>
      <vt:lpstr>1. Giới thiệu </vt:lpstr>
      <vt:lpstr>2. Phép tính quan hệ trên bộ </vt:lpstr>
      <vt:lpstr>Ví dụ 1 </vt:lpstr>
      <vt:lpstr>Ví dụ 2 </vt:lpstr>
      <vt:lpstr>Ví dụ 3 </vt:lpstr>
      <vt:lpstr>Ví dụ 3 </vt:lpstr>
      <vt:lpstr>Ví dụ 4 </vt:lpstr>
      <vt:lpstr>Ví dụ 5 </vt:lpstr>
      <vt:lpstr>Ví dụ 6 </vt:lpstr>
      <vt:lpstr>Ví dụ 7 </vt:lpstr>
      <vt:lpstr>Ví dụ 8 </vt:lpstr>
      <vt:lpstr>Ví dụ 9 </vt:lpstr>
      <vt:lpstr>Định nghĩa hình thức</vt:lpstr>
      <vt:lpstr>Biến bộ</vt:lpstr>
      <vt:lpstr>Công thức nguyên tố</vt:lpstr>
      <vt:lpstr>Công thức nguyên tố</vt:lpstr>
      <vt:lpstr>Công thức nguyên tố</vt:lpstr>
      <vt:lpstr>Qui tắc</vt:lpstr>
      <vt:lpstr>Qui tắc</vt:lpstr>
      <vt:lpstr>Qui tắc</vt:lpstr>
      <vt:lpstr>Một số biến đổi</vt:lpstr>
      <vt:lpstr>Công thức an toàn</vt:lpstr>
      <vt:lpstr>Công thức an toàn</vt:lpstr>
      <vt:lpstr>3. Phép tính quan hệ trên miền </vt:lpstr>
      <vt:lpstr>Ví dụ 3</vt:lpstr>
      <vt:lpstr>Ví dụ 4 </vt:lpstr>
      <vt:lpstr>Ví dụ 10 </vt:lpstr>
      <vt:lpstr>Công thức nguyên tố</vt:lpstr>
      <vt:lpstr>Nhận xét</vt:lpstr>
      <vt:lpstr>Công thức an toàn</vt:lpstr>
      <vt:lpstr>Công thức an toàn</vt:lpstr>
      <vt:lpstr>Công thức an toàn</vt:lpstr>
    </vt:vector>
  </TitlesOfParts>
  <Company>SRDC METU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Semantics of Web Services</dc:title>
  <dc:creator>phuonglien</dc:creator>
  <cp:lastModifiedBy>Microsoft Office User</cp:lastModifiedBy>
  <cp:revision>365</cp:revision>
  <dcterms:created xsi:type="dcterms:W3CDTF">2003-05-25T12:47:52Z</dcterms:created>
  <dcterms:modified xsi:type="dcterms:W3CDTF">2016-12-01T05:43:09Z</dcterms:modified>
</cp:coreProperties>
</file>