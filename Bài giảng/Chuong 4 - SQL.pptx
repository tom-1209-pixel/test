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034" r:id="rId1"/>
  </p:sldMasterIdLst>
  <p:notesMasterIdLst>
    <p:notesMasterId r:id="rId148"/>
  </p:notesMasterIdLst>
  <p:handoutMasterIdLst>
    <p:handoutMasterId r:id="rId149"/>
  </p:handoutMasterIdLst>
  <p:sldIdLst>
    <p:sldId id="510" r:id="rId2"/>
    <p:sldId id="511" r:id="rId3"/>
    <p:sldId id="512" r:id="rId4"/>
    <p:sldId id="513" r:id="rId5"/>
    <p:sldId id="664" r:id="rId6"/>
    <p:sldId id="665" r:id="rId7"/>
    <p:sldId id="666" r:id="rId8"/>
    <p:sldId id="667" r:id="rId9"/>
    <p:sldId id="668" r:id="rId10"/>
    <p:sldId id="669" r:id="rId11"/>
    <p:sldId id="670" r:id="rId12"/>
    <p:sldId id="671" r:id="rId13"/>
    <p:sldId id="515" r:id="rId14"/>
    <p:sldId id="516" r:id="rId15"/>
    <p:sldId id="517" r:id="rId16"/>
    <p:sldId id="672" r:id="rId17"/>
    <p:sldId id="673" r:id="rId18"/>
    <p:sldId id="674" r:id="rId19"/>
    <p:sldId id="675" r:id="rId20"/>
    <p:sldId id="676" r:id="rId21"/>
    <p:sldId id="677" r:id="rId22"/>
    <p:sldId id="518" r:id="rId23"/>
    <p:sldId id="519" r:id="rId24"/>
    <p:sldId id="520" r:id="rId25"/>
    <p:sldId id="521" r:id="rId26"/>
    <p:sldId id="522" r:id="rId27"/>
    <p:sldId id="523" r:id="rId28"/>
    <p:sldId id="524" r:id="rId29"/>
    <p:sldId id="525" r:id="rId30"/>
    <p:sldId id="526" r:id="rId31"/>
    <p:sldId id="527" r:id="rId32"/>
    <p:sldId id="528" r:id="rId33"/>
    <p:sldId id="678" r:id="rId34"/>
    <p:sldId id="529" r:id="rId35"/>
    <p:sldId id="530" r:id="rId36"/>
    <p:sldId id="531" r:id="rId37"/>
    <p:sldId id="533" r:id="rId38"/>
    <p:sldId id="534" r:id="rId39"/>
    <p:sldId id="535" r:id="rId40"/>
    <p:sldId id="536" r:id="rId41"/>
    <p:sldId id="537" r:id="rId42"/>
    <p:sldId id="538" r:id="rId43"/>
    <p:sldId id="539" r:id="rId44"/>
    <p:sldId id="540" r:id="rId45"/>
    <p:sldId id="541" r:id="rId46"/>
    <p:sldId id="688" r:id="rId47"/>
    <p:sldId id="543" r:id="rId48"/>
    <p:sldId id="544" r:id="rId49"/>
    <p:sldId id="545" r:id="rId50"/>
    <p:sldId id="546" r:id="rId51"/>
    <p:sldId id="547" r:id="rId52"/>
    <p:sldId id="548" r:id="rId53"/>
    <p:sldId id="679" r:id="rId54"/>
    <p:sldId id="550" r:id="rId55"/>
    <p:sldId id="551" r:id="rId56"/>
    <p:sldId id="552" r:id="rId57"/>
    <p:sldId id="680" r:id="rId58"/>
    <p:sldId id="553" r:id="rId59"/>
    <p:sldId id="681" r:id="rId60"/>
    <p:sldId id="554" r:id="rId61"/>
    <p:sldId id="689" r:id="rId62"/>
    <p:sldId id="648" r:id="rId63"/>
    <p:sldId id="555" r:id="rId64"/>
    <p:sldId id="556" r:id="rId65"/>
    <p:sldId id="557" r:id="rId66"/>
    <p:sldId id="558" r:id="rId67"/>
    <p:sldId id="559" r:id="rId68"/>
    <p:sldId id="560" r:id="rId69"/>
    <p:sldId id="562" r:id="rId70"/>
    <p:sldId id="563" r:id="rId71"/>
    <p:sldId id="564" r:id="rId72"/>
    <p:sldId id="565" r:id="rId73"/>
    <p:sldId id="566" r:id="rId74"/>
    <p:sldId id="567" r:id="rId75"/>
    <p:sldId id="568" r:id="rId76"/>
    <p:sldId id="569" r:id="rId77"/>
    <p:sldId id="570" r:id="rId78"/>
    <p:sldId id="571" r:id="rId79"/>
    <p:sldId id="572" r:id="rId80"/>
    <p:sldId id="573" r:id="rId81"/>
    <p:sldId id="574" r:id="rId82"/>
    <p:sldId id="575" r:id="rId83"/>
    <p:sldId id="576" r:id="rId84"/>
    <p:sldId id="577" r:id="rId85"/>
    <p:sldId id="578" r:id="rId86"/>
    <p:sldId id="579" r:id="rId87"/>
    <p:sldId id="580" r:id="rId88"/>
    <p:sldId id="581" r:id="rId89"/>
    <p:sldId id="691" r:id="rId90"/>
    <p:sldId id="692" r:id="rId91"/>
    <p:sldId id="583" r:id="rId92"/>
    <p:sldId id="693" r:id="rId93"/>
    <p:sldId id="694" r:id="rId94"/>
    <p:sldId id="585" r:id="rId95"/>
    <p:sldId id="586" r:id="rId96"/>
    <p:sldId id="588" r:id="rId97"/>
    <p:sldId id="589" r:id="rId98"/>
    <p:sldId id="590" r:id="rId99"/>
    <p:sldId id="591" r:id="rId100"/>
    <p:sldId id="592" r:id="rId101"/>
    <p:sldId id="593" r:id="rId102"/>
    <p:sldId id="650" r:id="rId103"/>
    <p:sldId id="594" r:id="rId104"/>
    <p:sldId id="595" r:id="rId105"/>
    <p:sldId id="596" r:id="rId106"/>
    <p:sldId id="597" r:id="rId107"/>
    <p:sldId id="598" r:id="rId108"/>
    <p:sldId id="599" r:id="rId109"/>
    <p:sldId id="600" r:id="rId110"/>
    <p:sldId id="682" r:id="rId111"/>
    <p:sldId id="690" r:id="rId112"/>
    <p:sldId id="602" r:id="rId113"/>
    <p:sldId id="604" r:id="rId114"/>
    <p:sldId id="605" r:id="rId115"/>
    <p:sldId id="683" r:id="rId116"/>
    <p:sldId id="607" r:id="rId117"/>
    <p:sldId id="608" r:id="rId118"/>
    <p:sldId id="609" r:id="rId119"/>
    <p:sldId id="610" r:id="rId120"/>
    <p:sldId id="611" r:id="rId121"/>
    <p:sldId id="612" r:id="rId122"/>
    <p:sldId id="684" r:id="rId123"/>
    <p:sldId id="614" r:id="rId124"/>
    <p:sldId id="615" r:id="rId125"/>
    <p:sldId id="617" r:id="rId126"/>
    <p:sldId id="685" r:id="rId127"/>
    <p:sldId id="618" r:id="rId128"/>
    <p:sldId id="619" r:id="rId129"/>
    <p:sldId id="620" r:id="rId130"/>
    <p:sldId id="621" r:id="rId131"/>
    <p:sldId id="622" r:id="rId132"/>
    <p:sldId id="624" r:id="rId133"/>
    <p:sldId id="627" r:id="rId134"/>
    <p:sldId id="628" r:id="rId135"/>
    <p:sldId id="630" r:id="rId136"/>
    <p:sldId id="632" r:id="rId137"/>
    <p:sldId id="633" r:id="rId138"/>
    <p:sldId id="634" r:id="rId139"/>
    <p:sldId id="635" r:id="rId140"/>
    <p:sldId id="636" r:id="rId141"/>
    <p:sldId id="637" r:id="rId142"/>
    <p:sldId id="638" r:id="rId143"/>
    <p:sldId id="639" r:id="rId144"/>
    <p:sldId id="641" r:id="rId145"/>
    <p:sldId id="642" r:id="rId146"/>
    <p:sldId id="643" r:id="rId147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5000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ctr" rtl="0" fontAlgn="base">
      <a:spcBef>
        <a:spcPct val="5000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ctr" rtl="0" fontAlgn="base">
      <a:spcBef>
        <a:spcPct val="5000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ctr" rtl="0" fontAlgn="base">
      <a:spcBef>
        <a:spcPct val="5000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ctr" rtl="0" fontAlgn="base">
      <a:spcBef>
        <a:spcPct val="5000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FF3333"/>
    <a:srgbClr val="777777"/>
    <a:srgbClr val="FF3300"/>
    <a:srgbClr val="000066"/>
    <a:srgbClr val="800000"/>
    <a:srgbClr val="FFCC99"/>
    <a:srgbClr val="CC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091" autoAdjust="0"/>
    <p:restoredTop sz="91219" autoAdjust="0"/>
  </p:normalViewPr>
  <p:slideViewPr>
    <p:cSldViewPr>
      <p:cViewPr varScale="1">
        <p:scale>
          <a:sx n="75" d="100"/>
          <a:sy n="75" d="100"/>
        </p:scale>
        <p:origin x="989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38" Type="http://schemas.openxmlformats.org/officeDocument/2006/relationships/slide" Target="slides/slide137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144" Type="http://schemas.openxmlformats.org/officeDocument/2006/relationships/slide" Target="slides/slide143.xml"/><Relationship Id="rId149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presProps" Target="presProp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5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43" Type="http://schemas.openxmlformats.org/officeDocument/2006/relationships/slide" Target="slides/slide142.xml"/><Relationship Id="rId148" Type="http://schemas.openxmlformats.org/officeDocument/2006/relationships/notesMaster" Target="notesMasters/notesMaster1.xml"/><Relationship Id="rId15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6FA4B4-CA18-4EE6-934A-7A4D223F4EFB}" type="datetimeFigureOut">
              <a:rPr lang="en-US" smtClean="0"/>
              <a:t>5/21/2020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9D18F0-F88D-455E-AB5A-0CB672CF59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01299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smtClean="0">
                <a:latin typeface="Arial" charset="0"/>
              </a:defRPr>
            </a:lvl1pPr>
          </a:lstStyle>
          <a:p>
            <a:pPr>
              <a:defRPr/>
            </a:pPr>
            <a:fld id="{9311C5C0-D2B9-4A94-B817-258D77A68D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71430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EA94C46-2D3A-4B50-A501-548F72FA95F4}" type="slidenum">
              <a:rPr lang="en-US"/>
              <a:pPr/>
              <a:t>2</a:t>
            </a:fld>
            <a:endParaRPr lang="en-US"/>
          </a:p>
        </p:txBody>
      </p:sp>
      <p:sp>
        <p:nvSpPr>
          <p:cNvPr id="137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019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3834D70-668E-44C5-94AE-271AAAF9CC05}" type="slidenum">
              <a:rPr lang="en-US"/>
              <a:pPr/>
              <a:t>3</a:t>
            </a:fld>
            <a:endParaRPr lang="en-US"/>
          </a:p>
        </p:txBody>
      </p:sp>
      <p:sp>
        <p:nvSpPr>
          <p:cNvPr id="307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SEQUEL: </a:t>
            </a:r>
            <a:r>
              <a:rPr lang="en-US" u="sng"/>
              <a:t>S</a:t>
            </a:r>
            <a:r>
              <a:rPr lang="en-US"/>
              <a:t>tructured </a:t>
            </a:r>
            <a:r>
              <a:rPr lang="en-US" u="sng"/>
              <a:t>E</a:t>
            </a:r>
            <a:r>
              <a:rPr lang="en-US"/>
              <a:t>nglish </a:t>
            </a:r>
            <a:r>
              <a:rPr lang="en-US" u="sng"/>
              <a:t>Que</a:t>
            </a:r>
            <a:r>
              <a:rPr lang="en-US"/>
              <a:t>ry </a:t>
            </a:r>
            <a:r>
              <a:rPr lang="en-US" u="sng"/>
              <a:t>L</a:t>
            </a:r>
            <a:r>
              <a:rPr lang="en-US"/>
              <a:t>anguage</a:t>
            </a:r>
          </a:p>
          <a:p>
            <a:r>
              <a:rPr lang="en-US"/>
              <a:t>ANSI: </a:t>
            </a:r>
            <a:r>
              <a:rPr lang="en-US" u="sng"/>
              <a:t>A</a:t>
            </a:r>
            <a:r>
              <a:rPr lang="en-US"/>
              <a:t>merican </a:t>
            </a:r>
            <a:r>
              <a:rPr lang="en-US" u="sng"/>
              <a:t>N</a:t>
            </a:r>
            <a:r>
              <a:rPr lang="en-US"/>
              <a:t>ational </a:t>
            </a:r>
            <a:r>
              <a:rPr lang="en-US" u="sng"/>
              <a:t>S</a:t>
            </a:r>
            <a:r>
              <a:rPr lang="en-US"/>
              <a:t>tandards </a:t>
            </a:r>
            <a:r>
              <a:rPr lang="en-US" u="sng"/>
              <a:t>I</a:t>
            </a:r>
            <a:r>
              <a:rPr lang="en-US"/>
              <a:t>nstitute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9341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BE437FF-18F5-4A14-AAF0-D65CEE70B805}" type="slidenum">
              <a:rPr lang="en-US"/>
              <a:pPr/>
              <a:t>4</a:t>
            </a:fld>
            <a:endParaRPr lang="en-US"/>
          </a:p>
        </p:txBody>
      </p:sp>
      <p:sp>
        <p:nvSpPr>
          <p:cNvPr id="552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7759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97410D3-A1B4-4E26-89E6-3B19947B5A04}" type="slidenum">
              <a:rPr lang="en-US"/>
              <a:pPr/>
              <a:t>13</a:t>
            </a:fld>
            <a:endParaRPr lang="en-US"/>
          </a:p>
        </p:txBody>
      </p:sp>
      <p:sp>
        <p:nvSpPr>
          <p:cNvPr id="557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7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279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E684974-56A1-4457-B66E-5EACF5BDA0C7}" type="slidenum">
              <a:rPr lang="en-US"/>
              <a:pPr/>
              <a:t>14</a:t>
            </a:fld>
            <a:endParaRPr lang="en-US"/>
          </a:p>
        </p:txBody>
      </p:sp>
      <p:sp>
        <p:nvSpPr>
          <p:cNvPr id="559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9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SQL </a:t>
            </a: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(Atomic)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9130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DFFC5F-7344-4FC2-8167-6A5ED06BC9AD}" type="slidenum">
              <a:rPr lang="en-US"/>
              <a:pPr/>
              <a:t>15</a:t>
            </a:fld>
            <a:endParaRPr lang="en-US"/>
          </a:p>
        </p:txBody>
      </p:sp>
      <p:sp>
        <p:nvSpPr>
          <p:cNvPr id="561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1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649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7ADD4B0-CB35-4AA6-8767-DF5435941C50}" type="slidenum">
              <a:rPr lang="en-US"/>
              <a:pPr/>
              <a:t>22</a:t>
            </a:fld>
            <a:endParaRPr lang="en-US"/>
          </a:p>
        </p:txBody>
      </p:sp>
      <p:sp>
        <p:nvSpPr>
          <p:cNvPr id="571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1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5312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5EF829-3E8A-466B-B1E0-9187942EF27B}" type="slidenum">
              <a:rPr lang="en-US"/>
              <a:pPr/>
              <a:t>23</a:t>
            </a:fld>
            <a:endParaRPr lang="en-US"/>
          </a:p>
        </p:txBody>
      </p:sp>
      <p:sp>
        <p:nvSpPr>
          <p:cNvPr id="569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9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1979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60EA97D-6C1E-4710-B2E3-719B908449FE}" type="slidenum">
              <a:rPr lang="en-US"/>
              <a:pPr/>
              <a:t>24</a:t>
            </a:fld>
            <a:endParaRPr lang="en-US"/>
          </a:p>
        </p:txBody>
      </p:sp>
      <p:sp>
        <p:nvSpPr>
          <p:cNvPr id="573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Ràng</a:t>
            </a:r>
            <a:r>
              <a:rPr lang="en-US" baseline="0" dirty="0"/>
              <a:t> </a:t>
            </a:r>
            <a:r>
              <a:rPr lang="en-US" baseline="0" dirty="0" err="1"/>
              <a:t>buộc</a:t>
            </a:r>
            <a:r>
              <a:rPr lang="en-US" baseline="0" dirty="0"/>
              <a:t> </a:t>
            </a:r>
            <a:r>
              <a:rPr lang="en-US" baseline="0" dirty="0" err="1"/>
              <a:t>toàn</a:t>
            </a:r>
            <a:r>
              <a:rPr lang="en-US" baseline="0" dirty="0"/>
              <a:t> </a:t>
            </a:r>
            <a:r>
              <a:rPr lang="en-US" baseline="0" dirty="0" err="1"/>
              <a:t>vẹn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01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4E1CAE-CD23-4F25-BBA3-7704294219EA}" type="slidenum">
              <a:rPr lang="en-US"/>
              <a:pPr/>
              <a:t>25</a:t>
            </a:fld>
            <a:endParaRPr lang="en-US"/>
          </a:p>
        </p:txBody>
      </p:sp>
      <p:sp>
        <p:nvSpPr>
          <p:cNvPr id="575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5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9936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3B2B9CD-2D63-481A-A5B3-43693888958E}" type="slidenum">
              <a:rPr lang="en-US"/>
              <a:pPr/>
              <a:t>26</a:t>
            </a:fld>
            <a:endParaRPr lang="en-US"/>
          </a:p>
        </p:txBody>
      </p:sp>
      <p:sp>
        <p:nvSpPr>
          <p:cNvPr id="578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8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0897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F8CB5B0-A763-4CB7-82B1-B0E1B4B9F639}" type="slidenum">
              <a:rPr lang="en-US"/>
              <a:pPr/>
              <a:t>27</a:t>
            </a:fld>
            <a:endParaRPr lang="en-US"/>
          </a:p>
        </p:txBody>
      </p:sp>
      <p:sp>
        <p:nvSpPr>
          <p:cNvPr id="580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0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917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3E0CF5C-FC44-4722-9D3A-F0089246C840}" type="slidenum">
              <a:rPr lang="en-US"/>
              <a:pPr/>
              <a:t>28</a:t>
            </a:fld>
            <a:endParaRPr lang="en-US"/>
          </a:p>
        </p:txBody>
      </p:sp>
      <p:sp>
        <p:nvSpPr>
          <p:cNvPr id="582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2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188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42237A2-3005-4586-A07E-76F44B79FBBC}" type="slidenum">
              <a:rPr lang="en-US"/>
              <a:pPr/>
              <a:t>29</a:t>
            </a:fld>
            <a:endParaRPr lang="en-US"/>
          </a:p>
        </p:txBody>
      </p:sp>
      <p:sp>
        <p:nvSpPr>
          <p:cNvPr id="855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5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2683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9786FAB-D72A-4AEA-9D81-B9863D5E32FF}" type="slidenum">
              <a:rPr lang="en-US"/>
              <a:pPr/>
              <a:t>30</a:t>
            </a:fld>
            <a:endParaRPr lang="en-US"/>
          </a:p>
        </p:txBody>
      </p:sp>
      <p:sp>
        <p:nvSpPr>
          <p:cNvPr id="584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4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5919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CA0E324-0745-4F16-A9BE-4C2F514FA67E}" type="slidenum">
              <a:rPr lang="en-US"/>
              <a:pPr/>
              <a:t>31</a:t>
            </a:fld>
            <a:endParaRPr lang="en-US"/>
          </a:p>
        </p:txBody>
      </p:sp>
      <p:sp>
        <p:nvSpPr>
          <p:cNvPr id="592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2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6556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16B284C-0B53-4060-A230-113A504334CC}" type="slidenum">
              <a:rPr lang="en-US"/>
              <a:pPr/>
              <a:t>32</a:t>
            </a:fld>
            <a:endParaRPr lang="en-US"/>
          </a:p>
        </p:txBody>
      </p:sp>
      <p:sp>
        <p:nvSpPr>
          <p:cNvPr id="594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4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1563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36E175D-F2B0-44FB-AD60-DAA42F4A1DAC}" type="slidenum">
              <a:rPr lang="en-US"/>
              <a:pPr/>
              <a:t>34</a:t>
            </a:fld>
            <a:endParaRPr lang="en-US"/>
          </a:p>
        </p:txBody>
      </p:sp>
      <p:sp>
        <p:nvSpPr>
          <p:cNvPr id="588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8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790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DEBF753-40EA-465B-8BE6-A093BB82185A}" type="slidenum">
              <a:rPr lang="en-US"/>
              <a:pPr/>
              <a:t>35</a:t>
            </a:fld>
            <a:endParaRPr lang="en-US"/>
          </a:p>
        </p:txBody>
      </p:sp>
      <p:sp>
        <p:nvSpPr>
          <p:cNvPr id="596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6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2328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EA30E24-B49F-44FF-B7E8-1467616465EE}" type="slidenum">
              <a:rPr lang="en-US"/>
              <a:pPr/>
              <a:t>36</a:t>
            </a:fld>
            <a:endParaRPr lang="en-US"/>
          </a:p>
        </p:txBody>
      </p:sp>
      <p:sp>
        <p:nvSpPr>
          <p:cNvPr id="563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7425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62AF802-5102-48B2-81A2-8F15E4FBE42C}" type="slidenum">
              <a:rPr lang="en-US"/>
              <a:pPr/>
              <a:t>37</a:t>
            </a:fld>
            <a:endParaRPr lang="en-US"/>
          </a:p>
        </p:txBody>
      </p:sp>
      <p:sp>
        <p:nvSpPr>
          <p:cNvPr id="599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9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6327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4128252-6CD7-4A7F-9F32-65CC81CCD561}" type="slidenum">
              <a:rPr lang="en-US"/>
              <a:pPr/>
              <a:t>38</a:t>
            </a:fld>
            <a:endParaRPr lang="en-US"/>
          </a:p>
        </p:txBody>
      </p:sp>
      <p:sp>
        <p:nvSpPr>
          <p:cNvPr id="603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3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6497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5694DC3-3E72-476A-8288-D7A4C2EF31C9}" type="slidenum">
              <a:rPr lang="en-US"/>
              <a:pPr/>
              <a:t>39</a:t>
            </a:fld>
            <a:endParaRPr lang="en-US"/>
          </a:p>
        </p:txBody>
      </p:sp>
      <p:sp>
        <p:nvSpPr>
          <p:cNvPr id="601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1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0296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A71D0EE-B98D-4259-9369-C554E39879BF}" type="slidenum">
              <a:rPr lang="en-US"/>
              <a:pPr/>
              <a:t>40</a:t>
            </a:fld>
            <a:endParaRPr lang="en-US"/>
          </a:p>
        </p:txBody>
      </p:sp>
      <p:sp>
        <p:nvSpPr>
          <p:cNvPr id="607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7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8735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BA5B53D-B71B-49FC-BB1D-CF0BF1D5B19F}" type="slidenum">
              <a:rPr lang="en-US"/>
              <a:pPr/>
              <a:t>41</a:t>
            </a:fld>
            <a:endParaRPr lang="en-US"/>
          </a:p>
        </p:txBody>
      </p:sp>
      <p:sp>
        <p:nvSpPr>
          <p:cNvPr id="605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5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8030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9C1D7B9-95DF-44B6-9284-92080549814B}" type="slidenum">
              <a:rPr lang="en-US"/>
              <a:pPr/>
              <a:t>42</a:t>
            </a:fld>
            <a:endParaRPr lang="en-US"/>
          </a:p>
        </p:txBody>
      </p:sp>
      <p:sp>
        <p:nvSpPr>
          <p:cNvPr id="609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9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03472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E92DCEF-9E11-4866-9B2C-125783472A2F}" type="slidenum">
              <a:rPr lang="en-US"/>
              <a:pPr/>
              <a:t>43</a:t>
            </a:fld>
            <a:endParaRPr lang="en-US"/>
          </a:p>
        </p:txBody>
      </p:sp>
      <p:sp>
        <p:nvSpPr>
          <p:cNvPr id="611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1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63983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81D19E-548C-48A0-98CE-A629C117E947}" type="slidenum">
              <a:rPr lang="en-US"/>
              <a:pPr/>
              <a:t>44</a:t>
            </a:fld>
            <a:endParaRPr lang="en-US"/>
          </a:p>
        </p:txBody>
      </p:sp>
      <p:sp>
        <p:nvSpPr>
          <p:cNvPr id="613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3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86226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FDE1225-75F4-4A48-A444-6ED8F68EA633}" type="slidenum">
              <a:rPr lang="en-US"/>
              <a:pPr/>
              <a:t>45</a:t>
            </a:fld>
            <a:endParaRPr lang="en-US"/>
          </a:p>
        </p:txBody>
      </p:sp>
      <p:sp>
        <p:nvSpPr>
          <p:cNvPr id="615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5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1451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FDE1225-75F4-4A48-A444-6ED8F68EA633}" type="slidenum">
              <a:rPr lang="en-US"/>
              <a:pPr/>
              <a:t>46</a:t>
            </a:fld>
            <a:endParaRPr lang="en-US"/>
          </a:p>
        </p:txBody>
      </p:sp>
      <p:sp>
        <p:nvSpPr>
          <p:cNvPr id="615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5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12704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F373D48-907C-4F63-8327-3DE23E5162AF}" type="slidenum">
              <a:rPr lang="en-US"/>
              <a:pPr/>
              <a:t>47</a:t>
            </a:fld>
            <a:endParaRPr lang="en-US"/>
          </a:p>
        </p:txBody>
      </p:sp>
      <p:sp>
        <p:nvSpPr>
          <p:cNvPr id="623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3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3243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4042495-FE3D-428E-A38A-71DBDD7BEDFE}" type="slidenum">
              <a:rPr lang="en-US"/>
              <a:pPr/>
              <a:t>48</a:t>
            </a:fld>
            <a:endParaRPr lang="en-US"/>
          </a:p>
        </p:txBody>
      </p:sp>
      <p:sp>
        <p:nvSpPr>
          <p:cNvPr id="629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9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95771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834DDEF-4D3F-4C87-9F33-266E24ED2EAB}" type="slidenum">
              <a:rPr lang="en-US"/>
              <a:pPr/>
              <a:t>49</a:t>
            </a:fld>
            <a:endParaRPr lang="en-US"/>
          </a:p>
        </p:txBody>
      </p:sp>
      <p:sp>
        <p:nvSpPr>
          <p:cNvPr id="631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1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62659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EF9E3D1-56D6-4B64-8F34-6F9744455006}" type="slidenum">
              <a:rPr lang="en-US"/>
              <a:pPr/>
              <a:t>50</a:t>
            </a:fld>
            <a:endParaRPr lang="en-US"/>
          </a:p>
        </p:txBody>
      </p:sp>
      <p:sp>
        <p:nvSpPr>
          <p:cNvPr id="64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60597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B43CDDD-EA26-41AC-8134-C3E4FC88CD2A}" type="slidenum">
              <a:rPr lang="en-US"/>
              <a:pPr/>
              <a:t>51</a:t>
            </a:fld>
            <a:endParaRPr lang="en-US"/>
          </a:p>
        </p:txBody>
      </p:sp>
      <p:sp>
        <p:nvSpPr>
          <p:cNvPr id="633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3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02225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A57E650-3C75-4662-BF37-0F0F5A2B4ADA}" type="slidenum">
              <a:rPr lang="en-US"/>
              <a:pPr/>
              <a:t>52</a:t>
            </a:fld>
            <a:endParaRPr lang="en-US"/>
          </a:p>
        </p:txBody>
      </p:sp>
      <p:sp>
        <p:nvSpPr>
          <p:cNvPr id="635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5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07152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38B1179-914F-4B33-91E7-830FC00F11EC}" type="slidenum">
              <a:rPr lang="en-US"/>
              <a:pPr/>
              <a:t>54</a:t>
            </a:fld>
            <a:endParaRPr lang="en-US"/>
          </a:p>
        </p:txBody>
      </p:sp>
      <p:sp>
        <p:nvSpPr>
          <p:cNvPr id="637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7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48126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2646A96-BC6F-49B9-8BD7-6CBF44B40843}" type="slidenum">
              <a:rPr lang="en-US"/>
              <a:pPr/>
              <a:t>55</a:t>
            </a:fld>
            <a:endParaRPr lang="en-US"/>
          </a:p>
        </p:txBody>
      </p:sp>
      <p:sp>
        <p:nvSpPr>
          <p:cNvPr id="64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6465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CFF1992-36F6-4EC8-A740-90FC8B2FE5D5}" type="slidenum">
              <a:rPr lang="en-US"/>
              <a:pPr/>
              <a:t>56</a:t>
            </a:fld>
            <a:endParaRPr lang="en-US"/>
          </a:p>
        </p:txBody>
      </p:sp>
      <p:sp>
        <p:nvSpPr>
          <p:cNvPr id="640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0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45347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ADB5E74-56AB-4804-806A-5EEEC91A5243}" type="slidenum">
              <a:rPr lang="en-US"/>
              <a:pPr/>
              <a:t>58</a:t>
            </a:fld>
            <a:endParaRPr lang="en-US"/>
          </a:p>
        </p:txBody>
      </p:sp>
      <p:sp>
        <p:nvSpPr>
          <p:cNvPr id="621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1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56569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F37EA1A-7214-427F-849E-A6D0A9EDB519}" type="slidenum">
              <a:rPr lang="en-US"/>
              <a:pPr/>
              <a:t>60</a:t>
            </a:fld>
            <a:endParaRPr lang="en-US"/>
          </a:p>
        </p:txBody>
      </p:sp>
      <p:sp>
        <p:nvSpPr>
          <p:cNvPr id="617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7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34034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F37EA1A-7214-427F-849E-A6D0A9EDB519}" type="slidenum">
              <a:rPr lang="en-US"/>
              <a:pPr/>
              <a:t>61</a:t>
            </a:fld>
            <a:endParaRPr lang="en-US"/>
          </a:p>
        </p:txBody>
      </p:sp>
      <p:sp>
        <p:nvSpPr>
          <p:cNvPr id="617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7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63295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55D072D-6A8F-42C4-9428-4335E031C38E}" type="slidenum">
              <a:rPr lang="en-US"/>
              <a:pPr/>
              <a:t>63</a:t>
            </a:fld>
            <a:endParaRPr lang="en-US"/>
          </a:p>
        </p:txBody>
      </p:sp>
      <p:sp>
        <p:nvSpPr>
          <p:cNvPr id="65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922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E5A92A1-02BB-44A9-850D-9FE5EAE95F5B}" type="slidenum">
              <a:rPr lang="en-US"/>
              <a:pPr/>
              <a:t>64</a:t>
            </a:fld>
            <a:endParaRPr lang="en-US"/>
          </a:p>
        </p:txBody>
      </p:sp>
      <p:sp>
        <p:nvSpPr>
          <p:cNvPr id="65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743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5AA5E6F-17D3-425D-89DC-1157D3551D6C}" type="slidenum">
              <a:rPr lang="en-US"/>
              <a:pPr/>
              <a:t>65</a:t>
            </a:fld>
            <a:endParaRPr lang="en-US"/>
          </a:p>
        </p:txBody>
      </p:sp>
      <p:sp>
        <p:nvSpPr>
          <p:cNvPr id="66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54249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C82CDBC-F19F-4C44-A3E3-96979E570F67}" type="slidenum">
              <a:rPr lang="en-US"/>
              <a:pPr/>
              <a:t>66</a:t>
            </a:fld>
            <a:endParaRPr lang="en-US"/>
          </a:p>
        </p:txBody>
      </p:sp>
      <p:sp>
        <p:nvSpPr>
          <p:cNvPr id="66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71118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7EE2873-E96F-4AC3-B33D-A42D0646168F}" type="slidenum">
              <a:rPr lang="en-US"/>
              <a:pPr/>
              <a:t>67</a:t>
            </a:fld>
            <a:endParaRPr lang="en-US"/>
          </a:p>
        </p:txBody>
      </p:sp>
      <p:sp>
        <p:nvSpPr>
          <p:cNvPr id="65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61122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A536DEA-5860-43D6-B1E9-B957146A47BA}" type="slidenum">
              <a:rPr lang="en-US"/>
              <a:pPr/>
              <a:t>68</a:t>
            </a:fld>
            <a:endParaRPr lang="en-US"/>
          </a:p>
        </p:txBody>
      </p:sp>
      <p:sp>
        <p:nvSpPr>
          <p:cNvPr id="65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0594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33E9F13-1C71-4146-B6A5-6C33F27B82A7}" type="slidenum">
              <a:rPr lang="en-US"/>
              <a:pPr/>
              <a:t>69</a:t>
            </a:fld>
            <a:endParaRPr lang="en-US"/>
          </a:p>
        </p:txBody>
      </p:sp>
      <p:sp>
        <p:nvSpPr>
          <p:cNvPr id="65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24517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4AB1EBB-F8A1-4C52-9DB3-A8ACAF29B1EF}" type="slidenum">
              <a:rPr lang="en-US"/>
              <a:pPr/>
              <a:t>70</a:t>
            </a:fld>
            <a:endParaRPr lang="en-US"/>
          </a:p>
        </p:txBody>
      </p:sp>
      <p:sp>
        <p:nvSpPr>
          <p:cNvPr id="66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67060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9E511BC-5075-4857-A693-D2CD26F88030}" type="slidenum">
              <a:rPr lang="en-US"/>
              <a:pPr/>
              <a:t>71</a:t>
            </a:fld>
            <a:endParaRPr lang="en-US"/>
          </a:p>
        </p:txBody>
      </p:sp>
      <p:sp>
        <p:nvSpPr>
          <p:cNvPr id="66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00565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554D659-C63E-4444-A9EF-45BE16E4A465}" type="slidenum">
              <a:rPr lang="en-US"/>
              <a:pPr/>
              <a:t>72</a:t>
            </a:fld>
            <a:endParaRPr lang="en-US"/>
          </a:p>
        </p:txBody>
      </p:sp>
      <p:sp>
        <p:nvSpPr>
          <p:cNvPr id="67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Chú</a:t>
            </a:r>
            <a:r>
              <a:rPr lang="en-US" dirty="0"/>
              <a:t> ý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rõ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trước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69401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346925-1108-4169-8647-832DB9A6B088}" type="slidenum">
              <a:rPr lang="en-US"/>
              <a:pPr/>
              <a:t>73</a:t>
            </a:fld>
            <a:endParaRPr lang="en-US"/>
          </a:p>
        </p:txBody>
      </p:sp>
      <p:sp>
        <p:nvSpPr>
          <p:cNvPr id="67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25999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50C4AD2-1A5C-4828-A487-01C4B32629BA}" type="slidenum">
              <a:rPr lang="en-US"/>
              <a:pPr/>
              <a:t>74</a:t>
            </a:fld>
            <a:endParaRPr lang="en-US"/>
          </a:p>
        </p:txBody>
      </p:sp>
      <p:sp>
        <p:nvSpPr>
          <p:cNvPr id="67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Mệnh đề WHERE của cấu truy vấn cơ bản gồm các thuộc tính đơn, phép so sánh với hằng số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15666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5DCCAE-96C1-418B-9294-F8AC0CCA0841}" type="slidenum">
              <a:rPr lang="en-US"/>
              <a:pPr/>
              <a:t>75</a:t>
            </a:fld>
            <a:endParaRPr lang="en-US"/>
          </a:p>
        </p:txBody>
      </p:sp>
      <p:sp>
        <p:nvSpPr>
          <p:cNvPr id="67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16651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EAC697-5D92-425F-9913-73001E988943}" type="slidenum">
              <a:rPr lang="en-US"/>
              <a:pPr/>
              <a:t>76</a:t>
            </a:fld>
            <a:endParaRPr lang="en-US"/>
          </a:p>
        </p:txBody>
      </p:sp>
      <p:sp>
        <p:nvSpPr>
          <p:cNvPr id="67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13318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E753105-57D8-4338-BE98-8CCC4E1B8BCB}" type="slidenum">
              <a:rPr lang="en-US"/>
              <a:pPr/>
              <a:t>77</a:t>
            </a:fld>
            <a:endParaRPr lang="en-US"/>
          </a:p>
        </p:txBody>
      </p:sp>
      <p:sp>
        <p:nvSpPr>
          <p:cNvPr id="68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75390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AF2956A-8133-47D0-854E-F98A96C4DF38}" type="slidenum">
              <a:rPr lang="en-US"/>
              <a:pPr/>
              <a:t>78</a:t>
            </a:fld>
            <a:endParaRPr lang="en-US"/>
          </a:p>
        </p:txBody>
      </p:sp>
      <p:sp>
        <p:nvSpPr>
          <p:cNvPr id="68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42269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0ECC560-BB19-4CFF-8261-5189C6E3F919}" type="slidenum">
              <a:rPr lang="en-US"/>
              <a:pPr/>
              <a:t>79</a:t>
            </a:fld>
            <a:endParaRPr lang="en-US"/>
          </a:p>
        </p:txBody>
      </p:sp>
      <p:sp>
        <p:nvSpPr>
          <p:cNvPr id="69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17799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351C756-5EF6-40EB-9E5A-CA87518C6076}" type="slidenum">
              <a:rPr lang="en-US"/>
              <a:pPr/>
              <a:t>80</a:t>
            </a:fld>
            <a:endParaRPr lang="en-US"/>
          </a:p>
        </p:txBody>
      </p:sp>
      <p:sp>
        <p:nvSpPr>
          <p:cNvPr id="69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7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8302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CD1AD6-52D2-44AD-B114-C3A847D0DD0E}" type="slidenum">
              <a:rPr lang="en-US"/>
              <a:pPr/>
              <a:t>81</a:t>
            </a:fld>
            <a:endParaRPr lang="en-US"/>
          </a:p>
        </p:txBody>
      </p:sp>
      <p:sp>
        <p:nvSpPr>
          <p:cNvPr id="70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71151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00186D1-A6F9-41B1-9214-F207451F7F83}" type="slidenum">
              <a:rPr lang="en-US"/>
              <a:pPr/>
              <a:t>82</a:t>
            </a:fld>
            <a:endParaRPr lang="en-US"/>
          </a:p>
        </p:txBody>
      </p:sp>
      <p:sp>
        <p:nvSpPr>
          <p:cNvPr id="70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6798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AF1FC4-FA4B-4F62-AF4D-02EE842597F6}" type="slidenum">
              <a:rPr lang="en-US"/>
              <a:pPr/>
              <a:t>83</a:t>
            </a:fld>
            <a:endParaRPr lang="en-US"/>
          </a:p>
        </p:txBody>
      </p:sp>
      <p:sp>
        <p:nvSpPr>
          <p:cNvPr id="68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07072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C414E4-6047-419F-881D-CF7EBA2D7BD1}" type="slidenum">
              <a:rPr lang="en-US"/>
              <a:pPr/>
              <a:t>84</a:t>
            </a:fld>
            <a:endParaRPr lang="en-US"/>
          </a:p>
        </p:txBody>
      </p:sp>
      <p:sp>
        <p:nvSpPr>
          <p:cNvPr id="68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91866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E453D4F-AF14-4DE5-865E-B8B7FEA9C3D8}" type="slidenum">
              <a:rPr lang="en-US"/>
              <a:pPr/>
              <a:t>85</a:t>
            </a:fld>
            <a:endParaRPr lang="en-US"/>
          </a:p>
        </p:txBody>
      </p:sp>
      <p:sp>
        <p:nvSpPr>
          <p:cNvPr id="69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384484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80CFA08-CD52-4346-809E-FA60BD9AD39A}" type="slidenum">
              <a:rPr lang="en-US"/>
              <a:pPr/>
              <a:t>86</a:t>
            </a:fld>
            <a:endParaRPr lang="en-US"/>
          </a:p>
        </p:txBody>
      </p:sp>
      <p:sp>
        <p:nvSpPr>
          <p:cNvPr id="70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9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142920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DBB97CD-30A1-4404-B6CE-7630BC204261}" type="slidenum">
              <a:rPr lang="en-US"/>
              <a:pPr/>
              <a:t>87</a:t>
            </a:fld>
            <a:endParaRPr lang="en-US"/>
          </a:p>
        </p:txBody>
      </p:sp>
      <p:sp>
        <p:nvSpPr>
          <p:cNvPr id="69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935630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0461897-7076-4A96-BB3B-2BE4182B2922}" type="slidenum">
              <a:rPr lang="en-US"/>
              <a:pPr/>
              <a:t>88</a:t>
            </a:fld>
            <a:endParaRPr lang="en-US"/>
          </a:p>
        </p:txBody>
      </p:sp>
      <p:sp>
        <p:nvSpPr>
          <p:cNvPr id="71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324405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49E5654-8EEA-4895-954F-795AB9CDAD53}" type="slidenum">
              <a:rPr lang="en-US"/>
              <a:pPr/>
              <a:t>89</a:t>
            </a:fld>
            <a:endParaRPr lang="en-US"/>
          </a:p>
        </p:txBody>
      </p:sp>
      <p:sp>
        <p:nvSpPr>
          <p:cNvPr id="71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491298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/>
            <a:fld id="{0C7C44AE-44C6-4128-84A8-AB6F7494E7EF}" type="slidenum">
              <a:rPr lang="en-US" altLang="en-US">
                <a:latin typeface="Arial" charset="0"/>
              </a:rPr>
              <a:pPr eaLnBrk="1" hangingPunct="1"/>
              <a:t>90</a:t>
            </a:fld>
            <a:endParaRPr lang="en-US" altLang="en-US">
              <a:latin typeface="Arial" charset="0"/>
            </a:endParaRPr>
          </a:p>
        </p:txBody>
      </p:sp>
      <p:sp>
        <p:nvSpPr>
          <p:cNvPr id="145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775474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49E5654-8EEA-4895-954F-795AB9CDAD53}" type="slidenum">
              <a:rPr lang="en-US"/>
              <a:pPr/>
              <a:t>91</a:t>
            </a:fld>
            <a:endParaRPr lang="en-US"/>
          </a:p>
        </p:txBody>
      </p:sp>
      <p:sp>
        <p:nvSpPr>
          <p:cNvPr id="71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42494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484" eaLnBrk="0" hangingPunct="0">
              <a:defRPr sz="31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1pPr>
            <a:lvl2pPr marL="831733" indent="-319897" defTabSz="913484" eaLnBrk="0" hangingPunct="0">
              <a:defRPr sz="31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2pPr>
            <a:lvl3pPr marL="1279589" indent="-255918" defTabSz="913484" eaLnBrk="0" hangingPunct="0">
              <a:defRPr sz="31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3pPr>
            <a:lvl4pPr marL="1791424" indent="-255918" defTabSz="913484" eaLnBrk="0" hangingPunct="0">
              <a:defRPr sz="31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4pPr>
            <a:lvl5pPr marL="2303259" indent="-255918" defTabSz="913484" eaLnBrk="0" hangingPunct="0">
              <a:defRPr sz="31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5pPr>
            <a:lvl6pPr marL="2815095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1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6pPr>
            <a:lvl7pPr marL="3326930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1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7pPr>
            <a:lvl8pPr marL="3838766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1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8pPr>
            <a:lvl9pPr marL="4350601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1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9pPr>
          </a:lstStyle>
          <a:p>
            <a:pPr eaLnBrk="1" hangingPunct="1"/>
            <a:fld id="{4C5BD695-5D5A-469E-830D-EAA804731BB4}" type="datetime1">
              <a:rPr lang="en-US" altLang="en-US" sz="1200">
                <a:solidFill>
                  <a:schemeClr val="tx1"/>
                </a:solidFill>
              </a:rPr>
              <a:pPr eaLnBrk="1" hangingPunct="1"/>
              <a:t>5/21/2020</a:t>
            </a:fld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7577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484" eaLnBrk="0" hangingPunct="0">
              <a:defRPr sz="31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1pPr>
            <a:lvl2pPr marL="831733" indent="-319897" defTabSz="913484" eaLnBrk="0" hangingPunct="0">
              <a:defRPr sz="31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2pPr>
            <a:lvl3pPr marL="1279589" indent="-255918" defTabSz="913484" eaLnBrk="0" hangingPunct="0">
              <a:defRPr sz="31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3pPr>
            <a:lvl4pPr marL="1791424" indent="-255918" defTabSz="913484" eaLnBrk="0" hangingPunct="0">
              <a:defRPr sz="31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4pPr>
            <a:lvl5pPr marL="2303259" indent="-255918" defTabSz="913484" eaLnBrk="0" hangingPunct="0">
              <a:defRPr sz="31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5pPr>
            <a:lvl6pPr marL="2815095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1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6pPr>
            <a:lvl7pPr marL="3326930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1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7pPr>
            <a:lvl8pPr marL="3838766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1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8pPr>
            <a:lvl9pPr marL="4350601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1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9pPr>
          </a:lstStyle>
          <a:p>
            <a:pPr eaLnBrk="1" hangingPunct="1"/>
            <a:fld id="{CAC05F85-5A53-47DD-B6E7-B542A30C1ACD}" type="slidenum">
              <a:rPr lang="en-US" altLang="en-US" sz="1200">
                <a:solidFill>
                  <a:schemeClr val="tx1"/>
                </a:solidFill>
              </a:rPr>
              <a:pPr eaLnBrk="1" hangingPunct="1"/>
              <a:t>92</a:t>
            </a:fld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7578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5857464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484" eaLnBrk="0" hangingPunct="0">
              <a:defRPr sz="31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1pPr>
            <a:lvl2pPr marL="831733" indent="-319897" defTabSz="913484" eaLnBrk="0" hangingPunct="0">
              <a:defRPr sz="31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2pPr>
            <a:lvl3pPr marL="1279589" indent="-255918" defTabSz="913484" eaLnBrk="0" hangingPunct="0">
              <a:defRPr sz="31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3pPr>
            <a:lvl4pPr marL="1791424" indent="-255918" defTabSz="913484" eaLnBrk="0" hangingPunct="0">
              <a:defRPr sz="31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4pPr>
            <a:lvl5pPr marL="2303259" indent="-255918" defTabSz="913484" eaLnBrk="0" hangingPunct="0">
              <a:defRPr sz="31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5pPr>
            <a:lvl6pPr marL="2815095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1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6pPr>
            <a:lvl7pPr marL="3326930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1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7pPr>
            <a:lvl8pPr marL="3838766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1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8pPr>
            <a:lvl9pPr marL="4350601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1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9pPr>
          </a:lstStyle>
          <a:p>
            <a:pPr eaLnBrk="1" hangingPunct="1"/>
            <a:fld id="{9A8FF3D1-E9F2-4177-9F9C-F4F83CC156E2}" type="datetime1">
              <a:rPr lang="en-US" altLang="en-US" sz="1200">
                <a:solidFill>
                  <a:schemeClr val="tx1"/>
                </a:solidFill>
              </a:rPr>
              <a:pPr eaLnBrk="1" hangingPunct="1"/>
              <a:t>5/21/2020</a:t>
            </a:fld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7680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484" eaLnBrk="0" hangingPunct="0">
              <a:defRPr sz="31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1pPr>
            <a:lvl2pPr marL="831733" indent="-319897" defTabSz="913484" eaLnBrk="0" hangingPunct="0">
              <a:defRPr sz="31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2pPr>
            <a:lvl3pPr marL="1279589" indent="-255918" defTabSz="913484" eaLnBrk="0" hangingPunct="0">
              <a:defRPr sz="31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3pPr>
            <a:lvl4pPr marL="1791424" indent="-255918" defTabSz="913484" eaLnBrk="0" hangingPunct="0">
              <a:defRPr sz="31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4pPr>
            <a:lvl5pPr marL="2303259" indent="-255918" defTabSz="913484" eaLnBrk="0" hangingPunct="0">
              <a:defRPr sz="31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5pPr>
            <a:lvl6pPr marL="2815095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1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6pPr>
            <a:lvl7pPr marL="3326930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1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7pPr>
            <a:lvl8pPr marL="3838766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1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8pPr>
            <a:lvl9pPr marL="4350601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1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9pPr>
          </a:lstStyle>
          <a:p>
            <a:pPr eaLnBrk="1" hangingPunct="1"/>
            <a:fld id="{C66D40C7-7812-4F7F-B8A8-BA0CB949A1AB}" type="slidenum">
              <a:rPr lang="en-US" altLang="en-US" sz="1200">
                <a:solidFill>
                  <a:schemeClr val="tx1"/>
                </a:solidFill>
              </a:rPr>
              <a:pPr eaLnBrk="1" hangingPunct="1"/>
              <a:t>93</a:t>
            </a:fld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7680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79163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AD99FA8-7F76-4155-9730-5E6B46B48F37}" type="slidenum">
              <a:rPr lang="en-US"/>
              <a:pPr/>
              <a:t>94</a:t>
            </a:fld>
            <a:endParaRPr lang="en-US"/>
          </a:p>
        </p:txBody>
      </p:sp>
      <p:sp>
        <p:nvSpPr>
          <p:cNvPr id="71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8625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4430B2A-6FCA-46C9-8BE5-10FE81F33813}" type="slidenum">
              <a:rPr lang="en-US"/>
              <a:pPr/>
              <a:t>95</a:t>
            </a:fld>
            <a:endParaRPr lang="en-US"/>
          </a:p>
        </p:txBody>
      </p:sp>
      <p:sp>
        <p:nvSpPr>
          <p:cNvPr id="71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9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4212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C651AA-17EE-47C5-BAF1-A188F9E29271}" type="slidenum">
              <a:rPr lang="en-US"/>
              <a:pPr/>
              <a:t>96</a:t>
            </a:fld>
            <a:endParaRPr lang="en-US"/>
          </a:p>
        </p:txBody>
      </p:sp>
      <p:sp>
        <p:nvSpPr>
          <p:cNvPr id="72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1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11013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EC487CC-E10F-462F-AA26-6CA0FD957905}" type="slidenum">
              <a:rPr lang="en-US"/>
              <a:pPr/>
              <a:t>97</a:t>
            </a:fld>
            <a:endParaRPr lang="en-US"/>
          </a:p>
        </p:txBody>
      </p:sp>
      <p:sp>
        <p:nvSpPr>
          <p:cNvPr id="72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909046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0D63F15-E0B8-430F-B003-0783B758A925}" type="slidenum">
              <a:rPr lang="en-US"/>
              <a:pPr/>
              <a:t>98</a:t>
            </a:fld>
            <a:endParaRPr lang="en-US"/>
          </a:p>
        </p:txBody>
      </p:sp>
      <p:sp>
        <p:nvSpPr>
          <p:cNvPr id="72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6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178234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64BE25B-D1E4-4E56-A784-2C42003816F6}" type="slidenum">
              <a:rPr lang="en-US"/>
              <a:pPr/>
              <a:t>99</a:t>
            </a:fld>
            <a:endParaRPr lang="en-US"/>
          </a:p>
        </p:txBody>
      </p:sp>
      <p:sp>
        <p:nvSpPr>
          <p:cNvPr id="73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2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237830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730B264-09B3-4FD5-8658-A4A28CA5DE08}" type="slidenum">
              <a:rPr lang="en-US"/>
              <a:pPr/>
              <a:t>100</a:t>
            </a:fld>
            <a:endParaRPr lang="en-US"/>
          </a:p>
        </p:txBody>
      </p:sp>
      <p:sp>
        <p:nvSpPr>
          <p:cNvPr id="73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0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890848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9E8DA60-AFE1-4EC6-9928-3FCB11D94375}" type="slidenum">
              <a:rPr lang="en-US"/>
              <a:pPr/>
              <a:t>101</a:t>
            </a:fld>
            <a:endParaRPr lang="en-US"/>
          </a:p>
        </p:txBody>
      </p:sp>
      <p:sp>
        <p:nvSpPr>
          <p:cNvPr id="73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333015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9E8DA60-AFE1-4EC6-9928-3FCB11D94375}" type="slidenum">
              <a:rPr lang="en-US"/>
              <a:pPr/>
              <a:t>102</a:t>
            </a:fld>
            <a:endParaRPr lang="en-US"/>
          </a:p>
        </p:txBody>
      </p:sp>
      <p:sp>
        <p:nvSpPr>
          <p:cNvPr id="73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29862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D570FDE-CA1D-44B6-9B8D-D640D285EC54}" type="slidenum">
              <a:rPr lang="en-US"/>
              <a:pPr/>
              <a:t>103</a:t>
            </a:fld>
            <a:endParaRPr lang="en-US"/>
          </a:p>
        </p:txBody>
      </p:sp>
      <p:sp>
        <p:nvSpPr>
          <p:cNvPr id="74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0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427966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A6D9D19-6EF3-4FE4-96F4-7A22E5B6CC0C}" type="slidenum">
              <a:rPr lang="en-US"/>
              <a:pPr/>
              <a:t>104</a:t>
            </a:fld>
            <a:endParaRPr lang="en-US"/>
          </a:p>
        </p:txBody>
      </p:sp>
      <p:sp>
        <p:nvSpPr>
          <p:cNvPr id="74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2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429246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E1F2B85-52F9-4517-BFF2-5B9A0C4BD145}" type="slidenum">
              <a:rPr lang="en-US"/>
              <a:pPr/>
              <a:t>105</a:t>
            </a:fld>
            <a:endParaRPr lang="en-US"/>
          </a:p>
        </p:txBody>
      </p:sp>
      <p:sp>
        <p:nvSpPr>
          <p:cNvPr id="74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4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12843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8FD7702-474D-48E2-A29B-FB8D15BA5E27}" type="slidenum">
              <a:rPr lang="en-US"/>
              <a:pPr/>
              <a:t>106</a:t>
            </a:fld>
            <a:endParaRPr lang="en-US"/>
          </a:p>
        </p:txBody>
      </p:sp>
      <p:sp>
        <p:nvSpPr>
          <p:cNvPr id="74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6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43092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B1D4C9D-1800-45B7-8E04-C14E4C7762AE}" type="slidenum">
              <a:rPr lang="en-US"/>
              <a:pPr/>
              <a:t>107</a:t>
            </a:fld>
            <a:endParaRPr lang="en-US"/>
          </a:p>
        </p:txBody>
      </p:sp>
      <p:sp>
        <p:nvSpPr>
          <p:cNvPr id="74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8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599836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49DB0F0-40A0-4D65-BDF4-44A1C43FB5F6}" type="slidenum">
              <a:rPr lang="en-US"/>
              <a:pPr/>
              <a:t>108</a:t>
            </a:fld>
            <a:endParaRPr lang="en-US"/>
          </a:p>
        </p:txBody>
      </p:sp>
      <p:sp>
        <p:nvSpPr>
          <p:cNvPr id="75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989516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A0A4303-02B2-4B6E-BB9C-F877992766BF}" type="slidenum">
              <a:rPr lang="en-US"/>
              <a:pPr/>
              <a:t>109</a:t>
            </a:fld>
            <a:endParaRPr lang="en-US"/>
          </a:p>
        </p:txBody>
      </p:sp>
      <p:sp>
        <p:nvSpPr>
          <p:cNvPr id="756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6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768848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CCB505F-6972-4355-B900-0A32C5E195AD}" type="slidenum">
              <a:rPr lang="en-US"/>
              <a:pPr/>
              <a:t>112</a:t>
            </a:fld>
            <a:endParaRPr lang="en-US"/>
          </a:p>
        </p:txBody>
      </p:sp>
      <p:sp>
        <p:nvSpPr>
          <p:cNvPr id="76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9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317340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E7A5356-30AA-428D-8F42-FA25A47E8970}" type="slidenum">
              <a:rPr lang="en-US"/>
              <a:pPr/>
              <a:t>113</a:t>
            </a:fld>
            <a:endParaRPr lang="en-US"/>
          </a:p>
        </p:txBody>
      </p:sp>
      <p:sp>
        <p:nvSpPr>
          <p:cNvPr id="76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0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926675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3667FB7-7CC3-4793-854D-E1B946A539B7}" type="slidenum">
              <a:rPr lang="en-US"/>
              <a:pPr/>
              <a:t>114</a:t>
            </a:fld>
            <a:endParaRPr lang="en-US"/>
          </a:p>
        </p:txBody>
      </p:sp>
      <p:sp>
        <p:nvSpPr>
          <p:cNvPr id="771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1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262268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2178268-BA39-4D43-97A6-A2547395B95A}" type="slidenum">
              <a:rPr lang="en-US"/>
              <a:pPr/>
              <a:t>116</a:t>
            </a:fld>
            <a:endParaRPr lang="en-US"/>
          </a:p>
        </p:txBody>
      </p:sp>
      <p:sp>
        <p:nvSpPr>
          <p:cNvPr id="783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3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756957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1BCD9B-7E3B-41C0-8C21-A128BA64174C}" type="slidenum">
              <a:rPr lang="en-US"/>
              <a:pPr/>
              <a:t>117</a:t>
            </a:fld>
            <a:endParaRPr lang="en-US"/>
          </a:p>
        </p:txBody>
      </p:sp>
      <p:sp>
        <p:nvSpPr>
          <p:cNvPr id="785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5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27490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28D175B-D562-4347-95FC-3E59BAF41A4A}" type="slidenum">
              <a:rPr lang="en-US"/>
              <a:pPr/>
              <a:t>118</a:t>
            </a:fld>
            <a:endParaRPr lang="en-US"/>
          </a:p>
        </p:txBody>
      </p:sp>
      <p:sp>
        <p:nvSpPr>
          <p:cNvPr id="787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7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087590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A67503E-0446-4379-A8FC-36ECFDAEB0D6}" type="slidenum">
              <a:rPr lang="en-US"/>
              <a:pPr/>
              <a:t>119</a:t>
            </a:fld>
            <a:endParaRPr lang="en-US"/>
          </a:p>
        </p:txBody>
      </p:sp>
      <p:sp>
        <p:nvSpPr>
          <p:cNvPr id="779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9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373746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820CA9D-B63F-44B5-9A0F-1816EC24E31A}" type="slidenum">
              <a:rPr lang="en-US"/>
              <a:pPr/>
              <a:t>120</a:t>
            </a:fld>
            <a:endParaRPr lang="en-US"/>
          </a:p>
        </p:txBody>
      </p:sp>
      <p:sp>
        <p:nvSpPr>
          <p:cNvPr id="781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1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061503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6E60EE6-6060-423C-A36E-B0DC64E79559}" type="slidenum">
              <a:rPr lang="en-US"/>
              <a:pPr/>
              <a:t>121</a:t>
            </a:fld>
            <a:endParaRPr lang="en-US"/>
          </a:p>
        </p:txBody>
      </p:sp>
      <p:sp>
        <p:nvSpPr>
          <p:cNvPr id="789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9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892782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2CDC818-7C79-42A9-8E01-4723BEE83376}" type="slidenum">
              <a:rPr lang="en-US"/>
              <a:pPr/>
              <a:t>123</a:t>
            </a:fld>
            <a:endParaRPr lang="en-US"/>
          </a:p>
        </p:txBody>
      </p:sp>
      <p:sp>
        <p:nvSpPr>
          <p:cNvPr id="762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2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347517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D993150-0ACA-43D3-949D-9CE1E5CBA586}" type="slidenum">
              <a:rPr lang="en-US"/>
              <a:pPr/>
              <a:t>124</a:t>
            </a:fld>
            <a:endParaRPr lang="en-US"/>
          </a:p>
        </p:txBody>
      </p:sp>
      <p:sp>
        <p:nvSpPr>
          <p:cNvPr id="795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5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724184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79B8B00-0FA2-4F99-8D94-B8C2B560DE4C}" type="slidenum">
              <a:rPr lang="en-US"/>
              <a:pPr/>
              <a:t>125</a:t>
            </a:fld>
            <a:endParaRPr lang="en-US"/>
          </a:p>
        </p:txBody>
      </p:sp>
      <p:sp>
        <p:nvSpPr>
          <p:cNvPr id="801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1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12785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4B5D435-9467-47CE-9B42-BA75940D8979}" type="slidenum">
              <a:rPr lang="en-US"/>
              <a:pPr/>
              <a:t>127</a:t>
            </a:fld>
            <a:endParaRPr lang="en-US"/>
          </a:p>
        </p:txBody>
      </p:sp>
      <p:sp>
        <p:nvSpPr>
          <p:cNvPr id="799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9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099263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3675C5C-5D76-472A-81C9-51816E2C01A0}" type="slidenum">
              <a:rPr lang="en-US"/>
              <a:pPr/>
              <a:t>128</a:t>
            </a:fld>
            <a:endParaRPr lang="en-US"/>
          </a:p>
        </p:txBody>
      </p:sp>
      <p:sp>
        <p:nvSpPr>
          <p:cNvPr id="805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5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9410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9475508-CF53-401B-939D-F3BAAA6FA1EB}" type="slidenum">
              <a:rPr lang="en-US"/>
              <a:pPr/>
              <a:t>129</a:t>
            </a:fld>
            <a:endParaRPr lang="en-US"/>
          </a:p>
        </p:txBody>
      </p:sp>
      <p:sp>
        <p:nvSpPr>
          <p:cNvPr id="803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3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14172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E5CF466-B936-4812-ADDC-7C7D258A8D3A}" type="slidenum">
              <a:rPr lang="en-US"/>
              <a:pPr/>
              <a:t>130</a:t>
            </a:fld>
            <a:endParaRPr lang="en-US"/>
          </a:p>
        </p:txBody>
      </p:sp>
      <p:sp>
        <p:nvSpPr>
          <p:cNvPr id="807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7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264184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4500C2C-CBA1-4389-A1C0-D1DCB7711B65}" type="slidenum">
              <a:rPr lang="en-US"/>
              <a:pPr/>
              <a:t>131</a:t>
            </a:fld>
            <a:endParaRPr lang="en-US"/>
          </a:p>
        </p:txBody>
      </p:sp>
      <p:sp>
        <p:nvSpPr>
          <p:cNvPr id="812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2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194523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AE36318-7D94-4A8B-BCFA-458ADB60825F}" type="slidenum">
              <a:rPr lang="en-US"/>
              <a:pPr/>
              <a:t>132</a:t>
            </a:fld>
            <a:endParaRPr lang="en-US"/>
          </a:p>
        </p:txBody>
      </p:sp>
      <p:sp>
        <p:nvSpPr>
          <p:cNvPr id="809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61889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27E916-2BB1-4D1B-BEEE-17494481CC64}" type="slidenum">
              <a:rPr lang="en-US"/>
              <a:pPr/>
              <a:t>133</a:t>
            </a:fld>
            <a:endParaRPr lang="en-US"/>
          </a:p>
        </p:txBody>
      </p:sp>
      <p:sp>
        <p:nvSpPr>
          <p:cNvPr id="82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2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631918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F50D832-21F6-4B7D-8C98-3375E1074D94}" type="slidenum">
              <a:rPr lang="en-US"/>
              <a:pPr/>
              <a:t>134</a:t>
            </a:fld>
            <a:endParaRPr lang="en-US"/>
          </a:p>
        </p:txBody>
      </p:sp>
      <p:sp>
        <p:nvSpPr>
          <p:cNvPr id="826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6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348308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49C2FB4-2E5F-4115-A7BF-B987751FAED9}" type="slidenum">
              <a:rPr lang="en-US"/>
              <a:pPr/>
              <a:t>135</a:t>
            </a:fld>
            <a:endParaRPr lang="en-US"/>
          </a:p>
        </p:txBody>
      </p:sp>
      <p:sp>
        <p:nvSpPr>
          <p:cNvPr id="824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4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931895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2F12316-CFB5-4891-B3C0-C2C1C2DE2E81}" type="slidenum">
              <a:rPr lang="en-US"/>
              <a:pPr/>
              <a:t>136</a:t>
            </a:fld>
            <a:endParaRPr lang="en-US"/>
          </a:p>
        </p:txBody>
      </p:sp>
      <p:sp>
        <p:nvSpPr>
          <p:cNvPr id="832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2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80344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E1C074-3FE3-4092-8073-7A7D9A0E7515}" type="slidenum">
              <a:rPr lang="en-US"/>
              <a:pPr/>
              <a:t>137</a:t>
            </a:fld>
            <a:endParaRPr lang="en-US"/>
          </a:p>
        </p:txBody>
      </p:sp>
      <p:sp>
        <p:nvSpPr>
          <p:cNvPr id="834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4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21348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90B4CB2-8FCB-43B3-939C-5B44BF7FAA76}" type="slidenum">
              <a:rPr lang="en-US"/>
              <a:pPr/>
              <a:t>138</a:t>
            </a:fld>
            <a:endParaRPr lang="en-US"/>
          </a:p>
        </p:txBody>
      </p:sp>
      <p:sp>
        <p:nvSpPr>
          <p:cNvPr id="836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6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58854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D548A2-4420-4CB8-99D8-CEB9500B5117}" type="slidenum">
              <a:rPr lang="en-US"/>
              <a:pPr/>
              <a:t>139</a:t>
            </a:fld>
            <a:endParaRPr lang="en-US"/>
          </a:p>
        </p:txBody>
      </p:sp>
      <p:sp>
        <p:nvSpPr>
          <p:cNvPr id="840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0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841909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51ACA8F-4BFD-494E-BFA0-682C1B237193}" type="slidenum">
              <a:rPr lang="en-US"/>
              <a:pPr/>
              <a:t>140</a:t>
            </a:fld>
            <a:endParaRPr lang="en-US"/>
          </a:p>
        </p:txBody>
      </p:sp>
      <p:sp>
        <p:nvSpPr>
          <p:cNvPr id="842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2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934158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A5DEEB7-2F89-4CC9-863D-0DB2DFC73DA6}" type="slidenum">
              <a:rPr lang="en-US"/>
              <a:pPr/>
              <a:t>141</a:t>
            </a:fld>
            <a:endParaRPr lang="en-US"/>
          </a:p>
        </p:txBody>
      </p:sp>
      <p:sp>
        <p:nvSpPr>
          <p:cNvPr id="848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8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599902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71125D4-97ED-4E6F-8DFE-ECB5CA5472C7}" type="slidenum">
              <a:rPr lang="en-US"/>
              <a:pPr/>
              <a:t>142</a:t>
            </a:fld>
            <a:endParaRPr lang="en-US"/>
          </a:p>
        </p:txBody>
      </p:sp>
      <p:sp>
        <p:nvSpPr>
          <p:cNvPr id="844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4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947302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1F18F11-EFAB-4F14-9723-EB2C5E6263EA}" type="slidenum">
              <a:rPr lang="en-US"/>
              <a:pPr/>
              <a:t>143</a:t>
            </a:fld>
            <a:endParaRPr lang="en-US"/>
          </a:p>
        </p:txBody>
      </p:sp>
      <p:sp>
        <p:nvSpPr>
          <p:cNvPr id="850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0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619658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761F918-DD6B-4522-941A-FFE4C7E08308}" type="slidenum">
              <a:rPr lang="en-US"/>
              <a:pPr/>
              <a:t>144</a:t>
            </a:fld>
            <a:endParaRPr lang="en-US"/>
          </a:p>
        </p:txBody>
      </p:sp>
      <p:sp>
        <p:nvSpPr>
          <p:cNvPr id="852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2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54762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4857322-EC31-4E1C-8E96-21C8D75E5EE9}" type="slidenum">
              <a:rPr lang="en-US"/>
              <a:pPr/>
              <a:t>145</a:t>
            </a:fld>
            <a:endParaRPr lang="en-US"/>
          </a:p>
        </p:txBody>
      </p:sp>
      <p:sp>
        <p:nvSpPr>
          <p:cNvPr id="857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7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644188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8F9D3E8-7DEB-4CB9-BEBC-65BF065C0225}" type="slidenum">
              <a:rPr lang="en-US"/>
              <a:pPr/>
              <a:t>146</a:t>
            </a:fld>
            <a:endParaRPr lang="en-US"/>
          </a:p>
        </p:txBody>
      </p:sp>
      <p:sp>
        <p:nvSpPr>
          <p:cNvPr id="859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9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752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9A3F49D1-3A77-474C-87E8-A855FE083FB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58D16501-382F-4B6C-B9DC-74B0A870115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A70EDA-1396-41E5-8FA1-F4AC1FDA846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fld id="{FFFC42EC-6801-4D07-A80A-E90D66743E5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pPr>
              <a:defRPr/>
            </a:pPr>
            <a:fld id="{3D720789-CDFD-4CDA-AF9A-5103F536F7B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86ADB3E4-BBE8-46D3-94D4-4227260B0B2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D0B4F769-2038-4E41-96C6-278C0EEEDF2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pPr>
              <a:defRPr/>
            </a:pPr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pPr>
              <a:defRPr/>
            </a:pPr>
            <a:fld id="{19D62CF5-A3C1-470A-B8AA-7ACF15B78DE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pPr>
              <a:defRPr/>
            </a:pPr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00C2EB-1B16-40D7-9FB5-5EC22D0CCB1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pPr>
              <a:defRPr/>
            </a:pPr>
            <a:fld id="{C3AB234F-0F8D-492C-AD1C-D2E95BFA177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0" y="152400"/>
            <a:ext cx="86868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066800"/>
            <a:ext cx="4267200" cy="262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24400" y="1066800"/>
            <a:ext cx="4267200" cy="262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304800" y="3848100"/>
            <a:ext cx="4267200" cy="262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4400" y="3848100"/>
            <a:ext cx="4267200" cy="262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89EFAA-F580-4F8F-AD20-FA068DB634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206202"/>
      </p:ext>
    </p:extLst>
  </p:cSld>
  <p:clrMapOvr>
    <a:masterClrMapping/>
  </p:clrMapOvr>
  <p:transition spd="med"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D121BDC5-7E21-4F1D-ABCE-B7201568107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35" r:id="rId1"/>
    <p:sldLayoutId id="2147484036" r:id="rId2"/>
    <p:sldLayoutId id="2147484037" r:id="rId3"/>
    <p:sldLayoutId id="2147484038" r:id="rId4"/>
    <p:sldLayoutId id="2147484039" r:id="rId5"/>
    <p:sldLayoutId id="2147484040" r:id="rId6"/>
    <p:sldLayoutId id="2147484041" r:id="rId7"/>
    <p:sldLayoutId id="2147484042" r:id="rId8"/>
    <p:sldLayoutId id="2147484043" r:id="rId9"/>
    <p:sldLayoutId id="2147484044" r:id="rId10"/>
    <p:sldLayoutId id="2147484045" r:id="rId11"/>
    <p:sldLayoutId id="2147484046" r:id="rId12"/>
  </p:sldLayoutIdLst>
  <p:hf hdr="0" dt="0"/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447800" y="5943600"/>
            <a:ext cx="6400800" cy="533400"/>
          </a:xfrm>
        </p:spPr>
        <p:txBody>
          <a:bodyPr>
            <a:normAutofit/>
          </a:bodyPr>
          <a:lstStyle/>
          <a:p>
            <a:r>
              <a:rPr lang="en-US" sz="2400" dirty="0"/>
              <a:t>KHOA </a:t>
            </a:r>
            <a:r>
              <a:rPr lang="en-US" sz="2400" dirty="0" err="1"/>
              <a:t>Công</a:t>
            </a:r>
            <a:r>
              <a:rPr lang="en-US" sz="2400" dirty="0"/>
              <a:t> </a:t>
            </a:r>
            <a:r>
              <a:rPr lang="en-US" sz="2400" dirty="0" err="1"/>
              <a:t>nghệ</a:t>
            </a:r>
            <a:r>
              <a:rPr lang="en-US" sz="2400" dirty="0"/>
              <a:t> </a:t>
            </a:r>
            <a:r>
              <a:rPr lang="en-US" sz="2400" dirty="0" err="1"/>
              <a:t>thông</a:t>
            </a:r>
            <a:r>
              <a:rPr lang="en-US" sz="2400" dirty="0"/>
              <a:t> tin</a:t>
            </a:r>
          </a:p>
        </p:txBody>
      </p:sp>
      <p:sp>
        <p:nvSpPr>
          <p:cNvPr id="6" name="Title 5"/>
          <p:cNvSpPr txBox="1">
            <a:spLocks/>
          </p:cNvSpPr>
          <p:nvPr/>
        </p:nvSpPr>
        <p:spPr>
          <a:xfrm>
            <a:off x="685800" y="685800"/>
            <a:ext cx="7772400" cy="990600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42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CƠ SỞ DỮ LIỆU</a:t>
            </a:r>
          </a:p>
        </p:txBody>
      </p:sp>
      <p:sp>
        <p:nvSpPr>
          <p:cNvPr id="7" name="Title 5"/>
          <p:cNvSpPr txBox="1">
            <a:spLocks/>
          </p:cNvSpPr>
          <p:nvPr/>
        </p:nvSpPr>
        <p:spPr>
          <a:xfrm>
            <a:off x="1371600" y="-76200"/>
            <a:ext cx="6400800" cy="1066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2800" b="1" dirty="0">
                <a:latin typeface="Calibri"/>
              </a:rPr>
              <a:t>BÀI GIẢNG</a:t>
            </a:r>
          </a:p>
        </p:txBody>
      </p:sp>
      <p:sp>
        <p:nvSpPr>
          <p:cNvPr id="9" name="Title 5"/>
          <p:cNvSpPr txBox="1">
            <a:spLocks/>
          </p:cNvSpPr>
          <p:nvPr/>
        </p:nvSpPr>
        <p:spPr>
          <a:xfrm>
            <a:off x="685800" y="2819400"/>
            <a:ext cx="7772400" cy="1371600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42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 err="1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Chương</a:t>
            </a:r>
            <a:r>
              <a:rPr lang="en-US" sz="4000" b="1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4</a:t>
            </a:r>
          </a:p>
          <a:p>
            <a:r>
              <a:rPr lang="en-US" sz="4400" b="1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NGÔN </a:t>
            </a:r>
            <a:r>
              <a:rPr lang="en-US" sz="4400" b="1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NGỮ SQL</a:t>
            </a:r>
            <a:endParaRPr lang="en-US" sz="4400" b="1" dirty="0">
              <a:solidFill>
                <a:schemeClr val="bg2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67646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Nội</a:t>
            </a:r>
            <a:r>
              <a:rPr lang="en-US" sz="3500" b="1" dirty="0"/>
              <a:t> dung chi </a:t>
            </a:r>
            <a:r>
              <a:rPr lang="en-US" sz="3500" b="1" dirty="0" err="1"/>
              <a:t>tiết</a:t>
            </a:r>
            <a:endParaRPr lang="en-US" sz="3500" b="1" dirty="0"/>
          </a:p>
        </p:txBody>
      </p:sp>
      <p:sp>
        <p:nvSpPr>
          <p:cNvPr id="1361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76400"/>
            <a:ext cx="8229600" cy="4454525"/>
          </a:xfrm>
        </p:spPr>
        <p:txBody>
          <a:bodyPr/>
          <a:lstStyle/>
          <a:p>
            <a:pPr marL="514350" indent="-514350">
              <a:buClr>
                <a:schemeClr val="accent3">
                  <a:lumMod val="50000"/>
                </a:schemeClr>
              </a:buClr>
              <a:buFont typeface="+mj-lt"/>
              <a:buAutoNum type="arabicParenR"/>
            </a:pP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endParaRPr lang="en-US" dirty="0"/>
          </a:p>
          <a:p>
            <a:pPr marL="514350" indent="-514350">
              <a:buClr>
                <a:schemeClr val="accent3">
                  <a:lumMod val="50000"/>
                </a:schemeClr>
              </a:buClr>
              <a:buFont typeface="+mj-lt"/>
              <a:buAutoNum type="arabicParenR"/>
            </a:pP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</a:p>
          <a:p>
            <a:pPr marL="514350" indent="-514350">
              <a:buClr>
                <a:schemeClr val="accent3">
                  <a:lumMod val="50000"/>
                </a:schemeClr>
              </a:buClr>
              <a:buFont typeface="+mj-lt"/>
              <a:buAutoNum type="arabicParenR"/>
            </a:pP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</a:p>
          <a:p>
            <a:pPr marL="514350" indent="-514350">
              <a:buClr>
                <a:schemeClr val="accent3">
                  <a:lumMod val="50000"/>
                </a:schemeClr>
              </a:buClr>
              <a:buFont typeface="+mj-lt"/>
              <a:buAutoNum type="arabicParenR"/>
            </a:pP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nhật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</a:p>
          <a:p>
            <a:pPr marL="514350" indent="-514350">
              <a:buClr>
                <a:schemeClr val="accent3">
                  <a:lumMod val="50000"/>
                </a:schemeClr>
              </a:buClr>
              <a:buFont typeface="+mj-lt"/>
              <a:buAutoNum type="arabicParenR"/>
            </a:pPr>
            <a:r>
              <a:rPr lang="en-US" dirty="0" err="1"/>
              <a:t>Khung</a:t>
            </a:r>
            <a:r>
              <a:rPr lang="en-US" dirty="0"/>
              <a:t> </a:t>
            </a:r>
            <a:r>
              <a:rPr lang="en-US" dirty="0" err="1"/>
              <a:t>nhìn</a:t>
            </a:r>
            <a:r>
              <a:rPr lang="en-US" dirty="0"/>
              <a:t> (view)</a:t>
            </a:r>
          </a:p>
          <a:p>
            <a:pPr marL="514350" indent="-514350">
              <a:buClr>
                <a:schemeClr val="accent3">
                  <a:lumMod val="50000"/>
                </a:schemeClr>
              </a:buClr>
              <a:buFont typeface="+mj-lt"/>
              <a:buAutoNum type="arabicParenR"/>
            </a:pP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(index)</a:t>
            </a:r>
          </a:p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894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19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/>
              <a:t>1) </a:t>
            </a:r>
            <a:r>
              <a:rPr lang="en-US" sz="3500" b="1" dirty="0" err="1"/>
              <a:t>Giới</a:t>
            </a:r>
            <a:r>
              <a:rPr lang="en-US" sz="3500" b="1" dirty="0"/>
              <a:t> </a:t>
            </a:r>
            <a:r>
              <a:rPr lang="en-US" sz="3500" b="1" dirty="0" err="1"/>
              <a:t>thiệu</a:t>
            </a:r>
            <a:endParaRPr lang="en-US" sz="3500" b="1" dirty="0"/>
          </a:p>
        </p:txBody>
      </p:sp>
      <p:sp>
        <p:nvSpPr>
          <p:cNvPr id="30617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Ngôn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ĐSQH </a:t>
            </a:r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Cách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thức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truy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vấn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dữ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liệu</a:t>
            </a:r>
            <a:endParaRPr lang="en-US" dirty="0">
              <a:solidFill>
                <a:schemeClr val="tx1"/>
              </a:solidFill>
            </a:endParaRPr>
          </a:p>
          <a:p>
            <a:pPr marL="365760" lvl="1" indent="0">
              <a:buNone/>
            </a:pPr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en-US" dirty="0" err="1">
                <a:solidFill>
                  <a:schemeClr val="tx1"/>
                </a:solidFill>
              </a:rPr>
              <a:t>Khó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khăn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cho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người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sử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dụng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/>
              <a:t>SQL (Structured Query Language)</a:t>
            </a:r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Ngôn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ngữ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cấp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cao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Người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sử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dụng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chỉ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cần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đưa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ra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nội</a:t>
            </a:r>
            <a:r>
              <a:rPr lang="en-US" dirty="0">
                <a:solidFill>
                  <a:schemeClr val="tx1"/>
                </a:solidFill>
              </a:rPr>
              <a:t> dung </a:t>
            </a:r>
            <a:r>
              <a:rPr lang="en-US" dirty="0" err="1">
                <a:solidFill>
                  <a:schemeClr val="tx1"/>
                </a:solidFill>
              </a:rPr>
              <a:t>cần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truy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vấn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Được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phát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triển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bởi</a:t>
            </a:r>
            <a:r>
              <a:rPr lang="en-US" dirty="0">
                <a:solidFill>
                  <a:schemeClr val="tx1"/>
                </a:solidFill>
              </a:rPr>
              <a:t> IBM (1970s)</a:t>
            </a:r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Được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gọi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là</a:t>
            </a:r>
            <a:r>
              <a:rPr lang="en-US" dirty="0">
                <a:solidFill>
                  <a:schemeClr val="tx1"/>
                </a:solidFill>
              </a:rPr>
              <a:t> SEQUEL </a:t>
            </a:r>
            <a:r>
              <a:rPr lang="en-US" sz="2000" dirty="0">
                <a:solidFill>
                  <a:schemeClr val="tx1"/>
                </a:solidFill>
              </a:rPr>
              <a:t>(Structured English Query Language)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Được</a:t>
            </a:r>
            <a:r>
              <a:rPr lang="en-US" dirty="0">
                <a:solidFill>
                  <a:schemeClr val="tx1"/>
                </a:solidFill>
              </a:rPr>
              <a:t> ANSI </a:t>
            </a:r>
            <a:r>
              <a:rPr lang="en-US" dirty="0" err="1">
                <a:solidFill>
                  <a:schemeClr val="tx1"/>
                </a:solidFill>
              </a:rPr>
              <a:t>công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nhận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và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phát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triển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thành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chuẩn</a:t>
            </a:r>
            <a:endParaRPr lang="en-US" dirty="0">
              <a:solidFill>
                <a:schemeClr val="tx1"/>
              </a:solidFill>
            </a:endParaRPr>
          </a:p>
          <a:p>
            <a:pPr lvl="2"/>
            <a:r>
              <a:rPr lang="en-US" dirty="0"/>
              <a:t>SQL-86</a:t>
            </a:r>
          </a:p>
          <a:p>
            <a:pPr lvl="2"/>
            <a:r>
              <a:rPr lang="en-US" dirty="0"/>
              <a:t>SQL-92</a:t>
            </a:r>
          </a:p>
          <a:p>
            <a:pPr lvl="2"/>
            <a:r>
              <a:rPr lang="en-US" dirty="0"/>
              <a:t>SQL-99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65763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6179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9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/>
              <a:t>1) </a:t>
            </a:r>
            <a:r>
              <a:rPr lang="en-US" sz="3500" b="1" dirty="0" err="1"/>
              <a:t>Giới</a:t>
            </a:r>
            <a:r>
              <a:rPr lang="en-US" sz="3500" b="1" dirty="0"/>
              <a:t> </a:t>
            </a:r>
            <a:r>
              <a:rPr lang="en-US" sz="3500" b="1" dirty="0" err="1"/>
              <a:t>thiệu</a:t>
            </a:r>
            <a:endParaRPr lang="en-US" sz="3500" b="1" dirty="0"/>
          </a:p>
        </p:txBody>
      </p:sp>
      <p:sp>
        <p:nvSpPr>
          <p:cNvPr id="55193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r>
              <a:rPr lang="en-US" dirty="0"/>
              <a:t>SQL </a:t>
            </a:r>
            <a:r>
              <a:rPr lang="en-US" dirty="0" err="1"/>
              <a:t>gồm</a:t>
            </a:r>
            <a:endParaRPr lang="en-US" dirty="0"/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Định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nghĩa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dữ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liệu</a:t>
            </a:r>
            <a:r>
              <a:rPr lang="en-US" dirty="0">
                <a:solidFill>
                  <a:schemeClr val="tx1"/>
                </a:solidFill>
              </a:rPr>
              <a:t> (DDL)</a:t>
            </a:r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Thao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tác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dữ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liệu</a:t>
            </a:r>
            <a:r>
              <a:rPr lang="en-US" dirty="0">
                <a:solidFill>
                  <a:schemeClr val="tx1"/>
                </a:solidFill>
              </a:rPr>
              <a:t> (DML)</a:t>
            </a:r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Định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nghĩa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khung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nhìn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Ràng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buộc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toàn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vẹn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Phân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quyền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và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bảo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mật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Điều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khiển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giao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tác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/>
              <a:t>SQL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ngữ</a:t>
            </a:r>
            <a:endParaRPr lang="en-US" dirty="0"/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Bảng</a:t>
            </a:r>
            <a:r>
              <a:rPr lang="en-US" dirty="0">
                <a:solidFill>
                  <a:schemeClr val="tx1"/>
                </a:solidFill>
              </a:rPr>
              <a:t> ~ </a:t>
            </a:r>
            <a:r>
              <a:rPr lang="en-US" dirty="0" err="1">
                <a:solidFill>
                  <a:schemeClr val="tx1"/>
                </a:solidFill>
              </a:rPr>
              <a:t>quan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hệ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Cột</a:t>
            </a:r>
            <a:r>
              <a:rPr lang="en-US" dirty="0">
                <a:solidFill>
                  <a:schemeClr val="tx1"/>
                </a:solidFill>
              </a:rPr>
              <a:t> ~ </a:t>
            </a:r>
            <a:r>
              <a:rPr lang="en-US" dirty="0" err="1">
                <a:solidFill>
                  <a:schemeClr val="tx1"/>
                </a:solidFill>
              </a:rPr>
              <a:t>thuộc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tính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Dòng</a:t>
            </a:r>
            <a:r>
              <a:rPr lang="en-US" dirty="0">
                <a:solidFill>
                  <a:schemeClr val="tx1"/>
                </a:solidFill>
              </a:rPr>
              <a:t> ~ </a:t>
            </a:r>
            <a:r>
              <a:rPr lang="en-US" dirty="0" err="1">
                <a:solidFill>
                  <a:schemeClr val="tx1"/>
                </a:solidFill>
              </a:rPr>
              <a:t>bộ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51940" name="Text Box 4"/>
          <p:cNvSpPr txBox="1">
            <a:spLocks noChangeArrowheads="1"/>
          </p:cNvSpPr>
          <p:nvPr/>
        </p:nvSpPr>
        <p:spPr bwMode="auto">
          <a:xfrm>
            <a:off x="5029200" y="2514600"/>
            <a:ext cx="3276600" cy="409575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 dirty="0" err="1"/>
              <a:t>Lý</a:t>
            </a:r>
            <a:r>
              <a:rPr lang="en-US" sz="2000" dirty="0"/>
              <a:t> </a:t>
            </a:r>
            <a:r>
              <a:rPr lang="en-US" sz="2000" dirty="0" err="1"/>
              <a:t>thuyết</a:t>
            </a:r>
            <a:r>
              <a:rPr lang="en-US" sz="2000" dirty="0"/>
              <a:t> : </a:t>
            </a:r>
            <a:r>
              <a:rPr lang="en-US" sz="2000" dirty="0" err="1"/>
              <a:t>Chuẩn</a:t>
            </a:r>
            <a:r>
              <a:rPr lang="en-US" sz="2000" dirty="0"/>
              <a:t> SQL-92</a:t>
            </a:r>
          </a:p>
        </p:txBody>
      </p:sp>
      <p:sp>
        <p:nvSpPr>
          <p:cNvPr id="551941" name="Text Box 5"/>
          <p:cNvSpPr txBox="1">
            <a:spLocks noChangeArrowheads="1"/>
          </p:cNvSpPr>
          <p:nvPr/>
        </p:nvSpPr>
        <p:spPr bwMode="auto">
          <a:xfrm>
            <a:off x="5562600" y="3171825"/>
            <a:ext cx="2362200" cy="409575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 dirty="0" err="1"/>
              <a:t>Ví</a:t>
            </a:r>
            <a:r>
              <a:rPr lang="en-US" sz="2000" dirty="0"/>
              <a:t> </a:t>
            </a:r>
            <a:r>
              <a:rPr lang="en-US" sz="2000" dirty="0" err="1"/>
              <a:t>dụ</a:t>
            </a:r>
            <a:r>
              <a:rPr lang="en-US" sz="2000" dirty="0"/>
              <a:t> : SQL Server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9279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1939" grpId="0" uiExpand="1" build="p"/>
      <p:bldP spid="551940" grpId="0" animBg="1"/>
      <p:bldP spid="55194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1) </a:t>
            </a:r>
            <a:r>
              <a:rPr lang="en-US" b="1" dirty="0" err="1"/>
              <a:t>Giới</a:t>
            </a:r>
            <a:r>
              <a:rPr lang="en-US" b="1" dirty="0"/>
              <a:t> </a:t>
            </a:r>
            <a:r>
              <a:rPr lang="en-US" b="1" dirty="0" err="1"/>
              <a:t>thiệu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/>
              <a:t>SQL </a:t>
            </a:r>
            <a:r>
              <a:rPr lang="en-US" dirty="0" err="1"/>
              <a:t>thao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.</a:t>
            </a:r>
          </a:p>
          <a:p>
            <a:pPr algn="just"/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,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gồm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:</a:t>
            </a:r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Bảng</a:t>
            </a:r>
            <a:r>
              <a:rPr lang="en-US" dirty="0">
                <a:solidFill>
                  <a:schemeClr val="tx1"/>
                </a:solidFill>
              </a:rPr>
              <a:t> ~ </a:t>
            </a:r>
            <a:r>
              <a:rPr lang="en-US" dirty="0" err="1">
                <a:solidFill>
                  <a:schemeClr val="tx1"/>
                </a:solidFill>
              </a:rPr>
              <a:t>quan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hệ</a:t>
            </a:r>
            <a:endParaRPr lang="en-US" dirty="0">
              <a:solidFill>
                <a:schemeClr val="tx1"/>
              </a:solidFill>
            </a:endParaRPr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Cột</a:t>
            </a:r>
            <a:r>
              <a:rPr lang="en-US" dirty="0">
                <a:solidFill>
                  <a:schemeClr val="tx1"/>
                </a:solidFill>
              </a:rPr>
              <a:t> ~ </a:t>
            </a:r>
            <a:r>
              <a:rPr lang="en-US" dirty="0" err="1">
                <a:solidFill>
                  <a:schemeClr val="tx1"/>
                </a:solidFill>
              </a:rPr>
              <a:t>thuộc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tính</a:t>
            </a:r>
            <a:endParaRPr lang="en-US" dirty="0">
              <a:solidFill>
                <a:schemeClr val="tx1"/>
              </a:solidFill>
            </a:endParaRPr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Dòng</a:t>
            </a:r>
            <a:r>
              <a:rPr lang="en-US" dirty="0">
                <a:solidFill>
                  <a:schemeClr val="tx1"/>
                </a:solidFill>
              </a:rPr>
              <a:t> ~ </a:t>
            </a:r>
            <a:r>
              <a:rPr lang="en-US" dirty="0" err="1">
                <a:solidFill>
                  <a:schemeClr val="tx1"/>
                </a:solidFill>
              </a:rPr>
              <a:t>bộ</a:t>
            </a:r>
            <a:endParaRPr lang="en-US" dirty="0">
              <a:solidFill>
                <a:schemeClr val="tx1"/>
              </a:solidFill>
            </a:endParaRPr>
          </a:p>
          <a:p>
            <a:pPr algn="just"/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, ta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674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Giới</a:t>
            </a:r>
            <a:r>
              <a:rPr lang="en-US" b="1" dirty="0"/>
              <a:t> </a:t>
            </a:r>
            <a:r>
              <a:rPr lang="en-US" b="1" dirty="0" err="1"/>
              <a:t>thiệu</a:t>
            </a:r>
            <a:r>
              <a:rPr lang="en-US" b="1" dirty="0"/>
              <a:t> Microsoft SQL Server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,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do Microsoft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.</a:t>
            </a:r>
          </a:p>
          <a:p>
            <a:pPr algn="just"/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CSDL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.</a:t>
            </a:r>
          </a:p>
          <a:p>
            <a:pPr algn="just"/>
            <a:r>
              <a:rPr lang="en-US" dirty="0" err="1"/>
              <a:t>Ngôn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ANSI-SQL.</a:t>
            </a:r>
          </a:p>
          <a:p>
            <a:pPr algn="just"/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biệt</a:t>
            </a:r>
            <a:r>
              <a:rPr lang="en-US" dirty="0"/>
              <a:t> </a:t>
            </a:r>
            <a:r>
              <a:rPr lang="en-US" dirty="0" err="1"/>
              <a:t>chữ</a:t>
            </a:r>
            <a:r>
              <a:rPr lang="en-US" dirty="0"/>
              <a:t> </a:t>
            </a:r>
            <a:r>
              <a:rPr lang="en-US" dirty="0" err="1"/>
              <a:t>hoa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chữ</a:t>
            </a:r>
            <a:r>
              <a:rPr lang="en-US" dirty="0"/>
              <a:t> </a:t>
            </a:r>
            <a:r>
              <a:rPr lang="en-US" dirty="0" err="1"/>
              <a:t>thường</a:t>
            </a:r>
            <a:r>
              <a:rPr lang="en-US" dirty="0"/>
              <a:t>.</a:t>
            </a:r>
          </a:p>
          <a:p>
            <a:pPr algn="just"/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kèm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khảo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gọi</a:t>
            </a:r>
            <a:r>
              <a:rPr lang="en-US" dirty="0"/>
              <a:t> Books Online:</a:t>
            </a:r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Hỗ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trợ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xem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thông</a:t>
            </a:r>
            <a:r>
              <a:rPr lang="en-US" dirty="0">
                <a:solidFill>
                  <a:schemeClr val="tx1"/>
                </a:solidFill>
              </a:rPr>
              <a:t> tin </a:t>
            </a:r>
            <a:r>
              <a:rPr lang="en-US" dirty="0" err="1">
                <a:solidFill>
                  <a:schemeClr val="tx1"/>
                </a:solidFill>
              </a:rPr>
              <a:t>các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lệnh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Tìm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kiếm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từ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khóa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Đầy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đủ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cấu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trúc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các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lệnh</a:t>
            </a:r>
            <a:r>
              <a:rPr lang="en-US" dirty="0">
                <a:solidFill>
                  <a:schemeClr val="tx1"/>
                </a:solidFill>
              </a:rPr>
              <a:t> SQL.</a:t>
            </a:r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Có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ví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dụ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tham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khảo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5911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Giao</a:t>
            </a:r>
            <a:r>
              <a:rPr lang="en-US" b="1" dirty="0"/>
              <a:t> </a:t>
            </a:r>
            <a:r>
              <a:rPr lang="en-US" b="1" dirty="0" err="1"/>
              <a:t>diện</a:t>
            </a:r>
            <a:r>
              <a:rPr lang="en-US" b="1" dirty="0"/>
              <a:t> </a:t>
            </a:r>
            <a:r>
              <a:rPr lang="en-US" b="1" dirty="0" err="1"/>
              <a:t>đăng</a:t>
            </a:r>
            <a:r>
              <a:rPr lang="en-US" b="1" dirty="0"/>
              <a:t> </a:t>
            </a:r>
            <a:r>
              <a:rPr lang="en-US" b="1" dirty="0" err="1"/>
              <a:t>nhập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503157"/>
            <a:ext cx="7105651" cy="482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0450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Giao</a:t>
            </a:r>
            <a:r>
              <a:rPr lang="en-US" b="1" dirty="0"/>
              <a:t> </a:t>
            </a:r>
            <a:r>
              <a:rPr lang="en-US" b="1" dirty="0" err="1"/>
              <a:t>diện</a:t>
            </a:r>
            <a:r>
              <a:rPr lang="en-US" b="1" dirty="0"/>
              <a:t> </a:t>
            </a:r>
            <a:r>
              <a:rPr lang="en-US" b="1" dirty="0" err="1"/>
              <a:t>làm</a:t>
            </a:r>
            <a:r>
              <a:rPr lang="en-US" b="1" dirty="0"/>
              <a:t> </a:t>
            </a:r>
            <a:r>
              <a:rPr lang="en-US" b="1" dirty="0" err="1"/>
              <a:t>việc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524000"/>
            <a:ext cx="6934200" cy="4688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7980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Giao</a:t>
            </a:r>
            <a:r>
              <a:rPr lang="en-US" b="1" dirty="0"/>
              <a:t> </a:t>
            </a:r>
            <a:r>
              <a:rPr lang="en-US" b="1" dirty="0" err="1"/>
              <a:t>diện</a:t>
            </a:r>
            <a:r>
              <a:rPr lang="en-US" b="1" dirty="0"/>
              <a:t> </a:t>
            </a:r>
            <a:r>
              <a:rPr lang="en-US" b="1" dirty="0" err="1"/>
              <a:t>truy</a:t>
            </a:r>
            <a:r>
              <a:rPr lang="en-US" b="1" dirty="0"/>
              <a:t> </a:t>
            </a:r>
            <a:r>
              <a:rPr lang="en-US" b="1" dirty="0" err="1"/>
              <a:t>vấn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600200"/>
            <a:ext cx="6934200" cy="4688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881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Các</a:t>
            </a:r>
            <a:r>
              <a:rPr lang="en-US" b="1" dirty="0"/>
              <a:t> </a:t>
            </a:r>
            <a:r>
              <a:rPr lang="en-US" b="1" dirty="0" err="1"/>
              <a:t>thao</a:t>
            </a:r>
            <a:r>
              <a:rPr lang="en-US" b="1" dirty="0"/>
              <a:t> </a:t>
            </a:r>
            <a:r>
              <a:rPr lang="en-US" b="1" dirty="0" err="1"/>
              <a:t>tác</a:t>
            </a:r>
            <a:r>
              <a:rPr lang="en-US" b="1" dirty="0"/>
              <a:t> </a:t>
            </a:r>
            <a:r>
              <a:rPr lang="en-US" b="1" dirty="0" err="1"/>
              <a:t>cơ</a:t>
            </a:r>
            <a:r>
              <a:rPr lang="en-US" b="1" dirty="0"/>
              <a:t> </a:t>
            </a:r>
            <a:r>
              <a:rPr lang="en-US" b="1" dirty="0" err="1"/>
              <a:t>bản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457200" y="1445172"/>
            <a:ext cx="5105400" cy="4711788"/>
          </a:xfrm>
        </p:spPr>
        <p:txBody>
          <a:bodyPr/>
          <a:lstStyle/>
          <a:p>
            <a:pPr algn="just"/>
            <a:r>
              <a:rPr lang="en-US" dirty="0" err="1"/>
              <a:t>Muốn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:</a:t>
            </a:r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Chọn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lệnh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cần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chạy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Nhấn</a:t>
            </a:r>
            <a:r>
              <a:rPr lang="en-US" dirty="0">
                <a:solidFill>
                  <a:schemeClr val="tx1"/>
                </a:solidFill>
              </a:rPr>
              <a:t> F5 </a:t>
            </a:r>
            <a:r>
              <a:rPr lang="en-US" dirty="0" err="1">
                <a:solidFill>
                  <a:schemeClr val="tx1"/>
                </a:solidFill>
              </a:rPr>
              <a:t>hoặc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nhấn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nút</a:t>
            </a:r>
            <a:r>
              <a:rPr lang="en-US" dirty="0">
                <a:solidFill>
                  <a:schemeClr val="tx1"/>
                </a:solidFill>
              </a:rPr>
              <a:t> Execute.</a:t>
            </a:r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Nếu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chạy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thành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công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algn="just"/>
            <a:r>
              <a:rPr lang="en-US" dirty="0" err="1"/>
              <a:t>Xem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:</a:t>
            </a:r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Mở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rộng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các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đối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tượng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tương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ứng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bên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cửa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sổ</a:t>
            </a:r>
            <a:r>
              <a:rPr lang="en-US" dirty="0">
                <a:solidFill>
                  <a:schemeClr val="tx1"/>
                </a:solidFill>
              </a:rPr>
              <a:t> Object Explorer</a:t>
            </a:r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Có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thể</a:t>
            </a:r>
            <a:r>
              <a:rPr lang="en-US" dirty="0">
                <a:solidFill>
                  <a:schemeClr val="tx1"/>
                </a:solidFill>
              </a:rPr>
              <a:t> click </a:t>
            </a:r>
            <a:r>
              <a:rPr lang="en-US" dirty="0" err="1">
                <a:solidFill>
                  <a:schemeClr val="tx1"/>
                </a:solidFill>
              </a:rPr>
              <a:t>phải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chuột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để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hiện</a:t>
            </a:r>
            <a:r>
              <a:rPr lang="en-US" dirty="0">
                <a:solidFill>
                  <a:schemeClr val="tx1"/>
                </a:solidFill>
              </a:rPr>
              <a:t> menu </a:t>
            </a:r>
            <a:r>
              <a:rPr lang="en-US" dirty="0" err="1">
                <a:solidFill>
                  <a:schemeClr val="tx1"/>
                </a:solidFill>
              </a:rPr>
              <a:t>ngữ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cảnh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4771" y="1445172"/>
            <a:ext cx="4114800" cy="1450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7586" y="3048000"/>
            <a:ext cx="3295439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8153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Lệnh</a:t>
            </a:r>
            <a:r>
              <a:rPr lang="en-US" b="1" dirty="0"/>
              <a:t> GO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 err="1"/>
              <a:t>Lệnh</a:t>
            </a:r>
            <a:r>
              <a:rPr lang="en-US" dirty="0"/>
              <a:t> GO (GO command)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SQL (SQL statement).</a:t>
            </a:r>
          </a:p>
          <a:p>
            <a:pPr algn="just"/>
            <a:r>
              <a:rPr lang="en-US" dirty="0"/>
              <a:t>GO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bởi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biên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MS SQL code editor.</a:t>
            </a:r>
          </a:p>
          <a:p>
            <a:pPr algn="just"/>
            <a:r>
              <a:rPr lang="en-US" dirty="0"/>
              <a:t>GO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dấu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thúc</a:t>
            </a:r>
            <a:r>
              <a:rPr lang="en-US" dirty="0"/>
              <a:t> 1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SQL (batch)</a:t>
            </a:r>
          </a:p>
          <a:p>
            <a:pPr algn="just"/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SQL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,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xảy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 ở </a:t>
            </a:r>
            <a:r>
              <a:rPr lang="en-US" dirty="0" err="1"/>
              <a:t>bất</a:t>
            </a:r>
            <a:r>
              <a:rPr lang="en-US" dirty="0"/>
              <a:t> </a:t>
            </a:r>
            <a:r>
              <a:rPr lang="en-US" dirty="0" err="1"/>
              <a:t>kì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bỏ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.</a:t>
            </a:r>
          </a:p>
          <a:p>
            <a:pPr algn="just"/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5733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Lệnh</a:t>
            </a:r>
            <a:r>
              <a:rPr lang="en-US" b="1" dirty="0"/>
              <a:t> GO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biệt</a:t>
            </a:r>
            <a:r>
              <a:rPr lang="en-US" dirty="0"/>
              <a:t>: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923871"/>
            <a:ext cx="838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drop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srgbClr val="0000FF"/>
                </a:solidFill>
              </a:rPr>
              <a:t>database</a:t>
            </a:r>
            <a:r>
              <a:rPr lang="en-US" dirty="0">
                <a:solidFill>
                  <a:prstClr val="black"/>
                </a:solidFill>
              </a:rPr>
              <a:t> test</a:t>
            </a:r>
          </a:p>
          <a:p>
            <a:r>
              <a:rPr lang="en-US" dirty="0">
                <a:solidFill>
                  <a:srgbClr val="0000FF"/>
                </a:solidFill>
              </a:rPr>
              <a:t>create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srgbClr val="0000FF"/>
                </a:solidFill>
              </a:rPr>
              <a:t>database</a:t>
            </a:r>
            <a:r>
              <a:rPr lang="en-US" dirty="0">
                <a:solidFill>
                  <a:prstClr val="black"/>
                </a:solidFill>
              </a:rPr>
              <a:t> test</a:t>
            </a:r>
          </a:p>
          <a:p>
            <a:r>
              <a:rPr lang="en-US" dirty="0">
                <a:solidFill>
                  <a:srgbClr val="0000FF"/>
                </a:solidFill>
              </a:rPr>
              <a:t>use</a:t>
            </a:r>
            <a:r>
              <a:rPr lang="en-US" dirty="0">
                <a:solidFill>
                  <a:prstClr val="black"/>
                </a:solidFill>
              </a:rPr>
              <a:t> test</a:t>
            </a:r>
          </a:p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9600" y="3198674"/>
            <a:ext cx="8382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dirty="0">
                <a:solidFill>
                  <a:srgbClr val="0000FF"/>
                </a:solidFill>
              </a:rPr>
              <a:t>drop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srgbClr val="0000FF"/>
                </a:solidFill>
              </a:rPr>
              <a:t>database</a:t>
            </a:r>
            <a:r>
              <a:rPr lang="en-US" dirty="0">
                <a:solidFill>
                  <a:prstClr val="black"/>
                </a:solidFill>
              </a:rPr>
              <a:t> test</a:t>
            </a:r>
          </a:p>
          <a:p>
            <a:pPr lvl="0"/>
            <a:r>
              <a:rPr lang="en-US" dirty="0">
                <a:solidFill>
                  <a:prstClr val="black"/>
                </a:solidFill>
              </a:rPr>
              <a:t>GO</a:t>
            </a:r>
          </a:p>
          <a:p>
            <a:pPr lvl="0"/>
            <a:r>
              <a:rPr lang="en-US" dirty="0">
                <a:solidFill>
                  <a:srgbClr val="0000FF"/>
                </a:solidFill>
              </a:rPr>
              <a:t>create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srgbClr val="0000FF"/>
                </a:solidFill>
              </a:rPr>
              <a:t>database</a:t>
            </a:r>
            <a:r>
              <a:rPr lang="en-US" dirty="0">
                <a:solidFill>
                  <a:prstClr val="black"/>
                </a:solidFill>
              </a:rPr>
              <a:t> test</a:t>
            </a:r>
          </a:p>
          <a:p>
            <a:pPr lvl="0"/>
            <a:r>
              <a:rPr lang="en-US" dirty="0">
                <a:solidFill>
                  <a:prstClr val="black"/>
                </a:solidFill>
              </a:rPr>
              <a:t>GO</a:t>
            </a:r>
          </a:p>
          <a:p>
            <a:pPr lvl="0"/>
            <a:r>
              <a:rPr lang="en-US" dirty="0">
                <a:solidFill>
                  <a:srgbClr val="0000FF"/>
                </a:solidFill>
              </a:rPr>
              <a:t>use</a:t>
            </a:r>
            <a:r>
              <a:rPr lang="en-US" dirty="0">
                <a:solidFill>
                  <a:prstClr val="black"/>
                </a:solidFill>
              </a:rPr>
              <a:t> test</a:t>
            </a:r>
          </a:p>
          <a:p>
            <a:pPr lvl="0"/>
            <a:r>
              <a:rPr lang="en-US" dirty="0">
                <a:solidFill>
                  <a:prstClr val="black"/>
                </a:solidFill>
              </a:rPr>
              <a:t>GO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7665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0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/>
              <a:t>2) </a:t>
            </a:r>
            <a:r>
              <a:rPr lang="en-US" sz="3500" b="1" dirty="0" err="1"/>
              <a:t>Định</a:t>
            </a:r>
            <a:r>
              <a:rPr lang="en-US" sz="3500" b="1" dirty="0"/>
              <a:t> </a:t>
            </a:r>
            <a:r>
              <a:rPr lang="en-US" sz="3500" b="1" dirty="0" err="1"/>
              <a:t>nghĩa</a:t>
            </a:r>
            <a:r>
              <a:rPr lang="en-US" sz="3500" b="1" dirty="0"/>
              <a:t> </a:t>
            </a:r>
            <a:r>
              <a:rPr lang="en-US" sz="3500" b="1" dirty="0" err="1"/>
              <a:t>dữ</a:t>
            </a:r>
            <a:r>
              <a:rPr lang="en-US" sz="3500" b="1" dirty="0"/>
              <a:t> </a:t>
            </a:r>
            <a:r>
              <a:rPr lang="en-US" sz="3500" b="1" dirty="0" err="1"/>
              <a:t>liệu</a:t>
            </a:r>
            <a:endParaRPr lang="en-US" sz="3500" b="1" dirty="0"/>
          </a:p>
        </p:txBody>
      </p:sp>
      <p:sp>
        <p:nvSpPr>
          <p:cNvPr id="55603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524000"/>
            <a:ext cx="8229600" cy="4800600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ngôn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 (DDL)</a:t>
            </a:r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Tạo</a:t>
            </a:r>
            <a:r>
              <a:rPr lang="en-US" dirty="0">
                <a:solidFill>
                  <a:schemeClr val="tx1"/>
                </a:solidFill>
              </a:rPr>
              <a:t> CSDL</a:t>
            </a:r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Lược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đồ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cho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mỗi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quan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hệ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Miền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giá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trị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tương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ứng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của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từng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thuộc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tính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Ràng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buộc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toàn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vẹn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Chỉ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mục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trên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mỗi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quan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hệ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r>
              <a:rPr lang="en-US" dirty="0" err="1"/>
              <a:t>Gồm</a:t>
            </a:r>
            <a:endParaRPr lang="en-US" dirty="0"/>
          </a:p>
          <a:p>
            <a:pPr lvl="1"/>
            <a:r>
              <a:rPr lang="en-US" dirty="0">
                <a:solidFill>
                  <a:schemeClr val="tx1"/>
                </a:solidFill>
              </a:rPr>
              <a:t>CREATE TABLE (</a:t>
            </a:r>
            <a:r>
              <a:rPr lang="en-US" dirty="0" err="1">
                <a:solidFill>
                  <a:schemeClr val="tx1"/>
                </a:solidFill>
              </a:rPr>
              <a:t>tạo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bảng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DROP TABLE (</a:t>
            </a:r>
            <a:r>
              <a:rPr lang="en-US" dirty="0" err="1">
                <a:solidFill>
                  <a:schemeClr val="tx1"/>
                </a:solidFill>
              </a:rPr>
              <a:t>xóa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bảng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ALTER TABLE (</a:t>
            </a:r>
            <a:r>
              <a:rPr lang="en-US" dirty="0" err="1">
                <a:solidFill>
                  <a:schemeClr val="tx1"/>
                </a:solidFill>
              </a:rPr>
              <a:t>sửa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bảng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CREATE DOMAIN (</a:t>
            </a:r>
            <a:r>
              <a:rPr lang="en-US" dirty="0" err="1">
                <a:solidFill>
                  <a:schemeClr val="tx1"/>
                </a:solidFill>
              </a:rPr>
              <a:t>tạo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miền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giá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trị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CREATE DATABASE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0792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6035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0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/>
              <a:t>a) </a:t>
            </a:r>
            <a:r>
              <a:rPr lang="en-US" sz="3500" b="1" dirty="0" err="1"/>
              <a:t>Kiểu</a:t>
            </a:r>
            <a:r>
              <a:rPr lang="en-US" sz="3500" b="1" dirty="0"/>
              <a:t> </a:t>
            </a:r>
            <a:r>
              <a:rPr lang="en-US" sz="3500" b="1" dirty="0" err="1"/>
              <a:t>dữ</a:t>
            </a:r>
            <a:r>
              <a:rPr lang="en-US" sz="3500" b="1" dirty="0"/>
              <a:t> </a:t>
            </a:r>
            <a:r>
              <a:rPr lang="en-US" sz="3500" b="1" dirty="0" err="1"/>
              <a:t>liệu</a:t>
            </a:r>
            <a:endParaRPr lang="en-US" sz="3500" b="1" dirty="0"/>
          </a:p>
        </p:txBody>
      </p:sp>
      <p:sp>
        <p:nvSpPr>
          <p:cNvPr id="55808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524000"/>
            <a:ext cx="8229600" cy="4606925"/>
          </a:xfrm>
        </p:spPr>
        <p:txBody>
          <a:bodyPr/>
          <a:lstStyle/>
          <a:p>
            <a:r>
              <a:rPr lang="en-US" dirty="0" err="1"/>
              <a:t>Số</a:t>
            </a:r>
            <a:r>
              <a:rPr lang="en-US" dirty="0"/>
              <a:t> (numeric)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INTEGER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SMALLINT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NUMERIC, NUMERIC(p), NUMERIC(</a:t>
            </a:r>
            <a:r>
              <a:rPr lang="en-US" dirty="0" err="1">
                <a:solidFill>
                  <a:schemeClr val="tx1"/>
                </a:solidFill>
              </a:rPr>
              <a:t>p,s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DECIMAL, DECIMAL(p), DECIMAL(</a:t>
            </a:r>
            <a:r>
              <a:rPr lang="en-US" dirty="0" err="1">
                <a:solidFill>
                  <a:schemeClr val="tx1"/>
                </a:solidFill>
              </a:rPr>
              <a:t>p,s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REAL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DOUBLE PRECISION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FLOAT, FLOAT(p)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4746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808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1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/>
              <a:t>a) </a:t>
            </a:r>
            <a:r>
              <a:rPr lang="en-US" sz="3500" b="1" dirty="0" err="1"/>
              <a:t>Kiểu</a:t>
            </a:r>
            <a:r>
              <a:rPr lang="en-US" sz="3500" b="1" dirty="0"/>
              <a:t> </a:t>
            </a:r>
            <a:r>
              <a:rPr lang="en-US" sz="3500" b="1" dirty="0" err="1"/>
              <a:t>dữ</a:t>
            </a:r>
            <a:r>
              <a:rPr lang="en-US" sz="3500" b="1" dirty="0"/>
              <a:t> </a:t>
            </a:r>
            <a:r>
              <a:rPr lang="en-US" sz="3500" b="1" dirty="0" err="1"/>
              <a:t>liệu</a:t>
            </a:r>
            <a:endParaRPr lang="en-US" sz="3500" b="1" dirty="0"/>
          </a:p>
        </p:txBody>
      </p:sp>
      <p:sp>
        <p:nvSpPr>
          <p:cNvPr id="56013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229600" cy="45720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dirty="0" err="1"/>
              <a:t>Chuỗi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(character string)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CHARACTER, CHARACTER(n)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CHARACTER VARYING(x)</a:t>
            </a:r>
          </a:p>
          <a:p>
            <a:pPr lvl="1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 dirty="0" err="1"/>
              <a:t>Chuỗi</a:t>
            </a:r>
            <a:r>
              <a:rPr lang="en-US" dirty="0"/>
              <a:t> bit (bit string)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BIT, BIT(x)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BIT VARYING(x)</a:t>
            </a:r>
          </a:p>
          <a:p>
            <a:pPr lvl="1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 dirty="0" err="1"/>
              <a:t>Ngày</a:t>
            </a:r>
            <a:r>
              <a:rPr lang="en-US" dirty="0"/>
              <a:t> </a:t>
            </a:r>
            <a:r>
              <a:rPr lang="en-US" dirty="0" err="1"/>
              <a:t>giờ</a:t>
            </a:r>
            <a:r>
              <a:rPr lang="en-US" dirty="0"/>
              <a:t> (</a:t>
            </a:r>
            <a:r>
              <a:rPr lang="en-US" dirty="0" err="1"/>
              <a:t>datetime</a:t>
            </a:r>
            <a:r>
              <a:rPr lang="en-US" dirty="0"/>
              <a:t>)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DATE </a:t>
            </a:r>
            <a:r>
              <a:rPr lang="en-US" dirty="0" err="1">
                <a:solidFill>
                  <a:schemeClr val="tx1"/>
                </a:solidFill>
              </a:rPr>
              <a:t>gồm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ngày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tháng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và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năm</a:t>
            </a:r>
            <a:endParaRPr lang="en-US" dirty="0">
              <a:solidFill>
                <a:schemeClr val="tx1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TIME </a:t>
            </a:r>
            <a:r>
              <a:rPr lang="en-US" dirty="0" err="1">
                <a:solidFill>
                  <a:schemeClr val="tx1"/>
                </a:solidFill>
              </a:rPr>
              <a:t>gồm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giờ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phút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và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giây</a:t>
            </a:r>
            <a:endParaRPr lang="en-US" dirty="0">
              <a:solidFill>
                <a:schemeClr val="tx1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TIMESTAMP </a:t>
            </a:r>
            <a:r>
              <a:rPr lang="en-US" dirty="0" err="1">
                <a:solidFill>
                  <a:schemeClr val="tx1"/>
                </a:solidFill>
              </a:rPr>
              <a:t>gồm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ngày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và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giờ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5480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0131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b) </a:t>
            </a:r>
            <a:r>
              <a:rPr lang="en-US" b="1" dirty="0" err="1"/>
              <a:t>Tạo</a:t>
            </a:r>
            <a:r>
              <a:rPr lang="en-US" b="1" dirty="0"/>
              <a:t> CSDL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 err="1"/>
              <a:t>Mỗi</a:t>
            </a:r>
            <a:r>
              <a:rPr lang="en-US" dirty="0"/>
              <a:t> CSDL (</a:t>
            </a:r>
            <a:r>
              <a:rPr lang="en-US" dirty="0" err="1"/>
              <a:t>trong</a:t>
            </a:r>
            <a:r>
              <a:rPr lang="en-US" dirty="0"/>
              <a:t> MS SQL Server)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duy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.</a:t>
            </a:r>
          </a:p>
          <a:p>
            <a:pPr algn="just"/>
            <a:r>
              <a:rPr lang="en-US" dirty="0" err="1"/>
              <a:t>Mỗi</a:t>
            </a:r>
            <a:r>
              <a:rPr lang="en-US" dirty="0"/>
              <a:t> CSDL </a:t>
            </a:r>
            <a:r>
              <a:rPr lang="en-US" dirty="0" err="1"/>
              <a:t>gồm</a:t>
            </a:r>
            <a:r>
              <a:rPr lang="en-US" dirty="0"/>
              <a:t> 2 </a:t>
            </a:r>
            <a:r>
              <a:rPr lang="en-US" dirty="0" err="1"/>
              <a:t>tập</a:t>
            </a:r>
            <a:r>
              <a:rPr lang="en-US" dirty="0"/>
              <a:t> tin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:</a:t>
            </a:r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Tập</a:t>
            </a:r>
            <a:r>
              <a:rPr lang="en-US" dirty="0">
                <a:solidFill>
                  <a:schemeClr val="tx1"/>
                </a:solidFill>
              </a:rPr>
              <a:t> tin .MDF: </a:t>
            </a:r>
            <a:r>
              <a:rPr lang="en-US" dirty="0" err="1">
                <a:solidFill>
                  <a:schemeClr val="tx1"/>
                </a:solidFill>
              </a:rPr>
              <a:t>lưu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trữ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nội</a:t>
            </a:r>
            <a:r>
              <a:rPr lang="en-US" dirty="0">
                <a:solidFill>
                  <a:schemeClr val="tx1"/>
                </a:solidFill>
              </a:rPr>
              <a:t> dung CSDL</a:t>
            </a:r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Tập</a:t>
            </a:r>
            <a:r>
              <a:rPr lang="en-US" dirty="0">
                <a:solidFill>
                  <a:schemeClr val="tx1"/>
                </a:solidFill>
              </a:rPr>
              <a:t> tin .LDF: </a:t>
            </a:r>
            <a:r>
              <a:rPr lang="en-US" dirty="0" err="1">
                <a:solidFill>
                  <a:schemeClr val="tx1"/>
                </a:solidFill>
              </a:rPr>
              <a:t>lưu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trữ</a:t>
            </a:r>
            <a:r>
              <a:rPr lang="en-US" dirty="0">
                <a:solidFill>
                  <a:schemeClr val="tx1"/>
                </a:solidFill>
              </a:rPr>
              <a:t> log</a:t>
            </a:r>
          </a:p>
          <a:p>
            <a:pPr algn="just"/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, </a:t>
            </a:r>
            <a:r>
              <a:rPr lang="en-US" dirty="0" err="1"/>
              <a:t>đọc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hay </a:t>
            </a:r>
            <a:r>
              <a:rPr lang="en-US" dirty="0" err="1"/>
              <a:t>thất</a:t>
            </a:r>
            <a:r>
              <a:rPr lang="en-US" dirty="0"/>
              <a:t> </a:t>
            </a:r>
            <a:r>
              <a:rPr lang="en-US" dirty="0" err="1"/>
              <a:t>bại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cửa</a:t>
            </a:r>
            <a:r>
              <a:rPr lang="en-US" dirty="0"/>
              <a:t> </a:t>
            </a:r>
            <a:r>
              <a:rPr lang="en-US" dirty="0" err="1"/>
              <a:t>sổ</a:t>
            </a:r>
            <a:r>
              <a:rPr lang="en-US" dirty="0"/>
              <a:t> Message.</a:t>
            </a:r>
          </a:p>
          <a:p>
            <a:pPr algn="just"/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.</a:t>
            </a:r>
          </a:p>
          <a:p>
            <a:pPr algn="just"/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CSDL, </a:t>
            </a:r>
            <a:r>
              <a:rPr lang="en-US" dirty="0" err="1"/>
              <a:t>nhớ</a:t>
            </a:r>
            <a:r>
              <a:rPr lang="en-US" dirty="0"/>
              <a:t> refresh Database.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5358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b) </a:t>
            </a:r>
            <a:r>
              <a:rPr lang="en-US" b="1" dirty="0" err="1"/>
              <a:t>Tạo</a:t>
            </a:r>
            <a:r>
              <a:rPr lang="en-US" b="1" dirty="0"/>
              <a:t> CSDL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CREATE DATABASE </a:t>
            </a:r>
            <a:r>
              <a:rPr lang="en-US" i="1" dirty="0" err="1"/>
              <a:t>database_name</a:t>
            </a:r>
            <a:r>
              <a:rPr lang="en-US" i="1" dirty="0"/>
              <a:t> </a:t>
            </a:r>
          </a:p>
          <a:p>
            <a:pPr marL="0" indent="0">
              <a:buNone/>
            </a:pPr>
            <a:r>
              <a:rPr lang="en-US" dirty="0"/>
              <a:t>[ </a:t>
            </a:r>
          </a:p>
          <a:p>
            <a:pPr marL="0" indent="0">
              <a:buNone/>
            </a:pPr>
            <a:r>
              <a:rPr lang="en-US" dirty="0"/>
              <a:t>	ON </a:t>
            </a:r>
          </a:p>
          <a:p>
            <a:pPr marL="0" indent="0">
              <a:buNone/>
            </a:pPr>
            <a:r>
              <a:rPr lang="en-US" dirty="0"/>
              <a:t>		[ PRIMARY ] [ &lt;</a:t>
            </a:r>
            <a:r>
              <a:rPr lang="en-US" dirty="0" err="1"/>
              <a:t>filespec</a:t>
            </a:r>
            <a:r>
              <a:rPr lang="en-US" dirty="0"/>
              <a:t>&gt; [ </a:t>
            </a:r>
            <a:r>
              <a:rPr lang="en-US" b="1" dirty="0"/>
              <a:t>,</a:t>
            </a:r>
            <a:r>
              <a:rPr lang="en-US" dirty="0"/>
              <a:t>...</a:t>
            </a:r>
            <a:r>
              <a:rPr lang="en-US" i="1" dirty="0"/>
              <a:t>n</a:t>
            </a:r>
            <a:r>
              <a:rPr lang="en-US" dirty="0"/>
              <a:t> ] </a:t>
            </a:r>
          </a:p>
          <a:p>
            <a:pPr marL="0" indent="0">
              <a:buNone/>
            </a:pPr>
            <a:r>
              <a:rPr lang="en-US" dirty="0"/>
              <a:t>		[ </a:t>
            </a:r>
            <a:r>
              <a:rPr lang="en-US" b="1" dirty="0"/>
              <a:t>,</a:t>
            </a:r>
            <a:r>
              <a:rPr lang="en-US" dirty="0"/>
              <a:t> &lt;</a:t>
            </a:r>
            <a:r>
              <a:rPr lang="en-US" dirty="0" err="1"/>
              <a:t>filegroup</a:t>
            </a:r>
            <a:r>
              <a:rPr lang="en-US" dirty="0"/>
              <a:t>&gt; [ </a:t>
            </a:r>
            <a:r>
              <a:rPr lang="en-US" b="1" dirty="0"/>
              <a:t>,</a:t>
            </a:r>
            <a:r>
              <a:rPr lang="en-US" dirty="0"/>
              <a:t>...</a:t>
            </a:r>
            <a:r>
              <a:rPr lang="en-US" i="1" dirty="0"/>
              <a:t>n</a:t>
            </a:r>
            <a:r>
              <a:rPr lang="en-US" dirty="0"/>
              <a:t> ] ] </a:t>
            </a:r>
          </a:p>
          <a:p>
            <a:pPr marL="0" indent="0">
              <a:buNone/>
            </a:pPr>
            <a:r>
              <a:rPr lang="en-US" dirty="0"/>
              <a:t>	[ LOG ON { &lt;</a:t>
            </a:r>
            <a:r>
              <a:rPr lang="en-US" dirty="0" err="1"/>
              <a:t>filespec</a:t>
            </a:r>
            <a:r>
              <a:rPr lang="en-US" dirty="0"/>
              <a:t>&gt; [ </a:t>
            </a:r>
            <a:r>
              <a:rPr lang="en-US" b="1" dirty="0"/>
              <a:t>,</a:t>
            </a:r>
            <a:r>
              <a:rPr lang="en-US" dirty="0"/>
              <a:t>...</a:t>
            </a:r>
            <a:r>
              <a:rPr lang="en-US" i="1" dirty="0"/>
              <a:t>n</a:t>
            </a:r>
            <a:r>
              <a:rPr lang="en-US" dirty="0"/>
              <a:t> ] } ] </a:t>
            </a:r>
          </a:p>
          <a:p>
            <a:pPr marL="0" indent="0">
              <a:buNone/>
            </a:pPr>
            <a:r>
              <a:rPr lang="en-US" dirty="0"/>
              <a:t>	] </a:t>
            </a:r>
          </a:p>
          <a:p>
            <a:pPr marL="0" indent="0">
              <a:buNone/>
            </a:pPr>
            <a:r>
              <a:rPr lang="en-US" dirty="0"/>
              <a:t>	[ COLLATE </a:t>
            </a:r>
            <a:r>
              <a:rPr lang="en-US" i="1" dirty="0" err="1"/>
              <a:t>collation_name</a:t>
            </a:r>
            <a:r>
              <a:rPr lang="en-US" dirty="0"/>
              <a:t> ] </a:t>
            </a:r>
          </a:p>
          <a:p>
            <a:pPr marL="0" indent="0">
              <a:buNone/>
            </a:pPr>
            <a:r>
              <a:rPr lang="en-US" dirty="0"/>
              <a:t>	[ WITH &lt;</a:t>
            </a:r>
            <a:r>
              <a:rPr lang="en-US" dirty="0" err="1"/>
              <a:t>external_access_option</a:t>
            </a:r>
            <a:r>
              <a:rPr lang="en-US" dirty="0"/>
              <a:t>&gt; ] </a:t>
            </a:r>
          </a:p>
          <a:p>
            <a:pPr marL="0" indent="0">
              <a:buNone/>
            </a:pPr>
            <a:r>
              <a:rPr lang="en-US" dirty="0"/>
              <a:t>] </a:t>
            </a:r>
          </a:p>
          <a:p>
            <a:pPr marL="0" indent="0">
              <a:buNone/>
            </a:pPr>
            <a:r>
              <a:rPr lang="en-US" dirty="0"/>
              <a:t>[;]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5625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b) </a:t>
            </a:r>
            <a:r>
              <a:rPr lang="en-US" b="1" dirty="0" err="1"/>
              <a:t>Tạo</a:t>
            </a:r>
            <a:r>
              <a:rPr lang="en-US" b="1" dirty="0"/>
              <a:t> CSDL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&lt;</a:t>
            </a:r>
            <a:r>
              <a:rPr lang="en-US" dirty="0" err="1"/>
              <a:t>filespec</a:t>
            </a:r>
            <a:r>
              <a:rPr lang="en-US" dirty="0"/>
              <a:t>&gt; ::= 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(</a:t>
            </a:r>
          </a:p>
          <a:p>
            <a:pPr marL="0" indent="0">
              <a:buNone/>
            </a:pPr>
            <a:r>
              <a:rPr lang="en-US" dirty="0"/>
              <a:t>    NAME = </a:t>
            </a:r>
            <a:r>
              <a:rPr lang="en-US" dirty="0" err="1"/>
              <a:t>logical_file_name</a:t>
            </a:r>
            <a:r>
              <a:rPr lang="en-US" dirty="0"/>
              <a:t> ,</a:t>
            </a:r>
          </a:p>
          <a:p>
            <a:pPr marL="0" indent="0">
              <a:buNone/>
            </a:pPr>
            <a:r>
              <a:rPr lang="en-US" dirty="0"/>
              <a:t>    FILENAME = '</a:t>
            </a:r>
            <a:r>
              <a:rPr lang="en-US" dirty="0" err="1"/>
              <a:t>os_file_name</a:t>
            </a:r>
            <a:r>
              <a:rPr lang="en-US" dirty="0"/>
              <a:t>' </a:t>
            </a:r>
          </a:p>
          <a:p>
            <a:pPr marL="0" indent="0">
              <a:buNone/>
            </a:pPr>
            <a:r>
              <a:rPr lang="en-US" dirty="0"/>
              <a:t>        [ , SIZE = size [ KB | MB | GB | TB ] ] </a:t>
            </a:r>
          </a:p>
          <a:p>
            <a:pPr marL="0" indent="0">
              <a:buNone/>
            </a:pPr>
            <a:r>
              <a:rPr lang="en-US" dirty="0"/>
              <a:t>        [ , MAXSIZE = { </a:t>
            </a:r>
            <a:r>
              <a:rPr lang="en-US" dirty="0" err="1"/>
              <a:t>max_size</a:t>
            </a:r>
            <a:r>
              <a:rPr lang="en-US" dirty="0"/>
              <a:t> [ KB | MB | GB | TB ] | UNLIMITED } ] </a:t>
            </a:r>
          </a:p>
          <a:p>
            <a:pPr marL="0" indent="0">
              <a:buNone/>
            </a:pPr>
            <a:r>
              <a:rPr lang="en-US" dirty="0"/>
              <a:t>        [ , FILEGROWTH = </a:t>
            </a:r>
            <a:r>
              <a:rPr lang="en-US" dirty="0" err="1"/>
              <a:t>growth_increment</a:t>
            </a:r>
            <a:r>
              <a:rPr lang="en-US" dirty="0"/>
              <a:t> [ KB | MB | GB | TB | % ] ]</a:t>
            </a:r>
          </a:p>
          <a:p>
            <a:pPr marL="0" indent="0">
              <a:buNone/>
            </a:pPr>
            <a:r>
              <a:rPr lang="en-US" dirty="0"/>
              <a:t>) [ ,...n ]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481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b) </a:t>
            </a:r>
            <a:r>
              <a:rPr lang="en-US" b="1" dirty="0" err="1"/>
              <a:t>Tạo</a:t>
            </a:r>
            <a:r>
              <a:rPr lang="en-US" b="1" dirty="0"/>
              <a:t> CSDL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301752" y="1447800"/>
            <a:ext cx="8503920" cy="4572000"/>
          </a:xfrm>
        </p:spPr>
        <p:txBody>
          <a:bodyPr/>
          <a:lstStyle/>
          <a:p>
            <a:r>
              <a:rPr lang="en-US" sz="2400" dirty="0" err="1"/>
              <a:t>Tạo</a:t>
            </a:r>
            <a:r>
              <a:rPr lang="en-US" sz="2400" dirty="0"/>
              <a:t> CSDL </a:t>
            </a:r>
            <a:r>
              <a:rPr lang="en-US" sz="2400" dirty="0" err="1"/>
              <a:t>đơn</a:t>
            </a:r>
            <a:r>
              <a:rPr lang="en-US" sz="2400" dirty="0"/>
              <a:t> </a:t>
            </a:r>
            <a:r>
              <a:rPr lang="en-US" sz="2400" dirty="0" err="1"/>
              <a:t>giản</a:t>
            </a:r>
            <a:r>
              <a:rPr lang="en-US" sz="2400" dirty="0"/>
              <a:t> </a:t>
            </a:r>
            <a:r>
              <a:rPr lang="en-US" sz="2400" dirty="0" err="1"/>
              <a:t>không</a:t>
            </a:r>
            <a:r>
              <a:rPr lang="en-US" sz="2400" dirty="0"/>
              <a:t> </a:t>
            </a:r>
            <a:r>
              <a:rPr lang="en-US" sz="2400" dirty="0" err="1"/>
              <a:t>tham</a:t>
            </a:r>
            <a:r>
              <a:rPr lang="en-US" sz="2400" dirty="0"/>
              <a:t> </a:t>
            </a:r>
            <a:r>
              <a:rPr lang="en-US" sz="2400" dirty="0" err="1"/>
              <a:t>số</a:t>
            </a:r>
            <a:r>
              <a:rPr lang="en-US" sz="2400" dirty="0"/>
              <a:t>: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Tạo</a:t>
            </a:r>
            <a:r>
              <a:rPr lang="en-US" dirty="0"/>
              <a:t> CSDL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nơi</a:t>
            </a:r>
            <a:r>
              <a:rPr lang="en-US" dirty="0"/>
              <a:t> </a:t>
            </a:r>
            <a:r>
              <a:rPr lang="en-US" dirty="0" err="1"/>
              <a:t>chứa</a:t>
            </a:r>
            <a:r>
              <a:rPr lang="en-US" dirty="0"/>
              <a:t> CSDL:</a:t>
            </a:r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33600" y="2057400"/>
            <a:ext cx="388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CREATE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srgbClr val="0000FF"/>
                </a:solidFill>
              </a:rPr>
              <a:t>DATABASE</a:t>
            </a:r>
            <a:r>
              <a:rPr lang="en-US" dirty="0">
                <a:solidFill>
                  <a:prstClr val="black"/>
                </a:solidFill>
              </a:rPr>
              <a:t> TEST</a:t>
            </a:r>
            <a:endParaRPr lang="en-US" dirty="0">
              <a:latin typeface="Courier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13588" y="2839116"/>
            <a:ext cx="7696200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600" dirty="0">
                <a:solidFill>
                  <a:srgbClr val="0000FF"/>
                </a:solidFill>
              </a:rPr>
              <a:t>CREATE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  <a:r>
              <a:rPr lang="en-US" sz="1600" dirty="0">
                <a:solidFill>
                  <a:srgbClr val="0000FF"/>
                </a:solidFill>
              </a:rPr>
              <a:t>DATABASE</a:t>
            </a:r>
            <a:r>
              <a:rPr lang="en-US" sz="1600" dirty="0">
                <a:solidFill>
                  <a:prstClr val="black"/>
                </a:solidFill>
              </a:rPr>
              <a:t> QLNV</a:t>
            </a:r>
          </a:p>
          <a:p>
            <a:pPr algn="l">
              <a:spcBef>
                <a:spcPts val="0"/>
              </a:spcBef>
            </a:pPr>
            <a:r>
              <a:rPr lang="en-US" sz="1600" dirty="0">
                <a:solidFill>
                  <a:srgbClr val="0000FF"/>
                </a:solidFill>
              </a:rPr>
              <a:t>ON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  <a:r>
              <a:rPr lang="en-US" sz="1600" dirty="0">
                <a:solidFill>
                  <a:srgbClr val="808080"/>
                </a:solidFill>
              </a:rPr>
              <a:t>(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</a:p>
          <a:p>
            <a:pPr algn="l">
              <a:spcBef>
                <a:spcPts val="0"/>
              </a:spcBef>
            </a:pPr>
            <a:r>
              <a:rPr lang="en-US" sz="1600" dirty="0">
                <a:solidFill>
                  <a:prstClr val="black"/>
                </a:solidFill>
              </a:rPr>
              <a:t>	</a:t>
            </a:r>
            <a:r>
              <a:rPr lang="en-US" sz="1600" dirty="0">
                <a:solidFill>
                  <a:srgbClr val="0000FF"/>
                </a:solidFill>
              </a:rPr>
              <a:t>NAME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  <a:r>
              <a:rPr lang="en-US" sz="1600" dirty="0">
                <a:solidFill>
                  <a:srgbClr val="808080"/>
                </a:solidFill>
              </a:rPr>
              <a:t>=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  <a:r>
              <a:rPr lang="en-US" sz="1600" dirty="0">
                <a:solidFill>
                  <a:srgbClr val="FF0000"/>
                </a:solidFill>
              </a:rPr>
              <a:t>'</a:t>
            </a:r>
            <a:r>
              <a:rPr lang="en-US" sz="1600" dirty="0" err="1">
                <a:solidFill>
                  <a:srgbClr val="FF0000"/>
                </a:solidFill>
              </a:rPr>
              <a:t>QLNV_Data</a:t>
            </a:r>
            <a:r>
              <a:rPr lang="en-US" sz="1600" dirty="0">
                <a:solidFill>
                  <a:srgbClr val="FF0000"/>
                </a:solidFill>
              </a:rPr>
              <a:t>'</a:t>
            </a:r>
            <a:r>
              <a:rPr lang="en-US" sz="1600" dirty="0">
                <a:solidFill>
                  <a:srgbClr val="808080"/>
                </a:solidFill>
              </a:rPr>
              <a:t>,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</a:p>
          <a:p>
            <a:pPr algn="l">
              <a:spcBef>
                <a:spcPts val="0"/>
              </a:spcBef>
            </a:pPr>
            <a:r>
              <a:rPr lang="en-US" sz="1600" dirty="0">
                <a:solidFill>
                  <a:prstClr val="black"/>
                </a:solidFill>
              </a:rPr>
              <a:t>	</a:t>
            </a:r>
            <a:r>
              <a:rPr lang="en-US" sz="1600" dirty="0">
                <a:solidFill>
                  <a:srgbClr val="0000FF"/>
                </a:solidFill>
              </a:rPr>
              <a:t>FILENAME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  <a:r>
              <a:rPr lang="en-US" sz="1600" dirty="0">
                <a:solidFill>
                  <a:srgbClr val="808080"/>
                </a:solidFill>
              </a:rPr>
              <a:t>=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  <a:r>
              <a:rPr lang="en-US" sz="1600" dirty="0">
                <a:solidFill>
                  <a:srgbClr val="FF0000"/>
                </a:solidFill>
              </a:rPr>
              <a:t>'D:\</a:t>
            </a:r>
            <a:r>
              <a:rPr lang="en-US" sz="1600" dirty="0" err="1">
                <a:solidFill>
                  <a:srgbClr val="FF0000"/>
                </a:solidFill>
              </a:rPr>
              <a:t>QLNV_Data.mdf</a:t>
            </a:r>
            <a:r>
              <a:rPr lang="en-US" sz="1600" dirty="0">
                <a:solidFill>
                  <a:srgbClr val="FF0000"/>
                </a:solidFill>
              </a:rPr>
              <a:t>'</a:t>
            </a:r>
            <a:r>
              <a:rPr lang="en-US" sz="1600" dirty="0">
                <a:solidFill>
                  <a:srgbClr val="808080"/>
                </a:solidFill>
              </a:rPr>
              <a:t>,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</a:p>
          <a:p>
            <a:pPr algn="l">
              <a:spcBef>
                <a:spcPts val="0"/>
              </a:spcBef>
            </a:pPr>
            <a:r>
              <a:rPr lang="en-US" sz="1600" dirty="0">
                <a:solidFill>
                  <a:prstClr val="black"/>
                </a:solidFill>
              </a:rPr>
              <a:t>	</a:t>
            </a:r>
            <a:r>
              <a:rPr lang="en-US" sz="1600" dirty="0">
                <a:solidFill>
                  <a:srgbClr val="0000FF"/>
                </a:solidFill>
              </a:rPr>
              <a:t>SIZE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  <a:r>
              <a:rPr lang="en-US" sz="1600" dirty="0">
                <a:solidFill>
                  <a:srgbClr val="808080"/>
                </a:solidFill>
              </a:rPr>
              <a:t>=</a:t>
            </a:r>
            <a:r>
              <a:rPr lang="en-US" sz="1600" dirty="0">
                <a:solidFill>
                  <a:prstClr val="black"/>
                </a:solidFill>
              </a:rPr>
              <a:t> 10MB</a:t>
            </a:r>
            <a:r>
              <a:rPr lang="en-US" sz="1600" dirty="0">
                <a:solidFill>
                  <a:srgbClr val="808080"/>
                </a:solidFill>
              </a:rPr>
              <a:t>,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</a:p>
          <a:p>
            <a:pPr algn="l">
              <a:spcBef>
                <a:spcPts val="0"/>
              </a:spcBef>
            </a:pPr>
            <a:r>
              <a:rPr lang="en-US" sz="1600" dirty="0">
                <a:solidFill>
                  <a:prstClr val="black"/>
                </a:solidFill>
              </a:rPr>
              <a:t>	</a:t>
            </a:r>
            <a:r>
              <a:rPr lang="en-US" sz="1600" dirty="0">
                <a:solidFill>
                  <a:srgbClr val="0000FF"/>
                </a:solidFill>
              </a:rPr>
              <a:t>MAXSIZE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  <a:r>
              <a:rPr lang="en-US" sz="1600" dirty="0">
                <a:solidFill>
                  <a:srgbClr val="808080"/>
                </a:solidFill>
              </a:rPr>
              <a:t>=</a:t>
            </a:r>
            <a:r>
              <a:rPr lang="en-US" sz="1600" dirty="0">
                <a:solidFill>
                  <a:prstClr val="black"/>
                </a:solidFill>
              </a:rPr>
              <a:t> UNLIMITED</a:t>
            </a:r>
            <a:r>
              <a:rPr lang="en-US" sz="1600" dirty="0">
                <a:solidFill>
                  <a:srgbClr val="808080"/>
                </a:solidFill>
              </a:rPr>
              <a:t>,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</a:p>
          <a:p>
            <a:pPr algn="l">
              <a:spcBef>
                <a:spcPts val="0"/>
              </a:spcBef>
            </a:pPr>
            <a:r>
              <a:rPr lang="en-US" sz="1600" dirty="0">
                <a:solidFill>
                  <a:prstClr val="black"/>
                </a:solidFill>
              </a:rPr>
              <a:t>	</a:t>
            </a:r>
            <a:r>
              <a:rPr lang="en-US" sz="1600" dirty="0">
                <a:solidFill>
                  <a:srgbClr val="0000FF"/>
                </a:solidFill>
              </a:rPr>
              <a:t>FILEGROWTH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  <a:r>
              <a:rPr lang="en-US" sz="1600" dirty="0">
                <a:solidFill>
                  <a:srgbClr val="808080"/>
                </a:solidFill>
              </a:rPr>
              <a:t>=</a:t>
            </a:r>
            <a:r>
              <a:rPr lang="en-US" sz="1600" dirty="0">
                <a:solidFill>
                  <a:prstClr val="black"/>
                </a:solidFill>
              </a:rPr>
              <a:t> 5MB</a:t>
            </a:r>
            <a:r>
              <a:rPr lang="en-US" sz="1600" dirty="0">
                <a:solidFill>
                  <a:srgbClr val="808080"/>
                </a:solidFill>
              </a:rPr>
              <a:t>)</a:t>
            </a:r>
          </a:p>
          <a:p>
            <a:pPr algn="l">
              <a:spcBef>
                <a:spcPts val="0"/>
              </a:spcBef>
            </a:pPr>
            <a:r>
              <a:rPr lang="en-US" sz="1600" dirty="0">
                <a:solidFill>
                  <a:srgbClr val="FF00FF"/>
                </a:solidFill>
              </a:rPr>
              <a:t>LOG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  <a:r>
              <a:rPr lang="en-US" sz="1600" dirty="0">
                <a:solidFill>
                  <a:srgbClr val="0000FF"/>
                </a:solidFill>
              </a:rPr>
              <a:t>ON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  <a:r>
              <a:rPr lang="en-US" sz="1600" dirty="0">
                <a:solidFill>
                  <a:srgbClr val="808080"/>
                </a:solidFill>
              </a:rPr>
              <a:t>(</a:t>
            </a:r>
          </a:p>
          <a:p>
            <a:pPr algn="l">
              <a:spcBef>
                <a:spcPts val="0"/>
              </a:spcBef>
            </a:pPr>
            <a:r>
              <a:rPr lang="en-US" sz="1600" dirty="0">
                <a:solidFill>
                  <a:prstClr val="black"/>
                </a:solidFill>
              </a:rPr>
              <a:t>	</a:t>
            </a:r>
            <a:r>
              <a:rPr lang="en-US" sz="1600" dirty="0">
                <a:solidFill>
                  <a:srgbClr val="0000FF"/>
                </a:solidFill>
              </a:rPr>
              <a:t>NAME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  <a:r>
              <a:rPr lang="en-US" sz="1600" dirty="0">
                <a:solidFill>
                  <a:srgbClr val="808080"/>
                </a:solidFill>
              </a:rPr>
              <a:t>=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  <a:r>
              <a:rPr lang="en-US" sz="1600" dirty="0">
                <a:solidFill>
                  <a:srgbClr val="FF0000"/>
                </a:solidFill>
              </a:rPr>
              <a:t>'</a:t>
            </a:r>
            <a:r>
              <a:rPr lang="en-US" sz="1600" dirty="0" err="1">
                <a:solidFill>
                  <a:srgbClr val="FF0000"/>
                </a:solidFill>
              </a:rPr>
              <a:t>QLNV_Log</a:t>
            </a:r>
            <a:r>
              <a:rPr lang="en-US" sz="1600" dirty="0">
                <a:solidFill>
                  <a:srgbClr val="FF0000"/>
                </a:solidFill>
              </a:rPr>
              <a:t>'</a:t>
            </a:r>
            <a:r>
              <a:rPr lang="en-US" sz="1600" dirty="0">
                <a:solidFill>
                  <a:srgbClr val="808080"/>
                </a:solidFill>
              </a:rPr>
              <a:t>,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</a:p>
          <a:p>
            <a:pPr algn="l">
              <a:spcBef>
                <a:spcPts val="0"/>
              </a:spcBef>
            </a:pPr>
            <a:r>
              <a:rPr lang="en-US" sz="1600" dirty="0">
                <a:solidFill>
                  <a:prstClr val="black"/>
                </a:solidFill>
              </a:rPr>
              <a:t>	</a:t>
            </a:r>
            <a:r>
              <a:rPr lang="en-US" sz="1600" dirty="0">
                <a:solidFill>
                  <a:srgbClr val="0000FF"/>
                </a:solidFill>
              </a:rPr>
              <a:t>FILENAME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  <a:r>
              <a:rPr lang="en-US" sz="1600" dirty="0">
                <a:solidFill>
                  <a:srgbClr val="808080"/>
                </a:solidFill>
              </a:rPr>
              <a:t>=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  <a:r>
              <a:rPr lang="en-US" sz="1600" dirty="0">
                <a:solidFill>
                  <a:srgbClr val="FF0000"/>
                </a:solidFill>
              </a:rPr>
              <a:t>'D:\</a:t>
            </a:r>
            <a:r>
              <a:rPr lang="en-US" sz="1600" dirty="0" err="1">
                <a:solidFill>
                  <a:srgbClr val="FF0000"/>
                </a:solidFill>
              </a:rPr>
              <a:t>QLNV_Log.ldf</a:t>
            </a:r>
            <a:r>
              <a:rPr lang="en-US" sz="1600" dirty="0">
                <a:solidFill>
                  <a:srgbClr val="FF0000"/>
                </a:solidFill>
              </a:rPr>
              <a:t>'</a:t>
            </a:r>
            <a:r>
              <a:rPr lang="en-US" sz="1600" dirty="0">
                <a:solidFill>
                  <a:srgbClr val="808080"/>
                </a:solidFill>
              </a:rPr>
              <a:t>,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</a:p>
          <a:p>
            <a:pPr algn="l">
              <a:spcBef>
                <a:spcPts val="0"/>
              </a:spcBef>
            </a:pPr>
            <a:r>
              <a:rPr lang="en-US" sz="1600" dirty="0">
                <a:solidFill>
                  <a:prstClr val="black"/>
                </a:solidFill>
              </a:rPr>
              <a:t>	 </a:t>
            </a:r>
            <a:r>
              <a:rPr lang="en-US" sz="1600" dirty="0">
                <a:solidFill>
                  <a:srgbClr val="0000FF"/>
                </a:solidFill>
              </a:rPr>
              <a:t>SIZE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  <a:r>
              <a:rPr lang="en-US" sz="1600" dirty="0">
                <a:solidFill>
                  <a:srgbClr val="808080"/>
                </a:solidFill>
              </a:rPr>
              <a:t>=</a:t>
            </a:r>
            <a:r>
              <a:rPr lang="en-US" sz="1600" dirty="0">
                <a:solidFill>
                  <a:prstClr val="black"/>
                </a:solidFill>
              </a:rPr>
              <a:t> 5MB</a:t>
            </a:r>
            <a:r>
              <a:rPr lang="en-US" sz="1600" dirty="0">
                <a:solidFill>
                  <a:srgbClr val="808080"/>
                </a:solidFill>
              </a:rPr>
              <a:t>,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</a:p>
          <a:p>
            <a:pPr algn="l">
              <a:spcBef>
                <a:spcPts val="0"/>
              </a:spcBef>
            </a:pPr>
            <a:r>
              <a:rPr lang="en-US" sz="1600" dirty="0">
                <a:solidFill>
                  <a:prstClr val="black"/>
                </a:solidFill>
              </a:rPr>
              <a:t>	</a:t>
            </a:r>
            <a:r>
              <a:rPr lang="en-US" sz="1600" dirty="0">
                <a:solidFill>
                  <a:srgbClr val="0000FF"/>
                </a:solidFill>
              </a:rPr>
              <a:t>MAXSIZE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  <a:r>
              <a:rPr lang="en-US" sz="1600" dirty="0">
                <a:solidFill>
                  <a:srgbClr val="808080"/>
                </a:solidFill>
              </a:rPr>
              <a:t>=</a:t>
            </a:r>
            <a:r>
              <a:rPr lang="en-US" sz="1600" dirty="0">
                <a:solidFill>
                  <a:prstClr val="black"/>
                </a:solidFill>
              </a:rPr>
              <a:t> UNLIMITED</a:t>
            </a:r>
            <a:r>
              <a:rPr lang="en-US" sz="1600" dirty="0">
                <a:solidFill>
                  <a:srgbClr val="808080"/>
                </a:solidFill>
              </a:rPr>
              <a:t>,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</a:p>
          <a:p>
            <a:pPr algn="l">
              <a:spcBef>
                <a:spcPts val="0"/>
              </a:spcBef>
            </a:pPr>
            <a:r>
              <a:rPr lang="en-US" sz="1600" dirty="0">
                <a:solidFill>
                  <a:prstClr val="black"/>
                </a:solidFill>
              </a:rPr>
              <a:t>	</a:t>
            </a:r>
            <a:r>
              <a:rPr lang="en-US" sz="1600" dirty="0">
                <a:solidFill>
                  <a:srgbClr val="0000FF"/>
                </a:solidFill>
              </a:rPr>
              <a:t>FILEGROWTH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  <a:r>
              <a:rPr lang="en-US" sz="1600" dirty="0">
                <a:solidFill>
                  <a:srgbClr val="808080"/>
                </a:solidFill>
              </a:rPr>
              <a:t>=</a:t>
            </a:r>
            <a:r>
              <a:rPr lang="en-US" sz="1600" dirty="0">
                <a:solidFill>
                  <a:prstClr val="black"/>
                </a:solidFill>
              </a:rPr>
              <a:t> 2MB</a:t>
            </a:r>
            <a:r>
              <a:rPr lang="en-US" sz="1600" dirty="0">
                <a:solidFill>
                  <a:srgbClr val="808080"/>
                </a:solidFill>
              </a:rPr>
              <a:t>)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  <a:endParaRPr lang="en-US" sz="1600" dirty="0">
              <a:latin typeface="Courier" pitchFamily="49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0426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8" grpId="0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c) </a:t>
            </a:r>
            <a:r>
              <a:rPr lang="en-US" b="1" dirty="0" err="1"/>
              <a:t>Chỉnh</a:t>
            </a:r>
            <a:r>
              <a:rPr lang="en-US" b="1" dirty="0"/>
              <a:t> </a:t>
            </a:r>
            <a:r>
              <a:rPr lang="en-US" b="1" dirty="0" err="1"/>
              <a:t>sửa</a:t>
            </a:r>
            <a:r>
              <a:rPr lang="en-US" b="1" dirty="0"/>
              <a:t> CSDL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chỉnh</a:t>
            </a:r>
            <a:r>
              <a:rPr lang="en-US" dirty="0"/>
              <a:t> </a:t>
            </a:r>
            <a:r>
              <a:rPr lang="en-US" dirty="0" err="1"/>
              <a:t>sửa</a:t>
            </a:r>
            <a:r>
              <a:rPr lang="en-US" dirty="0"/>
              <a:t> </a:t>
            </a:r>
            <a:r>
              <a:rPr lang="en-US" dirty="0" err="1"/>
              <a:t>chung</a:t>
            </a:r>
            <a:r>
              <a:rPr lang="en-US" dirty="0"/>
              <a:t>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ALTER + </a:t>
            </a:r>
            <a:r>
              <a:rPr lang="en-US" dirty="0" err="1"/>
              <a:t>Loại</a:t>
            </a:r>
            <a:r>
              <a:rPr lang="en-US" dirty="0"/>
              <a:t> +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6078" y="2367677"/>
            <a:ext cx="8382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dirty="0">
                <a:solidFill>
                  <a:srgbClr val="0000FF"/>
                </a:solidFill>
              </a:rPr>
              <a:t>ALTER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srgbClr val="0000FF"/>
                </a:solidFill>
              </a:rPr>
              <a:t>DATABASE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database_name</a:t>
            </a:r>
            <a:r>
              <a:rPr lang="en-US" dirty="0">
                <a:solidFill>
                  <a:prstClr val="black"/>
                </a:solidFill>
              </a:rPr>
              <a:t> </a:t>
            </a:r>
          </a:p>
          <a:p>
            <a:pPr algn="l">
              <a:spcBef>
                <a:spcPts val="0"/>
              </a:spcBef>
            </a:pPr>
            <a:r>
              <a:rPr lang="en-US" dirty="0">
                <a:solidFill>
                  <a:srgbClr val="808080"/>
                </a:solidFill>
              </a:rPr>
              <a:t>{</a:t>
            </a:r>
          </a:p>
          <a:p>
            <a:pPr algn="l">
              <a:spcBef>
                <a:spcPts val="0"/>
              </a:spcBef>
            </a:pPr>
            <a:r>
              <a:rPr lang="en-US" dirty="0">
                <a:solidFill>
                  <a:prstClr val="black"/>
                </a:solidFill>
              </a:rPr>
              <a:t>    </a:t>
            </a:r>
            <a:r>
              <a:rPr lang="en-US" dirty="0">
                <a:solidFill>
                  <a:srgbClr val="808080"/>
                </a:solidFill>
              </a:rPr>
              <a:t>&lt;</a:t>
            </a:r>
            <a:r>
              <a:rPr lang="en-US" dirty="0" err="1">
                <a:solidFill>
                  <a:prstClr val="black"/>
                </a:solidFill>
              </a:rPr>
              <a:t>add_or_modify_files</a:t>
            </a:r>
            <a:r>
              <a:rPr lang="en-US" dirty="0">
                <a:solidFill>
                  <a:srgbClr val="808080"/>
                </a:solidFill>
              </a:rPr>
              <a:t>&gt;</a:t>
            </a:r>
          </a:p>
          <a:p>
            <a:pPr algn="l">
              <a:spcBef>
                <a:spcPts val="0"/>
              </a:spcBef>
            </a:pPr>
            <a:r>
              <a:rPr lang="en-US" dirty="0">
                <a:solidFill>
                  <a:prstClr val="black"/>
                </a:solidFill>
              </a:rPr>
              <a:t>  </a:t>
            </a:r>
            <a:r>
              <a:rPr lang="en-US" dirty="0">
                <a:solidFill>
                  <a:srgbClr val="808080"/>
                </a:solidFill>
              </a:rPr>
              <a:t>|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srgbClr val="808080"/>
                </a:solidFill>
              </a:rPr>
              <a:t>&lt;</a:t>
            </a:r>
            <a:r>
              <a:rPr lang="en-US" dirty="0" err="1">
                <a:solidFill>
                  <a:prstClr val="black"/>
                </a:solidFill>
              </a:rPr>
              <a:t>add_or_modify_filegroups</a:t>
            </a:r>
            <a:r>
              <a:rPr lang="en-US" dirty="0">
                <a:solidFill>
                  <a:srgbClr val="808080"/>
                </a:solidFill>
              </a:rPr>
              <a:t>&gt;</a:t>
            </a:r>
          </a:p>
          <a:p>
            <a:pPr algn="l">
              <a:spcBef>
                <a:spcPts val="0"/>
              </a:spcBef>
            </a:pPr>
            <a:r>
              <a:rPr lang="en-US" dirty="0">
                <a:solidFill>
                  <a:prstClr val="black"/>
                </a:solidFill>
              </a:rPr>
              <a:t>  </a:t>
            </a:r>
            <a:r>
              <a:rPr lang="en-US" dirty="0">
                <a:solidFill>
                  <a:srgbClr val="808080"/>
                </a:solidFill>
              </a:rPr>
              <a:t>|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srgbClr val="808080"/>
                </a:solidFill>
              </a:rPr>
              <a:t>&lt;</a:t>
            </a:r>
            <a:r>
              <a:rPr lang="en-US" dirty="0" err="1">
                <a:solidFill>
                  <a:prstClr val="black"/>
                </a:solidFill>
              </a:rPr>
              <a:t>set_database_options</a:t>
            </a:r>
            <a:r>
              <a:rPr lang="en-US" dirty="0">
                <a:solidFill>
                  <a:srgbClr val="808080"/>
                </a:solidFill>
              </a:rPr>
              <a:t>&gt;</a:t>
            </a:r>
          </a:p>
          <a:p>
            <a:pPr algn="l">
              <a:spcBef>
                <a:spcPts val="0"/>
              </a:spcBef>
            </a:pPr>
            <a:r>
              <a:rPr lang="en-US" dirty="0">
                <a:solidFill>
                  <a:prstClr val="black"/>
                </a:solidFill>
              </a:rPr>
              <a:t>  </a:t>
            </a:r>
            <a:r>
              <a:rPr lang="en-US" dirty="0">
                <a:solidFill>
                  <a:srgbClr val="808080"/>
                </a:solidFill>
              </a:rPr>
              <a:t>|</a:t>
            </a:r>
            <a:r>
              <a:rPr lang="en-US" dirty="0">
                <a:solidFill>
                  <a:prstClr val="black"/>
                </a:solidFill>
              </a:rPr>
              <a:t> MODIFY </a:t>
            </a:r>
            <a:r>
              <a:rPr lang="en-US" dirty="0">
                <a:solidFill>
                  <a:srgbClr val="0000FF"/>
                </a:solidFill>
              </a:rPr>
              <a:t>NAME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srgbClr val="808080"/>
                </a:solidFill>
              </a:rPr>
              <a:t>=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new_database_name</a:t>
            </a:r>
            <a:r>
              <a:rPr lang="en-US" dirty="0">
                <a:solidFill>
                  <a:prstClr val="black"/>
                </a:solidFill>
              </a:rPr>
              <a:t> </a:t>
            </a:r>
          </a:p>
          <a:p>
            <a:pPr algn="l">
              <a:spcBef>
                <a:spcPts val="0"/>
              </a:spcBef>
            </a:pPr>
            <a:r>
              <a:rPr lang="en-US" dirty="0">
                <a:solidFill>
                  <a:prstClr val="black"/>
                </a:solidFill>
              </a:rPr>
              <a:t>  </a:t>
            </a:r>
            <a:r>
              <a:rPr lang="en-US" dirty="0">
                <a:solidFill>
                  <a:srgbClr val="808080"/>
                </a:solidFill>
              </a:rPr>
              <a:t>|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srgbClr val="0000FF"/>
                </a:solidFill>
              </a:rPr>
              <a:t>COLLATE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collation_name</a:t>
            </a:r>
            <a:endParaRPr lang="en-US" dirty="0">
              <a:solidFill>
                <a:prstClr val="black"/>
              </a:solidFill>
            </a:endParaRPr>
          </a:p>
          <a:p>
            <a:pPr algn="l">
              <a:spcBef>
                <a:spcPts val="0"/>
              </a:spcBef>
            </a:pPr>
            <a:r>
              <a:rPr lang="en-US" dirty="0">
                <a:solidFill>
                  <a:srgbClr val="808080"/>
                </a:solidFill>
              </a:rPr>
              <a:t>}</a:t>
            </a:r>
          </a:p>
          <a:p>
            <a:pPr algn="l">
              <a:spcBef>
                <a:spcPts val="0"/>
              </a:spcBef>
            </a:pPr>
            <a:r>
              <a:rPr lang="en-US" dirty="0">
                <a:solidFill>
                  <a:prstClr val="black"/>
                </a:solidFill>
              </a:rPr>
              <a:t>[;]</a:t>
            </a:r>
            <a:endParaRPr lang="en-US" dirty="0">
              <a:latin typeface="Courier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4955317"/>
            <a:ext cx="8382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</a:pPr>
            <a:r>
              <a:rPr lang="en-US" dirty="0">
                <a:solidFill>
                  <a:srgbClr val="0000FF"/>
                </a:solidFill>
              </a:rPr>
              <a:t>ALTER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srgbClr val="0000FF"/>
                </a:solidFill>
              </a:rPr>
              <a:t>DATABASE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AdventureWorks</a:t>
            </a:r>
            <a:endParaRPr lang="en-US" dirty="0">
              <a:solidFill>
                <a:prstClr val="black"/>
              </a:solidFill>
            </a:endParaRPr>
          </a:p>
          <a:p>
            <a:pPr>
              <a:spcBef>
                <a:spcPts val="0"/>
              </a:spcBef>
            </a:pPr>
            <a:r>
              <a:rPr lang="en-US" dirty="0">
                <a:solidFill>
                  <a:prstClr val="black"/>
                </a:solidFill>
              </a:rPr>
              <a:t>MODIFY </a:t>
            </a:r>
            <a:r>
              <a:rPr lang="en-US" dirty="0">
                <a:solidFill>
                  <a:srgbClr val="0000FF"/>
                </a:solidFill>
              </a:rPr>
              <a:t>FILE</a:t>
            </a:r>
          </a:p>
          <a:p>
            <a:pPr>
              <a:spcBef>
                <a:spcPts val="0"/>
              </a:spcBef>
            </a:pPr>
            <a:r>
              <a:rPr lang="en-US" dirty="0">
                <a:solidFill>
                  <a:srgbClr val="808080"/>
                </a:solidFill>
              </a:rPr>
              <a:t>(</a:t>
            </a:r>
            <a:r>
              <a:rPr lang="en-US" dirty="0">
                <a:solidFill>
                  <a:prstClr val="black"/>
                </a:solidFill>
              </a:rPr>
              <a:t>    </a:t>
            </a:r>
            <a:r>
              <a:rPr lang="en-US" dirty="0">
                <a:solidFill>
                  <a:srgbClr val="0000FF"/>
                </a:solidFill>
              </a:rPr>
              <a:t>NAME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srgbClr val="808080"/>
                </a:solidFill>
              </a:rPr>
              <a:t>=</a:t>
            </a:r>
            <a:r>
              <a:rPr lang="en-US" dirty="0">
                <a:solidFill>
                  <a:prstClr val="black"/>
                </a:solidFill>
              </a:rPr>
              <a:t> Test1dat2</a:t>
            </a:r>
            <a:r>
              <a:rPr lang="en-US" dirty="0">
                <a:solidFill>
                  <a:srgbClr val="808080"/>
                </a:solidFill>
              </a:rPr>
              <a:t>,</a:t>
            </a:r>
          </a:p>
          <a:p>
            <a:pPr>
              <a:spcBef>
                <a:spcPts val="0"/>
              </a:spcBef>
            </a:pPr>
            <a:r>
              <a:rPr lang="en-US" dirty="0">
                <a:solidFill>
                  <a:prstClr val="black"/>
                </a:solidFill>
              </a:rPr>
              <a:t>    </a:t>
            </a:r>
            <a:r>
              <a:rPr lang="en-US" dirty="0">
                <a:solidFill>
                  <a:srgbClr val="0000FF"/>
                </a:solidFill>
              </a:rPr>
              <a:t>FILENAME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srgbClr val="808080"/>
                </a:solidFill>
              </a:rPr>
              <a:t>=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N</a:t>
            </a:r>
            <a:r>
              <a:rPr lang="en-US" dirty="0" err="1">
                <a:solidFill>
                  <a:srgbClr val="FF0000"/>
                </a:solidFill>
              </a:rPr>
              <a:t>'c</a:t>
            </a:r>
            <a:r>
              <a:rPr lang="en-US" dirty="0">
                <a:solidFill>
                  <a:srgbClr val="FF0000"/>
                </a:solidFill>
              </a:rPr>
              <a:t>:\t1dat2.ndf‘</a:t>
            </a:r>
          </a:p>
          <a:p>
            <a:pPr>
              <a:spcBef>
                <a:spcPts val="0"/>
              </a:spcBef>
            </a:pPr>
            <a:r>
              <a:rPr lang="en-US" dirty="0">
                <a:solidFill>
                  <a:srgbClr val="808080"/>
                </a:solidFill>
              </a:rPr>
              <a:t>);</a:t>
            </a:r>
            <a:endParaRPr lang="en-US" dirty="0">
              <a:latin typeface="Courier" pitchFamily="49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3945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7" grpId="0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d) </a:t>
            </a:r>
            <a:r>
              <a:rPr lang="en-US" b="1" dirty="0" err="1"/>
              <a:t>Xóa</a:t>
            </a:r>
            <a:r>
              <a:rPr lang="en-US" b="1" dirty="0"/>
              <a:t> CSDL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xóa</a:t>
            </a:r>
            <a:r>
              <a:rPr lang="en-US" dirty="0"/>
              <a:t> </a:t>
            </a:r>
            <a:r>
              <a:rPr lang="en-US" dirty="0" err="1"/>
              <a:t>chung</a:t>
            </a:r>
            <a:r>
              <a:rPr lang="en-US" dirty="0"/>
              <a:t>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DROP + </a:t>
            </a:r>
            <a:r>
              <a:rPr lang="en-US" dirty="0" err="1"/>
              <a:t>Loại</a:t>
            </a:r>
            <a:r>
              <a:rPr lang="en-US" dirty="0"/>
              <a:t> +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8132"/>
            <a:ext cx="838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DROP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srgbClr val="0000FF"/>
                </a:solidFill>
              </a:rPr>
              <a:t>DATABASE</a:t>
            </a:r>
            <a:r>
              <a:rPr lang="en-US" dirty="0">
                <a:solidFill>
                  <a:prstClr val="black"/>
                </a:solidFill>
              </a:rPr>
              <a:t> &lt;</a:t>
            </a:r>
            <a:r>
              <a:rPr lang="en-US" dirty="0" err="1">
                <a:solidFill>
                  <a:prstClr val="black"/>
                </a:solidFill>
              </a:rPr>
              <a:t>Database_Name</a:t>
            </a:r>
            <a:r>
              <a:rPr lang="en-US" dirty="0">
                <a:solidFill>
                  <a:prstClr val="black"/>
                </a:solidFill>
              </a:rPr>
              <a:t>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7907" y="3537466"/>
            <a:ext cx="838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DROP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srgbClr val="0000FF"/>
                </a:solidFill>
              </a:rPr>
              <a:t>DATABASE</a:t>
            </a:r>
            <a:r>
              <a:rPr lang="en-US" dirty="0">
                <a:solidFill>
                  <a:prstClr val="black"/>
                </a:solidFill>
              </a:rPr>
              <a:t> test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2104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8" grpId="0"/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/>
              <a:t>e) </a:t>
            </a:r>
            <a:r>
              <a:rPr lang="en-US" sz="3500" b="1" dirty="0" err="1"/>
              <a:t>Lệnh</a:t>
            </a:r>
            <a:r>
              <a:rPr lang="en-US" sz="3500" b="1" dirty="0"/>
              <a:t> </a:t>
            </a:r>
            <a:r>
              <a:rPr lang="en-US" sz="3500" b="1" dirty="0" err="1"/>
              <a:t>tạo</a:t>
            </a:r>
            <a:r>
              <a:rPr lang="en-US" sz="3500" b="1" dirty="0"/>
              <a:t> </a:t>
            </a:r>
            <a:r>
              <a:rPr lang="en-US" sz="3500" b="1" dirty="0" err="1"/>
              <a:t>bảng</a:t>
            </a:r>
            <a:endParaRPr lang="en-US" sz="3500" b="1" dirty="0"/>
          </a:p>
        </p:txBody>
      </p:sp>
      <p:sp>
        <p:nvSpPr>
          <p:cNvPr id="57037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524000"/>
            <a:ext cx="8229600" cy="4648200"/>
          </a:xfrm>
        </p:spPr>
        <p:txBody>
          <a:bodyPr/>
          <a:lstStyle/>
          <a:p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bảng</a:t>
            </a:r>
            <a:endParaRPr lang="en-US" dirty="0"/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Tên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bảng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Các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thuộc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tính</a:t>
            </a:r>
            <a:endParaRPr lang="en-US" dirty="0">
              <a:solidFill>
                <a:schemeClr val="tx1"/>
              </a:solidFill>
            </a:endParaRPr>
          </a:p>
          <a:p>
            <a:pPr lvl="2"/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endParaRPr lang="en-US" dirty="0"/>
          </a:p>
          <a:p>
            <a:pPr lvl="2"/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  <a:p>
            <a:pPr lvl="2"/>
            <a:r>
              <a:rPr lang="en-US" dirty="0" err="1"/>
              <a:t>Các</a:t>
            </a:r>
            <a:r>
              <a:rPr lang="en-US" dirty="0"/>
              <a:t> RBTV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endParaRPr lang="en-US" dirty="0"/>
          </a:p>
          <a:p>
            <a:r>
              <a:rPr lang="en-US" dirty="0" err="1"/>
              <a:t>Cú</a:t>
            </a:r>
            <a:r>
              <a:rPr lang="en-US" dirty="0"/>
              <a:t> </a:t>
            </a:r>
            <a:r>
              <a:rPr lang="en-US" dirty="0" err="1"/>
              <a:t>pháp</a:t>
            </a:r>
            <a:endParaRPr lang="en-US" dirty="0"/>
          </a:p>
        </p:txBody>
      </p:sp>
      <p:sp>
        <p:nvSpPr>
          <p:cNvPr id="570372" name="Text Box 4"/>
          <p:cNvSpPr txBox="1">
            <a:spLocks noChangeArrowheads="1"/>
          </p:cNvSpPr>
          <p:nvPr/>
        </p:nvSpPr>
        <p:spPr bwMode="auto">
          <a:xfrm>
            <a:off x="1600200" y="4495800"/>
            <a:ext cx="6096000" cy="1752600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b="1" dirty="0"/>
              <a:t>CREATE TABLE</a:t>
            </a:r>
            <a:r>
              <a:rPr lang="en-US" dirty="0"/>
              <a:t> &lt;</a:t>
            </a:r>
            <a:r>
              <a:rPr lang="en-US" dirty="0" err="1"/>
              <a:t>Tên_bảng</a:t>
            </a:r>
            <a:r>
              <a:rPr lang="en-US" dirty="0"/>
              <a:t>&gt; </a:t>
            </a:r>
            <a:r>
              <a:rPr lang="en-US" b="1" dirty="0"/>
              <a:t>(</a:t>
            </a:r>
            <a:br>
              <a:rPr lang="en-US" b="1" dirty="0"/>
            </a:br>
            <a:r>
              <a:rPr lang="en-US" b="1" dirty="0"/>
              <a:t>	</a:t>
            </a:r>
            <a:r>
              <a:rPr lang="en-US" dirty="0"/>
              <a:t>&lt;</a:t>
            </a:r>
            <a:r>
              <a:rPr lang="en-US" dirty="0" err="1"/>
              <a:t>Tên_cột</a:t>
            </a:r>
            <a:r>
              <a:rPr lang="en-US" dirty="0"/>
              <a:t>&gt; &lt;</a:t>
            </a:r>
            <a:r>
              <a:rPr lang="en-US" dirty="0" err="1"/>
              <a:t>Kiểu_dữ_liệu</a:t>
            </a:r>
            <a:r>
              <a:rPr lang="en-US" dirty="0"/>
              <a:t>&gt; [&lt;RBTV&gt;],</a:t>
            </a:r>
            <a:br>
              <a:rPr lang="en-US" b="1" dirty="0"/>
            </a:br>
            <a:r>
              <a:rPr lang="en-US" b="1" dirty="0"/>
              <a:t>	</a:t>
            </a:r>
            <a:r>
              <a:rPr lang="en-US" dirty="0"/>
              <a:t>&lt;</a:t>
            </a:r>
            <a:r>
              <a:rPr lang="en-US" dirty="0" err="1"/>
              <a:t>Tên_cột</a:t>
            </a:r>
            <a:r>
              <a:rPr lang="en-US" dirty="0"/>
              <a:t>&gt; &lt;</a:t>
            </a:r>
            <a:r>
              <a:rPr lang="en-US" dirty="0" err="1"/>
              <a:t>Kiểu_dữ_liệu</a:t>
            </a:r>
            <a:r>
              <a:rPr lang="en-US" dirty="0"/>
              <a:t>&gt; [&lt;RBTV&gt;],</a:t>
            </a:r>
            <a:br>
              <a:rPr lang="en-US" b="1" dirty="0"/>
            </a:br>
            <a:r>
              <a:rPr lang="en-US" dirty="0"/>
              <a:t>	…</a:t>
            </a:r>
            <a:br>
              <a:rPr lang="en-US" b="1" dirty="0"/>
            </a:br>
            <a:r>
              <a:rPr lang="en-US" dirty="0"/>
              <a:t>	[&lt;RBTV&gt;]</a:t>
            </a:r>
            <a:br>
              <a:rPr lang="en-US" b="1" dirty="0"/>
            </a:br>
            <a:r>
              <a:rPr lang="en-US" b="1" dirty="0"/>
              <a:t>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3590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0371" grpId="0" build="p"/>
      <p:bldP spid="57037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3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- </a:t>
            </a:r>
            <a:r>
              <a:rPr lang="en-US" sz="3500" b="1" dirty="0" err="1"/>
              <a:t>Tạo</a:t>
            </a:r>
            <a:r>
              <a:rPr lang="en-US" sz="3500" b="1" dirty="0"/>
              <a:t> </a:t>
            </a:r>
            <a:r>
              <a:rPr lang="en-US" sz="3500" b="1" dirty="0" err="1"/>
              <a:t>bảng</a:t>
            </a:r>
            <a:endParaRPr lang="en-US" sz="3500" b="1" dirty="0"/>
          </a:p>
        </p:txBody>
      </p:sp>
      <p:sp>
        <p:nvSpPr>
          <p:cNvPr id="568329" name="Text Box 9"/>
          <p:cNvSpPr txBox="1">
            <a:spLocks noChangeArrowheads="1"/>
          </p:cNvSpPr>
          <p:nvPr/>
        </p:nvSpPr>
        <p:spPr bwMode="auto">
          <a:xfrm>
            <a:off x="381000" y="1493837"/>
            <a:ext cx="3810000" cy="490696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dirty="0">
                <a:solidFill>
                  <a:srgbClr val="0000CC"/>
                </a:solidFill>
              </a:rPr>
              <a:t>CREATE TABLE</a:t>
            </a:r>
            <a:r>
              <a:rPr lang="en-US" dirty="0"/>
              <a:t> NHANVIEN (</a:t>
            </a:r>
          </a:p>
          <a:p>
            <a:pPr algn="l"/>
            <a:r>
              <a:rPr lang="en-US" dirty="0"/>
              <a:t>	MANV </a:t>
            </a:r>
            <a:r>
              <a:rPr lang="en-US" dirty="0">
                <a:solidFill>
                  <a:srgbClr val="0000CC"/>
                </a:solidFill>
              </a:rPr>
              <a:t>CHAR</a:t>
            </a:r>
            <a:r>
              <a:rPr lang="en-US" dirty="0"/>
              <a:t>(9),</a:t>
            </a:r>
          </a:p>
          <a:p>
            <a:pPr algn="l"/>
            <a:r>
              <a:rPr lang="en-US" dirty="0"/>
              <a:t>	HONV </a:t>
            </a:r>
            <a:r>
              <a:rPr lang="en-US" dirty="0">
                <a:solidFill>
                  <a:srgbClr val="0000CC"/>
                </a:solidFill>
              </a:rPr>
              <a:t>VARCHAR</a:t>
            </a:r>
            <a:r>
              <a:rPr lang="en-US" dirty="0"/>
              <a:t>(10),</a:t>
            </a:r>
          </a:p>
          <a:p>
            <a:pPr algn="l"/>
            <a:r>
              <a:rPr lang="en-US" dirty="0"/>
              <a:t>	TENLOT </a:t>
            </a:r>
            <a:r>
              <a:rPr lang="en-US" dirty="0">
                <a:solidFill>
                  <a:srgbClr val="0000CC"/>
                </a:solidFill>
              </a:rPr>
              <a:t>VARCHAR</a:t>
            </a:r>
            <a:r>
              <a:rPr lang="en-US" dirty="0"/>
              <a:t>(20),</a:t>
            </a:r>
          </a:p>
          <a:p>
            <a:pPr algn="l"/>
            <a:r>
              <a:rPr lang="en-US" dirty="0"/>
              <a:t>	TENNV </a:t>
            </a:r>
            <a:r>
              <a:rPr lang="en-US" dirty="0">
                <a:solidFill>
                  <a:srgbClr val="0000CC"/>
                </a:solidFill>
              </a:rPr>
              <a:t>VARCHAR</a:t>
            </a:r>
            <a:r>
              <a:rPr lang="en-US" dirty="0"/>
              <a:t>(10),</a:t>
            </a:r>
          </a:p>
          <a:p>
            <a:pPr algn="l"/>
            <a:r>
              <a:rPr lang="en-US" dirty="0"/>
              <a:t>	NGSINH 	</a:t>
            </a:r>
            <a:r>
              <a:rPr lang="en-US" dirty="0">
                <a:solidFill>
                  <a:srgbClr val="0000CC"/>
                </a:solidFill>
              </a:rPr>
              <a:t>DATETIME</a:t>
            </a:r>
            <a:r>
              <a:rPr lang="en-US" dirty="0"/>
              <a:t>,</a:t>
            </a:r>
          </a:p>
          <a:p>
            <a:pPr algn="l"/>
            <a:r>
              <a:rPr lang="en-US" dirty="0"/>
              <a:t>	DCHI </a:t>
            </a:r>
            <a:r>
              <a:rPr lang="en-US" dirty="0">
                <a:solidFill>
                  <a:srgbClr val="0000CC"/>
                </a:solidFill>
              </a:rPr>
              <a:t>VARCHAR</a:t>
            </a:r>
            <a:r>
              <a:rPr lang="en-US" dirty="0"/>
              <a:t>(50),</a:t>
            </a:r>
          </a:p>
          <a:p>
            <a:pPr algn="l"/>
            <a:r>
              <a:rPr lang="en-US" dirty="0"/>
              <a:t>	PHAI </a:t>
            </a:r>
            <a:r>
              <a:rPr lang="en-US" dirty="0">
                <a:solidFill>
                  <a:srgbClr val="0000CC"/>
                </a:solidFill>
              </a:rPr>
              <a:t>CHAR</a:t>
            </a:r>
            <a:r>
              <a:rPr lang="en-US" dirty="0"/>
              <a:t>(3),</a:t>
            </a:r>
          </a:p>
          <a:p>
            <a:pPr algn="l"/>
            <a:r>
              <a:rPr lang="en-US" dirty="0"/>
              <a:t>	LUONG </a:t>
            </a:r>
            <a:r>
              <a:rPr lang="en-US" dirty="0">
                <a:solidFill>
                  <a:srgbClr val="0000CC"/>
                </a:solidFill>
              </a:rPr>
              <a:t>INT</a:t>
            </a:r>
            <a:r>
              <a:rPr lang="en-US" dirty="0"/>
              <a:t>,</a:t>
            </a:r>
          </a:p>
          <a:p>
            <a:pPr algn="l"/>
            <a:r>
              <a:rPr lang="en-US" dirty="0"/>
              <a:t>	MA_NQL </a:t>
            </a:r>
            <a:r>
              <a:rPr lang="en-US" dirty="0">
                <a:solidFill>
                  <a:srgbClr val="0000CC"/>
                </a:solidFill>
              </a:rPr>
              <a:t>CHAR</a:t>
            </a:r>
            <a:r>
              <a:rPr lang="en-US" dirty="0"/>
              <a:t>(9),</a:t>
            </a:r>
          </a:p>
          <a:p>
            <a:pPr algn="l"/>
            <a:r>
              <a:rPr lang="en-US" dirty="0"/>
              <a:t>	PHG </a:t>
            </a:r>
            <a:r>
              <a:rPr lang="en-US" dirty="0">
                <a:solidFill>
                  <a:srgbClr val="0000CC"/>
                </a:solidFill>
              </a:rPr>
              <a:t>INT</a:t>
            </a:r>
          </a:p>
          <a:p>
            <a:pPr algn="l"/>
            <a:r>
              <a:rPr lang="en-US" dirty="0"/>
              <a:t>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04708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4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/>
              <a:t>e) </a:t>
            </a:r>
            <a:r>
              <a:rPr lang="en-US" sz="3500" b="1" dirty="0" err="1"/>
              <a:t>Lệnh</a:t>
            </a:r>
            <a:r>
              <a:rPr lang="en-US" sz="3500" b="1" dirty="0"/>
              <a:t> </a:t>
            </a:r>
            <a:r>
              <a:rPr lang="en-US" sz="3500" b="1" dirty="0" err="1"/>
              <a:t>tạo</a:t>
            </a:r>
            <a:r>
              <a:rPr lang="en-US" sz="3500" b="1" dirty="0"/>
              <a:t> </a:t>
            </a:r>
            <a:r>
              <a:rPr lang="en-US" sz="3500" b="1" dirty="0" err="1"/>
              <a:t>bảng</a:t>
            </a:r>
            <a:endParaRPr lang="en-US" sz="3500" b="1" dirty="0"/>
          </a:p>
        </p:txBody>
      </p:sp>
      <p:sp>
        <p:nvSpPr>
          <p:cNvPr id="5724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pPr algn="just"/>
            <a:r>
              <a:rPr lang="en-US" dirty="0"/>
              <a:t>&lt;RBTV&gt; </a:t>
            </a:r>
          </a:p>
          <a:p>
            <a:pPr lvl="1" algn="just"/>
            <a:r>
              <a:rPr lang="en-US" dirty="0">
                <a:solidFill>
                  <a:schemeClr val="tx1"/>
                </a:solidFill>
              </a:rPr>
              <a:t>NOT NULL</a:t>
            </a:r>
          </a:p>
          <a:p>
            <a:pPr lvl="1" algn="just"/>
            <a:r>
              <a:rPr lang="en-US" dirty="0">
                <a:solidFill>
                  <a:schemeClr val="tx1"/>
                </a:solidFill>
              </a:rPr>
              <a:t>NULL</a:t>
            </a:r>
          </a:p>
          <a:p>
            <a:pPr lvl="1" algn="just"/>
            <a:r>
              <a:rPr lang="en-US" dirty="0">
                <a:solidFill>
                  <a:schemeClr val="tx1"/>
                </a:solidFill>
              </a:rPr>
              <a:t>UNIQUE (</a:t>
            </a:r>
            <a:r>
              <a:rPr lang="en-US" dirty="0" err="1">
                <a:solidFill>
                  <a:schemeClr val="tx1"/>
                </a:solidFill>
              </a:rPr>
              <a:t>Khóa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chỉ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định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lvl="1" algn="just"/>
            <a:r>
              <a:rPr lang="en-US" dirty="0">
                <a:solidFill>
                  <a:schemeClr val="tx1"/>
                </a:solidFill>
              </a:rPr>
              <a:t>DEFAULT</a:t>
            </a:r>
          </a:p>
          <a:p>
            <a:pPr lvl="1" algn="just"/>
            <a:r>
              <a:rPr lang="en-US" dirty="0">
                <a:solidFill>
                  <a:schemeClr val="tx1"/>
                </a:solidFill>
              </a:rPr>
              <a:t>PRIMARY KEY</a:t>
            </a:r>
          </a:p>
          <a:p>
            <a:pPr lvl="1" algn="just"/>
            <a:r>
              <a:rPr lang="en-US" dirty="0">
                <a:solidFill>
                  <a:schemeClr val="tx1"/>
                </a:solidFill>
              </a:rPr>
              <a:t>FOREIGN KEY / REFERENCES</a:t>
            </a:r>
          </a:p>
          <a:p>
            <a:pPr lvl="1" algn="just"/>
            <a:r>
              <a:rPr lang="en-US" dirty="0">
                <a:solidFill>
                  <a:schemeClr val="tx1"/>
                </a:solidFill>
              </a:rPr>
              <a:t>CHECK</a:t>
            </a:r>
          </a:p>
          <a:p>
            <a:pPr algn="just"/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RBTV</a:t>
            </a:r>
          </a:p>
          <a:p>
            <a:pPr algn="just"/>
            <a:endParaRPr lang="en-US" dirty="0"/>
          </a:p>
        </p:txBody>
      </p:sp>
      <p:sp>
        <p:nvSpPr>
          <p:cNvPr id="572421" name="Text Box 5"/>
          <p:cNvSpPr txBox="1">
            <a:spLocks noChangeArrowheads="1"/>
          </p:cNvSpPr>
          <p:nvPr/>
        </p:nvSpPr>
        <p:spPr bwMode="auto">
          <a:xfrm>
            <a:off x="2057400" y="5487988"/>
            <a:ext cx="4495800" cy="379412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b="1" dirty="0"/>
              <a:t>CONSTRAINT </a:t>
            </a:r>
            <a:r>
              <a:rPr lang="en-US" dirty="0"/>
              <a:t>&lt;</a:t>
            </a:r>
            <a:r>
              <a:rPr lang="en-US" dirty="0" err="1"/>
              <a:t>Ten_RBTV</a:t>
            </a:r>
            <a:r>
              <a:rPr lang="en-US" dirty="0"/>
              <a:t>&gt; &lt;RBTV&gt;</a:t>
            </a:r>
            <a:endParaRPr lang="en-US" b="1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7239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2419" grpId="0" build="p"/>
      <p:bldP spid="57242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4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- </a:t>
            </a:r>
            <a:r>
              <a:rPr lang="en-US" sz="3500" b="1" dirty="0" err="1"/>
              <a:t>Tạo</a:t>
            </a:r>
            <a:r>
              <a:rPr lang="en-US" sz="3500" b="1" dirty="0"/>
              <a:t> </a:t>
            </a:r>
            <a:r>
              <a:rPr lang="en-US" sz="3500" b="1" dirty="0" err="1"/>
              <a:t>bảng</a:t>
            </a:r>
            <a:r>
              <a:rPr lang="en-US" sz="3500" b="1" dirty="0"/>
              <a:t> </a:t>
            </a:r>
            <a:r>
              <a:rPr lang="en-US" sz="3500" b="1" dirty="0" err="1"/>
              <a:t>có</a:t>
            </a:r>
            <a:r>
              <a:rPr lang="en-US" sz="3500" b="1" dirty="0"/>
              <a:t> </a:t>
            </a:r>
            <a:r>
              <a:rPr lang="en-US" sz="3500" b="1" dirty="0" err="1"/>
              <a:t>kèm</a:t>
            </a:r>
            <a:r>
              <a:rPr lang="en-US" sz="3500" b="1" dirty="0"/>
              <a:t> RBTV</a:t>
            </a:r>
          </a:p>
        </p:txBody>
      </p:sp>
      <p:sp>
        <p:nvSpPr>
          <p:cNvPr id="574469" name="Text Box 5"/>
          <p:cNvSpPr txBox="1">
            <a:spLocks noChangeArrowheads="1"/>
          </p:cNvSpPr>
          <p:nvPr/>
        </p:nvSpPr>
        <p:spPr bwMode="auto">
          <a:xfrm>
            <a:off x="152400" y="1493838"/>
            <a:ext cx="6477000" cy="490696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dirty="0">
                <a:solidFill>
                  <a:srgbClr val="0000CC"/>
                </a:solidFill>
              </a:rPr>
              <a:t>CREATE TABLE</a:t>
            </a:r>
            <a:r>
              <a:rPr lang="en-US" dirty="0"/>
              <a:t> NHANVIEN (</a:t>
            </a:r>
          </a:p>
          <a:p>
            <a:pPr algn="l"/>
            <a:r>
              <a:rPr lang="en-US" dirty="0"/>
              <a:t>	HONV </a:t>
            </a:r>
            <a:r>
              <a:rPr lang="en-US" dirty="0">
                <a:solidFill>
                  <a:srgbClr val="0000CC"/>
                </a:solidFill>
              </a:rPr>
              <a:t>VARCHAR</a:t>
            </a:r>
            <a:r>
              <a:rPr lang="en-US" dirty="0"/>
              <a:t>(10) </a:t>
            </a:r>
            <a:r>
              <a:rPr lang="en-US" dirty="0">
                <a:solidFill>
                  <a:srgbClr val="777777"/>
                </a:solidFill>
              </a:rPr>
              <a:t>NOT NULL</a:t>
            </a:r>
            <a:r>
              <a:rPr lang="en-US" dirty="0"/>
              <a:t>,</a:t>
            </a:r>
          </a:p>
          <a:p>
            <a:pPr algn="l"/>
            <a:r>
              <a:rPr lang="en-US" dirty="0"/>
              <a:t>	TENLOT </a:t>
            </a:r>
            <a:r>
              <a:rPr lang="en-US" dirty="0">
                <a:solidFill>
                  <a:srgbClr val="0000CC"/>
                </a:solidFill>
              </a:rPr>
              <a:t>VARCHAR</a:t>
            </a:r>
            <a:r>
              <a:rPr lang="en-US" dirty="0"/>
              <a:t>(20) </a:t>
            </a:r>
            <a:r>
              <a:rPr lang="en-US" dirty="0">
                <a:solidFill>
                  <a:srgbClr val="777777"/>
                </a:solidFill>
              </a:rPr>
              <a:t>NOT NULL</a:t>
            </a:r>
            <a:r>
              <a:rPr lang="en-US" dirty="0"/>
              <a:t>,</a:t>
            </a:r>
          </a:p>
          <a:p>
            <a:pPr algn="l"/>
            <a:r>
              <a:rPr lang="en-US" dirty="0"/>
              <a:t>	TENNV </a:t>
            </a:r>
            <a:r>
              <a:rPr lang="en-US" dirty="0">
                <a:solidFill>
                  <a:srgbClr val="0000CC"/>
                </a:solidFill>
              </a:rPr>
              <a:t>VARCHAR</a:t>
            </a:r>
            <a:r>
              <a:rPr lang="en-US" dirty="0"/>
              <a:t>(10) </a:t>
            </a:r>
            <a:r>
              <a:rPr lang="en-US" dirty="0">
                <a:solidFill>
                  <a:srgbClr val="777777"/>
                </a:solidFill>
              </a:rPr>
              <a:t>NOT NULL</a:t>
            </a:r>
            <a:r>
              <a:rPr lang="en-US" dirty="0"/>
              <a:t>,</a:t>
            </a:r>
          </a:p>
          <a:p>
            <a:pPr algn="l"/>
            <a:r>
              <a:rPr lang="en-US" dirty="0"/>
              <a:t>	MANV </a:t>
            </a:r>
            <a:r>
              <a:rPr lang="en-US" dirty="0">
                <a:solidFill>
                  <a:srgbClr val="0000CC"/>
                </a:solidFill>
              </a:rPr>
              <a:t>CHAR</a:t>
            </a:r>
            <a:r>
              <a:rPr lang="en-US" dirty="0"/>
              <a:t>(9) </a:t>
            </a:r>
            <a:r>
              <a:rPr lang="en-US" dirty="0">
                <a:solidFill>
                  <a:srgbClr val="0000CC"/>
                </a:solidFill>
              </a:rPr>
              <a:t>PRIMARY KEY</a:t>
            </a:r>
            <a:r>
              <a:rPr lang="en-US" dirty="0"/>
              <a:t>,</a:t>
            </a:r>
          </a:p>
          <a:p>
            <a:pPr algn="l"/>
            <a:r>
              <a:rPr lang="en-US" dirty="0"/>
              <a:t>	NGSINH 	</a:t>
            </a:r>
            <a:r>
              <a:rPr lang="en-US" dirty="0">
                <a:solidFill>
                  <a:srgbClr val="0000CC"/>
                </a:solidFill>
              </a:rPr>
              <a:t>DATETIME</a:t>
            </a:r>
            <a:r>
              <a:rPr lang="en-US" dirty="0"/>
              <a:t>,</a:t>
            </a:r>
          </a:p>
          <a:p>
            <a:pPr algn="l"/>
            <a:r>
              <a:rPr lang="en-US" dirty="0"/>
              <a:t>	DCHI </a:t>
            </a:r>
            <a:r>
              <a:rPr lang="en-US" dirty="0">
                <a:solidFill>
                  <a:srgbClr val="0000CC"/>
                </a:solidFill>
              </a:rPr>
              <a:t>VARCHAR</a:t>
            </a:r>
            <a:r>
              <a:rPr lang="en-US" dirty="0"/>
              <a:t>(50),</a:t>
            </a:r>
          </a:p>
          <a:p>
            <a:pPr algn="l"/>
            <a:r>
              <a:rPr lang="en-US" dirty="0"/>
              <a:t>	PHAI </a:t>
            </a:r>
            <a:r>
              <a:rPr lang="en-US" dirty="0">
                <a:solidFill>
                  <a:srgbClr val="0000CC"/>
                </a:solidFill>
              </a:rPr>
              <a:t>CHAR</a:t>
            </a:r>
            <a:r>
              <a:rPr lang="en-US" dirty="0"/>
              <a:t>(3) </a:t>
            </a:r>
            <a:r>
              <a:rPr lang="en-US" dirty="0">
                <a:solidFill>
                  <a:srgbClr val="0000CC"/>
                </a:solidFill>
              </a:rPr>
              <a:t>CHECK</a:t>
            </a:r>
            <a:r>
              <a:rPr lang="en-US" dirty="0"/>
              <a:t> (PHAI </a:t>
            </a:r>
            <a:r>
              <a:rPr lang="en-US" dirty="0">
                <a:solidFill>
                  <a:srgbClr val="777777"/>
                </a:solidFill>
              </a:rPr>
              <a:t>IN</a:t>
            </a:r>
            <a:r>
              <a:rPr lang="en-US" dirty="0"/>
              <a:t> (</a:t>
            </a:r>
            <a:r>
              <a:rPr lang="en-US" dirty="0">
                <a:solidFill>
                  <a:srgbClr val="CC0000"/>
                </a:solidFill>
              </a:rPr>
              <a:t>‘Nam’</a:t>
            </a:r>
            <a:r>
              <a:rPr lang="en-US" dirty="0"/>
              <a:t>, </a:t>
            </a:r>
            <a:r>
              <a:rPr lang="en-US" dirty="0">
                <a:solidFill>
                  <a:srgbClr val="CC0000"/>
                </a:solidFill>
              </a:rPr>
              <a:t>‘Nu’</a:t>
            </a:r>
            <a:r>
              <a:rPr lang="en-US" dirty="0"/>
              <a:t>)),</a:t>
            </a:r>
          </a:p>
          <a:p>
            <a:pPr algn="l"/>
            <a:r>
              <a:rPr lang="en-US" dirty="0"/>
              <a:t>	LUONG </a:t>
            </a:r>
            <a:r>
              <a:rPr lang="en-US" dirty="0">
                <a:solidFill>
                  <a:srgbClr val="0000CC"/>
                </a:solidFill>
              </a:rPr>
              <a:t>INT DEFAULT </a:t>
            </a:r>
            <a:r>
              <a:rPr lang="en-US" dirty="0"/>
              <a:t>(10000),</a:t>
            </a:r>
          </a:p>
          <a:p>
            <a:pPr algn="l"/>
            <a:r>
              <a:rPr lang="en-US" dirty="0"/>
              <a:t>	MA_NQL </a:t>
            </a:r>
            <a:r>
              <a:rPr lang="en-US" dirty="0">
                <a:solidFill>
                  <a:srgbClr val="0000CC"/>
                </a:solidFill>
              </a:rPr>
              <a:t>CHAR</a:t>
            </a:r>
            <a:r>
              <a:rPr lang="en-US" dirty="0"/>
              <a:t>(9),</a:t>
            </a:r>
          </a:p>
          <a:p>
            <a:pPr algn="l"/>
            <a:r>
              <a:rPr lang="en-US" dirty="0"/>
              <a:t>	PHG </a:t>
            </a:r>
            <a:r>
              <a:rPr lang="en-US" dirty="0">
                <a:solidFill>
                  <a:srgbClr val="0000CC"/>
                </a:solidFill>
              </a:rPr>
              <a:t>INT</a:t>
            </a:r>
          </a:p>
          <a:p>
            <a:pPr algn="l"/>
            <a:r>
              <a:rPr lang="en-US" dirty="0"/>
              <a:t>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67908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5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- </a:t>
            </a:r>
            <a:r>
              <a:rPr lang="en-US" sz="3500" b="1" dirty="0" err="1"/>
              <a:t>Tạo</a:t>
            </a:r>
            <a:r>
              <a:rPr lang="en-US" sz="3500" b="1" dirty="0"/>
              <a:t> </a:t>
            </a:r>
            <a:r>
              <a:rPr lang="en-US" sz="3500" b="1" dirty="0" err="1"/>
              <a:t>bảng</a:t>
            </a:r>
            <a:r>
              <a:rPr lang="en-US" sz="3500" b="1" dirty="0"/>
              <a:t> </a:t>
            </a:r>
            <a:r>
              <a:rPr lang="en-US" sz="3500" b="1" dirty="0" err="1"/>
              <a:t>có</a:t>
            </a:r>
            <a:r>
              <a:rPr lang="en-US" sz="3500" b="1" dirty="0"/>
              <a:t> </a:t>
            </a:r>
            <a:r>
              <a:rPr lang="en-US" sz="3500" b="1" dirty="0" err="1"/>
              <a:t>kèm</a:t>
            </a:r>
            <a:r>
              <a:rPr lang="en-US" sz="3500" b="1" dirty="0"/>
              <a:t> RBTV</a:t>
            </a:r>
          </a:p>
        </p:txBody>
      </p:sp>
      <p:sp>
        <p:nvSpPr>
          <p:cNvPr id="577540" name="Text Box 4"/>
          <p:cNvSpPr txBox="1">
            <a:spLocks noChangeArrowheads="1"/>
          </p:cNvSpPr>
          <p:nvPr/>
        </p:nvSpPr>
        <p:spPr bwMode="auto">
          <a:xfrm>
            <a:off x="1219200" y="1531937"/>
            <a:ext cx="6705600" cy="243046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dirty="0">
                <a:solidFill>
                  <a:srgbClr val="0000CC"/>
                </a:solidFill>
              </a:rPr>
              <a:t>CREATE TABLE</a:t>
            </a:r>
            <a:r>
              <a:rPr lang="en-US" dirty="0"/>
              <a:t> PHONGBAN (</a:t>
            </a:r>
          </a:p>
          <a:p>
            <a:pPr algn="l"/>
            <a:r>
              <a:rPr lang="en-US" dirty="0"/>
              <a:t>	TENPB </a:t>
            </a:r>
            <a:r>
              <a:rPr lang="en-US" dirty="0">
                <a:solidFill>
                  <a:srgbClr val="0000CC"/>
                </a:solidFill>
              </a:rPr>
              <a:t>VARCHAR</a:t>
            </a:r>
            <a:r>
              <a:rPr lang="en-US" dirty="0"/>
              <a:t>(20) </a:t>
            </a:r>
            <a:r>
              <a:rPr lang="en-US" dirty="0">
                <a:solidFill>
                  <a:srgbClr val="0000CC"/>
                </a:solidFill>
              </a:rPr>
              <a:t>UNIQUE</a:t>
            </a:r>
            <a:r>
              <a:rPr lang="en-US" dirty="0"/>
              <a:t>,</a:t>
            </a:r>
          </a:p>
          <a:p>
            <a:pPr algn="l"/>
            <a:r>
              <a:rPr lang="en-US" dirty="0"/>
              <a:t>	MAPHG </a:t>
            </a:r>
            <a:r>
              <a:rPr lang="en-US" dirty="0">
                <a:solidFill>
                  <a:srgbClr val="0000CC"/>
                </a:solidFill>
              </a:rPr>
              <a:t>INT </a:t>
            </a:r>
            <a:r>
              <a:rPr lang="en-US" dirty="0">
                <a:solidFill>
                  <a:srgbClr val="777777"/>
                </a:solidFill>
              </a:rPr>
              <a:t>NOT NULL</a:t>
            </a:r>
            <a:r>
              <a:rPr lang="en-US" dirty="0"/>
              <a:t>,</a:t>
            </a:r>
          </a:p>
          <a:p>
            <a:pPr algn="l"/>
            <a:r>
              <a:rPr lang="en-US" dirty="0"/>
              <a:t>	TRPHG </a:t>
            </a:r>
            <a:r>
              <a:rPr lang="en-US" dirty="0">
                <a:solidFill>
                  <a:srgbClr val="0000CC"/>
                </a:solidFill>
              </a:rPr>
              <a:t>CHAR</a:t>
            </a:r>
            <a:r>
              <a:rPr lang="en-US" dirty="0"/>
              <a:t>(9),</a:t>
            </a:r>
          </a:p>
          <a:p>
            <a:pPr algn="l"/>
            <a:r>
              <a:rPr lang="en-US" dirty="0"/>
              <a:t>	NG_NHANCHUC </a:t>
            </a:r>
            <a:r>
              <a:rPr lang="en-US" dirty="0">
                <a:solidFill>
                  <a:srgbClr val="0000CC"/>
                </a:solidFill>
              </a:rPr>
              <a:t>DATETIME DEFAULT </a:t>
            </a:r>
            <a:r>
              <a:rPr lang="en-US" dirty="0"/>
              <a:t>(</a:t>
            </a:r>
            <a:r>
              <a:rPr lang="en-US" dirty="0">
                <a:solidFill>
                  <a:srgbClr val="FF3399"/>
                </a:solidFill>
              </a:rPr>
              <a:t>GETDATE()</a:t>
            </a:r>
            <a:r>
              <a:rPr lang="en-US" dirty="0"/>
              <a:t>)</a:t>
            </a:r>
          </a:p>
          <a:p>
            <a:pPr algn="l"/>
            <a:r>
              <a:rPr lang="en-US" dirty="0"/>
              <a:t>)</a:t>
            </a:r>
          </a:p>
        </p:txBody>
      </p:sp>
      <p:sp>
        <p:nvSpPr>
          <p:cNvPr id="577541" name="Text Box 5"/>
          <p:cNvSpPr txBox="1">
            <a:spLocks noChangeArrowheads="1"/>
          </p:cNvSpPr>
          <p:nvPr/>
        </p:nvSpPr>
        <p:spPr bwMode="auto">
          <a:xfrm>
            <a:off x="1219200" y="3970338"/>
            <a:ext cx="7315200" cy="243046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dirty="0">
                <a:solidFill>
                  <a:srgbClr val="0000CC"/>
                </a:solidFill>
              </a:rPr>
              <a:t>CREATE TABLE</a:t>
            </a:r>
            <a:r>
              <a:rPr lang="en-US" dirty="0"/>
              <a:t> PHANCONG (</a:t>
            </a:r>
          </a:p>
          <a:p>
            <a:pPr algn="l"/>
            <a:r>
              <a:rPr lang="en-US" dirty="0"/>
              <a:t>	MA_NVIEN </a:t>
            </a:r>
            <a:r>
              <a:rPr lang="en-US" dirty="0">
                <a:solidFill>
                  <a:srgbClr val="0000CC"/>
                </a:solidFill>
              </a:rPr>
              <a:t>CHAR</a:t>
            </a:r>
            <a:r>
              <a:rPr lang="en-US" dirty="0"/>
              <a:t>(9) </a:t>
            </a:r>
            <a:r>
              <a:rPr lang="en-US" dirty="0">
                <a:solidFill>
                  <a:srgbClr val="0000CC"/>
                </a:solidFill>
              </a:rPr>
              <a:t>FOREIGN KEY</a:t>
            </a:r>
            <a:r>
              <a:rPr lang="en-US" dirty="0"/>
              <a:t> (MA_NVIEN) </a:t>
            </a:r>
          </a:p>
          <a:p>
            <a:pPr algn="l"/>
            <a:r>
              <a:rPr lang="en-US" dirty="0"/>
              <a:t>		</a:t>
            </a:r>
            <a:r>
              <a:rPr lang="en-US" dirty="0">
                <a:solidFill>
                  <a:srgbClr val="0000CC"/>
                </a:solidFill>
              </a:rPr>
              <a:t>REFERENCES</a:t>
            </a:r>
            <a:r>
              <a:rPr lang="en-US" dirty="0"/>
              <a:t> NHANVIEN(MANV),</a:t>
            </a:r>
          </a:p>
          <a:p>
            <a:pPr algn="l"/>
            <a:r>
              <a:rPr lang="en-US" dirty="0"/>
              <a:t>	SODA </a:t>
            </a:r>
            <a:r>
              <a:rPr lang="en-US" dirty="0">
                <a:solidFill>
                  <a:srgbClr val="0000CC"/>
                </a:solidFill>
              </a:rPr>
              <a:t>INT REFERENCES</a:t>
            </a:r>
            <a:r>
              <a:rPr lang="en-US" dirty="0"/>
              <a:t> DEAN(MADA),</a:t>
            </a:r>
          </a:p>
          <a:p>
            <a:pPr algn="l"/>
            <a:r>
              <a:rPr lang="en-US" dirty="0"/>
              <a:t>	THOIGIAN </a:t>
            </a:r>
            <a:r>
              <a:rPr lang="en-US" dirty="0">
                <a:solidFill>
                  <a:srgbClr val="0000CC"/>
                </a:solidFill>
              </a:rPr>
              <a:t>DECIMAL</a:t>
            </a:r>
            <a:r>
              <a:rPr lang="en-US" dirty="0"/>
              <a:t>(3,1)</a:t>
            </a:r>
          </a:p>
          <a:p>
            <a:pPr algn="l"/>
            <a:r>
              <a:rPr lang="en-US" dirty="0"/>
              <a:t>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00005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5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- RBTV </a:t>
            </a:r>
            <a:r>
              <a:rPr lang="en-US" sz="3500" b="1" dirty="0" err="1"/>
              <a:t>có</a:t>
            </a:r>
            <a:r>
              <a:rPr lang="en-US" sz="3500" b="1" dirty="0"/>
              <a:t> </a:t>
            </a:r>
            <a:r>
              <a:rPr lang="en-US" sz="3500" b="1" dirty="0" err="1"/>
              <a:t>đặt</a:t>
            </a:r>
            <a:r>
              <a:rPr lang="en-US" sz="3500" b="1" dirty="0"/>
              <a:t> </a:t>
            </a:r>
            <a:r>
              <a:rPr lang="en-US" sz="3500" b="1" dirty="0" err="1"/>
              <a:t>tên</a:t>
            </a:r>
            <a:endParaRPr lang="en-US" sz="3500" b="1" dirty="0"/>
          </a:p>
        </p:txBody>
      </p:sp>
      <p:sp>
        <p:nvSpPr>
          <p:cNvPr id="579587" name="Text Box 3"/>
          <p:cNvSpPr txBox="1">
            <a:spLocks noChangeArrowheads="1"/>
          </p:cNvSpPr>
          <p:nvPr/>
        </p:nvSpPr>
        <p:spPr bwMode="auto">
          <a:xfrm>
            <a:off x="304800" y="1461730"/>
            <a:ext cx="8534400" cy="486287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sz="1600" dirty="0">
                <a:solidFill>
                  <a:srgbClr val="0000CC"/>
                </a:solidFill>
              </a:rPr>
              <a:t>CREATE TABLE</a:t>
            </a:r>
            <a:r>
              <a:rPr lang="en-US" sz="1600" dirty="0"/>
              <a:t> NHANVIEN (</a:t>
            </a:r>
          </a:p>
          <a:p>
            <a:pPr algn="l"/>
            <a:r>
              <a:rPr lang="en-US" sz="1600" dirty="0"/>
              <a:t>	HONV </a:t>
            </a:r>
            <a:r>
              <a:rPr lang="en-US" sz="1600" dirty="0">
                <a:solidFill>
                  <a:srgbClr val="0000CC"/>
                </a:solidFill>
              </a:rPr>
              <a:t>VARCHAR</a:t>
            </a:r>
            <a:r>
              <a:rPr lang="en-US" sz="1600" dirty="0"/>
              <a:t>(10) </a:t>
            </a:r>
            <a:r>
              <a:rPr lang="en-US" sz="1600" dirty="0">
                <a:solidFill>
                  <a:srgbClr val="0000CC"/>
                </a:solidFill>
              </a:rPr>
              <a:t>CONSTRAINT</a:t>
            </a:r>
            <a:r>
              <a:rPr lang="en-US" sz="1600" dirty="0"/>
              <a:t> NV_HONV_NN </a:t>
            </a:r>
            <a:r>
              <a:rPr lang="en-US" sz="1600" dirty="0">
                <a:solidFill>
                  <a:srgbClr val="777777"/>
                </a:solidFill>
              </a:rPr>
              <a:t>NOT NULL</a:t>
            </a:r>
            <a:r>
              <a:rPr lang="en-US" sz="1600" dirty="0"/>
              <a:t>,</a:t>
            </a:r>
          </a:p>
          <a:p>
            <a:pPr algn="l"/>
            <a:r>
              <a:rPr lang="en-US" sz="1600" dirty="0"/>
              <a:t>	TENLOT </a:t>
            </a:r>
            <a:r>
              <a:rPr lang="en-US" sz="1600" dirty="0">
                <a:solidFill>
                  <a:srgbClr val="0000CC"/>
                </a:solidFill>
              </a:rPr>
              <a:t>VARCHAR</a:t>
            </a:r>
            <a:r>
              <a:rPr lang="en-US" sz="1600" dirty="0"/>
              <a:t>(20) </a:t>
            </a:r>
            <a:r>
              <a:rPr lang="en-US" sz="1600" dirty="0">
                <a:solidFill>
                  <a:srgbClr val="777777"/>
                </a:solidFill>
              </a:rPr>
              <a:t>NOT NULL</a:t>
            </a:r>
            <a:r>
              <a:rPr lang="en-US" sz="1600" dirty="0"/>
              <a:t>,</a:t>
            </a:r>
          </a:p>
          <a:p>
            <a:pPr algn="l"/>
            <a:r>
              <a:rPr lang="en-US" sz="1600" dirty="0"/>
              <a:t>	TENNV </a:t>
            </a:r>
            <a:r>
              <a:rPr lang="en-US" sz="1600" dirty="0">
                <a:solidFill>
                  <a:srgbClr val="0000CC"/>
                </a:solidFill>
              </a:rPr>
              <a:t>VARCHAR</a:t>
            </a:r>
            <a:r>
              <a:rPr lang="en-US" sz="1600" dirty="0"/>
              <a:t>(10) </a:t>
            </a:r>
            <a:r>
              <a:rPr lang="en-US" sz="1600" dirty="0">
                <a:solidFill>
                  <a:srgbClr val="777777"/>
                </a:solidFill>
              </a:rPr>
              <a:t>NOT NULL</a:t>
            </a:r>
            <a:r>
              <a:rPr lang="en-US" sz="1600" dirty="0"/>
              <a:t>,</a:t>
            </a:r>
          </a:p>
          <a:p>
            <a:pPr algn="l"/>
            <a:r>
              <a:rPr lang="en-US" sz="1600" dirty="0"/>
              <a:t>	MANV </a:t>
            </a:r>
            <a:r>
              <a:rPr lang="en-US" sz="1600" dirty="0">
                <a:solidFill>
                  <a:srgbClr val="0000CC"/>
                </a:solidFill>
              </a:rPr>
              <a:t>CHAR</a:t>
            </a:r>
            <a:r>
              <a:rPr lang="en-US" sz="1600" dirty="0"/>
              <a:t>(9) </a:t>
            </a:r>
            <a:r>
              <a:rPr lang="en-US" sz="1600" dirty="0">
                <a:solidFill>
                  <a:srgbClr val="0000CC"/>
                </a:solidFill>
              </a:rPr>
              <a:t>CONSTRAINT</a:t>
            </a:r>
            <a:r>
              <a:rPr lang="en-US" sz="1600" dirty="0"/>
              <a:t> NV_MANV_PK </a:t>
            </a:r>
            <a:r>
              <a:rPr lang="en-US" sz="1600" dirty="0">
                <a:solidFill>
                  <a:srgbClr val="0000CC"/>
                </a:solidFill>
              </a:rPr>
              <a:t>PRIMARY KEY</a:t>
            </a:r>
            <a:r>
              <a:rPr lang="en-US" sz="1600" dirty="0"/>
              <a:t>,</a:t>
            </a:r>
          </a:p>
          <a:p>
            <a:pPr algn="l"/>
            <a:r>
              <a:rPr lang="en-US" sz="1600" dirty="0"/>
              <a:t>	NGSINH 	</a:t>
            </a:r>
            <a:r>
              <a:rPr lang="en-US" sz="1600" dirty="0">
                <a:solidFill>
                  <a:srgbClr val="0000CC"/>
                </a:solidFill>
              </a:rPr>
              <a:t>DATETIME</a:t>
            </a:r>
            <a:r>
              <a:rPr lang="en-US" sz="1600" dirty="0"/>
              <a:t>,</a:t>
            </a:r>
          </a:p>
          <a:p>
            <a:pPr algn="l"/>
            <a:r>
              <a:rPr lang="en-US" sz="1600" dirty="0"/>
              <a:t>	DCHI </a:t>
            </a:r>
            <a:r>
              <a:rPr lang="en-US" sz="1600" dirty="0">
                <a:solidFill>
                  <a:srgbClr val="0000CC"/>
                </a:solidFill>
              </a:rPr>
              <a:t>VARCHAR</a:t>
            </a:r>
            <a:r>
              <a:rPr lang="en-US" sz="1600" dirty="0"/>
              <a:t>(50),</a:t>
            </a:r>
          </a:p>
          <a:p>
            <a:pPr algn="l"/>
            <a:r>
              <a:rPr lang="en-US" sz="1600" dirty="0"/>
              <a:t>	PHAI </a:t>
            </a:r>
            <a:r>
              <a:rPr lang="en-US" sz="1600" dirty="0">
                <a:solidFill>
                  <a:srgbClr val="0000CC"/>
                </a:solidFill>
              </a:rPr>
              <a:t>CHAR</a:t>
            </a:r>
            <a:r>
              <a:rPr lang="en-US" sz="1600" dirty="0"/>
              <a:t>(3) </a:t>
            </a:r>
            <a:r>
              <a:rPr lang="en-US" sz="1600" dirty="0">
                <a:solidFill>
                  <a:srgbClr val="0000CC"/>
                </a:solidFill>
              </a:rPr>
              <a:t>CONSTRAINT</a:t>
            </a:r>
            <a:r>
              <a:rPr lang="en-US" sz="1600" dirty="0"/>
              <a:t> NV_PHAI_CHK </a:t>
            </a:r>
          </a:p>
          <a:p>
            <a:pPr algn="l"/>
            <a:r>
              <a:rPr lang="en-US" sz="1600" dirty="0"/>
              <a:t>		</a:t>
            </a:r>
            <a:r>
              <a:rPr lang="en-US" sz="1600" dirty="0">
                <a:solidFill>
                  <a:srgbClr val="0000CC"/>
                </a:solidFill>
              </a:rPr>
              <a:t>CHECK</a:t>
            </a:r>
            <a:r>
              <a:rPr lang="en-US" sz="1600" dirty="0"/>
              <a:t> (PHAI </a:t>
            </a:r>
            <a:r>
              <a:rPr lang="en-US" sz="1600" dirty="0">
                <a:solidFill>
                  <a:srgbClr val="777777"/>
                </a:solidFill>
              </a:rPr>
              <a:t>IN</a:t>
            </a:r>
            <a:r>
              <a:rPr lang="en-US" sz="1600" dirty="0"/>
              <a:t> (</a:t>
            </a:r>
            <a:r>
              <a:rPr lang="en-US" sz="1600" dirty="0">
                <a:solidFill>
                  <a:srgbClr val="CC0000"/>
                </a:solidFill>
              </a:rPr>
              <a:t>‘Nam’</a:t>
            </a:r>
            <a:r>
              <a:rPr lang="en-US" sz="1600" dirty="0"/>
              <a:t>, </a:t>
            </a:r>
            <a:r>
              <a:rPr lang="en-US" sz="1600" dirty="0">
                <a:solidFill>
                  <a:srgbClr val="CC0000"/>
                </a:solidFill>
              </a:rPr>
              <a:t>‘Nu’</a:t>
            </a:r>
            <a:r>
              <a:rPr lang="en-US" sz="1600" dirty="0"/>
              <a:t>)),</a:t>
            </a:r>
          </a:p>
          <a:p>
            <a:pPr algn="l"/>
            <a:r>
              <a:rPr lang="en-US" sz="1600" dirty="0"/>
              <a:t>	LUONG </a:t>
            </a:r>
            <a:r>
              <a:rPr lang="en-US" sz="1600" dirty="0">
                <a:solidFill>
                  <a:srgbClr val="0000CC"/>
                </a:solidFill>
              </a:rPr>
              <a:t>INT CONSTRAINT</a:t>
            </a:r>
            <a:r>
              <a:rPr lang="en-US" sz="1600" dirty="0"/>
              <a:t> NV_LUONG_DF </a:t>
            </a:r>
            <a:r>
              <a:rPr lang="en-US" sz="1600" dirty="0">
                <a:solidFill>
                  <a:srgbClr val="0000CC"/>
                </a:solidFill>
              </a:rPr>
              <a:t>DEFAULT </a:t>
            </a:r>
            <a:r>
              <a:rPr lang="en-US" sz="1600" dirty="0"/>
              <a:t>(10000),</a:t>
            </a:r>
          </a:p>
          <a:p>
            <a:pPr algn="l"/>
            <a:r>
              <a:rPr lang="en-US" sz="1600" dirty="0"/>
              <a:t>	MA_NQL </a:t>
            </a:r>
            <a:r>
              <a:rPr lang="en-US" sz="1600" dirty="0">
                <a:solidFill>
                  <a:srgbClr val="0000CC"/>
                </a:solidFill>
              </a:rPr>
              <a:t>CHAR</a:t>
            </a:r>
            <a:r>
              <a:rPr lang="en-US" sz="1600" dirty="0"/>
              <a:t>(9),</a:t>
            </a:r>
          </a:p>
          <a:p>
            <a:pPr algn="l"/>
            <a:r>
              <a:rPr lang="en-US" sz="1600" dirty="0"/>
              <a:t>	PHG </a:t>
            </a:r>
            <a:r>
              <a:rPr lang="en-US" sz="1600" dirty="0">
                <a:solidFill>
                  <a:srgbClr val="0000CC"/>
                </a:solidFill>
              </a:rPr>
              <a:t>INT</a:t>
            </a:r>
          </a:p>
          <a:p>
            <a:pPr algn="l"/>
            <a:r>
              <a:rPr lang="en-US" sz="1600" dirty="0"/>
              <a:t>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98024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6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- RBTV </a:t>
            </a:r>
            <a:r>
              <a:rPr lang="en-US" sz="3500" b="1" dirty="0" err="1"/>
              <a:t>có</a:t>
            </a:r>
            <a:r>
              <a:rPr lang="en-US" sz="3500" b="1" dirty="0"/>
              <a:t> </a:t>
            </a:r>
            <a:r>
              <a:rPr lang="en-US" sz="3500" b="1" dirty="0" err="1"/>
              <a:t>đặt</a:t>
            </a:r>
            <a:r>
              <a:rPr lang="en-US" sz="3500" b="1" dirty="0"/>
              <a:t> </a:t>
            </a:r>
            <a:r>
              <a:rPr lang="en-US" sz="3500" b="1" dirty="0" err="1"/>
              <a:t>tên</a:t>
            </a:r>
            <a:endParaRPr lang="en-US" sz="3500" b="1" dirty="0"/>
          </a:p>
        </p:txBody>
      </p:sp>
      <p:sp>
        <p:nvSpPr>
          <p:cNvPr id="581636" name="Text Box 4"/>
          <p:cNvSpPr txBox="1">
            <a:spLocks noChangeArrowheads="1"/>
          </p:cNvSpPr>
          <p:nvPr/>
        </p:nvSpPr>
        <p:spPr bwMode="auto">
          <a:xfrm>
            <a:off x="381000" y="1752600"/>
            <a:ext cx="8610600" cy="408146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dirty="0">
                <a:solidFill>
                  <a:srgbClr val="0000CC"/>
                </a:solidFill>
              </a:rPr>
              <a:t>CREATE TABLE</a:t>
            </a:r>
            <a:r>
              <a:rPr lang="en-US" dirty="0"/>
              <a:t> PHANCONG (</a:t>
            </a:r>
          </a:p>
          <a:p>
            <a:pPr algn="l"/>
            <a:r>
              <a:rPr lang="en-US" dirty="0"/>
              <a:t>	MA_NVIEN </a:t>
            </a:r>
            <a:r>
              <a:rPr lang="en-US" dirty="0">
                <a:solidFill>
                  <a:srgbClr val="0000CC"/>
                </a:solidFill>
              </a:rPr>
              <a:t>CHAR</a:t>
            </a:r>
            <a:r>
              <a:rPr lang="en-US" dirty="0"/>
              <a:t>(9),</a:t>
            </a:r>
          </a:p>
          <a:p>
            <a:pPr algn="l"/>
            <a:r>
              <a:rPr lang="en-US" dirty="0"/>
              <a:t>	SODA </a:t>
            </a:r>
            <a:r>
              <a:rPr lang="en-US" dirty="0">
                <a:solidFill>
                  <a:srgbClr val="0000CC"/>
                </a:solidFill>
              </a:rPr>
              <a:t>INT</a:t>
            </a:r>
            <a:r>
              <a:rPr lang="en-US" dirty="0"/>
              <a:t>,</a:t>
            </a:r>
          </a:p>
          <a:p>
            <a:pPr algn="l"/>
            <a:r>
              <a:rPr lang="en-US" dirty="0"/>
              <a:t>	THOIGIAN </a:t>
            </a:r>
            <a:r>
              <a:rPr lang="en-US" dirty="0">
                <a:solidFill>
                  <a:srgbClr val="0000CC"/>
                </a:solidFill>
              </a:rPr>
              <a:t>DECIMAL</a:t>
            </a:r>
            <a:r>
              <a:rPr lang="en-US" dirty="0"/>
              <a:t>(3,1),</a:t>
            </a:r>
          </a:p>
          <a:p>
            <a:pPr algn="l"/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CONSTRAINT</a:t>
            </a:r>
            <a:r>
              <a:rPr lang="en-US" dirty="0"/>
              <a:t> PC_MANVIEN_SODA_PK </a:t>
            </a:r>
            <a:r>
              <a:rPr lang="en-US" dirty="0">
                <a:solidFill>
                  <a:srgbClr val="0000CC"/>
                </a:solidFill>
              </a:rPr>
              <a:t>PRIMARY KEY</a:t>
            </a:r>
            <a:r>
              <a:rPr lang="en-US" dirty="0"/>
              <a:t> (MA_NVIEN, SODA),</a:t>
            </a:r>
          </a:p>
          <a:p>
            <a:pPr algn="l"/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CONSTRAINT</a:t>
            </a:r>
            <a:r>
              <a:rPr lang="en-US" dirty="0"/>
              <a:t> PC_MANVIEN_FK </a:t>
            </a:r>
            <a:r>
              <a:rPr lang="en-US" dirty="0">
                <a:solidFill>
                  <a:srgbClr val="0000CC"/>
                </a:solidFill>
              </a:rPr>
              <a:t>FOREIGN KEY </a:t>
            </a:r>
            <a:r>
              <a:rPr lang="en-US" dirty="0"/>
              <a:t>(MA_NVIEN) </a:t>
            </a:r>
          </a:p>
          <a:p>
            <a:pPr algn="l"/>
            <a:r>
              <a:rPr lang="en-US" dirty="0"/>
              <a:t>		</a:t>
            </a:r>
            <a:r>
              <a:rPr lang="en-US" dirty="0">
                <a:solidFill>
                  <a:srgbClr val="0000CC"/>
                </a:solidFill>
              </a:rPr>
              <a:t>REFERENCES</a:t>
            </a:r>
            <a:r>
              <a:rPr lang="en-US" dirty="0"/>
              <a:t> NHANVIEN(MANV),</a:t>
            </a:r>
          </a:p>
          <a:p>
            <a:pPr algn="l"/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CONSTRAINT</a:t>
            </a:r>
            <a:r>
              <a:rPr lang="en-US" dirty="0"/>
              <a:t> PC_SODA_FK </a:t>
            </a:r>
            <a:r>
              <a:rPr lang="en-US" dirty="0">
                <a:solidFill>
                  <a:srgbClr val="0000CC"/>
                </a:solidFill>
              </a:rPr>
              <a:t>FOREIGN KEY</a:t>
            </a:r>
            <a:r>
              <a:rPr lang="en-US" dirty="0"/>
              <a:t> (SODA)</a:t>
            </a:r>
          </a:p>
          <a:p>
            <a:pPr algn="l"/>
            <a:r>
              <a:rPr lang="en-US" dirty="0"/>
              <a:t>		</a:t>
            </a:r>
            <a:r>
              <a:rPr lang="en-US" dirty="0">
                <a:solidFill>
                  <a:srgbClr val="0000CC"/>
                </a:solidFill>
              </a:rPr>
              <a:t>REFERENCES</a:t>
            </a:r>
            <a:r>
              <a:rPr lang="en-US" dirty="0"/>
              <a:t> DEAN(MADA)</a:t>
            </a:r>
          </a:p>
          <a:p>
            <a:pPr algn="l"/>
            <a:r>
              <a:rPr lang="en-US" dirty="0"/>
              <a:t>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23376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0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/>
              <a:t>f) </a:t>
            </a:r>
            <a:r>
              <a:rPr lang="en-US" sz="3500" b="1" dirty="0" err="1"/>
              <a:t>Lệnh</a:t>
            </a:r>
            <a:r>
              <a:rPr lang="en-US" sz="3500" b="1" dirty="0"/>
              <a:t> </a:t>
            </a:r>
            <a:r>
              <a:rPr lang="en-US" sz="3500" b="1" dirty="0" err="1"/>
              <a:t>sửa</a:t>
            </a:r>
            <a:r>
              <a:rPr lang="en-US" sz="3500" b="1" dirty="0"/>
              <a:t> </a:t>
            </a:r>
            <a:r>
              <a:rPr lang="en-US" sz="3500" b="1" dirty="0" err="1"/>
              <a:t>bảng</a:t>
            </a:r>
            <a:endParaRPr lang="en-US" sz="3500" b="1" dirty="0"/>
          </a:p>
        </p:txBody>
      </p:sp>
      <p:sp>
        <p:nvSpPr>
          <p:cNvPr id="8540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524000"/>
            <a:ext cx="8229600" cy="4800600"/>
          </a:xfrm>
        </p:spPr>
        <p:txBody>
          <a:bodyPr>
            <a:normAutofit/>
          </a:bodyPr>
          <a:lstStyle/>
          <a:p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Thay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đổi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cấu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trúc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bảng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Thay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đổi</a:t>
            </a:r>
            <a:r>
              <a:rPr lang="en-US" dirty="0">
                <a:solidFill>
                  <a:schemeClr val="tx1"/>
                </a:solidFill>
              </a:rPr>
              <a:t> RBTV</a:t>
            </a:r>
          </a:p>
          <a:p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cột</a:t>
            </a:r>
            <a:endParaRPr lang="en-US" dirty="0"/>
          </a:p>
          <a:p>
            <a:pPr marL="594360" lvl="2" indent="0">
              <a:buNone/>
            </a:pPr>
            <a:endParaRPr lang="en-US" dirty="0"/>
          </a:p>
          <a:p>
            <a:r>
              <a:rPr lang="en-US" dirty="0" err="1"/>
              <a:t>Xóa</a:t>
            </a:r>
            <a:r>
              <a:rPr lang="en-US" dirty="0"/>
              <a:t> </a:t>
            </a:r>
            <a:r>
              <a:rPr lang="en-US" dirty="0" err="1"/>
              <a:t>cột</a:t>
            </a:r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rộng</a:t>
            </a:r>
            <a:r>
              <a:rPr lang="en-US" dirty="0"/>
              <a:t> </a:t>
            </a:r>
            <a:r>
              <a:rPr lang="en-US" dirty="0" err="1"/>
              <a:t>cột</a:t>
            </a:r>
            <a:endParaRPr lang="en-US" dirty="0"/>
          </a:p>
        </p:txBody>
      </p:sp>
      <p:sp>
        <p:nvSpPr>
          <p:cNvPr id="854020" name="Text Box 4"/>
          <p:cNvSpPr txBox="1">
            <a:spLocks noChangeArrowheads="1"/>
          </p:cNvSpPr>
          <p:nvPr/>
        </p:nvSpPr>
        <p:spPr bwMode="auto">
          <a:xfrm>
            <a:off x="2590800" y="2949575"/>
            <a:ext cx="5410200" cy="654050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b="1" dirty="0"/>
              <a:t>ALTER TABLE</a:t>
            </a:r>
            <a:r>
              <a:rPr lang="en-US" dirty="0"/>
              <a:t> &lt;</a:t>
            </a:r>
            <a:r>
              <a:rPr lang="en-US" dirty="0" err="1"/>
              <a:t>Tên_bảng</a:t>
            </a:r>
            <a:r>
              <a:rPr lang="en-US" dirty="0"/>
              <a:t>&gt; </a:t>
            </a:r>
            <a:r>
              <a:rPr lang="en-US" b="1" dirty="0"/>
              <a:t>ADD </a:t>
            </a:r>
            <a:br>
              <a:rPr lang="en-US" b="1" dirty="0"/>
            </a:br>
            <a:r>
              <a:rPr lang="en-US" b="1" dirty="0"/>
              <a:t>	</a:t>
            </a:r>
            <a:r>
              <a:rPr lang="en-US" dirty="0"/>
              <a:t>&lt;</a:t>
            </a:r>
            <a:r>
              <a:rPr lang="en-US" dirty="0" err="1"/>
              <a:t>Tên_cột</a:t>
            </a:r>
            <a:r>
              <a:rPr lang="en-US" dirty="0"/>
              <a:t>&gt; &lt;</a:t>
            </a:r>
            <a:r>
              <a:rPr lang="en-US" dirty="0" err="1"/>
              <a:t>Kiểu_dữ_liệu</a:t>
            </a:r>
            <a:r>
              <a:rPr lang="en-US" dirty="0"/>
              <a:t>&gt; [&lt;RBTV&gt;]</a:t>
            </a:r>
          </a:p>
        </p:txBody>
      </p:sp>
      <p:sp>
        <p:nvSpPr>
          <p:cNvPr id="854021" name="Text Box 5"/>
          <p:cNvSpPr txBox="1">
            <a:spLocks noChangeArrowheads="1"/>
          </p:cNvSpPr>
          <p:nvPr/>
        </p:nvSpPr>
        <p:spPr bwMode="auto">
          <a:xfrm>
            <a:off x="2209800" y="4314957"/>
            <a:ext cx="6172200" cy="379412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b="1" dirty="0"/>
              <a:t>ALTER TABLE</a:t>
            </a:r>
            <a:r>
              <a:rPr lang="en-US" dirty="0"/>
              <a:t> &lt;</a:t>
            </a:r>
            <a:r>
              <a:rPr lang="en-US" dirty="0" err="1"/>
              <a:t>Tên_bảng</a:t>
            </a:r>
            <a:r>
              <a:rPr lang="en-US" dirty="0"/>
              <a:t>&gt; </a:t>
            </a:r>
            <a:r>
              <a:rPr lang="en-US" b="1" dirty="0"/>
              <a:t>DROP COLUMN </a:t>
            </a:r>
            <a:r>
              <a:rPr lang="en-US" dirty="0"/>
              <a:t>&lt;</a:t>
            </a:r>
            <a:r>
              <a:rPr lang="en-US" dirty="0" err="1"/>
              <a:t>Tên_cột</a:t>
            </a:r>
            <a:r>
              <a:rPr lang="en-US" dirty="0"/>
              <a:t>&gt; </a:t>
            </a:r>
          </a:p>
        </p:txBody>
      </p:sp>
      <p:sp>
        <p:nvSpPr>
          <p:cNvPr id="854022" name="Text Box 6"/>
          <p:cNvSpPr txBox="1">
            <a:spLocks noChangeArrowheads="1"/>
          </p:cNvSpPr>
          <p:nvPr/>
        </p:nvSpPr>
        <p:spPr bwMode="auto">
          <a:xfrm>
            <a:off x="2705100" y="5334000"/>
            <a:ext cx="5181600" cy="654050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b="1"/>
              <a:t>ALTER TABLE</a:t>
            </a:r>
            <a:r>
              <a:rPr lang="en-US"/>
              <a:t> &lt;Tên_bảng&gt; </a:t>
            </a:r>
            <a:r>
              <a:rPr lang="en-US" b="1"/>
              <a:t>ALTER COLUMN</a:t>
            </a:r>
            <a:br>
              <a:rPr lang="en-US" b="1"/>
            </a:br>
            <a:r>
              <a:rPr lang="en-US" b="1"/>
              <a:t>	</a:t>
            </a:r>
            <a:r>
              <a:rPr lang="en-US"/>
              <a:t>&lt;Tên_cột&gt; &lt;Kiểu_dữ_liệu_mới&gt;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18809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/>
              <a:t>f) </a:t>
            </a:r>
            <a:r>
              <a:rPr lang="en-US" sz="3500" b="1" dirty="0" err="1"/>
              <a:t>Lệnh</a:t>
            </a:r>
            <a:r>
              <a:rPr lang="en-US" sz="3500" b="1" dirty="0"/>
              <a:t> </a:t>
            </a:r>
            <a:r>
              <a:rPr lang="en-US" sz="3500" b="1" dirty="0" err="1"/>
              <a:t>sửa</a:t>
            </a:r>
            <a:r>
              <a:rPr lang="en-US" sz="3500" b="1" dirty="0"/>
              <a:t> </a:t>
            </a:r>
            <a:r>
              <a:rPr lang="en-US" sz="3500" b="1" dirty="0" err="1"/>
              <a:t>bảng</a:t>
            </a:r>
            <a:endParaRPr lang="en-US" sz="3500" b="1" dirty="0"/>
          </a:p>
        </p:txBody>
      </p:sp>
      <p:sp>
        <p:nvSpPr>
          <p:cNvPr id="58368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76400"/>
            <a:ext cx="8229600" cy="4724400"/>
          </a:xfrm>
        </p:spPr>
        <p:txBody>
          <a:bodyPr/>
          <a:lstStyle/>
          <a:p>
            <a:r>
              <a:rPr lang="en-US" dirty="0" err="1"/>
              <a:t>Thêm</a:t>
            </a:r>
            <a:r>
              <a:rPr lang="en-US" dirty="0"/>
              <a:t> RBTV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r>
              <a:rPr lang="en-US" dirty="0" err="1"/>
              <a:t>Xóa</a:t>
            </a:r>
            <a:r>
              <a:rPr lang="en-US" dirty="0"/>
              <a:t> RBTV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>
              <a:buFont typeface="Wingdings 2" pitchFamily="18" charset="2"/>
              <a:buNone/>
            </a:pPr>
            <a:endParaRPr lang="en-US" dirty="0"/>
          </a:p>
        </p:txBody>
      </p:sp>
      <p:sp>
        <p:nvSpPr>
          <p:cNvPr id="583684" name="Text Box 4"/>
          <p:cNvSpPr txBox="1">
            <a:spLocks noChangeArrowheads="1"/>
          </p:cNvSpPr>
          <p:nvPr/>
        </p:nvSpPr>
        <p:spPr bwMode="auto">
          <a:xfrm>
            <a:off x="1676400" y="2254250"/>
            <a:ext cx="5410200" cy="1479550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b="1" dirty="0"/>
              <a:t>ALTER TABLE</a:t>
            </a:r>
            <a:r>
              <a:rPr lang="en-US" dirty="0"/>
              <a:t> &lt;</a:t>
            </a:r>
            <a:r>
              <a:rPr lang="en-US" dirty="0" err="1"/>
              <a:t>Tên_bảng</a:t>
            </a:r>
            <a:r>
              <a:rPr lang="en-US" dirty="0"/>
              <a:t>&gt; </a:t>
            </a:r>
            <a:r>
              <a:rPr lang="en-US" b="1" dirty="0"/>
              <a:t>ADD</a:t>
            </a:r>
            <a:br>
              <a:rPr lang="en-US" b="1" dirty="0"/>
            </a:br>
            <a:r>
              <a:rPr lang="en-US" b="1" dirty="0"/>
              <a:t>	CONSTRAINT</a:t>
            </a:r>
            <a:r>
              <a:rPr lang="en-US" dirty="0"/>
              <a:t> &lt;</a:t>
            </a:r>
            <a:r>
              <a:rPr lang="en-US" dirty="0" err="1"/>
              <a:t>Ten_RBTV</a:t>
            </a:r>
            <a:r>
              <a:rPr lang="en-US" dirty="0"/>
              <a:t>&gt; &lt;RBTV&gt;,</a:t>
            </a:r>
          </a:p>
          <a:p>
            <a:pPr algn="l"/>
            <a:r>
              <a:rPr lang="en-US" dirty="0"/>
              <a:t>	</a:t>
            </a:r>
            <a:r>
              <a:rPr lang="en-US" b="1" dirty="0"/>
              <a:t>CONSTRAINT</a:t>
            </a:r>
            <a:r>
              <a:rPr lang="en-US" dirty="0"/>
              <a:t> &lt;</a:t>
            </a:r>
            <a:r>
              <a:rPr lang="en-US" dirty="0" err="1"/>
              <a:t>Ten_RBTV</a:t>
            </a:r>
            <a:r>
              <a:rPr lang="en-US" dirty="0"/>
              <a:t>&gt; &lt;RBTV&gt;,</a:t>
            </a:r>
          </a:p>
          <a:p>
            <a:pPr algn="l"/>
            <a:r>
              <a:rPr lang="en-US" dirty="0"/>
              <a:t>	…</a:t>
            </a:r>
          </a:p>
        </p:txBody>
      </p:sp>
      <p:sp>
        <p:nvSpPr>
          <p:cNvPr id="583685" name="Text Box 5"/>
          <p:cNvSpPr txBox="1">
            <a:spLocks noChangeArrowheads="1"/>
          </p:cNvSpPr>
          <p:nvPr/>
        </p:nvSpPr>
        <p:spPr bwMode="auto">
          <a:xfrm>
            <a:off x="1066800" y="4649787"/>
            <a:ext cx="5410200" cy="379413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b="1"/>
              <a:t>ALTER TABLE</a:t>
            </a:r>
            <a:r>
              <a:rPr lang="en-US"/>
              <a:t> &lt;Tên_bảng&gt; </a:t>
            </a:r>
            <a:r>
              <a:rPr lang="en-US" b="1"/>
              <a:t>DROP </a:t>
            </a:r>
            <a:r>
              <a:rPr lang="en-US"/>
              <a:t>&lt;Tên_RBTV&gt;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36730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8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- </a:t>
            </a:r>
            <a:r>
              <a:rPr lang="en-US" sz="3500" b="1" dirty="0" err="1"/>
              <a:t>Thay</a:t>
            </a:r>
            <a:r>
              <a:rPr lang="en-US" sz="3500" b="1" dirty="0"/>
              <a:t> </a:t>
            </a:r>
            <a:r>
              <a:rPr lang="en-US" sz="3500" b="1" dirty="0" err="1"/>
              <a:t>đổi</a:t>
            </a:r>
            <a:r>
              <a:rPr lang="en-US" sz="3500" b="1" dirty="0"/>
              <a:t> </a:t>
            </a:r>
            <a:r>
              <a:rPr lang="en-US" sz="3500" b="1" dirty="0" err="1"/>
              <a:t>cấu</a:t>
            </a:r>
            <a:r>
              <a:rPr lang="en-US" sz="3500" b="1" dirty="0"/>
              <a:t> </a:t>
            </a:r>
            <a:r>
              <a:rPr lang="en-US" sz="3500" b="1" dirty="0" err="1"/>
              <a:t>trúc</a:t>
            </a:r>
            <a:r>
              <a:rPr lang="en-US" sz="3500" b="1" dirty="0"/>
              <a:t> </a:t>
            </a:r>
            <a:r>
              <a:rPr lang="en-US" sz="3500" b="1" dirty="0" err="1"/>
              <a:t>bảng</a:t>
            </a:r>
            <a:endParaRPr lang="en-US" sz="3500" b="1" dirty="0"/>
          </a:p>
        </p:txBody>
      </p:sp>
      <p:sp>
        <p:nvSpPr>
          <p:cNvPr id="591875" name="Text Box 3"/>
          <p:cNvSpPr txBox="1">
            <a:spLocks noChangeArrowheads="1"/>
          </p:cNvSpPr>
          <p:nvPr/>
        </p:nvSpPr>
        <p:spPr bwMode="auto">
          <a:xfrm>
            <a:off x="381000" y="1524000"/>
            <a:ext cx="4267200" cy="77946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dirty="0">
                <a:solidFill>
                  <a:srgbClr val="0000CC"/>
                </a:solidFill>
              </a:rPr>
              <a:t>ALTER TABLE</a:t>
            </a:r>
            <a:r>
              <a:rPr lang="en-US" dirty="0"/>
              <a:t> NHANVIEN </a:t>
            </a:r>
            <a:r>
              <a:rPr lang="en-US" dirty="0">
                <a:solidFill>
                  <a:srgbClr val="0000CC"/>
                </a:solidFill>
              </a:rPr>
              <a:t>ADD</a:t>
            </a:r>
          </a:p>
          <a:p>
            <a:pPr algn="l"/>
            <a:r>
              <a:rPr lang="en-US" dirty="0"/>
              <a:t>	NGHENGHIEP </a:t>
            </a:r>
            <a:r>
              <a:rPr lang="en-US" dirty="0">
                <a:solidFill>
                  <a:srgbClr val="0000CC"/>
                </a:solidFill>
              </a:rPr>
              <a:t>CHAR</a:t>
            </a:r>
            <a:r>
              <a:rPr lang="en-US" dirty="0"/>
              <a:t>(20)</a:t>
            </a:r>
          </a:p>
        </p:txBody>
      </p:sp>
      <p:sp>
        <p:nvSpPr>
          <p:cNvPr id="591877" name="Text Box 5"/>
          <p:cNvSpPr txBox="1">
            <a:spLocks noChangeArrowheads="1"/>
          </p:cNvSpPr>
          <p:nvPr/>
        </p:nvSpPr>
        <p:spPr bwMode="auto">
          <a:xfrm>
            <a:off x="381000" y="2514600"/>
            <a:ext cx="5943600" cy="36671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>
                <a:solidFill>
                  <a:srgbClr val="0000CC"/>
                </a:solidFill>
              </a:rPr>
              <a:t>ALTER TABLE</a:t>
            </a:r>
            <a:r>
              <a:rPr lang="en-US"/>
              <a:t> NHANVIEN </a:t>
            </a:r>
            <a:r>
              <a:rPr lang="en-US">
                <a:solidFill>
                  <a:srgbClr val="0000CC"/>
                </a:solidFill>
              </a:rPr>
              <a:t>DROP COLUMN </a:t>
            </a:r>
            <a:r>
              <a:rPr lang="en-US"/>
              <a:t>NGHENGHIEP</a:t>
            </a:r>
          </a:p>
        </p:txBody>
      </p:sp>
      <p:sp>
        <p:nvSpPr>
          <p:cNvPr id="591878" name="Text Box 6"/>
          <p:cNvSpPr txBox="1">
            <a:spLocks noChangeArrowheads="1"/>
          </p:cNvSpPr>
          <p:nvPr/>
        </p:nvSpPr>
        <p:spPr bwMode="auto">
          <a:xfrm>
            <a:off x="381000" y="3352800"/>
            <a:ext cx="5029200" cy="77946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dirty="0">
                <a:solidFill>
                  <a:srgbClr val="0000CC"/>
                </a:solidFill>
              </a:rPr>
              <a:t>ALTER TABLE</a:t>
            </a:r>
            <a:r>
              <a:rPr lang="en-US" dirty="0"/>
              <a:t> NHANVIEN </a:t>
            </a:r>
            <a:r>
              <a:rPr lang="en-US" dirty="0">
                <a:solidFill>
                  <a:srgbClr val="0000CC"/>
                </a:solidFill>
              </a:rPr>
              <a:t>ALTER COLUMN </a:t>
            </a:r>
          </a:p>
          <a:p>
            <a:pPr algn="l"/>
            <a:r>
              <a:rPr lang="en-US" dirty="0">
                <a:solidFill>
                  <a:srgbClr val="0000CC"/>
                </a:solidFill>
              </a:rPr>
              <a:t>	</a:t>
            </a:r>
            <a:r>
              <a:rPr lang="en-US" dirty="0"/>
              <a:t>NGHENGHIEP </a:t>
            </a:r>
            <a:r>
              <a:rPr lang="en-US" dirty="0">
                <a:solidFill>
                  <a:srgbClr val="0000CC"/>
                </a:solidFill>
              </a:rPr>
              <a:t>CHAR</a:t>
            </a:r>
            <a:r>
              <a:rPr lang="en-US" dirty="0"/>
              <a:t>(50)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62964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- </a:t>
            </a:r>
            <a:r>
              <a:rPr lang="en-US" sz="3500" b="1" dirty="0" err="1"/>
              <a:t>Thay</a:t>
            </a:r>
            <a:r>
              <a:rPr lang="en-US" sz="3500" b="1" dirty="0"/>
              <a:t> </a:t>
            </a:r>
            <a:r>
              <a:rPr lang="en-US" sz="3500" b="1" dirty="0" err="1"/>
              <a:t>đổi</a:t>
            </a:r>
            <a:r>
              <a:rPr lang="en-US" sz="3500" b="1" dirty="0"/>
              <a:t> RBTV</a:t>
            </a:r>
          </a:p>
        </p:txBody>
      </p:sp>
      <p:sp>
        <p:nvSpPr>
          <p:cNvPr id="593926" name="Text Box 6"/>
          <p:cNvSpPr txBox="1">
            <a:spLocks noChangeArrowheads="1"/>
          </p:cNvSpPr>
          <p:nvPr/>
        </p:nvSpPr>
        <p:spPr bwMode="auto">
          <a:xfrm>
            <a:off x="304800" y="1524000"/>
            <a:ext cx="8458200" cy="1754326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dirty="0">
                <a:solidFill>
                  <a:srgbClr val="0000CC"/>
                </a:solidFill>
              </a:rPr>
              <a:t>CREATE TABLE</a:t>
            </a:r>
            <a:r>
              <a:rPr lang="en-US" dirty="0"/>
              <a:t> PHONGBAN (</a:t>
            </a:r>
          </a:p>
          <a:p>
            <a:pPr algn="l">
              <a:spcBef>
                <a:spcPts val="0"/>
              </a:spcBef>
            </a:pPr>
            <a:r>
              <a:rPr lang="en-US" dirty="0"/>
              <a:t>	TENPB </a:t>
            </a:r>
            <a:r>
              <a:rPr lang="en-US" dirty="0">
                <a:solidFill>
                  <a:srgbClr val="0000CC"/>
                </a:solidFill>
              </a:rPr>
              <a:t>VARCHAR</a:t>
            </a:r>
            <a:r>
              <a:rPr lang="en-US" dirty="0"/>
              <a:t>(20),</a:t>
            </a:r>
          </a:p>
          <a:p>
            <a:pPr algn="l">
              <a:spcBef>
                <a:spcPts val="0"/>
              </a:spcBef>
            </a:pPr>
            <a:r>
              <a:rPr lang="en-US" dirty="0"/>
              <a:t>	MAPHG </a:t>
            </a:r>
            <a:r>
              <a:rPr lang="en-US" dirty="0">
                <a:solidFill>
                  <a:srgbClr val="0000CC"/>
                </a:solidFill>
              </a:rPr>
              <a:t>INT </a:t>
            </a:r>
            <a:r>
              <a:rPr lang="en-US" dirty="0">
                <a:solidFill>
                  <a:srgbClr val="777777"/>
                </a:solidFill>
              </a:rPr>
              <a:t>NOT NULL</a:t>
            </a:r>
            <a:r>
              <a:rPr lang="en-US" dirty="0"/>
              <a:t>,</a:t>
            </a:r>
          </a:p>
          <a:p>
            <a:pPr algn="l">
              <a:spcBef>
                <a:spcPts val="0"/>
              </a:spcBef>
            </a:pPr>
            <a:r>
              <a:rPr lang="en-US" dirty="0"/>
              <a:t>	TRPHG </a:t>
            </a:r>
            <a:r>
              <a:rPr lang="en-US" dirty="0">
                <a:solidFill>
                  <a:srgbClr val="0000CC"/>
                </a:solidFill>
              </a:rPr>
              <a:t>CHAR</a:t>
            </a:r>
            <a:r>
              <a:rPr lang="en-US" dirty="0"/>
              <a:t>(9),</a:t>
            </a:r>
          </a:p>
          <a:p>
            <a:pPr algn="l">
              <a:spcBef>
                <a:spcPts val="0"/>
              </a:spcBef>
            </a:pPr>
            <a:r>
              <a:rPr lang="en-US" dirty="0"/>
              <a:t>	NG_NHANCHUC </a:t>
            </a:r>
            <a:r>
              <a:rPr lang="en-US" dirty="0">
                <a:solidFill>
                  <a:srgbClr val="0000CC"/>
                </a:solidFill>
              </a:rPr>
              <a:t>DATETIME</a:t>
            </a:r>
            <a:endParaRPr lang="en-US" dirty="0"/>
          </a:p>
          <a:p>
            <a:pPr algn="l">
              <a:spcBef>
                <a:spcPts val="0"/>
              </a:spcBef>
            </a:pPr>
            <a:r>
              <a:rPr lang="en-US" dirty="0"/>
              <a:t>)</a:t>
            </a:r>
          </a:p>
        </p:txBody>
      </p:sp>
      <p:sp>
        <p:nvSpPr>
          <p:cNvPr id="593927" name="Text Box 7"/>
          <p:cNvSpPr txBox="1">
            <a:spLocks noChangeArrowheads="1"/>
          </p:cNvSpPr>
          <p:nvPr/>
        </p:nvSpPr>
        <p:spPr bwMode="auto">
          <a:xfrm>
            <a:off x="304800" y="3429000"/>
            <a:ext cx="7467600" cy="203132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dirty="0">
                <a:solidFill>
                  <a:srgbClr val="0000CC"/>
                </a:solidFill>
              </a:rPr>
              <a:t>ALTER TABLE</a:t>
            </a:r>
            <a:r>
              <a:rPr lang="en-US" dirty="0"/>
              <a:t> PHONGBAN </a:t>
            </a:r>
            <a:r>
              <a:rPr lang="en-US" dirty="0">
                <a:solidFill>
                  <a:srgbClr val="0000CC"/>
                </a:solidFill>
              </a:rPr>
              <a:t>ADD</a:t>
            </a:r>
          </a:p>
          <a:p>
            <a:pPr algn="l">
              <a:spcBef>
                <a:spcPts val="0"/>
              </a:spcBef>
            </a:pPr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CONSTRAINT</a:t>
            </a:r>
            <a:r>
              <a:rPr lang="en-US" dirty="0"/>
              <a:t> PB_MAPHG_PK </a:t>
            </a:r>
            <a:r>
              <a:rPr lang="en-US" dirty="0">
                <a:solidFill>
                  <a:srgbClr val="0000CC"/>
                </a:solidFill>
              </a:rPr>
              <a:t>PRIMARY KEY</a:t>
            </a:r>
            <a:r>
              <a:rPr lang="en-US" dirty="0"/>
              <a:t> (MAPHG),</a:t>
            </a:r>
          </a:p>
          <a:p>
            <a:pPr algn="l">
              <a:spcBef>
                <a:spcPts val="0"/>
              </a:spcBef>
            </a:pPr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CONSTRAINT</a:t>
            </a:r>
            <a:r>
              <a:rPr lang="en-US" dirty="0"/>
              <a:t> PB_TRPHG </a:t>
            </a:r>
            <a:r>
              <a:rPr lang="en-US" dirty="0">
                <a:solidFill>
                  <a:srgbClr val="0000CC"/>
                </a:solidFill>
              </a:rPr>
              <a:t>FOREIGN KEY</a:t>
            </a:r>
            <a:r>
              <a:rPr lang="en-US" dirty="0"/>
              <a:t> (TRPHG) </a:t>
            </a:r>
          </a:p>
          <a:p>
            <a:pPr algn="l">
              <a:spcBef>
                <a:spcPts val="0"/>
              </a:spcBef>
            </a:pPr>
            <a:r>
              <a:rPr lang="en-US" dirty="0"/>
              <a:t>		</a:t>
            </a:r>
            <a:r>
              <a:rPr lang="en-US" dirty="0">
                <a:solidFill>
                  <a:srgbClr val="0000CC"/>
                </a:solidFill>
              </a:rPr>
              <a:t>REFERENCES</a:t>
            </a:r>
            <a:r>
              <a:rPr lang="en-US" dirty="0"/>
              <a:t> NHANVIEN(MANV),</a:t>
            </a:r>
          </a:p>
          <a:p>
            <a:pPr algn="l">
              <a:spcBef>
                <a:spcPts val="0"/>
              </a:spcBef>
            </a:pPr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CONSTRAINT</a:t>
            </a:r>
            <a:r>
              <a:rPr lang="en-US" dirty="0"/>
              <a:t> PB_NGNHANCHUC_DF</a:t>
            </a:r>
            <a:r>
              <a:rPr lang="en-US" dirty="0">
                <a:solidFill>
                  <a:srgbClr val="0000CC"/>
                </a:solidFill>
              </a:rPr>
              <a:t> DEFAULT</a:t>
            </a:r>
            <a:r>
              <a:rPr lang="en-US" dirty="0"/>
              <a:t> (</a:t>
            </a:r>
            <a:r>
              <a:rPr lang="en-US" dirty="0">
                <a:solidFill>
                  <a:srgbClr val="FF3399"/>
                </a:solidFill>
              </a:rPr>
              <a:t>GETDATE()</a:t>
            </a:r>
            <a:r>
              <a:rPr lang="en-US" dirty="0"/>
              <a:t>) </a:t>
            </a:r>
          </a:p>
          <a:p>
            <a:pPr algn="l">
              <a:spcBef>
                <a:spcPts val="0"/>
              </a:spcBef>
            </a:pPr>
            <a:r>
              <a:rPr lang="en-US" dirty="0"/>
              <a:t>		</a:t>
            </a:r>
            <a:r>
              <a:rPr lang="en-US" dirty="0">
                <a:solidFill>
                  <a:srgbClr val="0000CC"/>
                </a:solidFill>
              </a:rPr>
              <a:t>FOR</a:t>
            </a:r>
            <a:r>
              <a:rPr lang="en-US" dirty="0"/>
              <a:t> (NG_NHANCHUC),</a:t>
            </a:r>
          </a:p>
          <a:p>
            <a:pPr algn="l">
              <a:spcBef>
                <a:spcPts val="0"/>
              </a:spcBef>
            </a:pPr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CONSTRAINT</a:t>
            </a:r>
            <a:r>
              <a:rPr lang="en-US" dirty="0"/>
              <a:t> PB_TENPB_UNI </a:t>
            </a:r>
            <a:r>
              <a:rPr lang="en-US" dirty="0">
                <a:solidFill>
                  <a:srgbClr val="0000CC"/>
                </a:solidFill>
              </a:rPr>
              <a:t>UNIQUE</a:t>
            </a:r>
            <a:r>
              <a:rPr lang="en-US" dirty="0"/>
              <a:t> (TENPB)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90105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err="1"/>
              <a:t>Ví</a:t>
            </a:r>
            <a:r>
              <a:rPr lang="en-US" sz="3200" b="1" dirty="0"/>
              <a:t> </a:t>
            </a:r>
            <a:r>
              <a:rPr lang="en-US" sz="3200" b="1" dirty="0" err="1"/>
              <a:t>dụ</a:t>
            </a:r>
            <a:r>
              <a:rPr lang="en-US" sz="3200" b="1" dirty="0"/>
              <a:t> - </a:t>
            </a:r>
            <a:r>
              <a:rPr lang="en-US" sz="3200" b="1" dirty="0" err="1"/>
              <a:t>Thay</a:t>
            </a:r>
            <a:r>
              <a:rPr lang="en-US" sz="3200" b="1" dirty="0"/>
              <a:t> </a:t>
            </a:r>
            <a:r>
              <a:rPr lang="en-US" sz="3200" b="1" dirty="0" err="1"/>
              <a:t>đổi</a:t>
            </a:r>
            <a:r>
              <a:rPr lang="en-US" sz="3200" b="1" dirty="0"/>
              <a:t> RBTV </a:t>
            </a:r>
            <a:r>
              <a:rPr lang="en-US" sz="3200" b="1" dirty="0" err="1"/>
              <a:t>khóa</a:t>
            </a:r>
            <a:r>
              <a:rPr lang="en-US" sz="3200" b="1" dirty="0"/>
              <a:t> </a:t>
            </a:r>
            <a:r>
              <a:rPr lang="en-US" sz="3200" b="1" dirty="0" err="1"/>
              <a:t>ngoại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28600" y="1671851"/>
            <a:ext cx="8382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solidFill>
                  <a:srgbClr val="0000FF"/>
                </a:solidFill>
              </a:rPr>
              <a:t>CREATE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srgbClr val="0000FF"/>
                </a:solidFill>
              </a:rPr>
              <a:t>TABLE</a:t>
            </a:r>
            <a:r>
              <a:rPr lang="en-US" dirty="0">
                <a:solidFill>
                  <a:prstClr val="black"/>
                </a:solidFill>
              </a:rPr>
              <a:t> NHANVIEN </a:t>
            </a:r>
            <a:r>
              <a:rPr lang="en-US" dirty="0">
                <a:solidFill>
                  <a:srgbClr val="808080"/>
                </a:solidFill>
              </a:rPr>
              <a:t>(</a:t>
            </a:r>
          </a:p>
          <a:p>
            <a:pPr algn="just"/>
            <a:r>
              <a:rPr lang="en-US" dirty="0">
                <a:solidFill>
                  <a:prstClr val="black"/>
                </a:solidFill>
              </a:rPr>
              <a:t>	MANV </a:t>
            </a:r>
            <a:r>
              <a:rPr lang="en-US" dirty="0">
                <a:solidFill>
                  <a:srgbClr val="0000FF"/>
                </a:solidFill>
              </a:rPr>
              <a:t>VARCHAR</a:t>
            </a:r>
            <a:r>
              <a:rPr lang="en-US" dirty="0">
                <a:solidFill>
                  <a:srgbClr val="808080"/>
                </a:solidFill>
              </a:rPr>
              <a:t>(</a:t>
            </a:r>
            <a:r>
              <a:rPr lang="en-US" dirty="0">
                <a:solidFill>
                  <a:prstClr val="black"/>
                </a:solidFill>
              </a:rPr>
              <a:t>20</a:t>
            </a:r>
            <a:r>
              <a:rPr lang="en-US" dirty="0">
                <a:solidFill>
                  <a:srgbClr val="808080"/>
                </a:solidFill>
              </a:rPr>
              <a:t>)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srgbClr val="0000FF"/>
                </a:solidFill>
              </a:rPr>
              <a:t>PRIMARY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srgbClr val="0000FF"/>
                </a:solidFill>
              </a:rPr>
              <a:t>KEY</a:t>
            </a:r>
            <a:r>
              <a:rPr lang="en-US" dirty="0">
                <a:solidFill>
                  <a:srgbClr val="808080"/>
                </a:solidFill>
              </a:rPr>
              <a:t>,</a:t>
            </a:r>
          </a:p>
          <a:p>
            <a:pPr algn="just"/>
            <a:r>
              <a:rPr lang="en-US" dirty="0">
                <a:solidFill>
                  <a:prstClr val="black"/>
                </a:solidFill>
              </a:rPr>
              <a:t>	HOTEN </a:t>
            </a:r>
            <a:r>
              <a:rPr lang="en-US" dirty="0">
                <a:solidFill>
                  <a:srgbClr val="0000FF"/>
                </a:solidFill>
              </a:rPr>
              <a:t>NVARCHAR</a:t>
            </a:r>
            <a:r>
              <a:rPr lang="en-US" dirty="0">
                <a:solidFill>
                  <a:srgbClr val="808080"/>
                </a:solidFill>
              </a:rPr>
              <a:t>(</a:t>
            </a:r>
            <a:r>
              <a:rPr lang="en-US" dirty="0">
                <a:solidFill>
                  <a:prstClr val="black"/>
                </a:solidFill>
              </a:rPr>
              <a:t>50</a:t>
            </a:r>
            <a:r>
              <a:rPr lang="en-US" dirty="0">
                <a:solidFill>
                  <a:srgbClr val="808080"/>
                </a:solidFill>
              </a:rPr>
              <a:t>)</a:t>
            </a:r>
          </a:p>
          <a:p>
            <a:pPr algn="just"/>
            <a:r>
              <a:rPr lang="en-US" dirty="0">
                <a:solidFill>
                  <a:srgbClr val="808080"/>
                </a:solidFill>
              </a:rPr>
              <a:t>)</a:t>
            </a:r>
          </a:p>
          <a:p>
            <a:pPr algn="just"/>
            <a:r>
              <a:rPr lang="en-US" dirty="0">
                <a:solidFill>
                  <a:srgbClr val="0000FF"/>
                </a:solidFill>
              </a:rPr>
              <a:t>ALTER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srgbClr val="0000FF"/>
                </a:solidFill>
              </a:rPr>
              <a:t>TABLE</a:t>
            </a:r>
            <a:r>
              <a:rPr lang="en-US" dirty="0">
                <a:solidFill>
                  <a:prstClr val="black"/>
                </a:solidFill>
              </a:rPr>
              <a:t> PHONGBAN</a:t>
            </a:r>
          </a:p>
          <a:p>
            <a:pPr algn="just"/>
            <a:r>
              <a:rPr lang="en-US" dirty="0">
                <a:solidFill>
                  <a:prstClr val="black"/>
                </a:solidFill>
              </a:rPr>
              <a:t>	</a:t>
            </a:r>
            <a:r>
              <a:rPr lang="en-US" dirty="0">
                <a:solidFill>
                  <a:srgbClr val="0000FF"/>
                </a:solidFill>
              </a:rPr>
              <a:t>ADD</a:t>
            </a:r>
            <a:r>
              <a:rPr lang="en-US" dirty="0">
                <a:solidFill>
                  <a:prstClr val="black"/>
                </a:solidFill>
              </a:rPr>
              <a:t> TRGPHG </a:t>
            </a:r>
            <a:r>
              <a:rPr lang="en-US" dirty="0">
                <a:solidFill>
                  <a:srgbClr val="0000FF"/>
                </a:solidFill>
              </a:rPr>
              <a:t>VARCHAR</a:t>
            </a:r>
            <a:r>
              <a:rPr lang="en-US" dirty="0">
                <a:solidFill>
                  <a:srgbClr val="808080"/>
                </a:solidFill>
              </a:rPr>
              <a:t>(</a:t>
            </a:r>
            <a:r>
              <a:rPr lang="en-US" dirty="0">
                <a:solidFill>
                  <a:prstClr val="black"/>
                </a:solidFill>
              </a:rPr>
              <a:t>20</a:t>
            </a:r>
            <a:r>
              <a:rPr lang="en-US" dirty="0">
                <a:solidFill>
                  <a:srgbClr val="808080"/>
                </a:solidFill>
              </a:rPr>
              <a:t>)</a:t>
            </a:r>
          </a:p>
          <a:p>
            <a:pPr algn="just"/>
            <a:endParaRPr lang="en-US" dirty="0">
              <a:solidFill>
                <a:srgbClr val="808080"/>
              </a:solidFill>
            </a:endParaRPr>
          </a:p>
          <a:p>
            <a:pPr algn="just"/>
            <a:r>
              <a:rPr lang="en-US" dirty="0">
                <a:solidFill>
                  <a:srgbClr val="0000FF"/>
                </a:solidFill>
              </a:rPr>
              <a:t>ALTER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srgbClr val="0000FF"/>
                </a:solidFill>
              </a:rPr>
              <a:t>TABLE</a:t>
            </a:r>
            <a:r>
              <a:rPr lang="en-US" dirty="0">
                <a:solidFill>
                  <a:prstClr val="black"/>
                </a:solidFill>
              </a:rPr>
              <a:t> PHONGBAN</a:t>
            </a:r>
          </a:p>
          <a:p>
            <a:pPr algn="just"/>
            <a:r>
              <a:rPr lang="en-US" dirty="0">
                <a:solidFill>
                  <a:prstClr val="black"/>
                </a:solidFill>
              </a:rPr>
              <a:t>	</a:t>
            </a:r>
            <a:r>
              <a:rPr lang="en-US" dirty="0">
                <a:solidFill>
                  <a:srgbClr val="0000FF"/>
                </a:solidFill>
              </a:rPr>
              <a:t>ADD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srgbClr val="0000FF"/>
                </a:solidFill>
              </a:rPr>
              <a:t>CONSTRAINT</a:t>
            </a:r>
            <a:r>
              <a:rPr lang="en-US" dirty="0">
                <a:solidFill>
                  <a:prstClr val="black"/>
                </a:solidFill>
              </a:rPr>
              <a:t> PB_TRGPHG_FK </a:t>
            </a:r>
            <a:r>
              <a:rPr lang="en-US" dirty="0">
                <a:solidFill>
                  <a:srgbClr val="0000FF"/>
                </a:solidFill>
              </a:rPr>
              <a:t>FOREIGN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srgbClr val="0000FF"/>
                </a:solidFill>
              </a:rPr>
              <a:t>KEY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srgbClr val="808080"/>
                </a:solidFill>
              </a:rPr>
              <a:t>(</a:t>
            </a:r>
            <a:r>
              <a:rPr lang="en-US" dirty="0">
                <a:solidFill>
                  <a:prstClr val="black"/>
                </a:solidFill>
              </a:rPr>
              <a:t>TRGPHG</a:t>
            </a:r>
            <a:r>
              <a:rPr lang="en-US" dirty="0">
                <a:solidFill>
                  <a:srgbClr val="808080"/>
                </a:solidFill>
              </a:rPr>
              <a:t>)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srgbClr val="0000FF"/>
                </a:solidFill>
              </a:rPr>
              <a:t>REFERENCES</a:t>
            </a:r>
            <a:r>
              <a:rPr lang="en-US" dirty="0">
                <a:solidFill>
                  <a:prstClr val="black"/>
                </a:solidFill>
              </a:rPr>
              <a:t> NHANVIEN</a:t>
            </a:r>
            <a:r>
              <a:rPr lang="en-US" dirty="0">
                <a:solidFill>
                  <a:srgbClr val="808080"/>
                </a:solidFill>
              </a:rPr>
              <a:t>(</a:t>
            </a:r>
            <a:r>
              <a:rPr lang="en-US" dirty="0">
                <a:solidFill>
                  <a:prstClr val="black"/>
                </a:solidFill>
              </a:rPr>
              <a:t>MANV</a:t>
            </a:r>
            <a:r>
              <a:rPr lang="en-US" dirty="0">
                <a:solidFill>
                  <a:srgbClr val="808080"/>
                </a:solidFill>
              </a:rPr>
              <a:t>)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i="1" dirty="0">
                <a:solidFill>
                  <a:srgbClr val="0000FF"/>
                </a:solidFill>
              </a:rPr>
              <a:t>ON</a:t>
            </a:r>
            <a:r>
              <a:rPr lang="en-US" i="1" dirty="0">
                <a:solidFill>
                  <a:prstClr val="black"/>
                </a:solidFill>
              </a:rPr>
              <a:t> </a:t>
            </a:r>
            <a:r>
              <a:rPr lang="en-US" i="1" dirty="0">
                <a:solidFill>
                  <a:srgbClr val="0000FF"/>
                </a:solidFill>
              </a:rPr>
              <a:t>DELETE</a:t>
            </a:r>
            <a:r>
              <a:rPr lang="en-US" i="1" dirty="0">
                <a:solidFill>
                  <a:prstClr val="black"/>
                </a:solidFill>
              </a:rPr>
              <a:t> </a:t>
            </a:r>
            <a:r>
              <a:rPr lang="en-US" i="1" dirty="0">
                <a:solidFill>
                  <a:srgbClr val="0000FF"/>
                </a:solidFill>
              </a:rPr>
              <a:t>CASCADE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679277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7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/>
              <a:t>g) </a:t>
            </a:r>
            <a:r>
              <a:rPr lang="en-US" sz="3500" b="1" dirty="0" err="1"/>
              <a:t>Lệnh</a:t>
            </a:r>
            <a:r>
              <a:rPr lang="en-US" sz="3500" b="1" dirty="0"/>
              <a:t> </a:t>
            </a:r>
            <a:r>
              <a:rPr lang="en-US" sz="3500" b="1" dirty="0" err="1"/>
              <a:t>xóa</a:t>
            </a:r>
            <a:r>
              <a:rPr lang="en-US" sz="3500" b="1" dirty="0"/>
              <a:t> </a:t>
            </a:r>
            <a:r>
              <a:rPr lang="en-US" sz="3500" b="1" dirty="0" err="1"/>
              <a:t>bảng</a:t>
            </a:r>
            <a:endParaRPr lang="en-US" sz="3500" b="1" dirty="0"/>
          </a:p>
        </p:txBody>
      </p:sp>
      <p:sp>
        <p:nvSpPr>
          <p:cNvPr id="58777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229600" cy="4800600"/>
          </a:xfrm>
        </p:spPr>
        <p:txBody>
          <a:bodyPr/>
          <a:lstStyle/>
          <a:p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xóa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bảng</a:t>
            </a:r>
            <a:endParaRPr lang="en-US" dirty="0"/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Tất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cả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dữ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liệu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của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bảng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cũng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bị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xóa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 err="1"/>
              <a:t>Cú</a:t>
            </a:r>
            <a:r>
              <a:rPr lang="en-US" dirty="0"/>
              <a:t> </a:t>
            </a:r>
            <a:r>
              <a:rPr lang="en-US" dirty="0" err="1"/>
              <a:t>pháp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endParaRPr lang="en-US" dirty="0"/>
          </a:p>
          <a:p>
            <a:pPr>
              <a:buFont typeface="Wingdings 2" pitchFamily="18" charset="2"/>
              <a:buNone/>
            </a:pPr>
            <a:endParaRPr lang="en-US" dirty="0"/>
          </a:p>
        </p:txBody>
      </p:sp>
      <p:sp>
        <p:nvSpPr>
          <p:cNvPr id="587781" name="Text Box 5"/>
          <p:cNvSpPr txBox="1">
            <a:spLocks noChangeArrowheads="1"/>
          </p:cNvSpPr>
          <p:nvPr/>
        </p:nvSpPr>
        <p:spPr bwMode="auto">
          <a:xfrm>
            <a:off x="1066800" y="3276600"/>
            <a:ext cx="3124200" cy="379413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b="1"/>
              <a:t>DROP TABLE</a:t>
            </a:r>
            <a:r>
              <a:rPr lang="en-US"/>
              <a:t> &lt;Tên_bảng&gt;</a:t>
            </a:r>
          </a:p>
        </p:txBody>
      </p:sp>
      <p:sp>
        <p:nvSpPr>
          <p:cNvPr id="587782" name="Text Box 6"/>
          <p:cNvSpPr txBox="1">
            <a:spLocks noChangeArrowheads="1"/>
          </p:cNvSpPr>
          <p:nvPr/>
        </p:nvSpPr>
        <p:spPr bwMode="auto">
          <a:xfrm>
            <a:off x="1066800" y="4600575"/>
            <a:ext cx="3124200" cy="3667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dirty="0">
                <a:solidFill>
                  <a:srgbClr val="0000CC"/>
                </a:solidFill>
              </a:rPr>
              <a:t>DROP TABLE</a:t>
            </a:r>
            <a:r>
              <a:rPr lang="en-US" dirty="0"/>
              <a:t> NHANVIEN</a:t>
            </a:r>
          </a:p>
        </p:txBody>
      </p:sp>
      <p:sp>
        <p:nvSpPr>
          <p:cNvPr id="587783" name="Text Box 7"/>
          <p:cNvSpPr txBox="1">
            <a:spLocks noChangeArrowheads="1"/>
          </p:cNvSpPr>
          <p:nvPr/>
        </p:nvSpPr>
        <p:spPr bwMode="auto">
          <a:xfrm>
            <a:off x="1066800" y="5119688"/>
            <a:ext cx="3124200" cy="36671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dirty="0">
                <a:solidFill>
                  <a:srgbClr val="0000CC"/>
                </a:solidFill>
              </a:rPr>
              <a:t>DROP TABLE</a:t>
            </a:r>
            <a:r>
              <a:rPr lang="en-US" dirty="0"/>
              <a:t> PHONGBAN</a:t>
            </a:r>
          </a:p>
        </p:txBody>
      </p:sp>
      <p:sp>
        <p:nvSpPr>
          <p:cNvPr id="587785" name="Text Box 9"/>
          <p:cNvSpPr txBox="1">
            <a:spLocks noChangeArrowheads="1"/>
          </p:cNvSpPr>
          <p:nvPr/>
        </p:nvSpPr>
        <p:spPr bwMode="auto">
          <a:xfrm>
            <a:off x="1066800" y="5653088"/>
            <a:ext cx="3124200" cy="36671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>
                <a:solidFill>
                  <a:srgbClr val="0000CC"/>
                </a:solidFill>
              </a:rPr>
              <a:t>DROP TABLE</a:t>
            </a:r>
            <a:r>
              <a:rPr lang="en-US"/>
              <a:t> PHANCONG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24179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3"/>
          <p:cNvSpPr txBox="1">
            <a:spLocks noChangeArrowheads="1"/>
          </p:cNvSpPr>
          <p:nvPr/>
        </p:nvSpPr>
        <p:spPr>
          <a:xfrm>
            <a:off x="495300" y="1676400"/>
            <a:ext cx="8229600" cy="4610100"/>
          </a:xfrm>
          <a:prstGeom prst="rect">
            <a:avLst/>
          </a:prstGeom>
        </p:spPr>
        <p:txBody>
          <a:bodyPr vert="horz">
            <a:normAutofit fontScale="925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300"/>
              </a:spcBef>
              <a:buClr>
                <a:schemeClr val="accent2">
                  <a:shade val="75000"/>
                </a:schemeClr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005840" indent="-228600" algn="l" rtl="0" eaLnBrk="1" latinLnBrk="0" hangingPunct="1">
              <a:spcBef>
                <a:spcPts val="300"/>
              </a:spcBef>
              <a:buClr>
                <a:schemeClr val="accent2">
                  <a:shade val="50000"/>
                </a:schemeClr>
              </a:buClr>
              <a:buSzPct val="85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rtl="0" eaLnBrk="1" latinLnBrk="0" hangingPunct="1">
              <a:spcBef>
                <a:spcPts val="300"/>
              </a:spcBef>
              <a:buClr>
                <a:schemeClr val="accent2">
                  <a:shade val="75000"/>
                </a:schemeClr>
              </a:buClr>
              <a:buSzPct val="85000"/>
              <a:buFont typeface="Wingdings 2" pitchFamily="18" charset="2"/>
              <a:buChar char="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rtl="0" eaLnBrk="1" latinLnBrk="0" hangingPunct="1">
              <a:spcBef>
                <a:spcPts val="340"/>
              </a:spcBef>
              <a:buClr>
                <a:schemeClr val="accent2">
                  <a:shade val="75000"/>
                </a:schemeClr>
              </a:buClr>
              <a:buSzPct val="85000"/>
              <a:buFont typeface="Wingdings 2" pitchFamily="18" charset="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800" indent="-228600" algn="l" rtl="0" eaLnBrk="1" latinLnBrk="0" hangingPunct="1">
              <a:spcBef>
                <a:spcPts val="340"/>
              </a:spcBef>
              <a:buClr>
                <a:schemeClr val="accent2">
                  <a:shade val="75000"/>
                </a:schemeClr>
              </a:buClr>
              <a:buSzPct val="85000"/>
              <a:buFont typeface="Wingdings 2" pitchFamily="18" charset="2"/>
              <a:buChar char="?"/>
              <a:defRPr kumimoji="0"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ts val="340"/>
              </a:spcBef>
              <a:buClr>
                <a:schemeClr val="accent2">
                  <a:shade val="75000"/>
                </a:schemeClr>
              </a:buClr>
              <a:buSzPct val="85000"/>
              <a:buFont typeface="Wingdings 2" pitchFamily="18" charset="2"/>
              <a:buChar char="?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ts val="340"/>
              </a:spcBef>
              <a:buClr>
                <a:schemeClr val="accent2">
                  <a:shade val="75000"/>
                </a:schemeClr>
              </a:buClr>
              <a:buSzPct val="85000"/>
              <a:buFont typeface="Wingdings 2" pitchFamily="18" charset="2"/>
              <a:buChar char="?"/>
              <a:defRPr kumimoji="0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ts val="340"/>
              </a:spcBef>
              <a:buClr>
                <a:schemeClr val="accent2">
                  <a:shade val="75000"/>
                </a:schemeClr>
              </a:buClr>
              <a:buSzPct val="85000"/>
              <a:buFont typeface="Wingdings 2" pitchFamily="18" charset="2"/>
              <a:buChar char="?"/>
              <a:defRPr kumimoji="0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xóa</a:t>
            </a:r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:</a:t>
            </a:r>
          </a:p>
          <a:p>
            <a:pPr marL="365760" lvl="1" indent="0" fontAlgn="auto">
              <a:spcAft>
                <a:spcPts val="0"/>
              </a:spcAft>
              <a:buNone/>
            </a:pPr>
            <a:endParaRPr lang="en-US" dirty="0"/>
          </a:p>
          <a:p>
            <a:pPr marL="0" indent="0" fontAlgn="auto">
              <a:spcAft>
                <a:spcPts val="0"/>
              </a:spcAft>
              <a:buNone/>
            </a:pPr>
            <a:r>
              <a:rPr lang="en-US" dirty="0"/>
              <a:t>   					</a:t>
            </a:r>
          </a:p>
          <a:p>
            <a:pPr fontAlgn="auto">
              <a:spcAft>
                <a:spcPts val="0"/>
              </a:spcAft>
            </a:pPr>
            <a:endParaRPr lang="en-US" dirty="0"/>
          </a:p>
          <a:p>
            <a:pPr fontAlgn="auto">
              <a:spcAft>
                <a:spcPts val="0"/>
              </a:spcAft>
              <a:buFont typeface="Wingdings 2" pitchFamily="18" charset="2"/>
              <a:buNone/>
            </a:pPr>
            <a:endParaRPr lang="en-US" dirty="0"/>
          </a:p>
          <a:p>
            <a:pPr fontAlgn="auto">
              <a:spcAft>
                <a:spcPts val="0"/>
              </a:spcAft>
              <a:buFont typeface="Wingdings 2" pitchFamily="18" charset="2"/>
              <a:buNone/>
            </a:pPr>
            <a:r>
              <a:rPr lang="en-US" dirty="0"/>
              <a:t>                              </a:t>
            </a:r>
          </a:p>
          <a:p>
            <a:pPr fontAlgn="auto">
              <a:spcAft>
                <a:spcPts val="0"/>
              </a:spcAft>
              <a:buFont typeface="Wingdings 2" pitchFamily="18" charset="2"/>
              <a:buNone/>
            </a:pPr>
            <a:endParaRPr lang="en-US" dirty="0"/>
          </a:p>
          <a:p>
            <a:pPr fontAlgn="auto">
              <a:spcAft>
                <a:spcPts val="0"/>
              </a:spcAft>
              <a:buFont typeface="Wingdings 2" pitchFamily="18" charset="2"/>
              <a:buNone/>
            </a:pPr>
            <a:endParaRPr lang="en-US" dirty="0"/>
          </a:p>
          <a:p>
            <a:pPr fontAlgn="auto">
              <a:spcAft>
                <a:spcPts val="0"/>
              </a:spcAft>
              <a:buFont typeface="Wingdings 2" pitchFamily="18" charset="2"/>
              <a:buNone/>
            </a:pPr>
            <a:r>
              <a:rPr lang="en-US" dirty="0"/>
              <a:t>1</a:t>
            </a:r>
            <a:r>
              <a:rPr lang="en-US" sz="2200" dirty="0"/>
              <a:t>. ALTER TABLE PHONGBAN DROP COLUMN TRPHG</a:t>
            </a:r>
          </a:p>
          <a:p>
            <a:pPr fontAlgn="auto">
              <a:spcAft>
                <a:spcPts val="0"/>
              </a:spcAft>
              <a:buFont typeface="Wingdings 2" pitchFamily="18" charset="2"/>
              <a:buNone/>
            </a:pPr>
            <a:r>
              <a:rPr lang="en-US" sz="2200" dirty="0"/>
              <a:t>Hay ALTER TABLE PHONGBANDROP </a:t>
            </a:r>
            <a:r>
              <a:rPr lang="en-US" sz="2200" dirty="0" err="1"/>
              <a:t>fk_PHONGBAN</a:t>
            </a:r>
            <a:endParaRPr lang="en-US" sz="2200" dirty="0"/>
          </a:p>
          <a:p>
            <a:pPr fontAlgn="auto">
              <a:spcAft>
                <a:spcPts val="0"/>
              </a:spcAft>
              <a:buFont typeface="Wingdings 2" pitchFamily="18" charset="2"/>
              <a:buNone/>
            </a:pPr>
            <a:r>
              <a:rPr lang="en-US" sz="2200" dirty="0"/>
              <a:t>2. DROP TABLE NHANVIEN</a:t>
            </a:r>
          </a:p>
          <a:p>
            <a:pPr fontAlgn="auto">
              <a:spcAft>
                <a:spcPts val="0"/>
              </a:spcAft>
              <a:buFont typeface="Wingdings 2" pitchFamily="18" charset="2"/>
              <a:buNone/>
            </a:pPr>
            <a:r>
              <a:rPr lang="en-US" sz="2200" dirty="0"/>
              <a:t>3. DROP TABLE PHONGBAN</a:t>
            </a:r>
          </a:p>
        </p:txBody>
      </p:sp>
      <p:sp>
        <p:nvSpPr>
          <p:cNvPr id="5959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/>
              <a:t>g) </a:t>
            </a:r>
            <a:r>
              <a:rPr lang="en-US" sz="3500" b="1" dirty="0" err="1"/>
              <a:t>Lệnh</a:t>
            </a:r>
            <a:r>
              <a:rPr lang="en-US" sz="3500" b="1" dirty="0"/>
              <a:t> </a:t>
            </a:r>
            <a:r>
              <a:rPr lang="en-US" sz="3500" b="1" dirty="0" err="1"/>
              <a:t>xóa</a:t>
            </a:r>
            <a:r>
              <a:rPr lang="en-US" sz="3500" b="1" dirty="0"/>
              <a:t> </a:t>
            </a:r>
            <a:r>
              <a:rPr lang="en-US" sz="3500" b="1" dirty="0" err="1"/>
              <a:t>bảng</a:t>
            </a:r>
            <a:endParaRPr lang="en-US" sz="3500" b="1" dirty="0"/>
          </a:p>
        </p:txBody>
      </p:sp>
      <p:sp>
        <p:nvSpPr>
          <p:cNvPr id="595979" name="Text Box 11"/>
          <p:cNvSpPr txBox="1">
            <a:spLocks noChangeArrowheads="1"/>
          </p:cNvSpPr>
          <p:nvPr/>
        </p:nvSpPr>
        <p:spPr bwMode="auto">
          <a:xfrm>
            <a:off x="914400" y="2133600"/>
            <a:ext cx="1295400" cy="3048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400" b="1" dirty="0"/>
              <a:t>NHANVIEN</a:t>
            </a:r>
          </a:p>
        </p:txBody>
      </p:sp>
      <p:sp>
        <p:nvSpPr>
          <p:cNvPr id="596003" name="Text Box 35"/>
          <p:cNvSpPr txBox="1">
            <a:spLocks noChangeArrowheads="1"/>
          </p:cNvSpPr>
          <p:nvPr/>
        </p:nvSpPr>
        <p:spPr bwMode="auto">
          <a:xfrm>
            <a:off x="990600" y="3581400"/>
            <a:ext cx="1295400" cy="3048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400" b="1"/>
              <a:t>PHONGBAN</a:t>
            </a:r>
          </a:p>
        </p:txBody>
      </p:sp>
      <p:grpSp>
        <p:nvGrpSpPr>
          <p:cNvPr id="596029" name="Group 61"/>
          <p:cNvGrpSpPr>
            <a:grpSpLocks/>
          </p:cNvGrpSpPr>
          <p:nvPr/>
        </p:nvGrpSpPr>
        <p:grpSpPr bwMode="auto">
          <a:xfrm>
            <a:off x="990600" y="3962400"/>
            <a:ext cx="3962400" cy="304800"/>
            <a:chOff x="624" y="2304"/>
            <a:chExt cx="4656" cy="192"/>
          </a:xfrm>
        </p:grpSpPr>
        <p:sp>
          <p:nvSpPr>
            <p:cNvPr id="596005" name="Line 37"/>
            <p:cNvSpPr>
              <a:spLocks noChangeShapeType="1"/>
            </p:cNvSpPr>
            <p:nvPr/>
          </p:nvSpPr>
          <p:spPr bwMode="auto">
            <a:xfrm>
              <a:off x="624" y="2304"/>
              <a:ext cx="46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6006" name="Line 38"/>
            <p:cNvSpPr>
              <a:spLocks noChangeShapeType="1"/>
            </p:cNvSpPr>
            <p:nvPr/>
          </p:nvSpPr>
          <p:spPr bwMode="auto">
            <a:xfrm>
              <a:off x="624" y="2496"/>
              <a:ext cx="46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596007" name="Text Box 39"/>
          <p:cNvSpPr txBox="1">
            <a:spLocks noChangeArrowheads="1"/>
          </p:cNvSpPr>
          <p:nvPr/>
        </p:nvSpPr>
        <p:spPr bwMode="auto">
          <a:xfrm>
            <a:off x="2743200" y="3962400"/>
            <a:ext cx="762000" cy="3048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400"/>
              <a:t>TRPHG</a:t>
            </a:r>
          </a:p>
        </p:txBody>
      </p:sp>
      <p:sp>
        <p:nvSpPr>
          <p:cNvPr id="596008" name="Text Box 40"/>
          <p:cNvSpPr txBox="1">
            <a:spLocks noChangeArrowheads="1"/>
          </p:cNvSpPr>
          <p:nvPr/>
        </p:nvSpPr>
        <p:spPr bwMode="auto">
          <a:xfrm>
            <a:off x="990600" y="3962400"/>
            <a:ext cx="914400" cy="3048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400"/>
              <a:t>TENPHG</a:t>
            </a:r>
          </a:p>
        </p:txBody>
      </p:sp>
      <p:sp>
        <p:nvSpPr>
          <p:cNvPr id="596009" name="Text Box 41"/>
          <p:cNvSpPr txBox="1">
            <a:spLocks noChangeArrowheads="1"/>
          </p:cNvSpPr>
          <p:nvPr/>
        </p:nvSpPr>
        <p:spPr bwMode="auto">
          <a:xfrm>
            <a:off x="1905000" y="3962400"/>
            <a:ext cx="838200" cy="3048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400" u="sng"/>
              <a:t>MAPHG</a:t>
            </a:r>
          </a:p>
        </p:txBody>
      </p:sp>
      <p:sp>
        <p:nvSpPr>
          <p:cNvPr id="596010" name="Text Box 42"/>
          <p:cNvSpPr txBox="1">
            <a:spLocks noChangeArrowheads="1"/>
          </p:cNvSpPr>
          <p:nvPr/>
        </p:nvSpPr>
        <p:spPr bwMode="auto">
          <a:xfrm>
            <a:off x="3505200" y="3962400"/>
            <a:ext cx="1524000" cy="3048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400"/>
              <a:t>NG_NHANCHUC</a:t>
            </a:r>
          </a:p>
        </p:txBody>
      </p:sp>
      <p:sp>
        <p:nvSpPr>
          <p:cNvPr id="596018" name="Line 50"/>
          <p:cNvSpPr>
            <a:spLocks noChangeShapeType="1"/>
          </p:cNvSpPr>
          <p:nvPr/>
        </p:nvSpPr>
        <p:spPr bwMode="auto">
          <a:xfrm>
            <a:off x="1905000" y="396240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6019" name="Line 51"/>
          <p:cNvSpPr>
            <a:spLocks noChangeShapeType="1"/>
          </p:cNvSpPr>
          <p:nvPr/>
        </p:nvSpPr>
        <p:spPr bwMode="auto">
          <a:xfrm>
            <a:off x="2743200" y="396240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6020" name="Line 52"/>
          <p:cNvSpPr>
            <a:spLocks noChangeShapeType="1"/>
          </p:cNvSpPr>
          <p:nvPr/>
        </p:nvSpPr>
        <p:spPr bwMode="auto">
          <a:xfrm>
            <a:off x="3505200" y="396240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6021" name="Line 53"/>
          <p:cNvSpPr>
            <a:spLocks noChangeShapeType="1"/>
          </p:cNvSpPr>
          <p:nvPr/>
        </p:nvSpPr>
        <p:spPr bwMode="auto">
          <a:xfrm>
            <a:off x="4953000" y="396240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6028" name="Line 60"/>
          <p:cNvSpPr>
            <a:spLocks noChangeShapeType="1"/>
          </p:cNvSpPr>
          <p:nvPr/>
        </p:nvSpPr>
        <p:spPr bwMode="auto">
          <a:xfrm>
            <a:off x="990600" y="396240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914400" y="2514600"/>
            <a:ext cx="7391400" cy="1447800"/>
            <a:chOff x="914400" y="2514600"/>
            <a:chExt cx="7391400" cy="1447800"/>
          </a:xfrm>
        </p:grpSpPr>
        <p:grpSp>
          <p:nvGrpSpPr>
            <p:cNvPr id="596002" name="Group 34"/>
            <p:cNvGrpSpPr>
              <a:grpSpLocks/>
            </p:cNvGrpSpPr>
            <p:nvPr/>
          </p:nvGrpSpPr>
          <p:grpSpPr bwMode="auto">
            <a:xfrm>
              <a:off x="914400" y="2514600"/>
              <a:ext cx="7391400" cy="304800"/>
              <a:chOff x="624" y="1776"/>
              <a:chExt cx="4656" cy="192"/>
            </a:xfrm>
          </p:grpSpPr>
          <p:sp>
            <p:nvSpPr>
              <p:cNvPr id="595977" name="Line 9"/>
              <p:cNvSpPr>
                <a:spLocks noChangeShapeType="1"/>
              </p:cNvSpPr>
              <p:nvPr/>
            </p:nvSpPr>
            <p:spPr bwMode="auto">
              <a:xfrm>
                <a:off x="624" y="1776"/>
                <a:ext cx="465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95978" name="Line 10"/>
              <p:cNvSpPr>
                <a:spLocks noChangeShapeType="1"/>
              </p:cNvSpPr>
              <p:nvPr/>
            </p:nvSpPr>
            <p:spPr bwMode="auto">
              <a:xfrm>
                <a:off x="624" y="1968"/>
                <a:ext cx="465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95980" name="Text Box 12"/>
              <p:cNvSpPr txBox="1">
                <a:spLocks noChangeArrowheads="1"/>
              </p:cNvSpPr>
              <p:nvPr/>
            </p:nvSpPr>
            <p:spPr bwMode="auto">
              <a:xfrm>
                <a:off x="1584" y="1776"/>
                <a:ext cx="480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sz="1400"/>
                  <a:t>TENNV</a:t>
                </a:r>
              </a:p>
            </p:txBody>
          </p:sp>
          <p:sp>
            <p:nvSpPr>
              <p:cNvPr id="595981" name="Text Box 13"/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432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sz="1400" dirty="0"/>
                  <a:t>HONV</a:t>
                </a:r>
              </a:p>
            </p:txBody>
          </p:sp>
          <p:sp>
            <p:nvSpPr>
              <p:cNvPr id="595982" name="Text Box 14"/>
              <p:cNvSpPr txBox="1">
                <a:spLocks noChangeArrowheads="1"/>
              </p:cNvSpPr>
              <p:nvPr/>
            </p:nvSpPr>
            <p:spPr bwMode="auto">
              <a:xfrm>
                <a:off x="1056" y="1776"/>
                <a:ext cx="528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sz="1400" dirty="0"/>
                  <a:t>TENLOT</a:t>
                </a:r>
              </a:p>
            </p:txBody>
          </p:sp>
          <p:sp>
            <p:nvSpPr>
              <p:cNvPr id="595987" name="Text Box 19"/>
              <p:cNvSpPr txBox="1">
                <a:spLocks noChangeArrowheads="1"/>
              </p:cNvSpPr>
              <p:nvPr/>
            </p:nvSpPr>
            <p:spPr bwMode="auto">
              <a:xfrm>
                <a:off x="2064" y="1776"/>
                <a:ext cx="432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sz="1400" u="sng" dirty="0"/>
                  <a:t>MANV</a:t>
                </a:r>
              </a:p>
            </p:txBody>
          </p:sp>
          <p:sp>
            <p:nvSpPr>
              <p:cNvPr id="595988" name="Text Box 20"/>
              <p:cNvSpPr txBox="1">
                <a:spLocks noChangeArrowheads="1"/>
              </p:cNvSpPr>
              <p:nvPr/>
            </p:nvSpPr>
            <p:spPr bwMode="auto">
              <a:xfrm>
                <a:off x="2496" y="1776"/>
                <a:ext cx="528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sz="1400"/>
                  <a:t>NGSINH</a:t>
                </a:r>
              </a:p>
            </p:txBody>
          </p:sp>
          <p:sp>
            <p:nvSpPr>
              <p:cNvPr id="595990" name="Text Box 22"/>
              <p:cNvSpPr txBox="1">
                <a:spLocks noChangeArrowheads="1"/>
              </p:cNvSpPr>
              <p:nvPr/>
            </p:nvSpPr>
            <p:spPr bwMode="auto">
              <a:xfrm>
                <a:off x="3024" y="1776"/>
                <a:ext cx="384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sz="1400"/>
                  <a:t>DCHI</a:t>
                </a:r>
              </a:p>
            </p:txBody>
          </p:sp>
          <p:sp>
            <p:nvSpPr>
              <p:cNvPr id="595992" name="Text Box 24"/>
              <p:cNvSpPr txBox="1">
                <a:spLocks noChangeArrowheads="1"/>
              </p:cNvSpPr>
              <p:nvPr/>
            </p:nvSpPr>
            <p:spPr bwMode="auto">
              <a:xfrm>
                <a:off x="3408" y="1776"/>
                <a:ext cx="384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sz="1400" dirty="0"/>
                  <a:t>PHAI</a:t>
                </a:r>
              </a:p>
            </p:txBody>
          </p:sp>
          <p:sp>
            <p:nvSpPr>
              <p:cNvPr id="595994" name="Text Box 26"/>
              <p:cNvSpPr txBox="1">
                <a:spLocks noChangeArrowheads="1"/>
              </p:cNvSpPr>
              <p:nvPr/>
            </p:nvSpPr>
            <p:spPr bwMode="auto">
              <a:xfrm>
                <a:off x="3792" y="1776"/>
                <a:ext cx="480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sz="1400"/>
                  <a:t>LUONG</a:t>
                </a:r>
              </a:p>
            </p:txBody>
          </p:sp>
          <p:sp>
            <p:nvSpPr>
              <p:cNvPr id="595997" name="Text Box 29"/>
              <p:cNvSpPr txBox="1">
                <a:spLocks noChangeArrowheads="1"/>
              </p:cNvSpPr>
              <p:nvPr/>
            </p:nvSpPr>
            <p:spPr bwMode="auto">
              <a:xfrm>
                <a:off x="4272" y="1776"/>
                <a:ext cx="576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sz="1400"/>
                  <a:t>MA_NQL</a:t>
                </a:r>
              </a:p>
            </p:txBody>
          </p:sp>
          <p:sp>
            <p:nvSpPr>
              <p:cNvPr id="595998" name="Text Box 30"/>
              <p:cNvSpPr txBox="1">
                <a:spLocks noChangeArrowheads="1"/>
              </p:cNvSpPr>
              <p:nvPr/>
            </p:nvSpPr>
            <p:spPr bwMode="auto">
              <a:xfrm>
                <a:off x="4848" y="1776"/>
                <a:ext cx="384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sz="1400"/>
                  <a:t>PHG</a:t>
                </a:r>
              </a:p>
            </p:txBody>
          </p:sp>
          <p:grpSp>
            <p:nvGrpSpPr>
              <p:cNvPr id="596001" name="Group 33"/>
              <p:cNvGrpSpPr>
                <a:grpSpLocks/>
              </p:cNvGrpSpPr>
              <p:nvPr/>
            </p:nvGrpSpPr>
            <p:grpSpPr bwMode="auto">
              <a:xfrm>
                <a:off x="624" y="1776"/>
                <a:ext cx="4656" cy="192"/>
                <a:chOff x="192" y="1200"/>
                <a:chExt cx="4656" cy="240"/>
              </a:xfrm>
            </p:grpSpPr>
            <p:sp>
              <p:nvSpPr>
                <p:cNvPr id="595983" name="Line 15"/>
                <p:cNvSpPr>
                  <a:spLocks noChangeShapeType="1"/>
                </p:cNvSpPr>
                <p:nvPr/>
              </p:nvSpPr>
              <p:spPr bwMode="auto">
                <a:xfrm>
                  <a:off x="624" y="1200"/>
                  <a:ext cx="0" cy="24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595984" name="Line 16"/>
                <p:cNvSpPr>
                  <a:spLocks noChangeShapeType="1"/>
                </p:cNvSpPr>
                <p:nvPr/>
              </p:nvSpPr>
              <p:spPr bwMode="auto">
                <a:xfrm>
                  <a:off x="1152" y="1200"/>
                  <a:ext cx="0" cy="24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595985" name="Line 17"/>
                <p:cNvSpPr>
                  <a:spLocks noChangeShapeType="1"/>
                </p:cNvSpPr>
                <p:nvPr/>
              </p:nvSpPr>
              <p:spPr bwMode="auto">
                <a:xfrm>
                  <a:off x="1632" y="1200"/>
                  <a:ext cx="0" cy="24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595986" name="Line 18"/>
                <p:cNvSpPr>
                  <a:spLocks noChangeShapeType="1"/>
                </p:cNvSpPr>
                <p:nvPr/>
              </p:nvSpPr>
              <p:spPr bwMode="auto">
                <a:xfrm>
                  <a:off x="2064" y="1200"/>
                  <a:ext cx="0" cy="24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595989" name="Line 21"/>
                <p:cNvSpPr>
                  <a:spLocks noChangeShapeType="1"/>
                </p:cNvSpPr>
                <p:nvPr/>
              </p:nvSpPr>
              <p:spPr bwMode="auto">
                <a:xfrm>
                  <a:off x="2592" y="1200"/>
                  <a:ext cx="0" cy="24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595991" name="Line 23"/>
                <p:cNvSpPr>
                  <a:spLocks noChangeShapeType="1"/>
                </p:cNvSpPr>
                <p:nvPr/>
              </p:nvSpPr>
              <p:spPr bwMode="auto">
                <a:xfrm>
                  <a:off x="2976" y="1200"/>
                  <a:ext cx="0" cy="24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595993" name="Line 25"/>
                <p:cNvSpPr>
                  <a:spLocks noChangeShapeType="1"/>
                </p:cNvSpPr>
                <p:nvPr/>
              </p:nvSpPr>
              <p:spPr bwMode="auto">
                <a:xfrm>
                  <a:off x="3360" y="1200"/>
                  <a:ext cx="0" cy="24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595995" name="Line 27"/>
                <p:cNvSpPr>
                  <a:spLocks noChangeShapeType="1"/>
                </p:cNvSpPr>
                <p:nvPr/>
              </p:nvSpPr>
              <p:spPr bwMode="auto">
                <a:xfrm>
                  <a:off x="3840" y="1200"/>
                  <a:ext cx="0" cy="24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595996" name="Line 28"/>
                <p:cNvSpPr>
                  <a:spLocks noChangeShapeType="1"/>
                </p:cNvSpPr>
                <p:nvPr/>
              </p:nvSpPr>
              <p:spPr bwMode="auto">
                <a:xfrm>
                  <a:off x="4416" y="1200"/>
                  <a:ext cx="0" cy="24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595999" name="Line 31"/>
                <p:cNvSpPr>
                  <a:spLocks noChangeShapeType="1"/>
                </p:cNvSpPr>
                <p:nvPr/>
              </p:nvSpPr>
              <p:spPr bwMode="auto">
                <a:xfrm>
                  <a:off x="4848" y="1200"/>
                  <a:ext cx="0" cy="24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596000" name="Line 32"/>
                <p:cNvSpPr>
                  <a:spLocks noChangeShapeType="1"/>
                </p:cNvSpPr>
                <p:nvPr/>
              </p:nvSpPr>
              <p:spPr bwMode="auto">
                <a:xfrm>
                  <a:off x="192" y="1200"/>
                  <a:ext cx="0" cy="24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</p:grpSp>
        </p:grpSp>
        <p:sp>
          <p:nvSpPr>
            <p:cNvPr id="596043" name="Line 75"/>
            <p:cNvSpPr>
              <a:spLocks noChangeShapeType="1"/>
            </p:cNvSpPr>
            <p:nvPr/>
          </p:nvSpPr>
          <p:spPr bwMode="auto">
            <a:xfrm flipV="1">
              <a:off x="3200400" y="2819400"/>
              <a:ext cx="381000" cy="1143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596044" name="Freeform 76"/>
          <p:cNvSpPr>
            <a:spLocks/>
          </p:cNvSpPr>
          <p:nvPr/>
        </p:nvSpPr>
        <p:spPr bwMode="auto">
          <a:xfrm>
            <a:off x="2411413" y="2819400"/>
            <a:ext cx="5513387" cy="1898650"/>
          </a:xfrm>
          <a:custGeom>
            <a:avLst/>
            <a:gdLst/>
            <a:ahLst/>
            <a:cxnLst>
              <a:cxn ang="0">
                <a:pos x="3473" y="0"/>
              </a:cxn>
              <a:cxn ang="0">
                <a:pos x="1867" y="1043"/>
              </a:cxn>
              <a:cxn ang="0">
                <a:pos x="0" y="921"/>
              </a:cxn>
            </a:cxnLst>
            <a:rect l="0" t="0" r="r" b="b"/>
            <a:pathLst>
              <a:path w="3473" h="1196">
                <a:moveTo>
                  <a:pt x="3473" y="0"/>
                </a:moveTo>
                <a:cubicBezTo>
                  <a:pt x="3205" y="174"/>
                  <a:pt x="2446" y="890"/>
                  <a:pt x="1867" y="1043"/>
                </a:cubicBezTo>
                <a:cubicBezTo>
                  <a:pt x="1288" y="1196"/>
                  <a:pt x="389" y="946"/>
                  <a:pt x="0" y="921"/>
                </a:cubicBez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3243263" y="3124200"/>
            <a:ext cx="809008" cy="369332"/>
            <a:chOff x="3243263" y="3124200"/>
            <a:chExt cx="809008" cy="369332"/>
          </a:xfrm>
        </p:grpSpPr>
        <p:grpSp>
          <p:nvGrpSpPr>
            <p:cNvPr id="596045" name="Group 77"/>
            <p:cNvGrpSpPr>
              <a:grpSpLocks/>
            </p:cNvGrpSpPr>
            <p:nvPr/>
          </p:nvGrpSpPr>
          <p:grpSpPr bwMode="auto">
            <a:xfrm>
              <a:off x="3243263" y="3124200"/>
              <a:ext cx="381000" cy="304800"/>
              <a:chOff x="1753" y="2000"/>
              <a:chExt cx="1359" cy="938"/>
            </a:xfrm>
          </p:grpSpPr>
          <p:sp>
            <p:nvSpPr>
              <p:cNvPr id="596046" name="Freeform 78"/>
              <p:cNvSpPr>
                <a:spLocks/>
              </p:cNvSpPr>
              <p:nvPr/>
            </p:nvSpPr>
            <p:spPr bwMode="auto">
              <a:xfrm>
                <a:off x="1753" y="2000"/>
                <a:ext cx="1359" cy="851"/>
              </a:xfrm>
              <a:custGeom>
                <a:avLst/>
                <a:gdLst/>
                <a:ahLst/>
                <a:cxnLst>
                  <a:cxn ang="0">
                    <a:pos x="0" y="851"/>
                  </a:cxn>
                  <a:cxn ang="0">
                    <a:pos x="421" y="509"/>
                  </a:cxn>
                  <a:cxn ang="0">
                    <a:pos x="574" y="444"/>
                  </a:cxn>
                  <a:cxn ang="0">
                    <a:pos x="916" y="262"/>
                  </a:cxn>
                  <a:cxn ang="0">
                    <a:pos x="1221" y="80"/>
                  </a:cxn>
                  <a:cxn ang="0">
                    <a:pos x="1308" y="29"/>
                  </a:cxn>
                  <a:cxn ang="0">
                    <a:pos x="1359" y="0"/>
                  </a:cxn>
                </a:cxnLst>
                <a:rect l="0" t="0" r="r" b="b"/>
                <a:pathLst>
                  <a:path w="1359" h="851">
                    <a:moveTo>
                      <a:pt x="0" y="851"/>
                    </a:moveTo>
                    <a:cubicBezTo>
                      <a:pt x="91" y="708"/>
                      <a:pt x="273" y="585"/>
                      <a:pt x="421" y="509"/>
                    </a:cubicBezTo>
                    <a:cubicBezTo>
                      <a:pt x="467" y="485"/>
                      <a:pt x="530" y="471"/>
                      <a:pt x="574" y="444"/>
                    </a:cubicBezTo>
                    <a:cubicBezTo>
                      <a:pt x="684" y="377"/>
                      <a:pt x="802" y="323"/>
                      <a:pt x="916" y="262"/>
                    </a:cubicBezTo>
                    <a:cubicBezTo>
                      <a:pt x="1021" y="206"/>
                      <a:pt x="1117" y="137"/>
                      <a:pt x="1221" y="80"/>
                    </a:cubicBezTo>
                    <a:cubicBezTo>
                      <a:pt x="1250" y="64"/>
                      <a:pt x="1279" y="46"/>
                      <a:pt x="1308" y="29"/>
                    </a:cubicBezTo>
                    <a:cubicBezTo>
                      <a:pt x="1325" y="19"/>
                      <a:pt x="1359" y="0"/>
                      <a:pt x="1359" y="0"/>
                    </a:cubicBezTo>
                  </a:path>
                </a:pathLst>
              </a:custGeom>
              <a:noFill/>
              <a:ln w="38100" cap="flat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6047" name="Freeform 79"/>
              <p:cNvSpPr>
                <a:spLocks/>
              </p:cNvSpPr>
              <p:nvPr/>
            </p:nvSpPr>
            <p:spPr bwMode="auto">
              <a:xfrm>
                <a:off x="2022" y="2146"/>
                <a:ext cx="1018" cy="79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67" y="87"/>
                  </a:cxn>
                  <a:cxn ang="0">
                    <a:pos x="312" y="174"/>
                  </a:cxn>
                  <a:cxn ang="0">
                    <a:pos x="363" y="218"/>
                  </a:cxn>
                  <a:cxn ang="0">
                    <a:pos x="654" y="458"/>
                  </a:cxn>
                  <a:cxn ang="0">
                    <a:pos x="749" y="552"/>
                  </a:cxn>
                  <a:cxn ang="0">
                    <a:pos x="858" y="632"/>
                  </a:cxn>
                  <a:cxn ang="0">
                    <a:pos x="909" y="691"/>
                  </a:cxn>
                  <a:cxn ang="0">
                    <a:pos x="960" y="727"/>
                  </a:cxn>
                  <a:cxn ang="0">
                    <a:pos x="1018" y="792"/>
                  </a:cxn>
                </a:cxnLst>
                <a:rect l="0" t="0" r="r" b="b"/>
                <a:pathLst>
                  <a:path w="1018" h="792">
                    <a:moveTo>
                      <a:pt x="0" y="0"/>
                    </a:moveTo>
                    <a:cubicBezTo>
                      <a:pt x="103" y="28"/>
                      <a:pt x="87" y="33"/>
                      <a:pt x="167" y="87"/>
                    </a:cubicBezTo>
                    <a:cubicBezTo>
                      <a:pt x="213" y="118"/>
                      <a:pt x="265" y="145"/>
                      <a:pt x="312" y="174"/>
                    </a:cubicBezTo>
                    <a:cubicBezTo>
                      <a:pt x="412" y="236"/>
                      <a:pt x="278" y="158"/>
                      <a:pt x="363" y="218"/>
                    </a:cubicBezTo>
                    <a:cubicBezTo>
                      <a:pt x="466" y="291"/>
                      <a:pt x="560" y="373"/>
                      <a:pt x="654" y="458"/>
                    </a:cubicBezTo>
                    <a:cubicBezTo>
                      <a:pt x="687" y="488"/>
                      <a:pt x="713" y="526"/>
                      <a:pt x="749" y="552"/>
                    </a:cubicBezTo>
                    <a:cubicBezTo>
                      <a:pt x="785" y="579"/>
                      <a:pt x="829" y="598"/>
                      <a:pt x="858" y="632"/>
                    </a:cubicBezTo>
                    <a:cubicBezTo>
                      <a:pt x="875" y="652"/>
                      <a:pt x="890" y="673"/>
                      <a:pt x="909" y="691"/>
                    </a:cubicBezTo>
                    <a:cubicBezTo>
                      <a:pt x="924" y="705"/>
                      <a:pt x="945" y="713"/>
                      <a:pt x="960" y="727"/>
                    </a:cubicBezTo>
                    <a:cubicBezTo>
                      <a:pt x="981" y="746"/>
                      <a:pt x="997" y="772"/>
                      <a:pt x="1018" y="792"/>
                    </a:cubicBezTo>
                  </a:path>
                </a:pathLst>
              </a:custGeom>
              <a:noFill/>
              <a:ln w="38100" cap="flat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" name="TextBox 3"/>
            <p:cNvSpPr txBox="1"/>
            <p:nvPr/>
          </p:nvSpPr>
          <p:spPr>
            <a:xfrm>
              <a:off x="3720129" y="3124200"/>
              <a:ext cx="3321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4267200" y="1916668"/>
            <a:ext cx="990600" cy="1131332"/>
            <a:chOff x="4267200" y="1916668"/>
            <a:chExt cx="990600" cy="1131332"/>
          </a:xfrm>
        </p:grpSpPr>
        <p:grpSp>
          <p:nvGrpSpPr>
            <p:cNvPr id="596051" name="Group 83"/>
            <p:cNvGrpSpPr>
              <a:grpSpLocks/>
            </p:cNvGrpSpPr>
            <p:nvPr/>
          </p:nvGrpSpPr>
          <p:grpSpPr bwMode="auto">
            <a:xfrm>
              <a:off x="4267200" y="2286000"/>
              <a:ext cx="990600" cy="762000"/>
              <a:chOff x="1753" y="2000"/>
              <a:chExt cx="1359" cy="938"/>
            </a:xfrm>
          </p:grpSpPr>
          <p:sp>
            <p:nvSpPr>
              <p:cNvPr id="596052" name="Freeform 84"/>
              <p:cNvSpPr>
                <a:spLocks/>
              </p:cNvSpPr>
              <p:nvPr/>
            </p:nvSpPr>
            <p:spPr bwMode="auto">
              <a:xfrm>
                <a:off x="1753" y="2000"/>
                <a:ext cx="1359" cy="851"/>
              </a:xfrm>
              <a:custGeom>
                <a:avLst/>
                <a:gdLst/>
                <a:ahLst/>
                <a:cxnLst>
                  <a:cxn ang="0">
                    <a:pos x="0" y="851"/>
                  </a:cxn>
                  <a:cxn ang="0">
                    <a:pos x="421" y="509"/>
                  </a:cxn>
                  <a:cxn ang="0">
                    <a:pos x="574" y="444"/>
                  </a:cxn>
                  <a:cxn ang="0">
                    <a:pos x="916" y="262"/>
                  </a:cxn>
                  <a:cxn ang="0">
                    <a:pos x="1221" y="80"/>
                  </a:cxn>
                  <a:cxn ang="0">
                    <a:pos x="1308" y="29"/>
                  </a:cxn>
                  <a:cxn ang="0">
                    <a:pos x="1359" y="0"/>
                  </a:cxn>
                </a:cxnLst>
                <a:rect l="0" t="0" r="r" b="b"/>
                <a:pathLst>
                  <a:path w="1359" h="851">
                    <a:moveTo>
                      <a:pt x="0" y="851"/>
                    </a:moveTo>
                    <a:cubicBezTo>
                      <a:pt x="91" y="708"/>
                      <a:pt x="273" y="585"/>
                      <a:pt x="421" y="509"/>
                    </a:cubicBezTo>
                    <a:cubicBezTo>
                      <a:pt x="467" y="485"/>
                      <a:pt x="530" y="471"/>
                      <a:pt x="574" y="444"/>
                    </a:cubicBezTo>
                    <a:cubicBezTo>
                      <a:pt x="684" y="377"/>
                      <a:pt x="802" y="323"/>
                      <a:pt x="916" y="262"/>
                    </a:cubicBezTo>
                    <a:cubicBezTo>
                      <a:pt x="1021" y="206"/>
                      <a:pt x="1117" y="137"/>
                      <a:pt x="1221" y="80"/>
                    </a:cubicBezTo>
                    <a:cubicBezTo>
                      <a:pt x="1250" y="64"/>
                      <a:pt x="1279" y="46"/>
                      <a:pt x="1308" y="29"/>
                    </a:cubicBezTo>
                    <a:cubicBezTo>
                      <a:pt x="1325" y="19"/>
                      <a:pt x="1359" y="0"/>
                      <a:pt x="1359" y="0"/>
                    </a:cubicBezTo>
                  </a:path>
                </a:pathLst>
              </a:custGeom>
              <a:noFill/>
              <a:ln w="38100" cap="flat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6053" name="Freeform 85"/>
              <p:cNvSpPr>
                <a:spLocks/>
              </p:cNvSpPr>
              <p:nvPr/>
            </p:nvSpPr>
            <p:spPr bwMode="auto">
              <a:xfrm>
                <a:off x="2022" y="2146"/>
                <a:ext cx="1018" cy="79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67" y="87"/>
                  </a:cxn>
                  <a:cxn ang="0">
                    <a:pos x="312" y="174"/>
                  </a:cxn>
                  <a:cxn ang="0">
                    <a:pos x="363" y="218"/>
                  </a:cxn>
                  <a:cxn ang="0">
                    <a:pos x="654" y="458"/>
                  </a:cxn>
                  <a:cxn ang="0">
                    <a:pos x="749" y="552"/>
                  </a:cxn>
                  <a:cxn ang="0">
                    <a:pos x="858" y="632"/>
                  </a:cxn>
                  <a:cxn ang="0">
                    <a:pos x="909" y="691"/>
                  </a:cxn>
                  <a:cxn ang="0">
                    <a:pos x="960" y="727"/>
                  </a:cxn>
                  <a:cxn ang="0">
                    <a:pos x="1018" y="792"/>
                  </a:cxn>
                </a:cxnLst>
                <a:rect l="0" t="0" r="r" b="b"/>
                <a:pathLst>
                  <a:path w="1018" h="792">
                    <a:moveTo>
                      <a:pt x="0" y="0"/>
                    </a:moveTo>
                    <a:cubicBezTo>
                      <a:pt x="103" y="28"/>
                      <a:pt x="87" y="33"/>
                      <a:pt x="167" y="87"/>
                    </a:cubicBezTo>
                    <a:cubicBezTo>
                      <a:pt x="213" y="118"/>
                      <a:pt x="265" y="145"/>
                      <a:pt x="312" y="174"/>
                    </a:cubicBezTo>
                    <a:cubicBezTo>
                      <a:pt x="412" y="236"/>
                      <a:pt x="278" y="158"/>
                      <a:pt x="363" y="218"/>
                    </a:cubicBezTo>
                    <a:cubicBezTo>
                      <a:pt x="466" y="291"/>
                      <a:pt x="560" y="373"/>
                      <a:pt x="654" y="458"/>
                    </a:cubicBezTo>
                    <a:cubicBezTo>
                      <a:pt x="687" y="488"/>
                      <a:pt x="713" y="526"/>
                      <a:pt x="749" y="552"/>
                    </a:cubicBezTo>
                    <a:cubicBezTo>
                      <a:pt x="785" y="579"/>
                      <a:pt x="829" y="598"/>
                      <a:pt x="858" y="632"/>
                    </a:cubicBezTo>
                    <a:cubicBezTo>
                      <a:pt x="875" y="652"/>
                      <a:pt x="890" y="673"/>
                      <a:pt x="909" y="691"/>
                    </a:cubicBezTo>
                    <a:cubicBezTo>
                      <a:pt x="924" y="705"/>
                      <a:pt x="945" y="713"/>
                      <a:pt x="960" y="727"/>
                    </a:cubicBezTo>
                    <a:cubicBezTo>
                      <a:pt x="981" y="746"/>
                      <a:pt x="997" y="772"/>
                      <a:pt x="1018" y="792"/>
                    </a:cubicBezTo>
                  </a:path>
                </a:pathLst>
              </a:custGeom>
              <a:noFill/>
              <a:ln w="38100" cap="flat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" name="TextBox 5"/>
            <p:cNvSpPr txBox="1"/>
            <p:nvPr/>
          </p:nvSpPr>
          <p:spPr>
            <a:xfrm>
              <a:off x="4596429" y="1916668"/>
              <a:ext cx="3321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2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1828800" y="3493532"/>
            <a:ext cx="990600" cy="1002268"/>
            <a:chOff x="1828800" y="3493532"/>
            <a:chExt cx="990600" cy="1002268"/>
          </a:xfrm>
        </p:grpSpPr>
        <p:grpSp>
          <p:nvGrpSpPr>
            <p:cNvPr id="596054" name="Group 86"/>
            <p:cNvGrpSpPr>
              <a:grpSpLocks/>
            </p:cNvGrpSpPr>
            <p:nvPr/>
          </p:nvGrpSpPr>
          <p:grpSpPr bwMode="auto">
            <a:xfrm>
              <a:off x="1828800" y="3733800"/>
              <a:ext cx="990600" cy="762000"/>
              <a:chOff x="1753" y="2000"/>
              <a:chExt cx="1359" cy="938"/>
            </a:xfrm>
          </p:grpSpPr>
          <p:sp>
            <p:nvSpPr>
              <p:cNvPr id="596055" name="Freeform 87"/>
              <p:cNvSpPr>
                <a:spLocks/>
              </p:cNvSpPr>
              <p:nvPr/>
            </p:nvSpPr>
            <p:spPr bwMode="auto">
              <a:xfrm>
                <a:off x="1753" y="2000"/>
                <a:ext cx="1359" cy="851"/>
              </a:xfrm>
              <a:custGeom>
                <a:avLst/>
                <a:gdLst/>
                <a:ahLst/>
                <a:cxnLst>
                  <a:cxn ang="0">
                    <a:pos x="0" y="851"/>
                  </a:cxn>
                  <a:cxn ang="0">
                    <a:pos x="421" y="509"/>
                  </a:cxn>
                  <a:cxn ang="0">
                    <a:pos x="574" y="444"/>
                  </a:cxn>
                  <a:cxn ang="0">
                    <a:pos x="916" y="262"/>
                  </a:cxn>
                  <a:cxn ang="0">
                    <a:pos x="1221" y="80"/>
                  </a:cxn>
                  <a:cxn ang="0">
                    <a:pos x="1308" y="29"/>
                  </a:cxn>
                  <a:cxn ang="0">
                    <a:pos x="1359" y="0"/>
                  </a:cxn>
                </a:cxnLst>
                <a:rect l="0" t="0" r="r" b="b"/>
                <a:pathLst>
                  <a:path w="1359" h="851">
                    <a:moveTo>
                      <a:pt x="0" y="851"/>
                    </a:moveTo>
                    <a:cubicBezTo>
                      <a:pt x="91" y="708"/>
                      <a:pt x="273" y="585"/>
                      <a:pt x="421" y="509"/>
                    </a:cubicBezTo>
                    <a:cubicBezTo>
                      <a:pt x="467" y="485"/>
                      <a:pt x="530" y="471"/>
                      <a:pt x="574" y="444"/>
                    </a:cubicBezTo>
                    <a:cubicBezTo>
                      <a:pt x="684" y="377"/>
                      <a:pt x="802" y="323"/>
                      <a:pt x="916" y="262"/>
                    </a:cubicBezTo>
                    <a:cubicBezTo>
                      <a:pt x="1021" y="206"/>
                      <a:pt x="1117" y="137"/>
                      <a:pt x="1221" y="80"/>
                    </a:cubicBezTo>
                    <a:cubicBezTo>
                      <a:pt x="1250" y="64"/>
                      <a:pt x="1279" y="46"/>
                      <a:pt x="1308" y="29"/>
                    </a:cubicBezTo>
                    <a:cubicBezTo>
                      <a:pt x="1325" y="19"/>
                      <a:pt x="1359" y="0"/>
                      <a:pt x="1359" y="0"/>
                    </a:cubicBezTo>
                  </a:path>
                </a:pathLst>
              </a:custGeom>
              <a:noFill/>
              <a:ln w="38100" cap="flat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6056" name="Freeform 88"/>
              <p:cNvSpPr>
                <a:spLocks/>
              </p:cNvSpPr>
              <p:nvPr/>
            </p:nvSpPr>
            <p:spPr bwMode="auto">
              <a:xfrm>
                <a:off x="2022" y="2146"/>
                <a:ext cx="1018" cy="79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67" y="87"/>
                  </a:cxn>
                  <a:cxn ang="0">
                    <a:pos x="312" y="174"/>
                  </a:cxn>
                  <a:cxn ang="0">
                    <a:pos x="363" y="218"/>
                  </a:cxn>
                  <a:cxn ang="0">
                    <a:pos x="654" y="458"/>
                  </a:cxn>
                  <a:cxn ang="0">
                    <a:pos x="749" y="552"/>
                  </a:cxn>
                  <a:cxn ang="0">
                    <a:pos x="858" y="632"/>
                  </a:cxn>
                  <a:cxn ang="0">
                    <a:pos x="909" y="691"/>
                  </a:cxn>
                  <a:cxn ang="0">
                    <a:pos x="960" y="727"/>
                  </a:cxn>
                  <a:cxn ang="0">
                    <a:pos x="1018" y="792"/>
                  </a:cxn>
                </a:cxnLst>
                <a:rect l="0" t="0" r="r" b="b"/>
                <a:pathLst>
                  <a:path w="1018" h="792">
                    <a:moveTo>
                      <a:pt x="0" y="0"/>
                    </a:moveTo>
                    <a:cubicBezTo>
                      <a:pt x="103" y="28"/>
                      <a:pt x="87" y="33"/>
                      <a:pt x="167" y="87"/>
                    </a:cubicBezTo>
                    <a:cubicBezTo>
                      <a:pt x="213" y="118"/>
                      <a:pt x="265" y="145"/>
                      <a:pt x="312" y="174"/>
                    </a:cubicBezTo>
                    <a:cubicBezTo>
                      <a:pt x="412" y="236"/>
                      <a:pt x="278" y="158"/>
                      <a:pt x="363" y="218"/>
                    </a:cubicBezTo>
                    <a:cubicBezTo>
                      <a:pt x="466" y="291"/>
                      <a:pt x="560" y="373"/>
                      <a:pt x="654" y="458"/>
                    </a:cubicBezTo>
                    <a:cubicBezTo>
                      <a:pt x="687" y="488"/>
                      <a:pt x="713" y="526"/>
                      <a:pt x="749" y="552"/>
                    </a:cubicBezTo>
                    <a:cubicBezTo>
                      <a:pt x="785" y="579"/>
                      <a:pt x="829" y="598"/>
                      <a:pt x="858" y="632"/>
                    </a:cubicBezTo>
                    <a:cubicBezTo>
                      <a:pt x="875" y="652"/>
                      <a:pt x="890" y="673"/>
                      <a:pt x="909" y="691"/>
                    </a:cubicBezTo>
                    <a:cubicBezTo>
                      <a:pt x="924" y="705"/>
                      <a:pt x="945" y="713"/>
                      <a:pt x="960" y="727"/>
                    </a:cubicBezTo>
                    <a:cubicBezTo>
                      <a:pt x="981" y="746"/>
                      <a:pt x="997" y="772"/>
                      <a:pt x="1018" y="792"/>
                    </a:cubicBezTo>
                  </a:path>
                </a:pathLst>
              </a:custGeom>
              <a:noFill/>
              <a:ln w="38100" cap="flat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8" name="TextBox 7"/>
            <p:cNvSpPr txBox="1"/>
            <p:nvPr/>
          </p:nvSpPr>
          <p:spPr>
            <a:xfrm>
              <a:off x="2177015" y="3493532"/>
              <a:ext cx="3321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3</a:t>
              </a:r>
            </a:p>
          </p:txBody>
        </p:sp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77813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1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/>
              <a:t>k) </a:t>
            </a:r>
            <a:r>
              <a:rPr lang="en-US" sz="3500" b="1" dirty="0" err="1"/>
              <a:t>Lệnh</a:t>
            </a:r>
            <a:r>
              <a:rPr lang="en-US" sz="3500" b="1" dirty="0"/>
              <a:t> </a:t>
            </a:r>
            <a:r>
              <a:rPr lang="en-US" sz="3500" b="1" dirty="0" err="1"/>
              <a:t>tạo</a:t>
            </a:r>
            <a:r>
              <a:rPr lang="en-US" sz="3500" b="1" dirty="0"/>
              <a:t> </a:t>
            </a:r>
            <a:r>
              <a:rPr lang="en-US" sz="3500" b="1" dirty="0" err="1"/>
              <a:t>miền</a:t>
            </a:r>
            <a:r>
              <a:rPr lang="en-US" sz="3500" b="1" dirty="0"/>
              <a:t> </a:t>
            </a:r>
            <a:r>
              <a:rPr lang="en-US" sz="3500" b="1" dirty="0" err="1"/>
              <a:t>giá</a:t>
            </a:r>
            <a:r>
              <a:rPr lang="en-US" sz="3500" b="1" dirty="0"/>
              <a:t> </a:t>
            </a:r>
            <a:r>
              <a:rPr lang="en-US" sz="3500" b="1" dirty="0" err="1"/>
              <a:t>trị</a:t>
            </a:r>
            <a:endParaRPr lang="en-US" sz="3500" b="1" dirty="0"/>
          </a:p>
        </p:txBody>
      </p:sp>
      <p:sp>
        <p:nvSpPr>
          <p:cNvPr id="56217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76400"/>
            <a:ext cx="8229600" cy="4724400"/>
          </a:xfrm>
        </p:spPr>
        <p:txBody>
          <a:bodyPr/>
          <a:lstStyle/>
          <a:p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thừa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sẳn</a:t>
            </a:r>
            <a:endParaRPr lang="en-US" dirty="0"/>
          </a:p>
          <a:p>
            <a:r>
              <a:rPr lang="en-US" dirty="0" err="1"/>
              <a:t>Cú</a:t>
            </a:r>
            <a:r>
              <a:rPr lang="en-US" dirty="0"/>
              <a:t> </a:t>
            </a:r>
            <a:r>
              <a:rPr lang="en-US" dirty="0" err="1"/>
              <a:t>pháp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endParaRPr lang="en-US" dirty="0"/>
          </a:p>
        </p:txBody>
      </p:sp>
      <p:sp>
        <p:nvSpPr>
          <p:cNvPr id="562180" name="Text Box 4"/>
          <p:cNvSpPr txBox="1">
            <a:spLocks noChangeArrowheads="1"/>
          </p:cNvSpPr>
          <p:nvPr/>
        </p:nvSpPr>
        <p:spPr bwMode="auto">
          <a:xfrm>
            <a:off x="1295400" y="3354388"/>
            <a:ext cx="6019800" cy="379412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b="1" dirty="0"/>
              <a:t>CREATE DOMAIN</a:t>
            </a:r>
            <a:r>
              <a:rPr lang="en-US" dirty="0"/>
              <a:t> &lt;</a:t>
            </a:r>
            <a:r>
              <a:rPr lang="en-US" dirty="0" err="1"/>
              <a:t>Tên_kdl_mới</a:t>
            </a:r>
            <a:r>
              <a:rPr lang="en-US" dirty="0"/>
              <a:t>&gt; </a:t>
            </a:r>
            <a:r>
              <a:rPr lang="en-US" b="1" dirty="0"/>
              <a:t>AS</a:t>
            </a:r>
            <a:r>
              <a:rPr lang="en-US" dirty="0"/>
              <a:t> &lt;</a:t>
            </a:r>
            <a:r>
              <a:rPr lang="en-US" dirty="0" err="1"/>
              <a:t>Kiểu_dữ_liệu</a:t>
            </a:r>
            <a:r>
              <a:rPr lang="en-US" dirty="0"/>
              <a:t>&gt;</a:t>
            </a:r>
          </a:p>
        </p:txBody>
      </p:sp>
      <p:sp>
        <p:nvSpPr>
          <p:cNvPr id="562181" name="Text Box 5"/>
          <p:cNvSpPr txBox="1">
            <a:spLocks noChangeArrowheads="1"/>
          </p:cNvSpPr>
          <p:nvPr/>
        </p:nvSpPr>
        <p:spPr bwMode="auto">
          <a:xfrm>
            <a:off x="1219200" y="4891087"/>
            <a:ext cx="4953000" cy="3667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dirty="0">
                <a:solidFill>
                  <a:srgbClr val="0000CC"/>
                </a:solidFill>
              </a:rPr>
              <a:t>CREATE DOMAIN</a:t>
            </a:r>
            <a:r>
              <a:rPr lang="en-US" dirty="0"/>
              <a:t> </a:t>
            </a:r>
            <a:r>
              <a:rPr lang="en-US" dirty="0" err="1"/>
              <a:t>Kieu_Ten</a:t>
            </a:r>
            <a:r>
              <a:rPr lang="en-US" dirty="0"/>
              <a:t> </a:t>
            </a:r>
            <a:r>
              <a:rPr lang="en-US" dirty="0">
                <a:solidFill>
                  <a:srgbClr val="0000CC"/>
                </a:solidFill>
              </a:rPr>
              <a:t>AS</a:t>
            </a:r>
            <a:r>
              <a:rPr lang="en-US" dirty="0"/>
              <a:t> </a:t>
            </a:r>
            <a:r>
              <a:rPr lang="en-US" dirty="0">
                <a:solidFill>
                  <a:srgbClr val="0000CC"/>
                </a:solidFill>
              </a:rPr>
              <a:t>VARCHAR</a:t>
            </a:r>
            <a:r>
              <a:rPr lang="en-US" dirty="0"/>
              <a:t>(30)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16768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0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/>
              <a:t>3) </a:t>
            </a:r>
            <a:r>
              <a:rPr lang="en-US" sz="3500" b="1" dirty="0" err="1"/>
              <a:t>Truy</a:t>
            </a:r>
            <a:r>
              <a:rPr lang="en-US" sz="3500" b="1" dirty="0"/>
              <a:t> </a:t>
            </a:r>
            <a:r>
              <a:rPr lang="en-US" sz="3500" b="1" dirty="0" err="1"/>
              <a:t>vấn</a:t>
            </a:r>
            <a:r>
              <a:rPr lang="en-US" sz="3500" b="1" dirty="0"/>
              <a:t> </a:t>
            </a:r>
            <a:r>
              <a:rPr lang="en-US" sz="3500" b="1" dirty="0" err="1"/>
              <a:t>dữ</a:t>
            </a:r>
            <a:r>
              <a:rPr lang="en-US" sz="3500" b="1" dirty="0"/>
              <a:t> </a:t>
            </a:r>
            <a:r>
              <a:rPr lang="en-US" sz="3500" b="1" dirty="0" err="1"/>
              <a:t>liệu</a:t>
            </a:r>
            <a:endParaRPr lang="en-US" sz="3500" b="1" dirty="0"/>
          </a:p>
        </p:txBody>
      </p:sp>
      <p:sp>
        <p:nvSpPr>
          <p:cNvPr id="5980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752600"/>
            <a:ext cx="8229600" cy="4378325"/>
          </a:xfrm>
        </p:spPr>
        <p:txBody>
          <a:bodyPr/>
          <a:lstStyle/>
          <a:p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ngôn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</a:t>
            </a:r>
            <a:r>
              <a:rPr lang="en-US" dirty="0" err="1"/>
              <a:t>rút</a:t>
            </a:r>
            <a:r>
              <a:rPr lang="en-US" dirty="0"/>
              <a:t> </a:t>
            </a:r>
            <a:r>
              <a:rPr lang="en-US" dirty="0" err="1"/>
              <a:t>trích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đó</a:t>
            </a:r>
            <a:endParaRPr lang="en-US" dirty="0"/>
          </a:p>
          <a:p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trên</a:t>
            </a:r>
            <a:endParaRPr lang="en-US" dirty="0"/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Cho </a:t>
            </a:r>
            <a:r>
              <a:rPr lang="en-US" dirty="0" err="1">
                <a:solidFill>
                  <a:schemeClr val="tx1"/>
                </a:solidFill>
              </a:rPr>
              <a:t>phép</a:t>
            </a:r>
            <a:r>
              <a:rPr lang="en-US" dirty="0">
                <a:solidFill>
                  <a:schemeClr val="tx1"/>
                </a:solidFill>
              </a:rPr>
              <a:t> 1 </a:t>
            </a:r>
            <a:r>
              <a:rPr lang="en-US" dirty="0" err="1">
                <a:solidFill>
                  <a:schemeClr val="tx1"/>
                </a:solidFill>
              </a:rPr>
              <a:t>bảng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có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u="sng" dirty="0" err="1">
                <a:solidFill>
                  <a:schemeClr val="tx1"/>
                </a:solidFill>
              </a:rPr>
              <a:t>nhiều</a:t>
            </a:r>
            <a:r>
              <a:rPr lang="en-US" u="sng" dirty="0">
                <a:solidFill>
                  <a:schemeClr val="tx1"/>
                </a:solidFill>
              </a:rPr>
              <a:t> </a:t>
            </a:r>
            <a:r>
              <a:rPr lang="en-US" u="sng" dirty="0" err="1">
                <a:solidFill>
                  <a:schemeClr val="tx1"/>
                </a:solidFill>
              </a:rPr>
              <a:t>dòng</a:t>
            </a:r>
            <a:r>
              <a:rPr lang="en-US" u="sng" dirty="0">
                <a:solidFill>
                  <a:schemeClr val="tx1"/>
                </a:solidFill>
              </a:rPr>
              <a:t> </a:t>
            </a:r>
            <a:r>
              <a:rPr lang="en-US" u="sng" dirty="0" err="1">
                <a:solidFill>
                  <a:schemeClr val="tx1"/>
                </a:solidFill>
              </a:rPr>
              <a:t>trùng</a:t>
            </a:r>
            <a:r>
              <a:rPr lang="en-US" u="sng" dirty="0">
                <a:solidFill>
                  <a:schemeClr val="tx1"/>
                </a:solidFill>
              </a:rPr>
              <a:t> </a:t>
            </a:r>
            <a:r>
              <a:rPr lang="en-US" u="sng" dirty="0" err="1">
                <a:solidFill>
                  <a:schemeClr val="tx1"/>
                </a:solidFill>
              </a:rPr>
              <a:t>nhau</a:t>
            </a:r>
            <a:endParaRPr lang="en-US" u="sng" dirty="0">
              <a:solidFill>
                <a:schemeClr val="tx1"/>
              </a:solidFill>
            </a:endParaRPr>
          </a:p>
          <a:p>
            <a:pPr lvl="1"/>
            <a:endParaRPr lang="en-US" i="1" dirty="0">
              <a:solidFill>
                <a:schemeClr val="tx1"/>
              </a:solidFill>
              <a:sym typeface="Symbol" pitchFamily="18" charset="2"/>
            </a:endParaRPr>
          </a:p>
        </p:txBody>
      </p:sp>
      <p:grpSp>
        <p:nvGrpSpPr>
          <p:cNvPr id="598023" name="Group 7"/>
          <p:cNvGrpSpPr>
            <a:grpSpLocks/>
          </p:cNvGrpSpPr>
          <p:nvPr/>
        </p:nvGrpSpPr>
        <p:grpSpPr bwMode="auto">
          <a:xfrm>
            <a:off x="1828800" y="3352800"/>
            <a:ext cx="4648200" cy="379412"/>
            <a:chOff x="1248" y="1824"/>
            <a:chExt cx="2928" cy="239"/>
          </a:xfrm>
        </p:grpSpPr>
        <p:sp>
          <p:nvSpPr>
            <p:cNvPr id="598020" name="Text Box 4"/>
            <p:cNvSpPr txBox="1">
              <a:spLocks noChangeArrowheads="1"/>
            </p:cNvSpPr>
            <p:nvPr/>
          </p:nvSpPr>
          <p:spPr bwMode="auto">
            <a:xfrm>
              <a:off x="1248" y="1824"/>
              <a:ext cx="1248" cy="239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dirty="0" err="1"/>
                <a:t>Phép</a:t>
              </a:r>
              <a:r>
                <a:rPr lang="en-US" dirty="0"/>
                <a:t> </a:t>
              </a:r>
              <a:r>
                <a:rPr lang="en-US" dirty="0" err="1"/>
                <a:t>toán</a:t>
              </a:r>
              <a:r>
                <a:rPr lang="en-US" dirty="0"/>
                <a:t> ĐSQH</a:t>
              </a:r>
            </a:p>
          </p:txBody>
        </p:sp>
        <p:sp>
          <p:nvSpPr>
            <p:cNvPr id="598021" name="Text Box 5"/>
            <p:cNvSpPr txBox="1">
              <a:spLocks noChangeArrowheads="1"/>
            </p:cNvSpPr>
            <p:nvPr/>
          </p:nvSpPr>
          <p:spPr bwMode="auto">
            <a:xfrm>
              <a:off x="3024" y="1824"/>
              <a:ext cx="1152" cy="239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/>
                <a:t>Một số bổ sung</a:t>
              </a:r>
            </a:p>
          </p:txBody>
        </p:sp>
        <p:sp>
          <p:nvSpPr>
            <p:cNvPr id="598022" name="Text Box 6"/>
            <p:cNvSpPr txBox="1">
              <a:spLocks noChangeArrowheads="1"/>
            </p:cNvSpPr>
            <p:nvPr/>
          </p:nvSpPr>
          <p:spPr bwMode="auto">
            <a:xfrm>
              <a:off x="2544" y="1824"/>
              <a:ext cx="384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b="1">
                  <a:sym typeface="Symbol" pitchFamily="18" charset="2"/>
                </a:rPr>
                <a:t></a:t>
              </a:r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37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00237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1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/>
              <a:t>a) </a:t>
            </a:r>
            <a:r>
              <a:rPr lang="en-US" sz="3500" b="1" dirty="0" err="1"/>
              <a:t>Truy</a:t>
            </a:r>
            <a:r>
              <a:rPr lang="en-US" sz="3500" b="1" dirty="0"/>
              <a:t> </a:t>
            </a:r>
            <a:r>
              <a:rPr lang="en-US" sz="3500" b="1" dirty="0" err="1"/>
              <a:t>vấn</a:t>
            </a:r>
            <a:r>
              <a:rPr lang="en-US" sz="3500" b="1" dirty="0"/>
              <a:t> </a:t>
            </a:r>
            <a:r>
              <a:rPr lang="en-US" sz="3500" b="1" dirty="0" err="1"/>
              <a:t>cơ</a:t>
            </a:r>
            <a:r>
              <a:rPr lang="en-US" sz="3500" b="1" dirty="0"/>
              <a:t> </a:t>
            </a:r>
            <a:r>
              <a:rPr lang="en-US" sz="3500" b="1" dirty="0" err="1"/>
              <a:t>bản</a:t>
            </a:r>
            <a:endParaRPr lang="en-US" sz="3500" b="1" dirty="0"/>
          </a:p>
        </p:txBody>
      </p:sp>
      <p:sp>
        <p:nvSpPr>
          <p:cNvPr id="60211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447800"/>
            <a:ext cx="8229600" cy="5105400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Gồm</a:t>
            </a:r>
            <a:r>
              <a:rPr lang="en-US" dirty="0"/>
              <a:t> 3 </a:t>
            </a:r>
            <a:r>
              <a:rPr lang="en-US" dirty="0" err="1"/>
              <a:t>mệnh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US" dirty="0"/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&lt;</a:t>
            </a:r>
            <a:r>
              <a:rPr lang="en-US" dirty="0" err="1">
                <a:solidFill>
                  <a:schemeClr val="tx1"/>
                </a:solidFill>
              </a:rPr>
              <a:t>danh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sách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các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cột</a:t>
            </a:r>
            <a:r>
              <a:rPr lang="en-US" dirty="0">
                <a:solidFill>
                  <a:schemeClr val="tx1"/>
                </a:solidFill>
              </a:rPr>
              <a:t>&gt;</a:t>
            </a:r>
          </a:p>
          <a:p>
            <a:pPr lvl="2"/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cột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vấn</a:t>
            </a:r>
            <a:endParaRPr lang="en-US" dirty="0"/>
          </a:p>
          <a:p>
            <a:pPr lvl="1"/>
            <a:r>
              <a:rPr lang="en-US" dirty="0">
                <a:solidFill>
                  <a:schemeClr val="tx1"/>
                </a:solidFill>
              </a:rPr>
              <a:t>&lt;</a:t>
            </a:r>
            <a:r>
              <a:rPr lang="en-US" dirty="0" err="1">
                <a:solidFill>
                  <a:schemeClr val="tx1"/>
                </a:solidFill>
              </a:rPr>
              <a:t>danh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sách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các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bảng</a:t>
            </a:r>
            <a:r>
              <a:rPr lang="en-US" dirty="0">
                <a:solidFill>
                  <a:schemeClr val="tx1"/>
                </a:solidFill>
              </a:rPr>
              <a:t>&gt;</a:t>
            </a:r>
          </a:p>
          <a:p>
            <a:pPr lvl="2"/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vấn</a:t>
            </a:r>
            <a:endParaRPr lang="en-US" dirty="0"/>
          </a:p>
          <a:p>
            <a:pPr lvl="1"/>
            <a:r>
              <a:rPr lang="en-US" dirty="0">
                <a:solidFill>
                  <a:schemeClr val="tx1"/>
                </a:solidFill>
              </a:rPr>
              <a:t>&lt;</a:t>
            </a:r>
            <a:r>
              <a:rPr lang="en-US" dirty="0" err="1">
                <a:solidFill>
                  <a:schemeClr val="tx1"/>
                </a:solidFill>
              </a:rPr>
              <a:t>điều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kiện</a:t>
            </a:r>
            <a:r>
              <a:rPr lang="en-US" dirty="0">
                <a:solidFill>
                  <a:schemeClr val="tx1"/>
                </a:solidFill>
              </a:rPr>
              <a:t>&gt;</a:t>
            </a:r>
          </a:p>
          <a:p>
            <a:pPr lvl="2"/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rút</a:t>
            </a:r>
            <a:r>
              <a:rPr lang="en-US" dirty="0"/>
              <a:t> </a:t>
            </a:r>
            <a:r>
              <a:rPr lang="en-US" dirty="0" err="1"/>
              <a:t>trích</a:t>
            </a:r>
            <a:endParaRPr lang="en-US" dirty="0"/>
          </a:p>
          <a:p>
            <a:pPr lvl="2"/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: AND, OR, </a:t>
            </a:r>
            <a:r>
              <a:rPr lang="en-US" dirty="0" err="1"/>
              <a:t>và</a:t>
            </a:r>
            <a:r>
              <a:rPr lang="en-US" dirty="0"/>
              <a:t> NOT </a:t>
            </a:r>
          </a:p>
          <a:p>
            <a:pPr lvl="2"/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: </a:t>
            </a:r>
            <a:r>
              <a:rPr lang="en-US" b="1" dirty="0">
                <a:sym typeface="Symbol" pitchFamily="18" charset="2"/>
              </a:rPr>
              <a:t></a:t>
            </a:r>
            <a:r>
              <a:rPr lang="en-US" dirty="0">
                <a:sym typeface="Symbol" pitchFamily="18" charset="2"/>
              </a:rPr>
              <a:t> , </a:t>
            </a:r>
            <a:r>
              <a:rPr lang="en-US" b="1" dirty="0">
                <a:sym typeface="Symbol" pitchFamily="18" charset="2"/>
              </a:rPr>
              <a:t></a:t>
            </a:r>
            <a:r>
              <a:rPr lang="en-US" dirty="0">
                <a:sym typeface="Symbol" pitchFamily="18" charset="2"/>
              </a:rPr>
              <a:t> , </a:t>
            </a:r>
            <a:r>
              <a:rPr lang="en-US" b="1" dirty="0">
                <a:sym typeface="Symbol" pitchFamily="18" charset="2"/>
              </a:rPr>
              <a:t></a:t>
            </a:r>
            <a:r>
              <a:rPr lang="en-US" dirty="0">
                <a:sym typeface="Symbol" pitchFamily="18" charset="2"/>
              </a:rPr>
              <a:t> , </a:t>
            </a:r>
            <a:r>
              <a:rPr lang="en-US" b="1" dirty="0">
                <a:sym typeface="Symbol" pitchFamily="18" charset="2"/>
              </a:rPr>
              <a:t></a:t>
            </a:r>
            <a:r>
              <a:rPr lang="en-US" dirty="0">
                <a:sym typeface="Symbol" pitchFamily="18" charset="2"/>
              </a:rPr>
              <a:t> , </a:t>
            </a:r>
            <a:r>
              <a:rPr lang="en-US" b="1" dirty="0">
                <a:sym typeface="Symbol" pitchFamily="18" charset="2"/>
              </a:rPr>
              <a:t></a:t>
            </a:r>
            <a:r>
              <a:rPr lang="en-US" dirty="0">
                <a:sym typeface="Symbol" pitchFamily="18" charset="2"/>
              </a:rPr>
              <a:t> , </a:t>
            </a:r>
            <a:r>
              <a:rPr lang="en-US" b="1" dirty="0">
                <a:sym typeface="Symbol" pitchFamily="18" charset="2"/>
              </a:rPr>
              <a:t></a:t>
            </a:r>
            <a:r>
              <a:rPr lang="en-US" dirty="0">
                <a:sym typeface="Symbol" pitchFamily="18" charset="2"/>
              </a:rPr>
              <a:t>,</a:t>
            </a:r>
            <a:r>
              <a:rPr lang="en-US" b="1" dirty="0">
                <a:sym typeface="Symbol" pitchFamily="18" charset="2"/>
              </a:rPr>
              <a:t> </a:t>
            </a:r>
            <a:r>
              <a:rPr lang="en-US" dirty="0">
                <a:sym typeface="Symbol" pitchFamily="18" charset="2"/>
              </a:rPr>
              <a:t>LIKE </a:t>
            </a:r>
            <a:r>
              <a:rPr lang="en-US" dirty="0" err="1">
                <a:sym typeface="Symbol" pitchFamily="18" charset="2"/>
              </a:rPr>
              <a:t>và</a:t>
            </a:r>
            <a:r>
              <a:rPr lang="en-US" dirty="0">
                <a:sym typeface="Symbol" pitchFamily="18" charset="2"/>
              </a:rPr>
              <a:t> BETWEEN</a:t>
            </a:r>
          </a:p>
        </p:txBody>
      </p:sp>
      <p:sp>
        <p:nvSpPr>
          <p:cNvPr id="602116" name="Rectangle 4"/>
          <p:cNvSpPr>
            <a:spLocks noChangeArrowheads="1"/>
          </p:cNvSpPr>
          <p:nvPr/>
        </p:nvSpPr>
        <p:spPr bwMode="auto">
          <a:xfrm>
            <a:off x="2590800" y="2071687"/>
            <a:ext cx="3352800" cy="1204913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l"/>
            <a:r>
              <a:rPr lang="en-US" b="1" dirty="0"/>
              <a:t>SELECT</a:t>
            </a:r>
            <a:r>
              <a:rPr lang="en-US" dirty="0"/>
              <a:t> &lt;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cột</a:t>
            </a:r>
            <a:r>
              <a:rPr lang="en-US" dirty="0"/>
              <a:t>&gt;</a:t>
            </a:r>
          </a:p>
          <a:p>
            <a:pPr algn="l"/>
            <a:r>
              <a:rPr lang="en-US" b="1" dirty="0"/>
              <a:t>FROM</a:t>
            </a:r>
            <a:r>
              <a:rPr lang="en-US" dirty="0"/>
              <a:t> &lt;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&gt;</a:t>
            </a:r>
          </a:p>
          <a:p>
            <a:pPr algn="l"/>
            <a:r>
              <a:rPr lang="en-US" b="1" dirty="0"/>
              <a:t>WHERE</a:t>
            </a:r>
            <a:r>
              <a:rPr lang="en-US" dirty="0"/>
              <a:t> &lt;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&gt;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97974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0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/>
              <a:t>a) </a:t>
            </a:r>
            <a:r>
              <a:rPr lang="en-US" sz="3500" b="1" dirty="0" err="1"/>
              <a:t>Truy</a:t>
            </a:r>
            <a:r>
              <a:rPr lang="en-US" sz="3500" b="1" dirty="0"/>
              <a:t> </a:t>
            </a:r>
            <a:r>
              <a:rPr lang="en-US" sz="3500" b="1" dirty="0" err="1"/>
              <a:t>vấn</a:t>
            </a:r>
            <a:r>
              <a:rPr lang="en-US" sz="3500" b="1" dirty="0"/>
              <a:t> </a:t>
            </a:r>
            <a:r>
              <a:rPr lang="en-US" sz="3500" b="1" dirty="0" err="1"/>
              <a:t>cơ</a:t>
            </a:r>
            <a:r>
              <a:rPr lang="en-US" sz="3500" b="1" dirty="0"/>
              <a:t> </a:t>
            </a:r>
            <a:r>
              <a:rPr lang="en-US" sz="3500" b="1" dirty="0" err="1"/>
              <a:t>bản</a:t>
            </a:r>
            <a:r>
              <a:rPr lang="en-US" sz="3500" b="1" dirty="0"/>
              <a:t> </a:t>
            </a:r>
          </a:p>
        </p:txBody>
      </p:sp>
      <p:sp>
        <p:nvSpPr>
          <p:cNvPr id="600084" name="Rectangle 20"/>
          <p:cNvSpPr>
            <a:spLocks noGrp="1" noChangeArrowheads="1"/>
          </p:cNvSpPr>
          <p:nvPr>
            <p:ph sz="quarter" idx="1"/>
          </p:nvPr>
        </p:nvSpPr>
        <p:spPr>
          <a:xfrm>
            <a:off x="457200" y="1371600"/>
            <a:ext cx="8229600" cy="5181600"/>
          </a:xfrm>
          <a:noFill/>
          <a:ln/>
        </p:spPr>
        <p:txBody>
          <a:bodyPr/>
          <a:lstStyle/>
          <a:p>
            <a:r>
              <a:rPr lang="en-US" dirty="0"/>
              <a:t>SQL </a:t>
            </a:r>
            <a:r>
              <a:rPr lang="en-US" dirty="0" err="1"/>
              <a:t>và</a:t>
            </a:r>
            <a:r>
              <a:rPr lang="en-US" dirty="0"/>
              <a:t> ĐSQH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600073" name="Rectangle 9"/>
          <p:cNvSpPr>
            <a:spLocks noChangeArrowheads="1"/>
          </p:cNvSpPr>
          <p:nvPr/>
        </p:nvSpPr>
        <p:spPr bwMode="auto">
          <a:xfrm>
            <a:off x="3962400" y="2597944"/>
            <a:ext cx="3352800" cy="1204912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l"/>
            <a:r>
              <a:rPr lang="en-US" b="1"/>
              <a:t>SELECT</a:t>
            </a:r>
            <a:r>
              <a:rPr lang="en-US"/>
              <a:t> &lt;danh sách các cột&gt;</a:t>
            </a:r>
          </a:p>
          <a:p>
            <a:pPr algn="l"/>
            <a:r>
              <a:rPr lang="en-US" b="1"/>
              <a:t>FROM</a:t>
            </a:r>
            <a:r>
              <a:rPr lang="en-US"/>
              <a:t> &lt;danh sách các bảng&gt;</a:t>
            </a:r>
          </a:p>
          <a:p>
            <a:pPr algn="l"/>
            <a:r>
              <a:rPr lang="en-US" b="1"/>
              <a:t>WHERE</a:t>
            </a:r>
            <a:r>
              <a:rPr lang="en-US"/>
              <a:t> &lt;điều kiện&gt;</a:t>
            </a:r>
          </a:p>
        </p:txBody>
      </p:sp>
      <p:sp>
        <p:nvSpPr>
          <p:cNvPr id="600075" name="Text Box 11"/>
          <p:cNvSpPr txBox="1">
            <a:spLocks noChangeArrowheads="1"/>
          </p:cNvSpPr>
          <p:nvPr/>
        </p:nvSpPr>
        <p:spPr bwMode="auto">
          <a:xfrm>
            <a:off x="3352800" y="3184525"/>
            <a:ext cx="838200" cy="7016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4000">
                <a:sym typeface="Symbol" pitchFamily="18" charset="2"/>
              </a:rPr>
              <a:t></a:t>
            </a:r>
          </a:p>
        </p:txBody>
      </p:sp>
      <p:sp>
        <p:nvSpPr>
          <p:cNvPr id="600076" name="Text Box 12"/>
          <p:cNvSpPr txBox="1">
            <a:spLocks noChangeArrowheads="1"/>
          </p:cNvSpPr>
          <p:nvPr/>
        </p:nvSpPr>
        <p:spPr bwMode="auto">
          <a:xfrm>
            <a:off x="3200400" y="2346325"/>
            <a:ext cx="838200" cy="7016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4000">
                <a:sym typeface="Symbol" pitchFamily="18" charset="2"/>
              </a:rPr>
              <a:t></a:t>
            </a:r>
          </a:p>
        </p:txBody>
      </p:sp>
      <p:sp>
        <p:nvSpPr>
          <p:cNvPr id="600077" name="Text Box 13"/>
          <p:cNvSpPr txBox="1">
            <a:spLocks noChangeArrowheads="1"/>
          </p:cNvSpPr>
          <p:nvPr/>
        </p:nvSpPr>
        <p:spPr bwMode="auto">
          <a:xfrm>
            <a:off x="3200400" y="2879725"/>
            <a:ext cx="838200" cy="5492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3000" b="1">
                <a:sym typeface="Symbol" pitchFamily="18" charset="2"/>
              </a:rPr>
              <a:t></a:t>
            </a:r>
          </a:p>
        </p:txBody>
      </p:sp>
      <p:sp>
        <p:nvSpPr>
          <p:cNvPr id="600078" name="Line 14"/>
          <p:cNvSpPr>
            <a:spLocks noChangeShapeType="1"/>
          </p:cNvSpPr>
          <p:nvPr/>
        </p:nvSpPr>
        <p:spPr bwMode="auto">
          <a:xfrm>
            <a:off x="2514600" y="2286000"/>
            <a:ext cx="990600" cy="457200"/>
          </a:xfrm>
          <a:prstGeom prst="line">
            <a:avLst/>
          </a:prstGeom>
          <a:noFill/>
          <a:ln w="12700">
            <a:solidFill>
              <a:srgbClr val="777777"/>
            </a:solidFill>
            <a:prstDash val="dash"/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00079" name="Line 15"/>
          <p:cNvSpPr>
            <a:spLocks noChangeShapeType="1"/>
          </p:cNvSpPr>
          <p:nvPr/>
        </p:nvSpPr>
        <p:spPr bwMode="auto">
          <a:xfrm>
            <a:off x="2514600" y="3200400"/>
            <a:ext cx="914400" cy="0"/>
          </a:xfrm>
          <a:prstGeom prst="line">
            <a:avLst/>
          </a:prstGeom>
          <a:noFill/>
          <a:ln w="12700">
            <a:solidFill>
              <a:srgbClr val="777777"/>
            </a:solidFill>
            <a:prstDash val="dash"/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00080" name="Line 16"/>
          <p:cNvSpPr>
            <a:spLocks noChangeShapeType="1"/>
          </p:cNvSpPr>
          <p:nvPr/>
        </p:nvSpPr>
        <p:spPr bwMode="auto">
          <a:xfrm flipH="1">
            <a:off x="2514600" y="3733800"/>
            <a:ext cx="990600" cy="533400"/>
          </a:xfrm>
          <a:prstGeom prst="line">
            <a:avLst/>
          </a:prstGeom>
          <a:noFill/>
          <a:ln w="12700">
            <a:solidFill>
              <a:srgbClr val="777777"/>
            </a:solidFill>
            <a:prstDash val="dash"/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00081" name="Text Box 17"/>
          <p:cNvSpPr txBox="1">
            <a:spLocks noChangeArrowheads="1"/>
          </p:cNvSpPr>
          <p:nvPr/>
        </p:nvSpPr>
        <p:spPr bwMode="auto">
          <a:xfrm>
            <a:off x="2057400" y="4979988"/>
            <a:ext cx="1447800" cy="119221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b="1"/>
              <a:t>SELECT</a:t>
            </a:r>
            <a:r>
              <a:rPr lang="en-US"/>
              <a:t> L</a:t>
            </a:r>
          </a:p>
          <a:p>
            <a:pPr algn="l"/>
            <a:r>
              <a:rPr lang="en-US" b="1"/>
              <a:t>FROM</a:t>
            </a:r>
            <a:r>
              <a:rPr lang="en-US"/>
              <a:t> R</a:t>
            </a:r>
          </a:p>
          <a:p>
            <a:pPr algn="l"/>
            <a:r>
              <a:rPr lang="en-US" b="1"/>
              <a:t>WHERE</a:t>
            </a:r>
            <a:r>
              <a:rPr lang="en-US"/>
              <a:t> C</a:t>
            </a:r>
          </a:p>
        </p:txBody>
      </p:sp>
      <p:sp>
        <p:nvSpPr>
          <p:cNvPr id="600082" name="Text Box 18"/>
          <p:cNvSpPr txBox="1">
            <a:spLocks noChangeArrowheads="1"/>
          </p:cNvSpPr>
          <p:nvPr/>
        </p:nvSpPr>
        <p:spPr bwMode="auto">
          <a:xfrm>
            <a:off x="4876800" y="5208588"/>
            <a:ext cx="1905000" cy="5492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3000" dirty="0">
                <a:sym typeface="Symbol" pitchFamily="18" charset="2"/>
              </a:rPr>
              <a:t></a:t>
            </a:r>
            <a:r>
              <a:rPr lang="en-US" sz="2200" baseline="-25000" dirty="0"/>
              <a:t>L </a:t>
            </a:r>
            <a:r>
              <a:rPr lang="en-US" sz="2200" dirty="0"/>
              <a:t>(</a:t>
            </a:r>
            <a:r>
              <a:rPr lang="en-US" sz="3000" dirty="0">
                <a:sym typeface="Symbol" pitchFamily="18" charset="2"/>
              </a:rPr>
              <a:t></a:t>
            </a:r>
            <a:r>
              <a:rPr lang="en-US" sz="2200" baseline="-25000" dirty="0">
                <a:sym typeface="Symbol" pitchFamily="18" charset="2"/>
              </a:rPr>
              <a:t>C </a:t>
            </a:r>
            <a:r>
              <a:rPr lang="en-US" sz="2200" dirty="0"/>
              <a:t>(R))</a:t>
            </a:r>
          </a:p>
        </p:txBody>
      </p:sp>
      <p:sp>
        <p:nvSpPr>
          <p:cNvPr id="600083" name="Line 19"/>
          <p:cNvSpPr>
            <a:spLocks noChangeShapeType="1"/>
          </p:cNvSpPr>
          <p:nvPr/>
        </p:nvSpPr>
        <p:spPr bwMode="auto">
          <a:xfrm>
            <a:off x="3505200" y="5589588"/>
            <a:ext cx="1143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39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75123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2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endParaRPr lang="en-US" sz="3500" b="1" dirty="0"/>
          </a:p>
        </p:txBody>
      </p:sp>
      <p:sp>
        <p:nvSpPr>
          <p:cNvPr id="606211" name="Text Box 3"/>
          <p:cNvSpPr txBox="1">
            <a:spLocks noChangeArrowheads="1"/>
          </p:cNvSpPr>
          <p:nvPr/>
        </p:nvSpPr>
        <p:spPr bwMode="auto">
          <a:xfrm>
            <a:off x="1981200" y="1828800"/>
            <a:ext cx="4267200" cy="203132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dirty="0">
                <a:solidFill>
                  <a:srgbClr val="0000CC"/>
                </a:solidFill>
              </a:rPr>
              <a:t>SELECT </a:t>
            </a:r>
            <a:r>
              <a:rPr lang="en-US" dirty="0"/>
              <a:t>*</a:t>
            </a:r>
          </a:p>
          <a:p>
            <a:pPr algn="l"/>
            <a:r>
              <a:rPr lang="en-US" dirty="0">
                <a:solidFill>
                  <a:srgbClr val="0000CC"/>
                </a:solidFill>
              </a:rPr>
              <a:t>FROM</a:t>
            </a:r>
            <a:r>
              <a:rPr lang="en-US" dirty="0"/>
              <a:t> NHANVIEN</a:t>
            </a:r>
            <a:endParaRPr lang="en-US" dirty="0">
              <a:solidFill>
                <a:srgbClr val="0000CC"/>
              </a:solidFill>
            </a:endParaRPr>
          </a:p>
          <a:p>
            <a:pPr algn="l"/>
            <a:r>
              <a:rPr lang="en-US" dirty="0">
                <a:solidFill>
                  <a:srgbClr val="0000CC"/>
                </a:solidFill>
              </a:rPr>
              <a:t>WHERE</a:t>
            </a:r>
            <a:r>
              <a:rPr lang="en-US" dirty="0"/>
              <a:t> PHG=5</a:t>
            </a:r>
          </a:p>
          <a:p>
            <a:pPr algn="l"/>
            <a:r>
              <a:rPr lang="en-US" dirty="0">
                <a:solidFill>
                  <a:srgbClr val="808080"/>
                </a:solidFill>
              </a:rPr>
              <a:t>AND</a:t>
            </a:r>
            <a:r>
              <a:rPr lang="en-US" dirty="0">
                <a:solidFill>
                  <a:prstClr val="black"/>
                </a:solidFill>
              </a:rPr>
              <a:t> PHAI</a:t>
            </a:r>
            <a:r>
              <a:rPr lang="en-US" dirty="0">
                <a:solidFill>
                  <a:srgbClr val="808080"/>
                </a:solidFill>
              </a:rPr>
              <a:t>=</a:t>
            </a:r>
            <a:r>
              <a:rPr lang="en-US" dirty="0">
                <a:solidFill>
                  <a:srgbClr val="FF0000"/>
                </a:solidFill>
              </a:rPr>
              <a:t>'Nam'</a:t>
            </a:r>
            <a:endParaRPr lang="en-US" dirty="0"/>
          </a:p>
          <a:p>
            <a:pPr algn="l"/>
            <a:endParaRPr lang="en-US" dirty="0">
              <a:solidFill>
                <a:srgbClr val="CC0000"/>
              </a:solidFill>
            </a:endParaRPr>
          </a:p>
        </p:txBody>
      </p:sp>
      <p:sp>
        <p:nvSpPr>
          <p:cNvPr id="606212" name="Text Box 4"/>
          <p:cNvSpPr txBox="1">
            <a:spLocks noChangeArrowheads="1"/>
          </p:cNvSpPr>
          <p:nvPr/>
        </p:nvSpPr>
        <p:spPr bwMode="auto">
          <a:xfrm>
            <a:off x="4648200" y="1534180"/>
            <a:ext cx="2743200" cy="646331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b="1" dirty="0" err="1"/>
              <a:t>Lấy</a:t>
            </a:r>
            <a:r>
              <a:rPr lang="en-US" b="1" dirty="0"/>
              <a:t> </a:t>
            </a:r>
            <a:r>
              <a:rPr lang="en-US" b="1" dirty="0" err="1"/>
              <a:t>tất</a:t>
            </a:r>
            <a:r>
              <a:rPr lang="en-US" b="1" dirty="0"/>
              <a:t> </a:t>
            </a:r>
            <a:r>
              <a:rPr lang="en-US" b="1" dirty="0" err="1"/>
              <a:t>cả</a:t>
            </a:r>
            <a:r>
              <a:rPr lang="en-US" b="1" dirty="0"/>
              <a:t> </a:t>
            </a:r>
            <a:r>
              <a:rPr lang="en-US" b="1" dirty="0" err="1"/>
              <a:t>các</a:t>
            </a:r>
            <a:r>
              <a:rPr lang="en-US" b="1" dirty="0"/>
              <a:t> </a:t>
            </a:r>
            <a:r>
              <a:rPr lang="en-US" b="1" dirty="0" err="1"/>
              <a:t>cột</a:t>
            </a:r>
            <a:r>
              <a:rPr lang="en-US" b="1" dirty="0"/>
              <a:t> </a:t>
            </a:r>
            <a:r>
              <a:rPr lang="en-US" b="1" dirty="0" err="1"/>
              <a:t>của</a:t>
            </a:r>
            <a:r>
              <a:rPr lang="en-US" b="1" dirty="0"/>
              <a:t> </a:t>
            </a:r>
            <a:r>
              <a:rPr lang="en-US" b="1" dirty="0" err="1"/>
              <a:t>quan</a:t>
            </a:r>
            <a:r>
              <a:rPr lang="en-US" b="1" dirty="0"/>
              <a:t> </a:t>
            </a:r>
            <a:r>
              <a:rPr lang="en-US" b="1" dirty="0" err="1"/>
              <a:t>hệ</a:t>
            </a:r>
            <a:r>
              <a:rPr lang="en-US" b="1" dirty="0"/>
              <a:t> </a:t>
            </a:r>
            <a:r>
              <a:rPr lang="en-US" b="1" dirty="0" err="1"/>
              <a:t>kết</a:t>
            </a:r>
            <a:r>
              <a:rPr lang="en-US" b="1" dirty="0"/>
              <a:t> </a:t>
            </a:r>
            <a:r>
              <a:rPr lang="en-US" b="1" dirty="0" err="1"/>
              <a:t>quả</a:t>
            </a:r>
            <a:endParaRPr lang="en-US" b="1" dirty="0"/>
          </a:p>
        </p:txBody>
      </p:sp>
      <p:sp>
        <p:nvSpPr>
          <p:cNvPr id="606213" name="Line 5"/>
          <p:cNvSpPr>
            <a:spLocks noChangeShapeType="1"/>
          </p:cNvSpPr>
          <p:nvPr/>
        </p:nvSpPr>
        <p:spPr bwMode="auto">
          <a:xfrm flipV="1">
            <a:off x="3276600" y="1828800"/>
            <a:ext cx="1295400" cy="114300"/>
          </a:xfrm>
          <a:prstGeom prst="line">
            <a:avLst/>
          </a:prstGeom>
          <a:noFill/>
          <a:ln w="12700">
            <a:solidFill>
              <a:srgbClr val="CC0000"/>
            </a:solidFill>
            <a:prstDash val="dash"/>
            <a:round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en-US"/>
          </a:p>
        </p:txBody>
      </p:sp>
      <p:sp>
        <p:nvSpPr>
          <p:cNvPr id="606214" name="Text Box 6"/>
          <p:cNvSpPr txBox="1">
            <a:spLocks noChangeArrowheads="1"/>
          </p:cNvSpPr>
          <p:nvPr/>
        </p:nvSpPr>
        <p:spPr bwMode="auto">
          <a:xfrm>
            <a:off x="1752600" y="5029200"/>
            <a:ext cx="5029200" cy="7016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4000" dirty="0">
                <a:sym typeface="Symbol" pitchFamily="18" charset="2"/>
              </a:rPr>
              <a:t></a:t>
            </a:r>
            <a:r>
              <a:rPr lang="en-US" sz="2200" baseline="-25000" dirty="0">
                <a:sym typeface="Symbol" pitchFamily="18" charset="2"/>
              </a:rPr>
              <a:t>PHG=5</a:t>
            </a:r>
            <a:r>
              <a:rPr lang="en-US" sz="2200" b="1" baseline="-25000" dirty="0">
                <a:sym typeface="Symbol" pitchFamily="18" charset="2"/>
              </a:rPr>
              <a:t></a:t>
            </a:r>
            <a:r>
              <a:rPr lang="en-US" sz="2200" baseline="-25000" dirty="0">
                <a:sym typeface="Symbol" pitchFamily="18" charset="2"/>
              </a:rPr>
              <a:t>PHAI=‘Nam’ </a:t>
            </a:r>
            <a:r>
              <a:rPr lang="en-US" sz="2200" dirty="0">
                <a:sym typeface="Symbol" pitchFamily="18" charset="2"/>
              </a:rPr>
              <a:t>(NHANVIEN)</a:t>
            </a:r>
            <a:endParaRPr lang="en-US" sz="2200" baseline="-25000" dirty="0"/>
          </a:p>
        </p:txBody>
      </p:sp>
      <p:grpSp>
        <p:nvGrpSpPr>
          <p:cNvPr id="606286" name="Group 78"/>
          <p:cNvGrpSpPr>
            <a:grpSpLocks/>
          </p:cNvGrpSpPr>
          <p:nvPr/>
        </p:nvGrpSpPr>
        <p:grpSpPr bwMode="auto">
          <a:xfrm>
            <a:off x="76200" y="3657600"/>
            <a:ext cx="8991600" cy="1066800"/>
            <a:chOff x="48" y="2304"/>
            <a:chExt cx="5664" cy="672"/>
          </a:xfrm>
        </p:grpSpPr>
        <p:sp>
          <p:nvSpPr>
            <p:cNvPr id="606216" name="Line 8"/>
            <p:cNvSpPr>
              <a:spLocks noChangeShapeType="1"/>
            </p:cNvSpPr>
            <p:nvPr/>
          </p:nvSpPr>
          <p:spPr bwMode="auto">
            <a:xfrm>
              <a:off x="48" y="2496"/>
              <a:ext cx="56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06218" name="Text Box 10"/>
            <p:cNvSpPr txBox="1">
              <a:spLocks noChangeArrowheads="1"/>
            </p:cNvSpPr>
            <p:nvPr/>
          </p:nvSpPr>
          <p:spPr bwMode="auto">
            <a:xfrm>
              <a:off x="1728" y="2304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TENNV</a:t>
              </a:r>
            </a:p>
          </p:txBody>
        </p:sp>
        <p:sp>
          <p:nvSpPr>
            <p:cNvPr id="606219" name="Text Box 11"/>
            <p:cNvSpPr txBox="1">
              <a:spLocks noChangeArrowheads="1"/>
            </p:cNvSpPr>
            <p:nvPr/>
          </p:nvSpPr>
          <p:spPr bwMode="auto">
            <a:xfrm>
              <a:off x="672" y="2304"/>
              <a:ext cx="576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HONV</a:t>
              </a:r>
            </a:p>
          </p:txBody>
        </p:sp>
        <p:sp>
          <p:nvSpPr>
            <p:cNvPr id="606221" name="Text Box 13"/>
            <p:cNvSpPr txBox="1">
              <a:spLocks noChangeArrowheads="1"/>
            </p:cNvSpPr>
            <p:nvPr/>
          </p:nvSpPr>
          <p:spPr bwMode="auto">
            <a:xfrm>
              <a:off x="2256" y="2304"/>
              <a:ext cx="72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NGSINH</a:t>
              </a:r>
            </a:p>
          </p:txBody>
        </p:sp>
        <p:sp>
          <p:nvSpPr>
            <p:cNvPr id="606223" name="Text Box 15"/>
            <p:cNvSpPr txBox="1">
              <a:spLocks noChangeArrowheads="1"/>
            </p:cNvSpPr>
            <p:nvPr/>
          </p:nvSpPr>
          <p:spPr bwMode="auto">
            <a:xfrm>
              <a:off x="2976" y="2304"/>
              <a:ext cx="72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DCHI</a:t>
              </a:r>
            </a:p>
          </p:txBody>
        </p:sp>
        <p:sp>
          <p:nvSpPr>
            <p:cNvPr id="606225" name="Text Box 17"/>
            <p:cNvSpPr txBox="1">
              <a:spLocks noChangeArrowheads="1"/>
            </p:cNvSpPr>
            <p:nvPr/>
          </p:nvSpPr>
          <p:spPr bwMode="auto">
            <a:xfrm>
              <a:off x="3696" y="2304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PHAI</a:t>
              </a:r>
            </a:p>
          </p:txBody>
        </p:sp>
        <p:sp>
          <p:nvSpPr>
            <p:cNvPr id="606227" name="Text Box 19"/>
            <p:cNvSpPr txBox="1">
              <a:spLocks noChangeArrowheads="1"/>
            </p:cNvSpPr>
            <p:nvPr/>
          </p:nvSpPr>
          <p:spPr bwMode="auto">
            <a:xfrm>
              <a:off x="4128" y="2304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LUONG</a:t>
              </a:r>
            </a:p>
          </p:txBody>
        </p:sp>
        <p:sp>
          <p:nvSpPr>
            <p:cNvPr id="606229" name="Text Box 21"/>
            <p:cNvSpPr txBox="1">
              <a:spLocks noChangeArrowheads="1"/>
            </p:cNvSpPr>
            <p:nvPr/>
          </p:nvSpPr>
          <p:spPr bwMode="auto">
            <a:xfrm>
              <a:off x="5328" y="2304"/>
              <a:ext cx="384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PHG</a:t>
              </a:r>
            </a:p>
          </p:txBody>
        </p:sp>
        <p:sp>
          <p:nvSpPr>
            <p:cNvPr id="606230" name="Text Box 22"/>
            <p:cNvSpPr txBox="1">
              <a:spLocks noChangeArrowheads="1"/>
            </p:cNvSpPr>
            <p:nvPr/>
          </p:nvSpPr>
          <p:spPr bwMode="auto">
            <a:xfrm>
              <a:off x="1728" y="2544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Tung</a:t>
              </a:r>
            </a:p>
          </p:txBody>
        </p:sp>
        <p:sp>
          <p:nvSpPr>
            <p:cNvPr id="606231" name="Text Box 23"/>
            <p:cNvSpPr txBox="1">
              <a:spLocks noChangeArrowheads="1"/>
            </p:cNvSpPr>
            <p:nvPr/>
          </p:nvSpPr>
          <p:spPr bwMode="auto">
            <a:xfrm>
              <a:off x="672" y="2544"/>
              <a:ext cx="576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Nguyen</a:t>
              </a:r>
            </a:p>
          </p:txBody>
        </p:sp>
        <p:sp>
          <p:nvSpPr>
            <p:cNvPr id="606232" name="Text Box 24"/>
            <p:cNvSpPr txBox="1">
              <a:spLocks noChangeArrowheads="1"/>
            </p:cNvSpPr>
            <p:nvPr/>
          </p:nvSpPr>
          <p:spPr bwMode="auto">
            <a:xfrm>
              <a:off x="2256" y="2544"/>
              <a:ext cx="72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12/08/1955</a:t>
              </a:r>
            </a:p>
          </p:txBody>
        </p:sp>
        <p:sp>
          <p:nvSpPr>
            <p:cNvPr id="606233" name="Text Box 25"/>
            <p:cNvSpPr txBox="1">
              <a:spLocks noChangeArrowheads="1"/>
            </p:cNvSpPr>
            <p:nvPr/>
          </p:nvSpPr>
          <p:spPr bwMode="auto">
            <a:xfrm>
              <a:off x="2976" y="2544"/>
              <a:ext cx="72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638 NVC Q5</a:t>
              </a:r>
            </a:p>
          </p:txBody>
        </p:sp>
        <p:sp>
          <p:nvSpPr>
            <p:cNvPr id="606234" name="Text Box 26"/>
            <p:cNvSpPr txBox="1">
              <a:spLocks noChangeArrowheads="1"/>
            </p:cNvSpPr>
            <p:nvPr/>
          </p:nvSpPr>
          <p:spPr bwMode="auto">
            <a:xfrm>
              <a:off x="3696" y="2544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Nam</a:t>
              </a:r>
            </a:p>
          </p:txBody>
        </p:sp>
        <p:sp>
          <p:nvSpPr>
            <p:cNvPr id="606235" name="Text Box 27"/>
            <p:cNvSpPr txBox="1">
              <a:spLocks noChangeArrowheads="1"/>
            </p:cNvSpPr>
            <p:nvPr/>
          </p:nvSpPr>
          <p:spPr bwMode="auto">
            <a:xfrm>
              <a:off x="4128" y="2544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40000</a:t>
              </a:r>
            </a:p>
          </p:txBody>
        </p:sp>
        <p:sp>
          <p:nvSpPr>
            <p:cNvPr id="606236" name="Text Box 28"/>
            <p:cNvSpPr txBox="1">
              <a:spLocks noChangeArrowheads="1"/>
            </p:cNvSpPr>
            <p:nvPr/>
          </p:nvSpPr>
          <p:spPr bwMode="auto">
            <a:xfrm>
              <a:off x="5328" y="2544"/>
              <a:ext cx="384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5</a:t>
              </a:r>
            </a:p>
          </p:txBody>
        </p:sp>
        <p:sp>
          <p:nvSpPr>
            <p:cNvPr id="606251" name="Text Box 43"/>
            <p:cNvSpPr txBox="1">
              <a:spLocks noChangeArrowheads="1"/>
            </p:cNvSpPr>
            <p:nvPr/>
          </p:nvSpPr>
          <p:spPr bwMode="auto">
            <a:xfrm>
              <a:off x="1728" y="2736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Hung</a:t>
              </a:r>
            </a:p>
          </p:txBody>
        </p:sp>
        <p:sp>
          <p:nvSpPr>
            <p:cNvPr id="606252" name="Text Box 44"/>
            <p:cNvSpPr txBox="1">
              <a:spLocks noChangeArrowheads="1"/>
            </p:cNvSpPr>
            <p:nvPr/>
          </p:nvSpPr>
          <p:spPr bwMode="auto">
            <a:xfrm>
              <a:off x="672" y="2736"/>
              <a:ext cx="576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Nguyen</a:t>
              </a:r>
            </a:p>
          </p:txBody>
        </p:sp>
        <p:sp>
          <p:nvSpPr>
            <p:cNvPr id="606253" name="Text Box 45"/>
            <p:cNvSpPr txBox="1">
              <a:spLocks noChangeArrowheads="1"/>
            </p:cNvSpPr>
            <p:nvPr/>
          </p:nvSpPr>
          <p:spPr bwMode="auto">
            <a:xfrm>
              <a:off x="2256" y="2736"/>
              <a:ext cx="72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09/15/1962</a:t>
              </a:r>
            </a:p>
          </p:txBody>
        </p:sp>
        <p:sp>
          <p:nvSpPr>
            <p:cNvPr id="606254" name="Text Box 46"/>
            <p:cNvSpPr txBox="1">
              <a:spLocks noChangeArrowheads="1"/>
            </p:cNvSpPr>
            <p:nvPr/>
          </p:nvSpPr>
          <p:spPr bwMode="auto">
            <a:xfrm>
              <a:off x="2976" y="2736"/>
              <a:ext cx="72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Ba Ria VT</a:t>
              </a:r>
            </a:p>
          </p:txBody>
        </p:sp>
        <p:sp>
          <p:nvSpPr>
            <p:cNvPr id="606255" name="Text Box 47"/>
            <p:cNvSpPr txBox="1">
              <a:spLocks noChangeArrowheads="1"/>
            </p:cNvSpPr>
            <p:nvPr/>
          </p:nvSpPr>
          <p:spPr bwMode="auto">
            <a:xfrm>
              <a:off x="3696" y="2736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Nam</a:t>
              </a:r>
            </a:p>
          </p:txBody>
        </p:sp>
        <p:sp>
          <p:nvSpPr>
            <p:cNvPr id="606256" name="Text Box 48"/>
            <p:cNvSpPr txBox="1">
              <a:spLocks noChangeArrowheads="1"/>
            </p:cNvSpPr>
            <p:nvPr/>
          </p:nvSpPr>
          <p:spPr bwMode="auto">
            <a:xfrm>
              <a:off x="4128" y="2736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38000</a:t>
              </a:r>
            </a:p>
          </p:txBody>
        </p:sp>
        <p:sp>
          <p:nvSpPr>
            <p:cNvPr id="606257" name="Text Box 49"/>
            <p:cNvSpPr txBox="1">
              <a:spLocks noChangeArrowheads="1"/>
            </p:cNvSpPr>
            <p:nvPr/>
          </p:nvSpPr>
          <p:spPr bwMode="auto">
            <a:xfrm>
              <a:off x="5328" y="2736"/>
              <a:ext cx="384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5</a:t>
              </a:r>
            </a:p>
          </p:txBody>
        </p:sp>
        <p:sp>
          <p:nvSpPr>
            <p:cNvPr id="606259" name="Text Box 51"/>
            <p:cNvSpPr txBox="1">
              <a:spLocks noChangeArrowheads="1"/>
            </p:cNvSpPr>
            <p:nvPr/>
          </p:nvSpPr>
          <p:spPr bwMode="auto">
            <a:xfrm>
              <a:off x="48" y="2544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333445555</a:t>
              </a:r>
            </a:p>
          </p:txBody>
        </p:sp>
        <p:sp>
          <p:nvSpPr>
            <p:cNvPr id="606260" name="Text Box 52"/>
            <p:cNvSpPr txBox="1">
              <a:spLocks noChangeArrowheads="1"/>
            </p:cNvSpPr>
            <p:nvPr/>
          </p:nvSpPr>
          <p:spPr bwMode="auto">
            <a:xfrm>
              <a:off x="48" y="2736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987987987</a:t>
              </a:r>
            </a:p>
          </p:txBody>
        </p:sp>
        <p:sp>
          <p:nvSpPr>
            <p:cNvPr id="606263" name="Text Box 55"/>
            <p:cNvSpPr txBox="1">
              <a:spLocks noChangeArrowheads="1"/>
            </p:cNvSpPr>
            <p:nvPr/>
          </p:nvSpPr>
          <p:spPr bwMode="auto">
            <a:xfrm>
              <a:off x="48" y="2304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MANV</a:t>
              </a:r>
            </a:p>
          </p:txBody>
        </p:sp>
        <p:sp>
          <p:nvSpPr>
            <p:cNvPr id="606264" name="Text Box 56"/>
            <p:cNvSpPr txBox="1">
              <a:spLocks noChangeArrowheads="1"/>
            </p:cNvSpPr>
            <p:nvPr/>
          </p:nvSpPr>
          <p:spPr bwMode="auto">
            <a:xfrm>
              <a:off x="4656" y="2304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MA_NQL</a:t>
              </a:r>
            </a:p>
          </p:txBody>
        </p:sp>
        <p:sp>
          <p:nvSpPr>
            <p:cNvPr id="606266" name="Text Box 58"/>
            <p:cNvSpPr txBox="1">
              <a:spLocks noChangeArrowheads="1"/>
            </p:cNvSpPr>
            <p:nvPr/>
          </p:nvSpPr>
          <p:spPr bwMode="auto">
            <a:xfrm>
              <a:off x="4656" y="2544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888665555</a:t>
              </a:r>
            </a:p>
          </p:txBody>
        </p:sp>
        <p:sp>
          <p:nvSpPr>
            <p:cNvPr id="606267" name="Text Box 59"/>
            <p:cNvSpPr txBox="1">
              <a:spLocks noChangeArrowheads="1"/>
            </p:cNvSpPr>
            <p:nvPr/>
          </p:nvSpPr>
          <p:spPr bwMode="auto">
            <a:xfrm>
              <a:off x="4656" y="2736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333445555</a:t>
              </a:r>
            </a:p>
          </p:txBody>
        </p:sp>
        <p:grpSp>
          <p:nvGrpSpPr>
            <p:cNvPr id="606272" name="Group 64"/>
            <p:cNvGrpSpPr>
              <a:grpSpLocks/>
            </p:cNvGrpSpPr>
            <p:nvPr/>
          </p:nvGrpSpPr>
          <p:grpSpPr bwMode="auto">
            <a:xfrm>
              <a:off x="720" y="2304"/>
              <a:ext cx="4608" cy="672"/>
              <a:chOff x="720" y="2784"/>
              <a:chExt cx="4608" cy="1008"/>
            </a:xfrm>
          </p:grpSpPr>
          <p:sp>
            <p:nvSpPr>
              <p:cNvPr id="606217" name="Line 9"/>
              <p:cNvSpPr>
                <a:spLocks noChangeShapeType="1"/>
              </p:cNvSpPr>
              <p:nvPr/>
            </p:nvSpPr>
            <p:spPr bwMode="auto">
              <a:xfrm>
                <a:off x="1728" y="2784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06220" name="Line 12"/>
              <p:cNvSpPr>
                <a:spLocks noChangeShapeType="1"/>
              </p:cNvSpPr>
              <p:nvPr/>
            </p:nvSpPr>
            <p:spPr bwMode="auto">
              <a:xfrm>
                <a:off x="2256" y="2784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06222" name="Line 14"/>
              <p:cNvSpPr>
                <a:spLocks noChangeShapeType="1"/>
              </p:cNvSpPr>
              <p:nvPr/>
            </p:nvSpPr>
            <p:spPr bwMode="auto">
              <a:xfrm>
                <a:off x="2976" y="2784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06224" name="Line 16"/>
              <p:cNvSpPr>
                <a:spLocks noChangeShapeType="1"/>
              </p:cNvSpPr>
              <p:nvPr/>
            </p:nvSpPr>
            <p:spPr bwMode="auto">
              <a:xfrm>
                <a:off x="3696" y="2784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06226" name="Line 18"/>
              <p:cNvSpPr>
                <a:spLocks noChangeShapeType="1"/>
              </p:cNvSpPr>
              <p:nvPr/>
            </p:nvSpPr>
            <p:spPr bwMode="auto">
              <a:xfrm>
                <a:off x="4128" y="2784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06228" name="Line 20"/>
              <p:cNvSpPr>
                <a:spLocks noChangeShapeType="1"/>
              </p:cNvSpPr>
              <p:nvPr/>
            </p:nvSpPr>
            <p:spPr bwMode="auto">
              <a:xfrm>
                <a:off x="4656" y="2784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06258" name="Line 50"/>
              <p:cNvSpPr>
                <a:spLocks noChangeShapeType="1"/>
              </p:cNvSpPr>
              <p:nvPr/>
            </p:nvSpPr>
            <p:spPr bwMode="auto">
              <a:xfrm>
                <a:off x="1200" y="2784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06265" name="Line 57"/>
              <p:cNvSpPr>
                <a:spLocks noChangeShapeType="1"/>
              </p:cNvSpPr>
              <p:nvPr/>
            </p:nvSpPr>
            <p:spPr bwMode="auto">
              <a:xfrm>
                <a:off x="5328" y="2784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06268" name="Line 60"/>
              <p:cNvSpPr>
                <a:spLocks noChangeShapeType="1"/>
              </p:cNvSpPr>
              <p:nvPr/>
            </p:nvSpPr>
            <p:spPr bwMode="auto">
              <a:xfrm>
                <a:off x="720" y="2784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606269" name="Text Box 61"/>
            <p:cNvSpPr txBox="1">
              <a:spLocks noChangeArrowheads="1"/>
            </p:cNvSpPr>
            <p:nvPr/>
          </p:nvSpPr>
          <p:spPr bwMode="auto">
            <a:xfrm>
              <a:off x="1200" y="2304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TENLOT</a:t>
              </a:r>
            </a:p>
          </p:txBody>
        </p:sp>
        <p:sp>
          <p:nvSpPr>
            <p:cNvPr id="606270" name="Text Box 62"/>
            <p:cNvSpPr txBox="1">
              <a:spLocks noChangeArrowheads="1"/>
            </p:cNvSpPr>
            <p:nvPr/>
          </p:nvSpPr>
          <p:spPr bwMode="auto">
            <a:xfrm>
              <a:off x="1200" y="2544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Thanh</a:t>
              </a:r>
            </a:p>
          </p:txBody>
        </p:sp>
        <p:sp>
          <p:nvSpPr>
            <p:cNvPr id="606271" name="Text Box 63"/>
            <p:cNvSpPr txBox="1">
              <a:spLocks noChangeArrowheads="1"/>
            </p:cNvSpPr>
            <p:nvPr/>
          </p:nvSpPr>
          <p:spPr bwMode="auto">
            <a:xfrm>
              <a:off x="1200" y="2736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Manh</a:t>
              </a:r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18161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Mệnh</a:t>
            </a:r>
            <a:r>
              <a:rPr lang="en-US" sz="3500" b="1" dirty="0"/>
              <a:t> </a:t>
            </a:r>
            <a:r>
              <a:rPr lang="en-US" sz="3500" b="1" dirty="0" err="1"/>
              <a:t>đề</a:t>
            </a:r>
            <a:r>
              <a:rPr lang="en-US" sz="3500" b="1" dirty="0"/>
              <a:t> SELECT</a:t>
            </a:r>
          </a:p>
        </p:txBody>
      </p:sp>
      <p:sp>
        <p:nvSpPr>
          <p:cNvPr id="604166" name="Text Box 6"/>
          <p:cNvSpPr txBox="1">
            <a:spLocks noChangeArrowheads="1"/>
          </p:cNvSpPr>
          <p:nvPr/>
        </p:nvSpPr>
        <p:spPr bwMode="auto">
          <a:xfrm>
            <a:off x="2362200" y="1981200"/>
            <a:ext cx="4572000" cy="11922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dirty="0">
                <a:solidFill>
                  <a:srgbClr val="0000CC"/>
                </a:solidFill>
              </a:rPr>
              <a:t>SELECT </a:t>
            </a:r>
            <a:r>
              <a:rPr lang="en-US" dirty="0"/>
              <a:t>MANV, HONV, TENLOT, TENNV</a:t>
            </a:r>
          </a:p>
          <a:p>
            <a:pPr algn="l"/>
            <a:r>
              <a:rPr lang="en-US" dirty="0">
                <a:solidFill>
                  <a:srgbClr val="0000CC"/>
                </a:solidFill>
              </a:rPr>
              <a:t>FROM</a:t>
            </a:r>
            <a:r>
              <a:rPr lang="en-US" dirty="0"/>
              <a:t> NHANVIEN</a:t>
            </a:r>
            <a:endParaRPr lang="en-US" dirty="0">
              <a:solidFill>
                <a:srgbClr val="0000CC"/>
              </a:solidFill>
            </a:endParaRPr>
          </a:p>
          <a:p>
            <a:pPr algn="l"/>
            <a:r>
              <a:rPr lang="en-US" dirty="0">
                <a:solidFill>
                  <a:srgbClr val="0000CC"/>
                </a:solidFill>
              </a:rPr>
              <a:t>WHERE</a:t>
            </a:r>
            <a:r>
              <a:rPr lang="en-US" dirty="0"/>
              <a:t> PHG=5 </a:t>
            </a:r>
            <a:r>
              <a:rPr lang="en-US" dirty="0">
                <a:solidFill>
                  <a:srgbClr val="777777"/>
                </a:solidFill>
              </a:rPr>
              <a:t>AND</a:t>
            </a:r>
            <a:r>
              <a:rPr lang="en-US" dirty="0"/>
              <a:t> PHAI=</a:t>
            </a:r>
            <a:r>
              <a:rPr lang="en-US" dirty="0">
                <a:solidFill>
                  <a:srgbClr val="CC0000"/>
                </a:solidFill>
              </a:rPr>
              <a:t>‘Nam’</a:t>
            </a:r>
          </a:p>
        </p:txBody>
      </p:sp>
      <p:sp>
        <p:nvSpPr>
          <p:cNvPr id="604169" name="Text Box 9"/>
          <p:cNvSpPr txBox="1">
            <a:spLocks noChangeArrowheads="1"/>
          </p:cNvSpPr>
          <p:nvPr/>
        </p:nvSpPr>
        <p:spPr bwMode="auto">
          <a:xfrm>
            <a:off x="1143000" y="5486400"/>
            <a:ext cx="7162800" cy="7016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4000" dirty="0">
                <a:sym typeface="Symbol" pitchFamily="18" charset="2"/>
              </a:rPr>
              <a:t></a:t>
            </a:r>
            <a:r>
              <a:rPr lang="en-US" sz="2200" baseline="-25000" dirty="0">
                <a:sym typeface="Symbol" pitchFamily="18" charset="2"/>
              </a:rPr>
              <a:t>MANV,HONV,TENLOT,TENNV</a:t>
            </a:r>
            <a:r>
              <a:rPr lang="en-US" sz="2200" dirty="0">
                <a:sym typeface="Symbol" pitchFamily="18" charset="2"/>
              </a:rPr>
              <a:t>(</a:t>
            </a:r>
            <a:r>
              <a:rPr lang="en-US" sz="4000" dirty="0">
                <a:sym typeface="Symbol" pitchFamily="18" charset="2"/>
              </a:rPr>
              <a:t></a:t>
            </a:r>
            <a:r>
              <a:rPr lang="en-US" sz="2200" baseline="-25000" dirty="0">
                <a:sym typeface="Symbol" pitchFamily="18" charset="2"/>
              </a:rPr>
              <a:t>PHG=5 </a:t>
            </a:r>
            <a:r>
              <a:rPr lang="en-US" sz="2200" b="1" baseline="-25000" dirty="0">
                <a:sym typeface="Symbol" pitchFamily="18" charset="2"/>
              </a:rPr>
              <a:t></a:t>
            </a:r>
            <a:r>
              <a:rPr lang="en-US" sz="2200" baseline="-25000" dirty="0">
                <a:sym typeface="Symbol" pitchFamily="18" charset="2"/>
              </a:rPr>
              <a:t> PHAI=‘Nam’ </a:t>
            </a:r>
            <a:r>
              <a:rPr lang="en-US" sz="2200" dirty="0">
                <a:sym typeface="Symbol" pitchFamily="18" charset="2"/>
              </a:rPr>
              <a:t>(NHANVIEN))</a:t>
            </a:r>
            <a:endParaRPr lang="en-US" sz="2200" baseline="-25000" dirty="0"/>
          </a:p>
        </p:txBody>
      </p:sp>
      <p:grpSp>
        <p:nvGrpSpPr>
          <p:cNvPr id="604256" name="Group 96"/>
          <p:cNvGrpSpPr>
            <a:grpSpLocks/>
          </p:cNvGrpSpPr>
          <p:nvPr/>
        </p:nvGrpSpPr>
        <p:grpSpPr bwMode="auto">
          <a:xfrm>
            <a:off x="2438400" y="3886200"/>
            <a:ext cx="3810000" cy="1066800"/>
            <a:chOff x="960" y="2352"/>
            <a:chExt cx="2400" cy="672"/>
          </a:xfrm>
        </p:grpSpPr>
        <p:sp>
          <p:nvSpPr>
            <p:cNvPr id="604171" name="Line 11"/>
            <p:cNvSpPr>
              <a:spLocks noChangeShapeType="1"/>
            </p:cNvSpPr>
            <p:nvPr/>
          </p:nvSpPr>
          <p:spPr bwMode="auto">
            <a:xfrm>
              <a:off x="960" y="2544"/>
              <a:ext cx="2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04172" name="Text Box 12"/>
            <p:cNvSpPr txBox="1">
              <a:spLocks noChangeArrowheads="1"/>
            </p:cNvSpPr>
            <p:nvPr/>
          </p:nvSpPr>
          <p:spPr bwMode="auto">
            <a:xfrm>
              <a:off x="2832" y="2352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TENNV</a:t>
              </a:r>
            </a:p>
          </p:txBody>
        </p:sp>
        <p:sp>
          <p:nvSpPr>
            <p:cNvPr id="604173" name="Text Box 13"/>
            <p:cNvSpPr txBox="1">
              <a:spLocks noChangeArrowheads="1"/>
            </p:cNvSpPr>
            <p:nvPr/>
          </p:nvSpPr>
          <p:spPr bwMode="auto">
            <a:xfrm>
              <a:off x="1680" y="2352"/>
              <a:ext cx="576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HONV</a:t>
              </a:r>
            </a:p>
          </p:txBody>
        </p:sp>
        <p:sp>
          <p:nvSpPr>
            <p:cNvPr id="604179" name="Text Box 19"/>
            <p:cNvSpPr txBox="1">
              <a:spLocks noChangeArrowheads="1"/>
            </p:cNvSpPr>
            <p:nvPr/>
          </p:nvSpPr>
          <p:spPr bwMode="auto">
            <a:xfrm>
              <a:off x="2832" y="2592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Tung</a:t>
              </a:r>
            </a:p>
          </p:txBody>
        </p:sp>
        <p:sp>
          <p:nvSpPr>
            <p:cNvPr id="604180" name="Text Box 20"/>
            <p:cNvSpPr txBox="1">
              <a:spLocks noChangeArrowheads="1"/>
            </p:cNvSpPr>
            <p:nvPr/>
          </p:nvSpPr>
          <p:spPr bwMode="auto">
            <a:xfrm>
              <a:off x="1680" y="2592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Nguyen</a:t>
              </a:r>
            </a:p>
          </p:txBody>
        </p:sp>
        <p:sp>
          <p:nvSpPr>
            <p:cNvPr id="604186" name="Text Box 26"/>
            <p:cNvSpPr txBox="1">
              <a:spLocks noChangeArrowheads="1"/>
            </p:cNvSpPr>
            <p:nvPr/>
          </p:nvSpPr>
          <p:spPr bwMode="auto">
            <a:xfrm>
              <a:off x="2832" y="2784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Hung</a:t>
              </a:r>
            </a:p>
          </p:txBody>
        </p:sp>
        <p:sp>
          <p:nvSpPr>
            <p:cNvPr id="604187" name="Text Box 27"/>
            <p:cNvSpPr txBox="1">
              <a:spLocks noChangeArrowheads="1"/>
            </p:cNvSpPr>
            <p:nvPr/>
          </p:nvSpPr>
          <p:spPr bwMode="auto">
            <a:xfrm>
              <a:off x="1680" y="2784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Nguyen</a:t>
              </a:r>
            </a:p>
          </p:txBody>
        </p:sp>
        <p:sp>
          <p:nvSpPr>
            <p:cNvPr id="604200" name="Line 40"/>
            <p:cNvSpPr>
              <a:spLocks noChangeShapeType="1"/>
            </p:cNvSpPr>
            <p:nvPr/>
          </p:nvSpPr>
          <p:spPr bwMode="auto">
            <a:xfrm>
              <a:off x="2832" y="2352"/>
              <a:ext cx="0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04206" name="Line 46"/>
            <p:cNvSpPr>
              <a:spLocks noChangeShapeType="1"/>
            </p:cNvSpPr>
            <p:nvPr/>
          </p:nvSpPr>
          <p:spPr bwMode="auto">
            <a:xfrm>
              <a:off x="2208" y="2352"/>
              <a:ext cx="0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04209" name="Text Box 49"/>
            <p:cNvSpPr txBox="1">
              <a:spLocks noChangeArrowheads="1"/>
            </p:cNvSpPr>
            <p:nvPr/>
          </p:nvSpPr>
          <p:spPr bwMode="auto">
            <a:xfrm>
              <a:off x="2256" y="2352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TENLOT</a:t>
              </a:r>
            </a:p>
          </p:txBody>
        </p:sp>
        <p:sp>
          <p:nvSpPr>
            <p:cNvPr id="604210" name="Text Box 50"/>
            <p:cNvSpPr txBox="1">
              <a:spLocks noChangeArrowheads="1"/>
            </p:cNvSpPr>
            <p:nvPr/>
          </p:nvSpPr>
          <p:spPr bwMode="auto">
            <a:xfrm>
              <a:off x="2256" y="2592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Thanh</a:t>
              </a:r>
            </a:p>
          </p:txBody>
        </p:sp>
        <p:sp>
          <p:nvSpPr>
            <p:cNvPr id="604211" name="Text Box 51"/>
            <p:cNvSpPr txBox="1">
              <a:spLocks noChangeArrowheads="1"/>
            </p:cNvSpPr>
            <p:nvPr/>
          </p:nvSpPr>
          <p:spPr bwMode="auto">
            <a:xfrm>
              <a:off x="2256" y="2784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Manh</a:t>
              </a:r>
            </a:p>
          </p:txBody>
        </p:sp>
        <p:sp>
          <p:nvSpPr>
            <p:cNvPr id="604236" name="Text Box 76"/>
            <p:cNvSpPr txBox="1">
              <a:spLocks noChangeArrowheads="1"/>
            </p:cNvSpPr>
            <p:nvPr/>
          </p:nvSpPr>
          <p:spPr bwMode="auto">
            <a:xfrm>
              <a:off x="960" y="2592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 dirty="0"/>
                <a:t>333445555</a:t>
              </a:r>
            </a:p>
          </p:txBody>
        </p:sp>
        <p:sp>
          <p:nvSpPr>
            <p:cNvPr id="604237" name="Text Box 77"/>
            <p:cNvSpPr txBox="1">
              <a:spLocks noChangeArrowheads="1"/>
            </p:cNvSpPr>
            <p:nvPr/>
          </p:nvSpPr>
          <p:spPr bwMode="auto">
            <a:xfrm>
              <a:off x="960" y="2784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987987987</a:t>
              </a:r>
            </a:p>
          </p:txBody>
        </p:sp>
        <p:sp>
          <p:nvSpPr>
            <p:cNvPr id="604238" name="Text Box 78"/>
            <p:cNvSpPr txBox="1">
              <a:spLocks noChangeArrowheads="1"/>
            </p:cNvSpPr>
            <p:nvPr/>
          </p:nvSpPr>
          <p:spPr bwMode="auto">
            <a:xfrm>
              <a:off x="960" y="2352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MANV</a:t>
              </a:r>
            </a:p>
          </p:txBody>
        </p:sp>
        <p:sp>
          <p:nvSpPr>
            <p:cNvPr id="604255" name="Line 95"/>
            <p:cNvSpPr>
              <a:spLocks noChangeShapeType="1"/>
            </p:cNvSpPr>
            <p:nvPr/>
          </p:nvSpPr>
          <p:spPr bwMode="auto">
            <a:xfrm>
              <a:off x="1680" y="2352"/>
              <a:ext cx="0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41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22145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2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Mệnh</a:t>
            </a:r>
            <a:r>
              <a:rPr lang="en-US" sz="3500" b="1" dirty="0"/>
              <a:t> </a:t>
            </a:r>
            <a:r>
              <a:rPr lang="en-US" sz="3500" b="1" dirty="0" err="1"/>
              <a:t>đề</a:t>
            </a:r>
            <a:r>
              <a:rPr lang="en-US" sz="3500" b="1" dirty="0"/>
              <a:t> SELECT</a:t>
            </a:r>
          </a:p>
        </p:txBody>
      </p:sp>
      <p:sp>
        <p:nvSpPr>
          <p:cNvPr id="608259" name="Text Box 3"/>
          <p:cNvSpPr txBox="1">
            <a:spLocks noChangeArrowheads="1"/>
          </p:cNvSpPr>
          <p:nvPr/>
        </p:nvSpPr>
        <p:spPr bwMode="auto">
          <a:xfrm>
            <a:off x="1066800" y="2084388"/>
            <a:ext cx="7467600" cy="119221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dirty="0">
                <a:solidFill>
                  <a:srgbClr val="0000CC"/>
                </a:solidFill>
              </a:rPr>
              <a:t>SELECT </a:t>
            </a:r>
            <a:r>
              <a:rPr lang="en-US" dirty="0"/>
              <a:t>MANV, HONV </a:t>
            </a:r>
            <a:r>
              <a:rPr lang="en-US" dirty="0">
                <a:solidFill>
                  <a:srgbClr val="0000CC"/>
                </a:solidFill>
              </a:rPr>
              <a:t>AS</a:t>
            </a:r>
            <a:r>
              <a:rPr lang="en-US" dirty="0"/>
              <a:t> HO, TENLOT </a:t>
            </a:r>
            <a:r>
              <a:rPr lang="en-US" dirty="0">
                <a:solidFill>
                  <a:srgbClr val="0000CC"/>
                </a:solidFill>
              </a:rPr>
              <a:t>AS</a:t>
            </a:r>
            <a:r>
              <a:rPr lang="en-US" dirty="0"/>
              <a:t> </a:t>
            </a:r>
            <a:r>
              <a:rPr lang="en-US" dirty="0">
                <a:solidFill>
                  <a:srgbClr val="CC0000"/>
                </a:solidFill>
              </a:rPr>
              <a:t>‘TEN LOT’</a:t>
            </a:r>
            <a:r>
              <a:rPr lang="en-US" dirty="0"/>
              <a:t>, TENNV </a:t>
            </a:r>
            <a:r>
              <a:rPr lang="en-US" dirty="0">
                <a:solidFill>
                  <a:srgbClr val="0000CC"/>
                </a:solidFill>
              </a:rPr>
              <a:t>AS</a:t>
            </a:r>
            <a:r>
              <a:rPr lang="en-US" dirty="0"/>
              <a:t> TEN</a:t>
            </a:r>
          </a:p>
          <a:p>
            <a:pPr algn="l"/>
            <a:r>
              <a:rPr lang="en-US" dirty="0">
                <a:solidFill>
                  <a:srgbClr val="0000CC"/>
                </a:solidFill>
              </a:rPr>
              <a:t>FROM</a:t>
            </a:r>
            <a:r>
              <a:rPr lang="en-US" dirty="0"/>
              <a:t> NHANVIEN</a:t>
            </a:r>
            <a:endParaRPr lang="en-US" dirty="0">
              <a:solidFill>
                <a:srgbClr val="0000CC"/>
              </a:solidFill>
            </a:endParaRPr>
          </a:p>
          <a:p>
            <a:pPr algn="l"/>
            <a:r>
              <a:rPr lang="en-US" dirty="0">
                <a:solidFill>
                  <a:srgbClr val="0000CC"/>
                </a:solidFill>
              </a:rPr>
              <a:t>WHERE</a:t>
            </a:r>
            <a:r>
              <a:rPr lang="en-US" dirty="0"/>
              <a:t> PHG=5 </a:t>
            </a:r>
            <a:r>
              <a:rPr lang="en-US" dirty="0">
                <a:solidFill>
                  <a:srgbClr val="777777"/>
                </a:solidFill>
              </a:rPr>
              <a:t>AND</a:t>
            </a:r>
            <a:r>
              <a:rPr lang="en-US" dirty="0"/>
              <a:t> PHAI=</a:t>
            </a:r>
            <a:r>
              <a:rPr lang="en-US" dirty="0">
                <a:solidFill>
                  <a:srgbClr val="CC0000"/>
                </a:solidFill>
              </a:rPr>
              <a:t>‘Nam’</a:t>
            </a:r>
          </a:p>
        </p:txBody>
      </p:sp>
      <p:sp>
        <p:nvSpPr>
          <p:cNvPr id="608260" name="Text Box 4"/>
          <p:cNvSpPr txBox="1">
            <a:spLocks noChangeArrowheads="1"/>
          </p:cNvSpPr>
          <p:nvPr/>
        </p:nvSpPr>
        <p:spPr bwMode="auto">
          <a:xfrm>
            <a:off x="76200" y="5334000"/>
            <a:ext cx="8991600" cy="7016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4000">
                <a:sym typeface="Symbol" pitchFamily="18" charset="2"/>
              </a:rPr>
              <a:t></a:t>
            </a:r>
            <a:r>
              <a:rPr lang="en-US" baseline="-25000">
                <a:sym typeface="Symbol" pitchFamily="18" charset="2"/>
              </a:rPr>
              <a:t>MANV,HO,TEN LOT,TEN</a:t>
            </a:r>
            <a:r>
              <a:rPr lang="en-US" sz="2200">
                <a:sym typeface="Symbol" pitchFamily="18" charset="2"/>
              </a:rPr>
              <a:t>(</a:t>
            </a:r>
            <a:r>
              <a:rPr lang="en-US" sz="4000">
                <a:sym typeface="Symbol" pitchFamily="18" charset="2"/>
              </a:rPr>
              <a:t></a:t>
            </a:r>
            <a:r>
              <a:rPr lang="en-US" sz="2200" baseline="-25000">
                <a:sym typeface="Symbol" pitchFamily="18" charset="2"/>
              </a:rPr>
              <a:t>MANV,HONV,TENLOT,TENNV</a:t>
            </a:r>
            <a:r>
              <a:rPr lang="en-US" sz="2200">
                <a:sym typeface="Symbol" pitchFamily="18" charset="2"/>
              </a:rPr>
              <a:t>(</a:t>
            </a:r>
            <a:r>
              <a:rPr lang="en-US" sz="4000">
                <a:sym typeface="Symbol" pitchFamily="18" charset="2"/>
              </a:rPr>
              <a:t></a:t>
            </a:r>
            <a:r>
              <a:rPr lang="en-US" sz="2200" baseline="-25000">
                <a:sym typeface="Symbol" pitchFamily="18" charset="2"/>
              </a:rPr>
              <a:t>PHG=5</a:t>
            </a:r>
            <a:r>
              <a:rPr lang="en-US" sz="2200" b="1" baseline="-25000">
                <a:sym typeface="Symbol" pitchFamily="18" charset="2"/>
              </a:rPr>
              <a:t></a:t>
            </a:r>
            <a:r>
              <a:rPr lang="en-US" sz="2200" baseline="-25000">
                <a:sym typeface="Symbol" pitchFamily="18" charset="2"/>
              </a:rPr>
              <a:t>PHAI=‘Nam’</a:t>
            </a:r>
            <a:r>
              <a:rPr lang="en-US" sz="2200">
                <a:sym typeface="Symbol" pitchFamily="18" charset="2"/>
              </a:rPr>
              <a:t>(NHANVIEN)))</a:t>
            </a:r>
          </a:p>
        </p:txBody>
      </p:sp>
      <p:grpSp>
        <p:nvGrpSpPr>
          <p:cNvPr id="608279" name="Group 23"/>
          <p:cNvGrpSpPr>
            <a:grpSpLocks/>
          </p:cNvGrpSpPr>
          <p:nvPr/>
        </p:nvGrpSpPr>
        <p:grpSpPr bwMode="auto">
          <a:xfrm>
            <a:off x="2362200" y="3733800"/>
            <a:ext cx="3810000" cy="1066800"/>
            <a:chOff x="1536" y="2352"/>
            <a:chExt cx="2400" cy="672"/>
          </a:xfrm>
        </p:grpSpPr>
        <p:sp>
          <p:nvSpPr>
            <p:cNvPr id="608262" name="Line 6"/>
            <p:cNvSpPr>
              <a:spLocks noChangeShapeType="1"/>
            </p:cNvSpPr>
            <p:nvPr/>
          </p:nvSpPr>
          <p:spPr bwMode="auto">
            <a:xfrm>
              <a:off x="1536" y="2544"/>
              <a:ext cx="2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08263" name="Text Box 7"/>
            <p:cNvSpPr txBox="1">
              <a:spLocks noChangeArrowheads="1"/>
            </p:cNvSpPr>
            <p:nvPr/>
          </p:nvSpPr>
          <p:spPr bwMode="auto">
            <a:xfrm>
              <a:off x="3408" y="2352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TEN</a:t>
              </a:r>
            </a:p>
          </p:txBody>
        </p:sp>
        <p:sp>
          <p:nvSpPr>
            <p:cNvPr id="608264" name="Text Box 8"/>
            <p:cNvSpPr txBox="1">
              <a:spLocks noChangeArrowheads="1"/>
            </p:cNvSpPr>
            <p:nvPr/>
          </p:nvSpPr>
          <p:spPr bwMode="auto">
            <a:xfrm>
              <a:off x="2256" y="2352"/>
              <a:ext cx="576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HO</a:t>
              </a:r>
            </a:p>
          </p:txBody>
        </p:sp>
        <p:sp>
          <p:nvSpPr>
            <p:cNvPr id="608265" name="Text Box 9"/>
            <p:cNvSpPr txBox="1">
              <a:spLocks noChangeArrowheads="1"/>
            </p:cNvSpPr>
            <p:nvPr/>
          </p:nvSpPr>
          <p:spPr bwMode="auto">
            <a:xfrm>
              <a:off x="3408" y="2592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Tung</a:t>
              </a:r>
            </a:p>
          </p:txBody>
        </p:sp>
        <p:sp>
          <p:nvSpPr>
            <p:cNvPr id="608266" name="Text Box 10"/>
            <p:cNvSpPr txBox="1">
              <a:spLocks noChangeArrowheads="1"/>
            </p:cNvSpPr>
            <p:nvPr/>
          </p:nvSpPr>
          <p:spPr bwMode="auto">
            <a:xfrm>
              <a:off x="2256" y="2592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Nguyen</a:t>
              </a:r>
            </a:p>
          </p:txBody>
        </p:sp>
        <p:sp>
          <p:nvSpPr>
            <p:cNvPr id="608267" name="Text Box 11"/>
            <p:cNvSpPr txBox="1">
              <a:spLocks noChangeArrowheads="1"/>
            </p:cNvSpPr>
            <p:nvPr/>
          </p:nvSpPr>
          <p:spPr bwMode="auto">
            <a:xfrm>
              <a:off x="3408" y="2784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Hung</a:t>
              </a:r>
            </a:p>
          </p:txBody>
        </p:sp>
        <p:sp>
          <p:nvSpPr>
            <p:cNvPr id="608268" name="Text Box 12"/>
            <p:cNvSpPr txBox="1">
              <a:spLocks noChangeArrowheads="1"/>
            </p:cNvSpPr>
            <p:nvPr/>
          </p:nvSpPr>
          <p:spPr bwMode="auto">
            <a:xfrm>
              <a:off x="2256" y="2784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Nguyen</a:t>
              </a:r>
            </a:p>
          </p:txBody>
        </p:sp>
        <p:sp>
          <p:nvSpPr>
            <p:cNvPr id="608269" name="Line 13"/>
            <p:cNvSpPr>
              <a:spLocks noChangeShapeType="1"/>
            </p:cNvSpPr>
            <p:nvPr/>
          </p:nvSpPr>
          <p:spPr bwMode="auto">
            <a:xfrm>
              <a:off x="3408" y="2352"/>
              <a:ext cx="0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08270" name="Line 14"/>
            <p:cNvSpPr>
              <a:spLocks noChangeShapeType="1"/>
            </p:cNvSpPr>
            <p:nvPr/>
          </p:nvSpPr>
          <p:spPr bwMode="auto">
            <a:xfrm>
              <a:off x="2784" y="2352"/>
              <a:ext cx="0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08271" name="Text Box 15"/>
            <p:cNvSpPr txBox="1">
              <a:spLocks noChangeArrowheads="1"/>
            </p:cNvSpPr>
            <p:nvPr/>
          </p:nvSpPr>
          <p:spPr bwMode="auto">
            <a:xfrm>
              <a:off x="2784" y="2352"/>
              <a:ext cx="624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TEN LOT</a:t>
              </a:r>
            </a:p>
          </p:txBody>
        </p:sp>
        <p:sp>
          <p:nvSpPr>
            <p:cNvPr id="608272" name="Text Box 16"/>
            <p:cNvSpPr txBox="1">
              <a:spLocks noChangeArrowheads="1"/>
            </p:cNvSpPr>
            <p:nvPr/>
          </p:nvSpPr>
          <p:spPr bwMode="auto">
            <a:xfrm>
              <a:off x="2832" y="2592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Thanh</a:t>
              </a:r>
            </a:p>
          </p:txBody>
        </p:sp>
        <p:sp>
          <p:nvSpPr>
            <p:cNvPr id="608273" name="Text Box 17"/>
            <p:cNvSpPr txBox="1">
              <a:spLocks noChangeArrowheads="1"/>
            </p:cNvSpPr>
            <p:nvPr/>
          </p:nvSpPr>
          <p:spPr bwMode="auto">
            <a:xfrm>
              <a:off x="2832" y="2784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Manh</a:t>
              </a:r>
            </a:p>
          </p:txBody>
        </p:sp>
        <p:sp>
          <p:nvSpPr>
            <p:cNvPr id="608274" name="Text Box 18"/>
            <p:cNvSpPr txBox="1">
              <a:spLocks noChangeArrowheads="1"/>
            </p:cNvSpPr>
            <p:nvPr/>
          </p:nvSpPr>
          <p:spPr bwMode="auto">
            <a:xfrm>
              <a:off x="1536" y="2592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333445555</a:t>
              </a:r>
            </a:p>
          </p:txBody>
        </p:sp>
        <p:sp>
          <p:nvSpPr>
            <p:cNvPr id="608275" name="Text Box 19"/>
            <p:cNvSpPr txBox="1">
              <a:spLocks noChangeArrowheads="1"/>
            </p:cNvSpPr>
            <p:nvPr/>
          </p:nvSpPr>
          <p:spPr bwMode="auto">
            <a:xfrm>
              <a:off x="1536" y="2784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987987987</a:t>
              </a:r>
            </a:p>
          </p:txBody>
        </p:sp>
        <p:sp>
          <p:nvSpPr>
            <p:cNvPr id="608276" name="Text Box 20"/>
            <p:cNvSpPr txBox="1">
              <a:spLocks noChangeArrowheads="1"/>
            </p:cNvSpPr>
            <p:nvPr/>
          </p:nvSpPr>
          <p:spPr bwMode="auto">
            <a:xfrm>
              <a:off x="1536" y="2352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MANV</a:t>
              </a:r>
            </a:p>
          </p:txBody>
        </p:sp>
        <p:sp>
          <p:nvSpPr>
            <p:cNvPr id="608277" name="Line 21"/>
            <p:cNvSpPr>
              <a:spLocks noChangeShapeType="1"/>
            </p:cNvSpPr>
            <p:nvPr/>
          </p:nvSpPr>
          <p:spPr bwMode="auto">
            <a:xfrm>
              <a:off x="2256" y="2352"/>
              <a:ext cx="0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608278" name="Text Box 22"/>
          <p:cNvSpPr txBox="1">
            <a:spLocks noChangeArrowheads="1"/>
          </p:cNvSpPr>
          <p:nvPr/>
        </p:nvSpPr>
        <p:spPr bwMode="auto">
          <a:xfrm>
            <a:off x="381000" y="1511300"/>
            <a:ext cx="1371600" cy="317500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400" b="1"/>
              <a:t>Tên bí danh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42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3873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Mệnh</a:t>
            </a:r>
            <a:r>
              <a:rPr lang="en-US" sz="3500" b="1" dirty="0"/>
              <a:t> </a:t>
            </a:r>
            <a:r>
              <a:rPr lang="en-US" sz="3500" b="1" dirty="0" err="1"/>
              <a:t>đề</a:t>
            </a:r>
            <a:r>
              <a:rPr lang="en-US" sz="3500" b="1" dirty="0"/>
              <a:t> SELECT </a:t>
            </a:r>
          </a:p>
        </p:txBody>
      </p:sp>
      <p:sp>
        <p:nvSpPr>
          <p:cNvPr id="610307" name="Text Box 3"/>
          <p:cNvSpPr txBox="1">
            <a:spLocks noChangeArrowheads="1"/>
          </p:cNvSpPr>
          <p:nvPr/>
        </p:nvSpPr>
        <p:spPr bwMode="auto">
          <a:xfrm>
            <a:off x="1066800" y="2084388"/>
            <a:ext cx="7467600" cy="119221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dirty="0">
                <a:solidFill>
                  <a:srgbClr val="0000CC"/>
                </a:solidFill>
              </a:rPr>
              <a:t>SELECT </a:t>
            </a:r>
            <a:r>
              <a:rPr lang="en-US" dirty="0"/>
              <a:t>MANV, HONV + </a:t>
            </a:r>
            <a:r>
              <a:rPr lang="en-US" dirty="0">
                <a:solidFill>
                  <a:srgbClr val="CC0000"/>
                </a:solidFill>
              </a:rPr>
              <a:t>‘ ’</a:t>
            </a:r>
            <a:r>
              <a:rPr lang="en-US" dirty="0"/>
              <a:t> + TENLOT + </a:t>
            </a:r>
            <a:r>
              <a:rPr lang="en-US" dirty="0">
                <a:solidFill>
                  <a:srgbClr val="CC0000"/>
                </a:solidFill>
              </a:rPr>
              <a:t>‘ ’</a:t>
            </a:r>
            <a:r>
              <a:rPr lang="en-US" dirty="0"/>
              <a:t> + TENNV </a:t>
            </a:r>
            <a:r>
              <a:rPr lang="en-US" dirty="0">
                <a:solidFill>
                  <a:srgbClr val="0000CC"/>
                </a:solidFill>
              </a:rPr>
              <a:t>AS</a:t>
            </a:r>
            <a:r>
              <a:rPr lang="en-US" dirty="0"/>
              <a:t> </a:t>
            </a:r>
            <a:r>
              <a:rPr lang="en-US" dirty="0">
                <a:solidFill>
                  <a:srgbClr val="CC0000"/>
                </a:solidFill>
              </a:rPr>
              <a:t>‘HO TEN’</a:t>
            </a:r>
          </a:p>
          <a:p>
            <a:pPr algn="l"/>
            <a:r>
              <a:rPr lang="en-US" dirty="0">
                <a:solidFill>
                  <a:srgbClr val="0000CC"/>
                </a:solidFill>
              </a:rPr>
              <a:t>FROM</a:t>
            </a:r>
            <a:r>
              <a:rPr lang="en-US" dirty="0"/>
              <a:t> NHANVIEN</a:t>
            </a:r>
            <a:endParaRPr lang="en-US" dirty="0">
              <a:solidFill>
                <a:srgbClr val="0000CC"/>
              </a:solidFill>
            </a:endParaRPr>
          </a:p>
          <a:p>
            <a:pPr algn="l"/>
            <a:r>
              <a:rPr lang="en-US" dirty="0">
                <a:solidFill>
                  <a:srgbClr val="0000CC"/>
                </a:solidFill>
              </a:rPr>
              <a:t>WHERE</a:t>
            </a:r>
            <a:r>
              <a:rPr lang="en-US" dirty="0"/>
              <a:t> PHG=5 </a:t>
            </a:r>
            <a:r>
              <a:rPr lang="en-US" dirty="0">
                <a:solidFill>
                  <a:srgbClr val="777777"/>
                </a:solidFill>
              </a:rPr>
              <a:t>AND</a:t>
            </a:r>
            <a:r>
              <a:rPr lang="en-US" dirty="0"/>
              <a:t> PHAI=</a:t>
            </a:r>
            <a:r>
              <a:rPr lang="en-US" dirty="0">
                <a:solidFill>
                  <a:srgbClr val="CC0000"/>
                </a:solidFill>
              </a:rPr>
              <a:t>‘Nam’</a:t>
            </a:r>
          </a:p>
        </p:txBody>
      </p:sp>
      <p:sp>
        <p:nvSpPr>
          <p:cNvPr id="610308" name="Text Box 4"/>
          <p:cNvSpPr txBox="1">
            <a:spLocks noChangeArrowheads="1"/>
          </p:cNvSpPr>
          <p:nvPr/>
        </p:nvSpPr>
        <p:spPr bwMode="auto">
          <a:xfrm>
            <a:off x="304800" y="5334000"/>
            <a:ext cx="8610600" cy="7016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4000">
                <a:sym typeface="Symbol" pitchFamily="18" charset="2"/>
              </a:rPr>
              <a:t></a:t>
            </a:r>
            <a:r>
              <a:rPr lang="en-US" sz="2200" baseline="-25000">
                <a:sym typeface="Symbol" pitchFamily="18" charset="2"/>
              </a:rPr>
              <a:t>MANV,HO TEN</a:t>
            </a:r>
            <a:r>
              <a:rPr lang="en-US" sz="2200">
                <a:sym typeface="Symbol" pitchFamily="18" charset="2"/>
              </a:rPr>
              <a:t>(</a:t>
            </a:r>
            <a:r>
              <a:rPr lang="en-US" sz="4000">
                <a:sym typeface="Symbol" pitchFamily="18" charset="2"/>
              </a:rPr>
              <a:t></a:t>
            </a:r>
            <a:r>
              <a:rPr lang="en-US" sz="2200" baseline="-25000">
                <a:sym typeface="Symbol" pitchFamily="18" charset="2"/>
              </a:rPr>
              <a:t>MANV,HONV+TENLOT+TENNV</a:t>
            </a:r>
            <a:r>
              <a:rPr lang="en-US" sz="2200">
                <a:sym typeface="Symbol" pitchFamily="18" charset="2"/>
              </a:rPr>
              <a:t>(</a:t>
            </a:r>
            <a:r>
              <a:rPr lang="en-US" sz="4000">
                <a:sym typeface="Symbol" pitchFamily="18" charset="2"/>
              </a:rPr>
              <a:t></a:t>
            </a:r>
            <a:r>
              <a:rPr lang="en-US" sz="2200" baseline="-25000">
                <a:sym typeface="Symbol" pitchFamily="18" charset="2"/>
              </a:rPr>
              <a:t>PHG=5</a:t>
            </a:r>
            <a:r>
              <a:rPr lang="en-US" sz="2200" b="1" baseline="-25000">
                <a:sym typeface="Symbol" pitchFamily="18" charset="2"/>
              </a:rPr>
              <a:t></a:t>
            </a:r>
            <a:r>
              <a:rPr lang="en-US" sz="2200" baseline="-25000">
                <a:sym typeface="Symbol" pitchFamily="18" charset="2"/>
              </a:rPr>
              <a:t>PHAI=‘Nam’</a:t>
            </a:r>
            <a:r>
              <a:rPr lang="en-US" sz="2200">
                <a:sym typeface="Symbol" pitchFamily="18" charset="2"/>
              </a:rPr>
              <a:t>(NHANVIEN)))</a:t>
            </a:r>
          </a:p>
        </p:txBody>
      </p:sp>
      <p:grpSp>
        <p:nvGrpSpPr>
          <p:cNvPr id="610327" name="Group 23"/>
          <p:cNvGrpSpPr>
            <a:grpSpLocks/>
          </p:cNvGrpSpPr>
          <p:nvPr/>
        </p:nvGrpSpPr>
        <p:grpSpPr bwMode="auto">
          <a:xfrm>
            <a:off x="2362200" y="3733800"/>
            <a:ext cx="3276600" cy="1066800"/>
            <a:chOff x="1488" y="2352"/>
            <a:chExt cx="2064" cy="672"/>
          </a:xfrm>
        </p:grpSpPr>
        <p:sp>
          <p:nvSpPr>
            <p:cNvPr id="610310" name="Line 6"/>
            <p:cNvSpPr>
              <a:spLocks noChangeShapeType="1"/>
            </p:cNvSpPr>
            <p:nvPr/>
          </p:nvSpPr>
          <p:spPr bwMode="auto">
            <a:xfrm>
              <a:off x="1488" y="2544"/>
              <a:ext cx="20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10312" name="Text Box 8"/>
            <p:cNvSpPr txBox="1">
              <a:spLocks noChangeArrowheads="1"/>
            </p:cNvSpPr>
            <p:nvPr/>
          </p:nvSpPr>
          <p:spPr bwMode="auto">
            <a:xfrm>
              <a:off x="2208" y="2352"/>
              <a:ext cx="124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HO TEN</a:t>
              </a:r>
            </a:p>
          </p:txBody>
        </p:sp>
        <p:sp>
          <p:nvSpPr>
            <p:cNvPr id="610314" name="Text Box 10"/>
            <p:cNvSpPr txBox="1">
              <a:spLocks noChangeArrowheads="1"/>
            </p:cNvSpPr>
            <p:nvPr/>
          </p:nvSpPr>
          <p:spPr bwMode="auto">
            <a:xfrm>
              <a:off x="2304" y="2592"/>
              <a:ext cx="120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en-US" sz="1400"/>
                <a:t>Nguyen Thanh Tung</a:t>
              </a:r>
            </a:p>
          </p:txBody>
        </p:sp>
        <p:sp>
          <p:nvSpPr>
            <p:cNvPr id="610316" name="Text Box 12"/>
            <p:cNvSpPr txBox="1">
              <a:spLocks noChangeArrowheads="1"/>
            </p:cNvSpPr>
            <p:nvPr/>
          </p:nvSpPr>
          <p:spPr bwMode="auto">
            <a:xfrm>
              <a:off x="2304" y="2784"/>
              <a:ext cx="120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en-US" sz="1400"/>
                <a:t>Nguyen Manh Hung</a:t>
              </a:r>
            </a:p>
          </p:txBody>
        </p:sp>
        <p:sp>
          <p:nvSpPr>
            <p:cNvPr id="610322" name="Text Box 18"/>
            <p:cNvSpPr txBox="1">
              <a:spLocks noChangeArrowheads="1"/>
            </p:cNvSpPr>
            <p:nvPr/>
          </p:nvSpPr>
          <p:spPr bwMode="auto">
            <a:xfrm>
              <a:off x="1488" y="2592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333445555</a:t>
              </a:r>
            </a:p>
          </p:txBody>
        </p:sp>
        <p:sp>
          <p:nvSpPr>
            <p:cNvPr id="610323" name="Text Box 19"/>
            <p:cNvSpPr txBox="1">
              <a:spLocks noChangeArrowheads="1"/>
            </p:cNvSpPr>
            <p:nvPr/>
          </p:nvSpPr>
          <p:spPr bwMode="auto">
            <a:xfrm>
              <a:off x="1488" y="2784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987987987</a:t>
              </a:r>
            </a:p>
          </p:txBody>
        </p:sp>
        <p:sp>
          <p:nvSpPr>
            <p:cNvPr id="610324" name="Text Box 20"/>
            <p:cNvSpPr txBox="1">
              <a:spLocks noChangeArrowheads="1"/>
            </p:cNvSpPr>
            <p:nvPr/>
          </p:nvSpPr>
          <p:spPr bwMode="auto">
            <a:xfrm>
              <a:off x="1488" y="2352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MANV</a:t>
              </a:r>
            </a:p>
          </p:txBody>
        </p:sp>
        <p:sp>
          <p:nvSpPr>
            <p:cNvPr id="610325" name="Line 21"/>
            <p:cNvSpPr>
              <a:spLocks noChangeShapeType="1"/>
            </p:cNvSpPr>
            <p:nvPr/>
          </p:nvSpPr>
          <p:spPr bwMode="auto">
            <a:xfrm>
              <a:off x="2208" y="2352"/>
              <a:ext cx="0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610326" name="Text Box 22"/>
          <p:cNvSpPr txBox="1">
            <a:spLocks noChangeArrowheads="1"/>
          </p:cNvSpPr>
          <p:nvPr/>
        </p:nvSpPr>
        <p:spPr bwMode="auto">
          <a:xfrm>
            <a:off x="609600" y="1524000"/>
            <a:ext cx="990600" cy="317500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400" b="1" dirty="0" err="1"/>
              <a:t>Mở</a:t>
            </a:r>
            <a:r>
              <a:rPr lang="en-US" sz="1400" b="1" dirty="0"/>
              <a:t> </a:t>
            </a:r>
            <a:r>
              <a:rPr lang="en-US" sz="1400" b="1" dirty="0" err="1"/>
              <a:t>rộng</a:t>
            </a:r>
            <a:endParaRPr lang="en-US" sz="1400" b="1" dirty="0"/>
          </a:p>
        </p:txBody>
      </p:sp>
      <p:grpSp>
        <p:nvGrpSpPr>
          <p:cNvPr id="610328" name="Group 24"/>
          <p:cNvGrpSpPr>
            <a:grpSpLocks/>
          </p:cNvGrpSpPr>
          <p:nvPr/>
        </p:nvGrpSpPr>
        <p:grpSpPr bwMode="auto">
          <a:xfrm>
            <a:off x="3505200" y="5562600"/>
            <a:ext cx="1219200" cy="685800"/>
            <a:chOff x="1753" y="2000"/>
            <a:chExt cx="1359" cy="938"/>
          </a:xfrm>
        </p:grpSpPr>
        <p:sp>
          <p:nvSpPr>
            <p:cNvPr id="610329" name="Freeform 25"/>
            <p:cNvSpPr>
              <a:spLocks/>
            </p:cNvSpPr>
            <p:nvPr/>
          </p:nvSpPr>
          <p:spPr bwMode="auto">
            <a:xfrm>
              <a:off x="1753" y="2000"/>
              <a:ext cx="1359" cy="851"/>
            </a:xfrm>
            <a:custGeom>
              <a:avLst/>
              <a:gdLst/>
              <a:ahLst/>
              <a:cxnLst>
                <a:cxn ang="0">
                  <a:pos x="0" y="851"/>
                </a:cxn>
                <a:cxn ang="0">
                  <a:pos x="421" y="509"/>
                </a:cxn>
                <a:cxn ang="0">
                  <a:pos x="574" y="444"/>
                </a:cxn>
                <a:cxn ang="0">
                  <a:pos x="916" y="262"/>
                </a:cxn>
                <a:cxn ang="0">
                  <a:pos x="1221" y="80"/>
                </a:cxn>
                <a:cxn ang="0">
                  <a:pos x="1308" y="29"/>
                </a:cxn>
                <a:cxn ang="0">
                  <a:pos x="1359" y="0"/>
                </a:cxn>
              </a:cxnLst>
              <a:rect l="0" t="0" r="r" b="b"/>
              <a:pathLst>
                <a:path w="1359" h="851">
                  <a:moveTo>
                    <a:pt x="0" y="851"/>
                  </a:moveTo>
                  <a:cubicBezTo>
                    <a:pt x="91" y="708"/>
                    <a:pt x="273" y="585"/>
                    <a:pt x="421" y="509"/>
                  </a:cubicBezTo>
                  <a:cubicBezTo>
                    <a:pt x="467" y="485"/>
                    <a:pt x="530" y="471"/>
                    <a:pt x="574" y="444"/>
                  </a:cubicBezTo>
                  <a:cubicBezTo>
                    <a:pt x="684" y="377"/>
                    <a:pt x="802" y="323"/>
                    <a:pt x="916" y="262"/>
                  </a:cubicBezTo>
                  <a:cubicBezTo>
                    <a:pt x="1021" y="206"/>
                    <a:pt x="1117" y="137"/>
                    <a:pt x="1221" y="80"/>
                  </a:cubicBezTo>
                  <a:cubicBezTo>
                    <a:pt x="1250" y="64"/>
                    <a:pt x="1279" y="46"/>
                    <a:pt x="1308" y="29"/>
                  </a:cubicBezTo>
                  <a:cubicBezTo>
                    <a:pt x="1325" y="19"/>
                    <a:pt x="1359" y="0"/>
                    <a:pt x="1359" y="0"/>
                  </a:cubicBez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0330" name="Freeform 26"/>
            <p:cNvSpPr>
              <a:spLocks/>
            </p:cNvSpPr>
            <p:nvPr/>
          </p:nvSpPr>
          <p:spPr bwMode="auto">
            <a:xfrm>
              <a:off x="2022" y="2146"/>
              <a:ext cx="1018" cy="79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67" y="87"/>
                </a:cxn>
                <a:cxn ang="0">
                  <a:pos x="312" y="174"/>
                </a:cxn>
                <a:cxn ang="0">
                  <a:pos x="363" y="218"/>
                </a:cxn>
                <a:cxn ang="0">
                  <a:pos x="654" y="458"/>
                </a:cxn>
                <a:cxn ang="0">
                  <a:pos x="749" y="552"/>
                </a:cxn>
                <a:cxn ang="0">
                  <a:pos x="858" y="632"/>
                </a:cxn>
                <a:cxn ang="0">
                  <a:pos x="909" y="691"/>
                </a:cxn>
                <a:cxn ang="0">
                  <a:pos x="960" y="727"/>
                </a:cxn>
                <a:cxn ang="0">
                  <a:pos x="1018" y="792"/>
                </a:cxn>
              </a:cxnLst>
              <a:rect l="0" t="0" r="r" b="b"/>
              <a:pathLst>
                <a:path w="1018" h="792">
                  <a:moveTo>
                    <a:pt x="0" y="0"/>
                  </a:moveTo>
                  <a:cubicBezTo>
                    <a:pt x="103" y="28"/>
                    <a:pt x="87" y="33"/>
                    <a:pt x="167" y="87"/>
                  </a:cubicBezTo>
                  <a:cubicBezTo>
                    <a:pt x="213" y="118"/>
                    <a:pt x="265" y="145"/>
                    <a:pt x="312" y="174"/>
                  </a:cubicBezTo>
                  <a:cubicBezTo>
                    <a:pt x="412" y="236"/>
                    <a:pt x="278" y="158"/>
                    <a:pt x="363" y="218"/>
                  </a:cubicBezTo>
                  <a:cubicBezTo>
                    <a:pt x="466" y="291"/>
                    <a:pt x="560" y="373"/>
                    <a:pt x="654" y="458"/>
                  </a:cubicBezTo>
                  <a:cubicBezTo>
                    <a:pt x="687" y="488"/>
                    <a:pt x="713" y="526"/>
                    <a:pt x="749" y="552"/>
                  </a:cubicBezTo>
                  <a:cubicBezTo>
                    <a:pt x="785" y="579"/>
                    <a:pt x="829" y="598"/>
                    <a:pt x="858" y="632"/>
                  </a:cubicBezTo>
                  <a:cubicBezTo>
                    <a:pt x="875" y="652"/>
                    <a:pt x="890" y="673"/>
                    <a:pt x="909" y="691"/>
                  </a:cubicBezTo>
                  <a:cubicBezTo>
                    <a:pt x="924" y="705"/>
                    <a:pt x="945" y="713"/>
                    <a:pt x="960" y="727"/>
                  </a:cubicBezTo>
                  <a:cubicBezTo>
                    <a:pt x="981" y="746"/>
                    <a:pt x="997" y="772"/>
                    <a:pt x="1018" y="792"/>
                  </a:cubicBez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43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81652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3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Mệnh</a:t>
            </a:r>
            <a:r>
              <a:rPr lang="en-US" sz="3500" b="1" dirty="0"/>
              <a:t> </a:t>
            </a:r>
            <a:r>
              <a:rPr lang="en-US" sz="3500" b="1" dirty="0" err="1"/>
              <a:t>đề</a:t>
            </a:r>
            <a:r>
              <a:rPr lang="en-US" sz="3500" b="1" dirty="0"/>
              <a:t> SELECT</a:t>
            </a:r>
          </a:p>
        </p:txBody>
      </p:sp>
      <p:sp>
        <p:nvSpPr>
          <p:cNvPr id="612355" name="Text Box 3"/>
          <p:cNvSpPr txBox="1">
            <a:spLocks noChangeArrowheads="1"/>
          </p:cNvSpPr>
          <p:nvPr/>
        </p:nvSpPr>
        <p:spPr bwMode="auto">
          <a:xfrm>
            <a:off x="1600200" y="2084388"/>
            <a:ext cx="5181600" cy="119221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dirty="0">
                <a:solidFill>
                  <a:srgbClr val="0000CC"/>
                </a:solidFill>
              </a:rPr>
              <a:t>SELECT </a:t>
            </a:r>
            <a:r>
              <a:rPr lang="en-US" dirty="0"/>
              <a:t>MANV, LUONG*1.1 </a:t>
            </a:r>
            <a:r>
              <a:rPr lang="en-US" dirty="0">
                <a:solidFill>
                  <a:srgbClr val="0000CC"/>
                </a:solidFill>
              </a:rPr>
              <a:t>AS</a:t>
            </a:r>
            <a:r>
              <a:rPr lang="en-US" dirty="0"/>
              <a:t> </a:t>
            </a:r>
            <a:r>
              <a:rPr lang="en-US" dirty="0">
                <a:solidFill>
                  <a:srgbClr val="CC0000"/>
                </a:solidFill>
              </a:rPr>
              <a:t>‘LUONG10%’</a:t>
            </a:r>
          </a:p>
          <a:p>
            <a:pPr algn="l"/>
            <a:r>
              <a:rPr lang="en-US" dirty="0">
                <a:solidFill>
                  <a:srgbClr val="0000CC"/>
                </a:solidFill>
              </a:rPr>
              <a:t>FROM</a:t>
            </a:r>
            <a:r>
              <a:rPr lang="en-US" dirty="0"/>
              <a:t> NHANVIEN</a:t>
            </a:r>
            <a:endParaRPr lang="en-US" dirty="0">
              <a:solidFill>
                <a:srgbClr val="0000CC"/>
              </a:solidFill>
            </a:endParaRPr>
          </a:p>
          <a:p>
            <a:pPr algn="l"/>
            <a:r>
              <a:rPr lang="en-US" dirty="0">
                <a:solidFill>
                  <a:srgbClr val="0000CC"/>
                </a:solidFill>
              </a:rPr>
              <a:t>WHERE</a:t>
            </a:r>
            <a:r>
              <a:rPr lang="en-US" dirty="0"/>
              <a:t> PHG=5 </a:t>
            </a:r>
            <a:r>
              <a:rPr lang="en-US" dirty="0">
                <a:solidFill>
                  <a:srgbClr val="777777"/>
                </a:solidFill>
              </a:rPr>
              <a:t>AND</a:t>
            </a:r>
            <a:r>
              <a:rPr lang="en-US" dirty="0"/>
              <a:t> PHAI=</a:t>
            </a:r>
            <a:r>
              <a:rPr lang="en-US" dirty="0">
                <a:solidFill>
                  <a:srgbClr val="CC0000"/>
                </a:solidFill>
              </a:rPr>
              <a:t>‘Nam’</a:t>
            </a:r>
          </a:p>
        </p:txBody>
      </p:sp>
      <p:sp>
        <p:nvSpPr>
          <p:cNvPr id="612356" name="Text Box 4"/>
          <p:cNvSpPr txBox="1">
            <a:spLocks noChangeArrowheads="1"/>
          </p:cNvSpPr>
          <p:nvPr/>
        </p:nvSpPr>
        <p:spPr bwMode="auto">
          <a:xfrm>
            <a:off x="304800" y="5334000"/>
            <a:ext cx="8610600" cy="7016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4000">
                <a:sym typeface="Symbol" pitchFamily="18" charset="2"/>
              </a:rPr>
              <a:t></a:t>
            </a:r>
            <a:r>
              <a:rPr lang="en-US" sz="2200" baseline="-25000">
                <a:sym typeface="Symbol" pitchFamily="18" charset="2"/>
              </a:rPr>
              <a:t>MANV,LUONG10%</a:t>
            </a:r>
            <a:r>
              <a:rPr lang="en-US" sz="2200">
                <a:sym typeface="Symbol" pitchFamily="18" charset="2"/>
              </a:rPr>
              <a:t>(</a:t>
            </a:r>
            <a:r>
              <a:rPr lang="en-US" sz="4000">
                <a:sym typeface="Symbol" pitchFamily="18" charset="2"/>
              </a:rPr>
              <a:t></a:t>
            </a:r>
            <a:r>
              <a:rPr lang="en-US" sz="2200" baseline="-25000">
                <a:sym typeface="Symbol" pitchFamily="18" charset="2"/>
              </a:rPr>
              <a:t>MANV,LUONG*1.1</a:t>
            </a:r>
            <a:r>
              <a:rPr lang="en-US" sz="2200">
                <a:sym typeface="Symbol" pitchFamily="18" charset="2"/>
              </a:rPr>
              <a:t>(</a:t>
            </a:r>
            <a:r>
              <a:rPr lang="en-US" sz="4000">
                <a:sym typeface="Symbol" pitchFamily="18" charset="2"/>
              </a:rPr>
              <a:t></a:t>
            </a:r>
            <a:r>
              <a:rPr lang="en-US" sz="2200" baseline="-25000">
                <a:sym typeface="Symbol" pitchFamily="18" charset="2"/>
              </a:rPr>
              <a:t>PHG=5</a:t>
            </a:r>
            <a:r>
              <a:rPr lang="en-US" sz="2200" b="1" baseline="-25000">
                <a:sym typeface="Symbol" pitchFamily="18" charset="2"/>
              </a:rPr>
              <a:t></a:t>
            </a:r>
            <a:r>
              <a:rPr lang="en-US" sz="2200" baseline="-25000">
                <a:sym typeface="Symbol" pitchFamily="18" charset="2"/>
              </a:rPr>
              <a:t>PHAI=‘Nam’</a:t>
            </a:r>
            <a:r>
              <a:rPr lang="en-US" sz="2200">
                <a:sym typeface="Symbol" pitchFamily="18" charset="2"/>
              </a:rPr>
              <a:t>(NHANVIEN)))</a:t>
            </a:r>
          </a:p>
        </p:txBody>
      </p:sp>
      <p:grpSp>
        <p:nvGrpSpPr>
          <p:cNvPr id="612370" name="Group 18"/>
          <p:cNvGrpSpPr>
            <a:grpSpLocks/>
          </p:cNvGrpSpPr>
          <p:nvPr/>
        </p:nvGrpSpPr>
        <p:grpSpPr bwMode="auto">
          <a:xfrm>
            <a:off x="2362200" y="3733800"/>
            <a:ext cx="2514600" cy="1066800"/>
            <a:chOff x="1488" y="2352"/>
            <a:chExt cx="1584" cy="672"/>
          </a:xfrm>
        </p:grpSpPr>
        <p:sp>
          <p:nvSpPr>
            <p:cNvPr id="612358" name="Line 6"/>
            <p:cNvSpPr>
              <a:spLocks noChangeShapeType="1"/>
            </p:cNvSpPr>
            <p:nvPr/>
          </p:nvSpPr>
          <p:spPr bwMode="auto">
            <a:xfrm>
              <a:off x="1488" y="2544"/>
              <a:ext cx="15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12359" name="Text Box 7"/>
            <p:cNvSpPr txBox="1">
              <a:spLocks noChangeArrowheads="1"/>
            </p:cNvSpPr>
            <p:nvPr/>
          </p:nvSpPr>
          <p:spPr bwMode="auto">
            <a:xfrm>
              <a:off x="2208" y="2352"/>
              <a:ext cx="864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LUONG10%</a:t>
              </a:r>
            </a:p>
          </p:txBody>
        </p:sp>
        <p:sp>
          <p:nvSpPr>
            <p:cNvPr id="612360" name="Text Box 8"/>
            <p:cNvSpPr txBox="1">
              <a:spLocks noChangeArrowheads="1"/>
            </p:cNvSpPr>
            <p:nvPr/>
          </p:nvSpPr>
          <p:spPr bwMode="auto">
            <a:xfrm>
              <a:off x="2304" y="2592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33000</a:t>
              </a:r>
            </a:p>
          </p:txBody>
        </p:sp>
        <p:sp>
          <p:nvSpPr>
            <p:cNvPr id="612361" name="Text Box 9"/>
            <p:cNvSpPr txBox="1">
              <a:spLocks noChangeArrowheads="1"/>
            </p:cNvSpPr>
            <p:nvPr/>
          </p:nvSpPr>
          <p:spPr bwMode="auto">
            <a:xfrm>
              <a:off x="2304" y="2784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27500</a:t>
              </a:r>
            </a:p>
          </p:txBody>
        </p:sp>
        <p:sp>
          <p:nvSpPr>
            <p:cNvPr id="612362" name="Text Box 10"/>
            <p:cNvSpPr txBox="1">
              <a:spLocks noChangeArrowheads="1"/>
            </p:cNvSpPr>
            <p:nvPr/>
          </p:nvSpPr>
          <p:spPr bwMode="auto">
            <a:xfrm>
              <a:off x="1488" y="2592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333445555</a:t>
              </a:r>
            </a:p>
          </p:txBody>
        </p:sp>
        <p:sp>
          <p:nvSpPr>
            <p:cNvPr id="612363" name="Text Box 11"/>
            <p:cNvSpPr txBox="1">
              <a:spLocks noChangeArrowheads="1"/>
            </p:cNvSpPr>
            <p:nvPr/>
          </p:nvSpPr>
          <p:spPr bwMode="auto">
            <a:xfrm>
              <a:off x="1488" y="2784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987987987</a:t>
              </a:r>
            </a:p>
          </p:txBody>
        </p:sp>
        <p:sp>
          <p:nvSpPr>
            <p:cNvPr id="612364" name="Text Box 12"/>
            <p:cNvSpPr txBox="1">
              <a:spLocks noChangeArrowheads="1"/>
            </p:cNvSpPr>
            <p:nvPr/>
          </p:nvSpPr>
          <p:spPr bwMode="auto">
            <a:xfrm>
              <a:off x="1488" y="2352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 dirty="0"/>
                <a:t>MANV</a:t>
              </a:r>
            </a:p>
          </p:txBody>
        </p:sp>
        <p:sp>
          <p:nvSpPr>
            <p:cNvPr id="612365" name="Line 13"/>
            <p:cNvSpPr>
              <a:spLocks noChangeShapeType="1"/>
            </p:cNvSpPr>
            <p:nvPr/>
          </p:nvSpPr>
          <p:spPr bwMode="auto">
            <a:xfrm>
              <a:off x="2208" y="2352"/>
              <a:ext cx="0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612366" name="Text Box 14"/>
          <p:cNvSpPr txBox="1">
            <a:spLocks noChangeArrowheads="1"/>
          </p:cNvSpPr>
          <p:nvPr/>
        </p:nvSpPr>
        <p:spPr bwMode="auto">
          <a:xfrm>
            <a:off x="609600" y="1524000"/>
            <a:ext cx="990600" cy="317500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400" b="1"/>
              <a:t>Mở rộng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44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40296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Mệnh</a:t>
            </a:r>
            <a:r>
              <a:rPr lang="en-US" sz="3500" b="1" dirty="0"/>
              <a:t> </a:t>
            </a:r>
            <a:r>
              <a:rPr lang="en-US" sz="3500" b="1" dirty="0" err="1"/>
              <a:t>đề</a:t>
            </a:r>
            <a:r>
              <a:rPr lang="en-US" sz="3500" b="1" dirty="0"/>
              <a:t> SELECT</a:t>
            </a:r>
          </a:p>
        </p:txBody>
      </p:sp>
      <p:sp>
        <p:nvSpPr>
          <p:cNvPr id="614403" name="Text Box 3"/>
          <p:cNvSpPr txBox="1">
            <a:spLocks noChangeArrowheads="1"/>
          </p:cNvSpPr>
          <p:nvPr/>
        </p:nvSpPr>
        <p:spPr bwMode="auto">
          <a:xfrm>
            <a:off x="457200" y="2248964"/>
            <a:ext cx="4648200" cy="11922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dirty="0">
                <a:solidFill>
                  <a:srgbClr val="0000CC"/>
                </a:solidFill>
              </a:rPr>
              <a:t>SELECT </a:t>
            </a:r>
            <a:r>
              <a:rPr lang="en-US" dirty="0"/>
              <a:t>LUONG</a:t>
            </a:r>
            <a:endParaRPr lang="en-US" dirty="0">
              <a:solidFill>
                <a:srgbClr val="CC0000"/>
              </a:solidFill>
            </a:endParaRPr>
          </a:p>
          <a:p>
            <a:pPr algn="l"/>
            <a:r>
              <a:rPr lang="en-US" dirty="0">
                <a:solidFill>
                  <a:srgbClr val="0000CC"/>
                </a:solidFill>
              </a:rPr>
              <a:t>FROM</a:t>
            </a:r>
            <a:r>
              <a:rPr lang="en-US" dirty="0"/>
              <a:t> NHANVIEN</a:t>
            </a:r>
            <a:endParaRPr lang="en-US" dirty="0">
              <a:solidFill>
                <a:srgbClr val="0000CC"/>
              </a:solidFill>
            </a:endParaRPr>
          </a:p>
          <a:p>
            <a:pPr algn="l"/>
            <a:r>
              <a:rPr lang="en-US" dirty="0">
                <a:solidFill>
                  <a:srgbClr val="0000CC"/>
                </a:solidFill>
              </a:rPr>
              <a:t>WHERE</a:t>
            </a:r>
            <a:r>
              <a:rPr lang="en-US" dirty="0"/>
              <a:t> PHG=5 </a:t>
            </a:r>
            <a:r>
              <a:rPr lang="en-US" dirty="0">
                <a:solidFill>
                  <a:srgbClr val="777777"/>
                </a:solidFill>
              </a:rPr>
              <a:t>AND</a:t>
            </a:r>
            <a:r>
              <a:rPr lang="en-US" dirty="0"/>
              <a:t> PHAI=</a:t>
            </a:r>
            <a:r>
              <a:rPr lang="en-US" dirty="0">
                <a:solidFill>
                  <a:srgbClr val="CC0000"/>
                </a:solidFill>
              </a:rPr>
              <a:t>‘Nam’</a:t>
            </a:r>
          </a:p>
        </p:txBody>
      </p:sp>
      <p:sp>
        <p:nvSpPr>
          <p:cNvPr id="614414" name="Text Box 14"/>
          <p:cNvSpPr txBox="1">
            <a:spLocks noChangeArrowheads="1"/>
          </p:cNvSpPr>
          <p:nvPr/>
        </p:nvSpPr>
        <p:spPr bwMode="auto">
          <a:xfrm>
            <a:off x="457200" y="1524000"/>
            <a:ext cx="2895600" cy="317500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400" b="1"/>
              <a:t>Loại bỏ các dòng trùng nhau</a:t>
            </a:r>
          </a:p>
        </p:txBody>
      </p:sp>
      <p:sp>
        <p:nvSpPr>
          <p:cNvPr id="614416" name="Text Box 16"/>
          <p:cNvSpPr txBox="1">
            <a:spLocks noChangeArrowheads="1"/>
          </p:cNvSpPr>
          <p:nvPr/>
        </p:nvSpPr>
        <p:spPr bwMode="auto">
          <a:xfrm>
            <a:off x="2781300" y="4421440"/>
            <a:ext cx="2819400" cy="77946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buFontTx/>
              <a:buChar char="-"/>
            </a:pPr>
            <a:r>
              <a:rPr lang="en-US"/>
              <a:t> </a:t>
            </a:r>
            <a:r>
              <a:rPr lang="en-US" dirty="0" err="1"/>
              <a:t>Tốn</a:t>
            </a:r>
            <a:r>
              <a:rPr lang="en-US" dirty="0"/>
              <a:t> chi </a:t>
            </a:r>
            <a:r>
              <a:rPr lang="en-US" dirty="0" err="1"/>
              <a:t>phí</a:t>
            </a:r>
            <a:endParaRPr lang="en-US" dirty="0"/>
          </a:p>
          <a:p>
            <a:pPr algn="l">
              <a:buFontTx/>
              <a:buChar char="-"/>
            </a:pP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muốn</a:t>
            </a:r>
            <a:r>
              <a:rPr lang="en-US" dirty="0"/>
              <a:t> </a:t>
            </a:r>
            <a:r>
              <a:rPr lang="en-US" dirty="0" err="1"/>
              <a:t>thấy</a:t>
            </a:r>
            <a:endParaRPr lang="en-US" dirty="0"/>
          </a:p>
        </p:txBody>
      </p:sp>
      <p:grpSp>
        <p:nvGrpSpPr>
          <p:cNvPr id="614419" name="Group 19"/>
          <p:cNvGrpSpPr>
            <a:grpSpLocks/>
          </p:cNvGrpSpPr>
          <p:nvPr/>
        </p:nvGrpSpPr>
        <p:grpSpPr bwMode="auto">
          <a:xfrm>
            <a:off x="1333500" y="4011071"/>
            <a:ext cx="1447800" cy="1600200"/>
            <a:chOff x="1680" y="2352"/>
            <a:chExt cx="912" cy="1008"/>
          </a:xfrm>
        </p:grpSpPr>
        <p:sp>
          <p:nvSpPr>
            <p:cNvPr id="614406" name="Line 6"/>
            <p:cNvSpPr>
              <a:spLocks noChangeShapeType="1"/>
            </p:cNvSpPr>
            <p:nvPr/>
          </p:nvSpPr>
          <p:spPr bwMode="auto">
            <a:xfrm>
              <a:off x="1680" y="2544"/>
              <a:ext cx="9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14407" name="Text Box 7"/>
            <p:cNvSpPr txBox="1">
              <a:spLocks noChangeArrowheads="1"/>
            </p:cNvSpPr>
            <p:nvPr/>
          </p:nvSpPr>
          <p:spPr bwMode="auto">
            <a:xfrm>
              <a:off x="1728" y="2352"/>
              <a:ext cx="864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LUONG</a:t>
              </a:r>
            </a:p>
          </p:txBody>
        </p:sp>
        <p:sp>
          <p:nvSpPr>
            <p:cNvPr id="614408" name="Text Box 8"/>
            <p:cNvSpPr txBox="1">
              <a:spLocks noChangeArrowheads="1"/>
            </p:cNvSpPr>
            <p:nvPr/>
          </p:nvSpPr>
          <p:spPr bwMode="auto">
            <a:xfrm>
              <a:off x="1824" y="2592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30000</a:t>
              </a:r>
            </a:p>
          </p:txBody>
        </p:sp>
        <p:sp>
          <p:nvSpPr>
            <p:cNvPr id="614409" name="Text Box 9"/>
            <p:cNvSpPr txBox="1">
              <a:spLocks noChangeArrowheads="1"/>
            </p:cNvSpPr>
            <p:nvPr/>
          </p:nvSpPr>
          <p:spPr bwMode="auto">
            <a:xfrm>
              <a:off x="1824" y="2784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25000</a:t>
              </a:r>
            </a:p>
          </p:txBody>
        </p:sp>
        <p:sp>
          <p:nvSpPr>
            <p:cNvPr id="614417" name="Text Box 17"/>
            <p:cNvSpPr txBox="1">
              <a:spLocks noChangeArrowheads="1"/>
            </p:cNvSpPr>
            <p:nvPr/>
          </p:nvSpPr>
          <p:spPr bwMode="auto">
            <a:xfrm>
              <a:off x="1824" y="2976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25000</a:t>
              </a:r>
            </a:p>
          </p:txBody>
        </p:sp>
        <p:sp>
          <p:nvSpPr>
            <p:cNvPr id="614418" name="Text Box 18"/>
            <p:cNvSpPr txBox="1">
              <a:spLocks noChangeArrowheads="1"/>
            </p:cNvSpPr>
            <p:nvPr/>
          </p:nvSpPr>
          <p:spPr bwMode="auto">
            <a:xfrm>
              <a:off x="1824" y="3168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38000</a:t>
              </a:r>
            </a:p>
          </p:txBody>
        </p:sp>
      </p:grpSp>
      <p:grpSp>
        <p:nvGrpSpPr>
          <p:cNvPr id="614427" name="Group 27"/>
          <p:cNvGrpSpPr>
            <a:grpSpLocks/>
          </p:cNvGrpSpPr>
          <p:nvPr/>
        </p:nvGrpSpPr>
        <p:grpSpPr bwMode="auto">
          <a:xfrm>
            <a:off x="5759196" y="4011071"/>
            <a:ext cx="1447800" cy="1295400"/>
            <a:chOff x="3312" y="2352"/>
            <a:chExt cx="912" cy="816"/>
          </a:xfrm>
        </p:grpSpPr>
        <p:sp>
          <p:nvSpPr>
            <p:cNvPr id="614421" name="Line 21"/>
            <p:cNvSpPr>
              <a:spLocks noChangeShapeType="1"/>
            </p:cNvSpPr>
            <p:nvPr/>
          </p:nvSpPr>
          <p:spPr bwMode="auto">
            <a:xfrm>
              <a:off x="3312" y="2544"/>
              <a:ext cx="9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14422" name="Text Box 22"/>
            <p:cNvSpPr txBox="1">
              <a:spLocks noChangeArrowheads="1"/>
            </p:cNvSpPr>
            <p:nvPr/>
          </p:nvSpPr>
          <p:spPr bwMode="auto">
            <a:xfrm>
              <a:off x="3360" y="2352"/>
              <a:ext cx="864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LUONG</a:t>
              </a:r>
            </a:p>
          </p:txBody>
        </p:sp>
        <p:sp>
          <p:nvSpPr>
            <p:cNvPr id="614423" name="Text Box 23"/>
            <p:cNvSpPr txBox="1">
              <a:spLocks noChangeArrowheads="1"/>
            </p:cNvSpPr>
            <p:nvPr/>
          </p:nvSpPr>
          <p:spPr bwMode="auto">
            <a:xfrm>
              <a:off x="3456" y="2592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30000</a:t>
              </a:r>
            </a:p>
          </p:txBody>
        </p:sp>
        <p:sp>
          <p:nvSpPr>
            <p:cNvPr id="614424" name="Text Box 24"/>
            <p:cNvSpPr txBox="1">
              <a:spLocks noChangeArrowheads="1"/>
            </p:cNvSpPr>
            <p:nvPr/>
          </p:nvSpPr>
          <p:spPr bwMode="auto">
            <a:xfrm>
              <a:off x="3456" y="2784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25000</a:t>
              </a:r>
            </a:p>
          </p:txBody>
        </p:sp>
        <p:sp>
          <p:nvSpPr>
            <p:cNvPr id="614425" name="Text Box 25"/>
            <p:cNvSpPr txBox="1">
              <a:spLocks noChangeArrowheads="1"/>
            </p:cNvSpPr>
            <p:nvPr/>
          </p:nvSpPr>
          <p:spPr bwMode="auto">
            <a:xfrm>
              <a:off x="3456" y="2976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38000</a:t>
              </a:r>
            </a:p>
          </p:txBody>
        </p:sp>
      </p:grpSp>
      <p:sp>
        <p:nvSpPr>
          <p:cNvPr id="614428" name="Text Box 28"/>
          <p:cNvSpPr txBox="1">
            <a:spLocks noChangeArrowheads="1"/>
          </p:cNvSpPr>
          <p:nvPr/>
        </p:nvSpPr>
        <p:spPr bwMode="auto">
          <a:xfrm>
            <a:off x="4038600" y="2248965"/>
            <a:ext cx="4648200" cy="11922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dirty="0">
                <a:solidFill>
                  <a:srgbClr val="0000CC"/>
                </a:solidFill>
              </a:rPr>
              <a:t>SELECT DISTINCT </a:t>
            </a:r>
            <a:r>
              <a:rPr lang="en-US" dirty="0"/>
              <a:t>LUONG</a:t>
            </a:r>
            <a:endParaRPr lang="en-US" dirty="0">
              <a:solidFill>
                <a:srgbClr val="CC0000"/>
              </a:solidFill>
            </a:endParaRPr>
          </a:p>
          <a:p>
            <a:pPr algn="l"/>
            <a:r>
              <a:rPr lang="en-US" dirty="0">
                <a:solidFill>
                  <a:srgbClr val="0000CC"/>
                </a:solidFill>
              </a:rPr>
              <a:t>FROM</a:t>
            </a:r>
            <a:r>
              <a:rPr lang="en-US" dirty="0"/>
              <a:t> NHANVIEN</a:t>
            </a:r>
            <a:endParaRPr lang="en-US" dirty="0">
              <a:solidFill>
                <a:srgbClr val="0000CC"/>
              </a:solidFill>
            </a:endParaRPr>
          </a:p>
          <a:p>
            <a:pPr algn="l"/>
            <a:r>
              <a:rPr lang="en-US" dirty="0">
                <a:solidFill>
                  <a:srgbClr val="0000CC"/>
                </a:solidFill>
              </a:rPr>
              <a:t>WHERE</a:t>
            </a:r>
            <a:r>
              <a:rPr lang="en-US" dirty="0"/>
              <a:t> PHG=5 </a:t>
            </a:r>
            <a:r>
              <a:rPr lang="en-US" dirty="0">
                <a:solidFill>
                  <a:srgbClr val="777777"/>
                </a:solidFill>
              </a:rPr>
              <a:t>AND</a:t>
            </a:r>
            <a:r>
              <a:rPr lang="en-US" dirty="0"/>
              <a:t> PHAI=</a:t>
            </a:r>
            <a:r>
              <a:rPr lang="en-US" dirty="0">
                <a:solidFill>
                  <a:srgbClr val="CC0000"/>
                </a:solidFill>
              </a:rPr>
              <a:t>‘Nam’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45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405702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Mệnh</a:t>
            </a:r>
            <a:r>
              <a:rPr lang="en-US" sz="3500" b="1" dirty="0"/>
              <a:t> </a:t>
            </a:r>
            <a:r>
              <a:rPr lang="en-US" sz="3500" b="1" dirty="0" err="1"/>
              <a:t>đề</a:t>
            </a:r>
            <a:r>
              <a:rPr lang="en-US" sz="3500" b="1" dirty="0"/>
              <a:t> SELECT</a:t>
            </a:r>
          </a:p>
        </p:txBody>
      </p:sp>
      <p:sp>
        <p:nvSpPr>
          <p:cNvPr id="614414" name="Text Box 14"/>
          <p:cNvSpPr txBox="1">
            <a:spLocks noChangeArrowheads="1"/>
          </p:cNvSpPr>
          <p:nvPr/>
        </p:nvSpPr>
        <p:spPr bwMode="auto">
          <a:xfrm>
            <a:off x="457200" y="1524000"/>
            <a:ext cx="2895600" cy="317500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400" b="1"/>
              <a:t>Loại bỏ các dòng trùng nhau</a:t>
            </a:r>
          </a:p>
        </p:txBody>
      </p:sp>
      <p:grpSp>
        <p:nvGrpSpPr>
          <p:cNvPr id="614427" name="Group 27"/>
          <p:cNvGrpSpPr>
            <a:grpSpLocks/>
          </p:cNvGrpSpPr>
          <p:nvPr/>
        </p:nvGrpSpPr>
        <p:grpSpPr bwMode="auto">
          <a:xfrm>
            <a:off x="3124200" y="4210089"/>
            <a:ext cx="1447800" cy="1295400"/>
            <a:chOff x="3312" y="2352"/>
            <a:chExt cx="912" cy="816"/>
          </a:xfrm>
        </p:grpSpPr>
        <p:sp>
          <p:nvSpPr>
            <p:cNvPr id="614421" name="Line 21"/>
            <p:cNvSpPr>
              <a:spLocks noChangeShapeType="1"/>
            </p:cNvSpPr>
            <p:nvPr/>
          </p:nvSpPr>
          <p:spPr bwMode="auto">
            <a:xfrm>
              <a:off x="3312" y="2544"/>
              <a:ext cx="9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14422" name="Text Box 22"/>
            <p:cNvSpPr txBox="1">
              <a:spLocks noChangeArrowheads="1"/>
            </p:cNvSpPr>
            <p:nvPr/>
          </p:nvSpPr>
          <p:spPr bwMode="auto">
            <a:xfrm>
              <a:off x="3360" y="2352"/>
              <a:ext cx="864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LUONG</a:t>
              </a:r>
            </a:p>
          </p:txBody>
        </p:sp>
        <p:sp>
          <p:nvSpPr>
            <p:cNvPr id="614423" name="Text Box 23"/>
            <p:cNvSpPr txBox="1">
              <a:spLocks noChangeArrowheads="1"/>
            </p:cNvSpPr>
            <p:nvPr/>
          </p:nvSpPr>
          <p:spPr bwMode="auto">
            <a:xfrm>
              <a:off x="3456" y="2592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 dirty="0"/>
                <a:t>30000</a:t>
              </a:r>
            </a:p>
          </p:txBody>
        </p:sp>
        <p:sp>
          <p:nvSpPr>
            <p:cNvPr id="614424" name="Text Box 24"/>
            <p:cNvSpPr txBox="1">
              <a:spLocks noChangeArrowheads="1"/>
            </p:cNvSpPr>
            <p:nvPr/>
          </p:nvSpPr>
          <p:spPr bwMode="auto">
            <a:xfrm>
              <a:off x="3456" y="2784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 dirty="0"/>
                <a:t>25000</a:t>
              </a:r>
            </a:p>
          </p:txBody>
        </p:sp>
        <p:sp>
          <p:nvSpPr>
            <p:cNvPr id="614425" name="Text Box 25"/>
            <p:cNvSpPr txBox="1">
              <a:spLocks noChangeArrowheads="1"/>
            </p:cNvSpPr>
            <p:nvPr/>
          </p:nvSpPr>
          <p:spPr bwMode="auto">
            <a:xfrm>
              <a:off x="3456" y="2976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38000</a:t>
              </a:r>
            </a:p>
          </p:txBody>
        </p:sp>
      </p:grpSp>
      <p:sp>
        <p:nvSpPr>
          <p:cNvPr id="614428" name="Text Box 28"/>
          <p:cNvSpPr txBox="1">
            <a:spLocks noChangeArrowheads="1"/>
          </p:cNvSpPr>
          <p:nvPr/>
        </p:nvSpPr>
        <p:spPr bwMode="auto">
          <a:xfrm>
            <a:off x="2473452" y="2250228"/>
            <a:ext cx="4648200" cy="11922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dirty="0">
                <a:solidFill>
                  <a:srgbClr val="0000CC"/>
                </a:solidFill>
              </a:rPr>
              <a:t>SELECT DISTINCT </a:t>
            </a:r>
            <a:r>
              <a:rPr lang="en-US" dirty="0"/>
              <a:t>LUONG</a:t>
            </a:r>
            <a:endParaRPr lang="en-US" dirty="0">
              <a:solidFill>
                <a:srgbClr val="CC0000"/>
              </a:solidFill>
            </a:endParaRPr>
          </a:p>
          <a:p>
            <a:pPr algn="l"/>
            <a:r>
              <a:rPr lang="en-US" dirty="0">
                <a:solidFill>
                  <a:srgbClr val="0000CC"/>
                </a:solidFill>
              </a:rPr>
              <a:t>FROM</a:t>
            </a:r>
            <a:r>
              <a:rPr lang="en-US" dirty="0"/>
              <a:t> NHANVIEN</a:t>
            </a:r>
            <a:endParaRPr lang="en-US" dirty="0">
              <a:solidFill>
                <a:srgbClr val="0000CC"/>
              </a:solidFill>
            </a:endParaRPr>
          </a:p>
          <a:p>
            <a:pPr algn="l"/>
            <a:r>
              <a:rPr lang="en-US" dirty="0">
                <a:solidFill>
                  <a:srgbClr val="0000CC"/>
                </a:solidFill>
              </a:rPr>
              <a:t>WHERE</a:t>
            </a:r>
            <a:r>
              <a:rPr lang="en-US" dirty="0"/>
              <a:t> PHG=5 </a:t>
            </a:r>
            <a:r>
              <a:rPr lang="en-US" dirty="0">
                <a:solidFill>
                  <a:srgbClr val="777777"/>
                </a:solidFill>
              </a:rPr>
              <a:t>AND</a:t>
            </a:r>
            <a:r>
              <a:rPr lang="en-US" dirty="0"/>
              <a:t> PHAI=</a:t>
            </a:r>
            <a:r>
              <a:rPr lang="en-US" dirty="0">
                <a:solidFill>
                  <a:srgbClr val="CC0000"/>
                </a:solidFill>
              </a:rPr>
              <a:t>‘Nam’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46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811879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5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Mệnh</a:t>
            </a:r>
            <a:r>
              <a:rPr lang="en-US" sz="3500" b="1" dirty="0"/>
              <a:t> </a:t>
            </a:r>
            <a:r>
              <a:rPr lang="en-US" sz="3500" b="1" dirty="0" err="1"/>
              <a:t>đề</a:t>
            </a:r>
            <a:r>
              <a:rPr lang="en-US" sz="3500" b="1" dirty="0"/>
              <a:t> WHERE</a:t>
            </a:r>
          </a:p>
        </p:txBody>
      </p:sp>
      <p:sp>
        <p:nvSpPr>
          <p:cNvPr id="622595" name="Text Box 3"/>
          <p:cNvSpPr txBox="1">
            <a:spLocks noChangeArrowheads="1"/>
          </p:cNvSpPr>
          <p:nvPr/>
        </p:nvSpPr>
        <p:spPr bwMode="auto">
          <a:xfrm>
            <a:off x="1524000" y="2300288"/>
            <a:ext cx="5638800" cy="119221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dirty="0">
                <a:solidFill>
                  <a:srgbClr val="0000CC"/>
                </a:solidFill>
              </a:rPr>
              <a:t>SELECT</a:t>
            </a:r>
            <a:r>
              <a:rPr lang="en-US" dirty="0"/>
              <a:t> MANV, TENNV </a:t>
            </a:r>
          </a:p>
          <a:p>
            <a:pPr algn="l"/>
            <a:r>
              <a:rPr lang="en-US" dirty="0">
                <a:solidFill>
                  <a:srgbClr val="0000CC"/>
                </a:solidFill>
              </a:rPr>
              <a:t>FROM </a:t>
            </a:r>
            <a:r>
              <a:rPr lang="en-US" dirty="0"/>
              <a:t>NHANVIEN, PHONGBAN</a:t>
            </a:r>
            <a:endParaRPr lang="en-US" dirty="0">
              <a:solidFill>
                <a:srgbClr val="0000CC"/>
              </a:solidFill>
            </a:endParaRPr>
          </a:p>
          <a:p>
            <a:pPr algn="l"/>
            <a:r>
              <a:rPr lang="en-US" dirty="0">
                <a:solidFill>
                  <a:srgbClr val="0000CC"/>
                </a:solidFill>
              </a:rPr>
              <a:t>WHERE </a:t>
            </a:r>
            <a:r>
              <a:rPr lang="en-US" dirty="0"/>
              <a:t>TENPHG=</a:t>
            </a:r>
            <a:r>
              <a:rPr lang="en-US" dirty="0">
                <a:solidFill>
                  <a:srgbClr val="CC0000"/>
                </a:solidFill>
              </a:rPr>
              <a:t>‘</a:t>
            </a:r>
            <a:r>
              <a:rPr lang="en-US" dirty="0" err="1">
                <a:solidFill>
                  <a:srgbClr val="CC0000"/>
                </a:solidFill>
              </a:rPr>
              <a:t>Nghien</a:t>
            </a:r>
            <a:r>
              <a:rPr lang="en-US" dirty="0">
                <a:solidFill>
                  <a:srgbClr val="CC0000"/>
                </a:solidFill>
              </a:rPr>
              <a:t> </a:t>
            </a:r>
            <a:r>
              <a:rPr lang="en-US" dirty="0" err="1">
                <a:solidFill>
                  <a:srgbClr val="CC0000"/>
                </a:solidFill>
              </a:rPr>
              <a:t>cuu</a:t>
            </a:r>
            <a:r>
              <a:rPr lang="en-US" dirty="0">
                <a:solidFill>
                  <a:srgbClr val="CC0000"/>
                </a:solidFill>
              </a:rPr>
              <a:t>’ </a:t>
            </a:r>
            <a:r>
              <a:rPr lang="en-US" dirty="0">
                <a:solidFill>
                  <a:srgbClr val="777777"/>
                </a:solidFill>
              </a:rPr>
              <a:t>AND </a:t>
            </a:r>
            <a:r>
              <a:rPr lang="en-US" dirty="0"/>
              <a:t>PHG=MAPHG</a:t>
            </a:r>
            <a:endParaRPr lang="en-US" dirty="0">
              <a:solidFill>
                <a:srgbClr val="777777"/>
              </a:solidFill>
            </a:endParaRPr>
          </a:p>
        </p:txBody>
      </p:sp>
      <p:sp>
        <p:nvSpPr>
          <p:cNvPr id="622608" name="Rectangle 16"/>
          <p:cNvSpPr>
            <a:spLocks noChangeArrowheads="1"/>
          </p:cNvSpPr>
          <p:nvPr/>
        </p:nvSpPr>
        <p:spPr bwMode="auto">
          <a:xfrm>
            <a:off x="2438400" y="3138488"/>
            <a:ext cx="2286000" cy="381000"/>
          </a:xfrm>
          <a:prstGeom prst="rect">
            <a:avLst/>
          </a:prstGeom>
          <a:noFill/>
          <a:ln w="12700" algn="ctr">
            <a:solidFill>
              <a:srgbClr val="777777"/>
            </a:solidFill>
            <a:prstDash val="dash"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22609" name="Rectangle 17"/>
          <p:cNvSpPr>
            <a:spLocks noChangeArrowheads="1"/>
          </p:cNvSpPr>
          <p:nvPr/>
        </p:nvSpPr>
        <p:spPr bwMode="auto">
          <a:xfrm>
            <a:off x="5257800" y="3138488"/>
            <a:ext cx="1447800" cy="381000"/>
          </a:xfrm>
          <a:prstGeom prst="rect">
            <a:avLst/>
          </a:prstGeom>
          <a:noFill/>
          <a:ln w="12700" algn="ctr">
            <a:solidFill>
              <a:srgbClr val="777777"/>
            </a:solidFill>
            <a:prstDash val="dash"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2610" name="Text Box 18"/>
          <p:cNvSpPr txBox="1">
            <a:spLocks noChangeArrowheads="1"/>
          </p:cNvSpPr>
          <p:nvPr/>
        </p:nvSpPr>
        <p:spPr bwMode="auto">
          <a:xfrm>
            <a:off x="6172200" y="2376488"/>
            <a:ext cx="2133600" cy="338554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b="1" dirty="0" err="1"/>
              <a:t>Biểu</a:t>
            </a:r>
            <a:r>
              <a:rPr lang="en-US" sz="1600" b="1" dirty="0"/>
              <a:t> </a:t>
            </a:r>
            <a:r>
              <a:rPr lang="en-US" sz="1600" b="1" dirty="0" err="1"/>
              <a:t>thức</a:t>
            </a:r>
            <a:r>
              <a:rPr lang="en-US" sz="1600" b="1" dirty="0"/>
              <a:t> </a:t>
            </a:r>
            <a:r>
              <a:rPr lang="en-US" sz="1600" b="1" dirty="0" err="1"/>
              <a:t>luận</a:t>
            </a:r>
            <a:r>
              <a:rPr lang="en-US" sz="1600" b="1" dirty="0"/>
              <a:t> </a:t>
            </a:r>
            <a:r>
              <a:rPr lang="en-US" sz="1600" b="1" dirty="0" err="1"/>
              <a:t>lý</a:t>
            </a:r>
            <a:endParaRPr lang="en-US" sz="1600" b="1" dirty="0"/>
          </a:p>
        </p:txBody>
      </p:sp>
      <p:sp>
        <p:nvSpPr>
          <p:cNvPr id="622611" name="Line 19"/>
          <p:cNvSpPr>
            <a:spLocks noChangeShapeType="1"/>
          </p:cNvSpPr>
          <p:nvPr/>
        </p:nvSpPr>
        <p:spPr bwMode="auto">
          <a:xfrm flipV="1">
            <a:off x="4191000" y="2605088"/>
            <a:ext cx="2133600" cy="533400"/>
          </a:xfrm>
          <a:prstGeom prst="line">
            <a:avLst/>
          </a:prstGeom>
          <a:noFill/>
          <a:ln w="12700">
            <a:solidFill>
              <a:srgbClr val="777777"/>
            </a:solidFill>
            <a:prstDash val="dash"/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2612" name="Line 20"/>
          <p:cNvSpPr>
            <a:spLocks noChangeShapeType="1"/>
          </p:cNvSpPr>
          <p:nvPr/>
        </p:nvSpPr>
        <p:spPr bwMode="auto">
          <a:xfrm flipH="1">
            <a:off x="5791200" y="2605088"/>
            <a:ext cx="533400" cy="533400"/>
          </a:xfrm>
          <a:prstGeom prst="line">
            <a:avLst/>
          </a:prstGeom>
          <a:noFill/>
          <a:ln w="12700">
            <a:solidFill>
              <a:srgbClr val="777777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22613" name="Line 21"/>
          <p:cNvSpPr>
            <a:spLocks noChangeShapeType="1"/>
          </p:cNvSpPr>
          <p:nvPr/>
        </p:nvSpPr>
        <p:spPr bwMode="auto">
          <a:xfrm>
            <a:off x="3429000" y="3595688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2614" name="Line 22"/>
          <p:cNvSpPr>
            <a:spLocks noChangeShapeType="1"/>
          </p:cNvSpPr>
          <p:nvPr/>
        </p:nvSpPr>
        <p:spPr bwMode="auto">
          <a:xfrm>
            <a:off x="5943600" y="3595688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2615" name="Text Box 23"/>
          <p:cNvSpPr txBox="1">
            <a:spLocks noChangeArrowheads="1"/>
          </p:cNvSpPr>
          <p:nvPr/>
        </p:nvSpPr>
        <p:spPr bwMode="auto">
          <a:xfrm>
            <a:off x="2971800" y="4114800"/>
            <a:ext cx="990600" cy="3667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TRUE</a:t>
            </a:r>
          </a:p>
        </p:txBody>
      </p:sp>
      <p:sp>
        <p:nvSpPr>
          <p:cNvPr id="622616" name="Text Box 24"/>
          <p:cNvSpPr txBox="1">
            <a:spLocks noChangeArrowheads="1"/>
          </p:cNvSpPr>
          <p:nvPr/>
        </p:nvSpPr>
        <p:spPr bwMode="auto">
          <a:xfrm>
            <a:off x="5486400" y="4129088"/>
            <a:ext cx="990600" cy="36671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TRUE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47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78420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7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Mệnh</a:t>
            </a:r>
            <a:r>
              <a:rPr lang="en-US" sz="3500" b="1" dirty="0"/>
              <a:t> </a:t>
            </a:r>
            <a:r>
              <a:rPr lang="en-US" sz="3500" b="1" dirty="0" err="1"/>
              <a:t>đề</a:t>
            </a:r>
            <a:r>
              <a:rPr lang="en-US" sz="3500" b="1" dirty="0"/>
              <a:t> WHERE</a:t>
            </a:r>
          </a:p>
        </p:txBody>
      </p:sp>
      <p:sp>
        <p:nvSpPr>
          <p:cNvPr id="628739" name="Text Box 3"/>
          <p:cNvSpPr txBox="1">
            <a:spLocks noChangeArrowheads="1"/>
          </p:cNvSpPr>
          <p:nvPr/>
        </p:nvSpPr>
        <p:spPr bwMode="auto">
          <a:xfrm>
            <a:off x="762000" y="2586038"/>
            <a:ext cx="7772400" cy="160496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>
                <a:solidFill>
                  <a:srgbClr val="0000CC"/>
                </a:solidFill>
              </a:rPr>
              <a:t>SELECT</a:t>
            </a:r>
            <a:r>
              <a:rPr lang="en-US"/>
              <a:t> MANV, TENNV </a:t>
            </a:r>
          </a:p>
          <a:p>
            <a:pPr algn="l"/>
            <a:r>
              <a:rPr lang="en-US">
                <a:solidFill>
                  <a:srgbClr val="0000CC"/>
                </a:solidFill>
              </a:rPr>
              <a:t>FROM </a:t>
            </a:r>
            <a:r>
              <a:rPr lang="en-US"/>
              <a:t>NHANVIEN, PHONGBAN</a:t>
            </a:r>
            <a:endParaRPr lang="en-US">
              <a:solidFill>
                <a:srgbClr val="0000CC"/>
              </a:solidFill>
            </a:endParaRPr>
          </a:p>
          <a:p>
            <a:pPr algn="l"/>
            <a:r>
              <a:rPr lang="en-US">
                <a:solidFill>
                  <a:srgbClr val="0000CC"/>
                </a:solidFill>
              </a:rPr>
              <a:t>WHERE </a:t>
            </a:r>
            <a:r>
              <a:rPr lang="en-US"/>
              <a:t>(TENPHG=</a:t>
            </a:r>
            <a:r>
              <a:rPr lang="en-US">
                <a:solidFill>
                  <a:srgbClr val="CC0000"/>
                </a:solidFill>
              </a:rPr>
              <a:t>‘Nghien cuu’</a:t>
            </a:r>
            <a:r>
              <a:rPr lang="en-US"/>
              <a:t> </a:t>
            </a:r>
            <a:r>
              <a:rPr lang="en-US">
                <a:solidFill>
                  <a:srgbClr val="777777"/>
                </a:solidFill>
              </a:rPr>
              <a:t>OR</a:t>
            </a:r>
            <a:r>
              <a:rPr lang="en-US"/>
              <a:t> TENPHG=</a:t>
            </a:r>
            <a:r>
              <a:rPr lang="en-US">
                <a:solidFill>
                  <a:srgbClr val="CC0000"/>
                </a:solidFill>
              </a:rPr>
              <a:t>‘Quan ly’</a:t>
            </a:r>
            <a:r>
              <a:rPr lang="en-US"/>
              <a:t>)</a:t>
            </a:r>
            <a:r>
              <a:rPr lang="en-US">
                <a:solidFill>
                  <a:srgbClr val="CC0000"/>
                </a:solidFill>
              </a:rPr>
              <a:t> </a:t>
            </a:r>
            <a:r>
              <a:rPr lang="en-US">
                <a:solidFill>
                  <a:srgbClr val="777777"/>
                </a:solidFill>
              </a:rPr>
              <a:t>AND </a:t>
            </a:r>
            <a:r>
              <a:rPr lang="en-US"/>
              <a:t>PHG=MAPHG</a:t>
            </a:r>
          </a:p>
          <a:p>
            <a:pPr algn="l"/>
            <a:endParaRPr lang="en-US">
              <a:solidFill>
                <a:srgbClr val="777777"/>
              </a:solidFill>
            </a:endParaRPr>
          </a:p>
        </p:txBody>
      </p:sp>
      <p:sp>
        <p:nvSpPr>
          <p:cNvPr id="628749" name="Text Box 13"/>
          <p:cNvSpPr txBox="1">
            <a:spLocks noChangeArrowheads="1"/>
          </p:cNvSpPr>
          <p:nvPr/>
        </p:nvSpPr>
        <p:spPr bwMode="auto">
          <a:xfrm>
            <a:off x="457200" y="1524000"/>
            <a:ext cx="1295400" cy="317500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400" b="1"/>
              <a:t>Độ ưu tiên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48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333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7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Mệnh</a:t>
            </a:r>
            <a:r>
              <a:rPr lang="en-US" sz="3500" b="1" dirty="0"/>
              <a:t> </a:t>
            </a:r>
            <a:r>
              <a:rPr lang="en-US" sz="3500" b="1" dirty="0" err="1"/>
              <a:t>đề</a:t>
            </a:r>
            <a:r>
              <a:rPr lang="en-US" sz="3500" b="1" dirty="0"/>
              <a:t> WHERE </a:t>
            </a:r>
          </a:p>
        </p:txBody>
      </p:sp>
      <p:sp>
        <p:nvSpPr>
          <p:cNvPr id="630787" name="Text Box 3"/>
          <p:cNvSpPr txBox="1">
            <a:spLocks noChangeArrowheads="1"/>
          </p:cNvSpPr>
          <p:nvPr/>
        </p:nvSpPr>
        <p:spPr bwMode="auto">
          <a:xfrm>
            <a:off x="1676400" y="2357438"/>
            <a:ext cx="5181600" cy="160496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>
                <a:solidFill>
                  <a:srgbClr val="0000CC"/>
                </a:solidFill>
              </a:rPr>
              <a:t>SELECT</a:t>
            </a:r>
            <a:r>
              <a:rPr lang="en-US"/>
              <a:t> MANV, TENNV </a:t>
            </a:r>
          </a:p>
          <a:p>
            <a:pPr algn="l"/>
            <a:r>
              <a:rPr lang="en-US">
                <a:solidFill>
                  <a:srgbClr val="0000CC"/>
                </a:solidFill>
              </a:rPr>
              <a:t>FROM </a:t>
            </a:r>
            <a:r>
              <a:rPr lang="en-US"/>
              <a:t>NHANVIEN</a:t>
            </a:r>
            <a:endParaRPr lang="en-US">
              <a:solidFill>
                <a:srgbClr val="0000CC"/>
              </a:solidFill>
            </a:endParaRPr>
          </a:p>
          <a:p>
            <a:pPr algn="l"/>
            <a:r>
              <a:rPr lang="en-US">
                <a:solidFill>
                  <a:srgbClr val="0000CC"/>
                </a:solidFill>
              </a:rPr>
              <a:t>WHERE </a:t>
            </a:r>
            <a:r>
              <a:rPr lang="en-US"/>
              <a:t>LUONG&gt;20000 </a:t>
            </a:r>
            <a:r>
              <a:rPr lang="en-US">
                <a:solidFill>
                  <a:srgbClr val="777777"/>
                </a:solidFill>
              </a:rPr>
              <a:t>AND</a:t>
            </a:r>
            <a:r>
              <a:rPr lang="en-US"/>
              <a:t> LUONG&lt;30000</a:t>
            </a:r>
          </a:p>
          <a:p>
            <a:pPr algn="l"/>
            <a:endParaRPr lang="en-US">
              <a:solidFill>
                <a:srgbClr val="777777"/>
              </a:solidFill>
            </a:endParaRPr>
          </a:p>
        </p:txBody>
      </p:sp>
      <p:sp>
        <p:nvSpPr>
          <p:cNvPr id="630788" name="Text Box 4"/>
          <p:cNvSpPr txBox="1">
            <a:spLocks noChangeArrowheads="1"/>
          </p:cNvSpPr>
          <p:nvPr/>
        </p:nvSpPr>
        <p:spPr bwMode="auto">
          <a:xfrm>
            <a:off x="457200" y="1524000"/>
            <a:ext cx="1295400" cy="317500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400" b="1"/>
              <a:t>BETWEEN</a:t>
            </a:r>
          </a:p>
        </p:txBody>
      </p:sp>
      <p:sp>
        <p:nvSpPr>
          <p:cNvPr id="630789" name="Text Box 5"/>
          <p:cNvSpPr txBox="1">
            <a:spLocks noChangeArrowheads="1"/>
          </p:cNvSpPr>
          <p:nvPr/>
        </p:nvSpPr>
        <p:spPr bwMode="auto">
          <a:xfrm>
            <a:off x="1676400" y="4267200"/>
            <a:ext cx="5181600" cy="160496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>
                <a:solidFill>
                  <a:srgbClr val="0000CC"/>
                </a:solidFill>
              </a:rPr>
              <a:t>SELECT</a:t>
            </a:r>
            <a:r>
              <a:rPr lang="en-US"/>
              <a:t> MANV, TENNV </a:t>
            </a:r>
          </a:p>
          <a:p>
            <a:pPr algn="l"/>
            <a:r>
              <a:rPr lang="en-US">
                <a:solidFill>
                  <a:srgbClr val="0000CC"/>
                </a:solidFill>
              </a:rPr>
              <a:t>FROM </a:t>
            </a:r>
            <a:r>
              <a:rPr lang="en-US"/>
              <a:t>NHANVIEN</a:t>
            </a:r>
            <a:endParaRPr lang="en-US">
              <a:solidFill>
                <a:srgbClr val="0000CC"/>
              </a:solidFill>
            </a:endParaRPr>
          </a:p>
          <a:p>
            <a:pPr algn="l"/>
            <a:r>
              <a:rPr lang="en-US">
                <a:solidFill>
                  <a:srgbClr val="0000CC"/>
                </a:solidFill>
              </a:rPr>
              <a:t>WHERE </a:t>
            </a:r>
            <a:r>
              <a:rPr lang="en-US"/>
              <a:t>LUONG </a:t>
            </a:r>
            <a:r>
              <a:rPr lang="en-US">
                <a:solidFill>
                  <a:srgbClr val="777777"/>
                </a:solidFill>
              </a:rPr>
              <a:t>BETWEEN</a:t>
            </a:r>
            <a:r>
              <a:rPr lang="en-US"/>
              <a:t> 20000 </a:t>
            </a:r>
            <a:r>
              <a:rPr lang="en-US">
                <a:solidFill>
                  <a:srgbClr val="777777"/>
                </a:solidFill>
              </a:rPr>
              <a:t>AND</a:t>
            </a:r>
            <a:r>
              <a:rPr lang="en-US"/>
              <a:t> 30000</a:t>
            </a:r>
          </a:p>
          <a:p>
            <a:pPr algn="l"/>
            <a:endParaRPr lang="en-US">
              <a:solidFill>
                <a:srgbClr val="777777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49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886207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Mệnh</a:t>
            </a:r>
            <a:r>
              <a:rPr lang="en-US" sz="3500" b="1" dirty="0"/>
              <a:t> </a:t>
            </a:r>
            <a:r>
              <a:rPr lang="en-US" sz="3500" b="1" dirty="0" err="1"/>
              <a:t>đề</a:t>
            </a:r>
            <a:r>
              <a:rPr lang="en-US" sz="3500" b="1" dirty="0"/>
              <a:t> WHERE </a:t>
            </a:r>
          </a:p>
        </p:txBody>
      </p:sp>
      <p:sp>
        <p:nvSpPr>
          <p:cNvPr id="645124" name="Text Box 4"/>
          <p:cNvSpPr txBox="1">
            <a:spLocks noChangeArrowheads="1"/>
          </p:cNvSpPr>
          <p:nvPr/>
        </p:nvSpPr>
        <p:spPr bwMode="auto">
          <a:xfrm>
            <a:off x="457200" y="1524000"/>
            <a:ext cx="1676400" cy="317500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400" b="1"/>
              <a:t>NOT BETWEEN</a:t>
            </a:r>
          </a:p>
        </p:txBody>
      </p:sp>
      <p:sp>
        <p:nvSpPr>
          <p:cNvPr id="645125" name="Text Box 5"/>
          <p:cNvSpPr txBox="1">
            <a:spLocks noChangeArrowheads="1"/>
          </p:cNvSpPr>
          <p:nvPr/>
        </p:nvSpPr>
        <p:spPr bwMode="auto">
          <a:xfrm>
            <a:off x="1524000" y="2743200"/>
            <a:ext cx="5562600" cy="160496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dirty="0">
                <a:solidFill>
                  <a:srgbClr val="0000CC"/>
                </a:solidFill>
              </a:rPr>
              <a:t>SELECT</a:t>
            </a:r>
            <a:r>
              <a:rPr lang="en-US" dirty="0"/>
              <a:t> MANV, TENNV </a:t>
            </a:r>
          </a:p>
          <a:p>
            <a:pPr algn="l"/>
            <a:r>
              <a:rPr lang="en-US" dirty="0">
                <a:solidFill>
                  <a:srgbClr val="0000CC"/>
                </a:solidFill>
              </a:rPr>
              <a:t>FROM </a:t>
            </a:r>
            <a:r>
              <a:rPr lang="en-US" dirty="0"/>
              <a:t>NHANVIEN</a:t>
            </a:r>
            <a:endParaRPr lang="en-US" dirty="0">
              <a:solidFill>
                <a:srgbClr val="0000CC"/>
              </a:solidFill>
            </a:endParaRPr>
          </a:p>
          <a:p>
            <a:pPr algn="l"/>
            <a:r>
              <a:rPr lang="en-US" dirty="0">
                <a:solidFill>
                  <a:srgbClr val="0000CC"/>
                </a:solidFill>
              </a:rPr>
              <a:t>WHERE </a:t>
            </a:r>
            <a:r>
              <a:rPr lang="en-US" dirty="0"/>
              <a:t>LUONG </a:t>
            </a:r>
            <a:r>
              <a:rPr lang="en-US" dirty="0">
                <a:solidFill>
                  <a:srgbClr val="777777"/>
                </a:solidFill>
              </a:rPr>
              <a:t>NOT BETWEEN</a:t>
            </a:r>
            <a:r>
              <a:rPr lang="en-US" dirty="0"/>
              <a:t> 20000 </a:t>
            </a:r>
            <a:r>
              <a:rPr lang="en-US" dirty="0">
                <a:solidFill>
                  <a:srgbClr val="777777"/>
                </a:solidFill>
              </a:rPr>
              <a:t>AND</a:t>
            </a:r>
            <a:r>
              <a:rPr lang="en-US" dirty="0"/>
              <a:t> 30000</a:t>
            </a:r>
          </a:p>
          <a:p>
            <a:pPr algn="l"/>
            <a:endParaRPr lang="en-US" dirty="0">
              <a:solidFill>
                <a:srgbClr val="777777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50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981067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8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Mệnh</a:t>
            </a:r>
            <a:r>
              <a:rPr lang="en-US" sz="3500" b="1" dirty="0"/>
              <a:t> </a:t>
            </a:r>
            <a:r>
              <a:rPr lang="en-US" sz="3500" b="1" dirty="0" err="1"/>
              <a:t>đề</a:t>
            </a:r>
            <a:r>
              <a:rPr lang="en-US" sz="3500" b="1" dirty="0"/>
              <a:t> WHERE </a:t>
            </a:r>
          </a:p>
        </p:txBody>
      </p:sp>
      <p:sp>
        <p:nvSpPr>
          <p:cNvPr id="632835" name="Text Box 3"/>
          <p:cNvSpPr txBox="1">
            <a:spLocks noChangeArrowheads="1"/>
          </p:cNvSpPr>
          <p:nvPr/>
        </p:nvSpPr>
        <p:spPr bwMode="auto">
          <a:xfrm>
            <a:off x="1676400" y="2357438"/>
            <a:ext cx="5181600" cy="160496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dirty="0">
                <a:solidFill>
                  <a:srgbClr val="0000CC"/>
                </a:solidFill>
              </a:rPr>
              <a:t>SELECT</a:t>
            </a:r>
            <a:r>
              <a:rPr lang="en-US" dirty="0"/>
              <a:t> MANV, TENNV </a:t>
            </a:r>
          </a:p>
          <a:p>
            <a:pPr algn="l"/>
            <a:r>
              <a:rPr lang="en-US" dirty="0">
                <a:solidFill>
                  <a:srgbClr val="0000CC"/>
                </a:solidFill>
              </a:rPr>
              <a:t>FROM </a:t>
            </a:r>
            <a:r>
              <a:rPr lang="en-US" dirty="0"/>
              <a:t>NHANVIEN</a:t>
            </a:r>
            <a:endParaRPr lang="en-US" dirty="0">
              <a:solidFill>
                <a:srgbClr val="0000CC"/>
              </a:solidFill>
            </a:endParaRPr>
          </a:p>
          <a:p>
            <a:pPr algn="l"/>
            <a:r>
              <a:rPr lang="en-US" dirty="0">
                <a:solidFill>
                  <a:srgbClr val="0000CC"/>
                </a:solidFill>
              </a:rPr>
              <a:t>WHERE </a:t>
            </a:r>
            <a:r>
              <a:rPr lang="en-US" dirty="0"/>
              <a:t>DCHI </a:t>
            </a:r>
            <a:r>
              <a:rPr lang="en-US" dirty="0">
                <a:solidFill>
                  <a:srgbClr val="777777"/>
                </a:solidFill>
              </a:rPr>
              <a:t>LIKE</a:t>
            </a:r>
            <a:r>
              <a:rPr lang="en-US" dirty="0"/>
              <a:t> </a:t>
            </a:r>
            <a:r>
              <a:rPr lang="en-US" dirty="0">
                <a:solidFill>
                  <a:srgbClr val="CC0000"/>
                </a:solidFill>
              </a:rPr>
              <a:t>‘Nguyen _ _ _ _’</a:t>
            </a:r>
          </a:p>
          <a:p>
            <a:pPr algn="l"/>
            <a:endParaRPr lang="en-US" dirty="0">
              <a:solidFill>
                <a:srgbClr val="777777"/>
              </a:solidFill>
            </a:endParaRPr>
          </a:p>
        </p:txBody>
      </p:sp>
      <p:sp>
        <p:nvSpPr>
          <p:cNvPr id="632836" name="Text Box 4"/>
          <p:cNvSpPr txBox="1">
            <a:spLocks noChangeArrowheads="1"/>
          </p:cNvSpPr>
          <p:nvPr/>
        </p:nvSpPr>
        <p:spPr bwMode="auto">
          <a:xfrm>
            <a:off x="457200" y="1524000"/>
            <a:ext cx="1295400" cy="317500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400" b="1"/>
              <a:t>LIKE</a:t>
            </a:r>
          </a:p>
        </p:txBody>
      </p:sp>
      <p:sp>
        <p:nvSpPr>
          <p:cNvPr id="632837" name="Text Box 5"/>
          <p:cNvSpPr txBox="1">
            <a:spLocks noChangeArrowheads="1"/>
          </p:cNvSpPr>
          <p:nvPr/>
        </p:nvSpPr>
        <p:spPr bwMode="auto">
          <a:xfrm>
            <a:off x="1676400" y="4267200"/>
            <a:ext cx="5181600" cy="160496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>
                <a:solidFill>
                  <a:srgbClr val="0000CC"/>
                </a:solidFill>
              </a:rPr>
              <a:t>SELECT</a:t>
            </a:r>
            <a:r>
              <a:rPr lang="en-US"/>
              <a:t> MANV, TENNV </a:t>
            </a:r>
          </a:p>
          <a:p>
            <a:pPr algn="l"/>
            <a:r>
              <a:rPr lang="en-US">
                <a:solidFill>
                  <a:srgbClr val="0000CC"/>
                </a:solidFill>
              </a:rPr>
              <a:t>FROM </a:t>
            </a:r>
            <a:r>
              <a:rPr lang="en-US"/>
              <a:t>NHANVIEN</a:t>
            </a:r>
            <a:endParaRPr lang="en-US">
              <a:solidFill>
                <a:srgbClr val="0000CC"/>
              </a:solidFill>
            </a:endParaRPr>
          </a:p>
          <a:p>
            <a:pPr algn="l"/>
            <a:r>
              <a:rPr lang="en-US">
                <a:solidFill>
                  <a:srgbClr val="0000CC"/>
                </a:solidFill>
              </a:rPr>
              <a:t>WHERE </a:t>
            </a:r>
            <a:r>
              <a:rPr lang="en-US"/>
              <a:t>DCHI </a:t>
            </a:r>
            <a:r>
              <a:rPr lang="en-US">
                <a:solidFill>
                  <a:srgbClr val="777777"/>
                </a:solidFill>
              </a:rPr>
              <a:t>LIKE</a:t>
            </a:r>
            <a:r>
              <a:rPr lang="en-US"/>
              <a:t> </a:t>
            </a:r>
            <a:r>
              <a:rPr lang="en-US">
                <a:solidFill>
                  <a:srgbClr val="CC0000"/>
                </a:solidFill>
              </a:rPr>
              <a:t>‘Nguyen %’</a:t>
            </a:r>
          </a:p>
          <a:p>
            <a:pPr algn="l"/>
            <a:endParaRPr lang="en-US">
              <a:solidFill>
                <a:srgbClr val="777777"/>
              </a:solidFill>
            </a:endParaRPr>
          </a:p>
        </p:txBody>
      </p:sp>
      <p:sp>
        <p:nvSpPr>
          <p:cNvPr id="632838" name="Line 6"/>
          <p:cNvSpPr>
            <a:spLocks noChangeShapeType="1"/>
          </p:cNvSpPr>
          <p:nvPr/>
        </p:nvSpPr>
        <p:spPr bwMode="auto">
          <a:xfrm>
            <a:off x="4876800" y="5334000"/>
            <a:ext cx="762000" cy="609600"/>
          </a:xfrm>
          <a:prstGeom prst="line">
            <a:avLst/>
          </a:prstGeom>
          <a:noFill/>
          <a:ln w="12700">
            <a:solidFill>
              <a:srgbClr val="777777"/>
            </a:solidFill>
            <a:prstDash val="dash"/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32839" name="Text Box 7"/>
          <p:cNvSpPr txBox="1">
            <a:spLocks noChangeArrowheads="1"/>
          </p:cNvSpPr>
          <p:nvPr/>
        </p:nvSpPr>
        <p:spPr bwMode="auto">
          <a:xfrm>
            <a:off x="5029200" y="6019800"/>
            <a:ext cx="1600200" cy="3048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400" b="1"/>
              <a:t>Chuỗi bất kỳ</a:t>
            </a:r>
          </a:p>
        </p:txBody>
      </p:sp>
      <p:sp>
        <p:nvSpPr>
          <p:cNvPr id="632840" name="Line 8"/>
          <p:cNvSpPr>
            <a:spLocks noChangeShapeType="1"/>
          </p:cNvSpPr>
          <p:nvPr/>
        </p:nvSpPr>
        <p:spPr bwMode="auto">
          <a:xfrm>
            <a:off x="4953000" y="3505200"/>
            <a:ext cx="762000" cy="609600"/>
          </a:xfrm>
          <a:prstGeom prst="line">
            <a:avLst/>
          </a:prstGeom>
          <a:noFill/>
          <a:ln w="12700">
            <a:solidFill>
              <a:srgbClr val="777777"/>
            </a:solidFill>
            <a:prstDash val="dash"/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32841" name="Text Box 9"/>
          <p:cNvSpPr txBox="1">
            <a:spLocks noChangeArrowheads="1"/>
          </p:cNvSpPr>
          <p:nvPr/>
        </p:nvSpPr>
        <p:spPr bwMode="auto">
          <a:xfrm>
            <a:off x="5105400" y="4191000"/>
            <a:ext cx="1600200" cy="3048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400" b="1"/>
              <a:t>Ký tự bất kỳ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51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945724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Mệnh</a:t>
            </a:r>
            <a:r>
              <a:rPr lang="en-US" sz="3500" b="1" dirty="0"/>
              <a:t> </a:t>
            </a:r>
            <a:r>
              <a:rPr lang="en-US" sz="3500" b="1" dirty="0" err="1"/>
              <a:t>đề</a:t>
            </a:r>
            <a:r>
              <a:rPr lang="en-US" sz="3500" b="1" dirty="0"/>
              <a:t> WHERE</a:t>
            </a:r>
          </a:p>
        </p:txBody>
      </p:sp>
      <p:sp>
        <p:nvSpPr>
          <p:cNvPr id="634883" name="Text Box 3"/>
          <p:cNvSpPr txBox="1">
            <a:spLocks noChangeArrowheads="1"/>
          </p:cNvSpPr>
          <p:nvPr/>
        </p:nvSpPr>
        <p:spPr bwMode="auto">
          <a:xfrm>
            <a:off x="1676400" y="2357438"/>
            <a:ext cx="5181600" cy="160496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>
                <a:solidFill>
                  <a:srgbClr val="0000CC"/>
                </a:solidFill>
              </a:rPr>
              <a:t>SELECT</a:t>
            </a:r>
            <a:r>
              <a:rPr lang="en-US"/>
              <a:t> MANV, TENNV </a:t>
            </a:r>
          </a:p>
          <a:p>
            <a:pPr algn="l"/>
            <a:r>
              <a:rPr lang="en-US">
                <a:solidFill>
                  <a:srgbClr val="0000CC"/>
                </a:solidFill>
              </a:rPr>
              <a:t>FROM </a:t>
            </a:r>
            <a:r>
              <a:rPr lang="en-US"/>
              <a:t>NHANVIEN</a:t>
            </a:r>
            <a:endParaRPr lang="en-US">
              <a:solidFill>
                <a:srgbClr val="0000CC"/>
              </a:solidFill>
            </a:endParaRPr>
          </a:p>
          <a:p>
            <a:pPr algn="l"/>
            <a:r>
              <a:rPr lang="en-US">
                <a:solidFill>
                  <a:srgbClr val="0000CC"/>
                </a:solidFill>
              </a:rPr>
              <a:t>WHERE </a:t>
            </a:r>
            <a:r>
              <a:rPr lang="en-US"/>
              <a:t>HONV </a:t>
            </a:r>
            <a:r>
              <a:rPr lang="en-US">
                <a:solidFill>
                  <a:srgbClr val="777777"/>
                </a:solidFill>
              </a:rPr>
              <a:t>LIKE</a:t>
            </a:r>
            <a:r>
              <a:rPr lang="en-US"/>
              <a:t> </a:t>
            </a:r>
            <a:r>
              <a:rPr lang="en-US">
                <a:solidFill>
                  <a:srgbClr val="CC0000"/>
                </a:solidFill>
              </a:rPr>
              <a:t>‘Nguyen’</a:t>
            </a:r>
          </a:p>
          <a:p>
            <a:pPr algn="l"/>
            <a:endParaRPr lang="en-US">
              <a:solidFill>
                <a:srgbClr val="777777"/>
              </a:solidFill>
            </a:endParaRPr>
          </a:p>
        </p:txBody>
      </p:sp>
      <p:sp>
        <p:nvSpPr>
          <p:cNvPr id="634884" name="Text Box 4"/>
          <p:cNvSpPr txBox="1">
            <a:spLocks noChangeArrowheads="1"/>
          </p:cNvSpPr>
          <p:nvPr/>
        </p:nvSpPr>
        <p:spPr bwMode="auto">
          <a:xfrm>
            <a:off x="457200" y="1524000"/>
            <a:ext cx="1295400" cy="317500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400" b="1"/>
              <a:t>NOT LIKE</a:t>
            </a:r>
          </a:p>
        </p:txBody>
      </p:sp>
      <p:sp>
        <p:nvSpPr>
          <p:cNvPr id="634885" name="Text Box 5"/>
          <p:cNvSpPr txBox="1">
            <a:spLocks noChangeArrowheads="1"/>
          </p:cNvSpPr>
          <p:nvPr/>
        </p:nvSpPr>
        <p:spPr bwMode="auto">
          <a:xfrm>
            <a:off x="1676400" y="4267200"/>
            <a:ext cx="5181600" cy="160496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>
                <a:solidFill>
                  <a:srgbClr val="0000CC"/>
                </a:solidFill>
              </a:rPr>
              <a:t>SELECT</a:t>
            </a:r>
            <a:r>
              <a:rPr lang="en-US"/>
              <a:t> MANV, TENNV </a:t>
            </a:r>
          </a:p>
          <a:p>
            <a:pPr algn="l"/>
            <a:r>
              <a:rPr lang="en-US">
                <a:solidFill>
                  <a:srgbClr val="0000CC"/>
                </a:solidFill>
              </a:rPr>
              <a:t>FROM </a:t>
            </a:r>
            <a:r>
              <a:rPr lang="en-US"/>
              <a:t>NHANVIEN</a:t>
            </a:r>
            <a:endParaRPr lang="en-US">
              <a:solidFill>
                <a:srgbClr val="0000CC"/>
              </a:solidFill>
            </a:endParaRPr>
          </a:p>
          <a:p>
            <a:pPr algn="l"/>
            <a:r>
              <a:rPr lang="en-US">
                <a:solidFill>
                  <a:srgbClr val="0000CC"/>
                </a:solidFill>
              </a:rPr>
              <a:t>WHERE</a:t>
            </a:r>
            <a:r>
              <a:rPr lang="en-US"/>
              <a:t> HONV NOT </a:t>
            </a:r>
            <a:r>
              <a:rPr lang="en-US">
                <a:solidFill>
                  <a:srgbClr val="777777"/>
                </a:solidFill>
              </a:rPr>
              <a:t>NOT LIKE</a:t>
            </a:r>
            <a:r>
              <a:rPr lang="en-US"/>
              <a:t> </a:t>
            </a:r>
            <a:r>
              <a:rPr lang="en-US">
                <a:solidFill>
                  <a:srgbClr val="CC0000"/>
                </a:solidFill>
              </a:rPr>
              <a:t>‘Nguyen’</a:t>
            </a:r>
          </a:p>
          <a:p>
            <a:pPr algn="l"/>
            <a:endParaRPr lang="en-US">
              <a:solidFill>
                <a:srgbClr val="777777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52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768805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err="1"/>
              <a:t>Mệnh</a:t>
            </a:r>
            <a:r>
              <a:rPr lang="en-US" sz="3200" b="1" dirty="0"/>
              <a:t> </a:t>
            </a:r>
            <a:r>
              <a:rPr lang="en-US" sz="3200" b="1" dirty="0" err="1"/>
              <a:t>đề</a:t>
            </a:r>
            <a:r>
              <a:rPr lang="en-US" sz="3200" b="1" dirty="0"/>
              <a:t> WHERE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Escape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1524000" y="1954570"/>
            <a:ext cx="5638800" cy="1754326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dirty="0">
                <a:solidFill>
                  <a:srgbClr val="0000CC"/>
                </a:solidFill>
              </a:rPr>
              <a:t>SELECT</a:t>
            </a:r>
            <a:r>
              <a:rPr lang="en-US" dirty="0"/>
              <a:t> MANV, TENNV 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rgbClr val="0000CC"/>
                </a:solidFill>
              </a:rPr>
              <a:t>FROM </a:t>
            </a:r>
            <a:r>
              <a:rPr lang="en-US" dirty="0"/>
              <a:t>NHANVIEN</a:t>
            </a:r>
            <a:endParaRPr lang="en-US" dirty="0">
              <a:solidFill>
                <a:srgbClr val="0000CC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rgbClr val="0000CC"/>
                </a:solidFill>
              </a:rPr>
              <a:t>WHERE </a:t>
            </a:r>
            <a:r>
              <a:rPr lang="en-US" dirty="0"/>
              <a:t>DCHI </a:t>
            </a:r>
            <a:r>
              <a:rPr lang="en-US" dirty="0">
                <a:solidFill>
                  <a:srgbClr val="777777"/>
                </a:solidFill>
              </a:rPr>
              <a:t>LIKE</a:t>
            </a:r>
            <a:r>
              <a:rPr lang="en-US" dirty="0"/>
              <a:t> </a:t>
            </a:r>
            <a:r>
              <a:rPr lang="en-US" dirty="0">
                <a:solidFill>
                  <a:srgbClr val="CC0000"/>
                </a:solidFill>
              </a:rPr>
              <a:t>‘% </a:t>
            </a:r>
            <a:r>
              <a:rPr lang="en-US" dirty="0" err="1">
                <a:solidFill>
                  <a:srgbClr val="CC0000"/>
                </a:solidFill>
              </a:rPr>
              <a:t>Nguyen</a:t>
            </a:r>
            <a:r>
              <a:rPr lang="en-US" b="1" dirty="0" err="1">
                <a:solidFill>
                  <a:srgbClr val="00B050"/>
                </a:solidFill>
              </a:rPr>
              <a:t>s</a:t>
            </a:r>
            <a:r>
              <a:rPr lang="en-US" dirty="0">
                <a:solidFill>
                  <a:srgbClr val="CC0000"/>
                </a:solidFill>
              </a:rPr>
              <a:t>_%’  </a:t>
            </a:r>
            <a:r>
              <a:rPr lang="en-US" dirty="0">
                <a:solidFill>
                  <a:srgbClr val="0000CC"/>
                </a:solidFill>
              </a:rPr>
              <a:t>ESCAPE</a:t>
            </a:r>
            <a:r>
              <a:rPr lang="en-US" dirty="0">
                <a:solidFill>
                  <a:srgbClr val="CC0000"/>
                </a:solidFill>
              </a:rPr>
              <a:t> ‘s’</a:t>
            </a:r>
          </a:p>
          <a:p>
            <a:pPr algn="l">
              <a:lnSpc>
                <a:spcPct val="150000"/>
              </a:lnSpc>
            </a:pPr>
            <a:endParaRPr lang="en-US" dirty="0">
              <a:solidFill>
                <a:srgbClr val="777777"/>
              </a:solidFill>
            </a:endParaRP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4038600" y="3962400"/>
            <a:ext cx="1371600" cy="36671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solidFill>
                  <a:srgbClr val="CC0000"/>
                </a:solidFill>
              </a:rPr>
              <a:t>‘Nguyen_’</a:t>
            </a:r>
          </a:p>
        </p:txBody>
      </p:sp>
      <p:sp>
        <p:nvSpPr>
          <p:cNvPr id="9" name="Line 9"/>
          <p:cNvSpPr>
            <a:spLocks noChangeShapeType="1"/>
          </p:cNvSpPr>
          <p:nvPr/>
        </p:nvSpPr>
        <p:spPr bwMode="auto">
          <a:xfrm>
            <a:off x="4648200" y="3505200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53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894835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9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Mệnh</a:t>
            </a:r>
            <a:r>
              <a:rPr lang="en-US" sz="3500" b="1" dirty="0"/>
              <a:t> </a:t>
            </a:r>
            <a:r>
              <a:rPr lang="en-US" sz="3500" b="1" dirty="0" err="1"/>
              <a:t>đề</a:t>
            </a:r>
            <a:r>
              <a:rPr lang="en-US" sz="3500" b="1" dirty="0"/>
              <a:t> WHERE </a:t>
            </a:r>
          </a:p>
        </p:txBody>
      </p:sp>
      <p:sp>
        <p:nvSpPr>
          <p:cNvPr id="636932" name="Text Box 4"/>
          <p:cNvSpPr txBox="1">
            <a:spLocks noChangeArrowheads="1"/>
          </p:cNvSpPr>
          <p:nvPr/>
        </p:nvSpPr>
        <p:spPr bwMode="auto">
          <a:xfrm>
            <a:off x="457200" y="1524000"/>
            <a:ext cx="1295400" cy="317500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400" b="1"/>
              <a:t>Ngày giờ</a:t>
            </a:r>
          </a:p>
        </p:txBody>
      </p:sp>
      <p:sp>
        <p:nvSpPr>
          <p:cNvPr id="636934" name="Text Box 6"/>
          <p:cNvSpPr txBox="1">
            <a:spLocks noChangeArrowheads="1"/>
          </p:cNvSpPr>
          <p:nvPr/>
        </p:nvSpPr>
        <p:spPr bwMode="auto">
          <a:xfrm>
            <a:off x="990600" y="2389188"/>
            <a:ext cx="7162800" cy="119221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>
                <a:solidFill>
                  <a:srgbClr val="0000CC"/>
                </a:solidFill>
              </a:rPr>
              <a:t>SELECT</a:t>
            </a:r>
            <a:r>
              <a:rPr lang="en-US"/>
              <a:t> MANV, TENNV </a:t>
            </a:r>
          </a:p>
          <a:p>
            <a:pPr algn="l"/>
            <a:r>
              <a:rPr lang="en-US">
                <a:solidFill>
                  <a:srgbClr val="0000CC"/>
                </a:solidFill>
              </a:rPr>
              <a:t>FROM </a:t>
            </a:r>
            <a:r>
              <a:rPr lang="en-US"/>
              <a:t>NHANVIEN</a:t>
            </a:r>
            <a:endParaRPr lang="en-US">
              <a:solidFill>
                <a:srgbClr val="0000CC"/>
              </a:solidFill>
            </a:endParaRPr>
          </a:p>
          <a:p>
            <a:pPr algn="l"/>
            <a:r>
              <a:rPr lang="en-US">
                <a:solidFill>
                  <a:srgbClr val="0000CC"/>
                </a:solidFill>
              </a:rPr>
              <a:t>WHERE</a:t>
            </a:r>
            <a:r>
              <a:rPr lang="en-US"/>
              <a:t> NGSINH </a:t>
            </a:r>
            <a:r>
              <a:rPr lang="en-US">
                <a:solidFill>
                  <a:srgbClr val="777777"/>
                </a:solidFill>
              </a:rPr>
              <a:t>BETWEEN</a:t>
            </a:r>
            <a:r>
              <a:rPr lang="en-US"/>
              <a:t> </a:t>
            </a:r>
            <a:r>
              <a:rPr lang="en-US">
                <a:solidFill>
                  <a:srgbClr val="CC0000"/>
                </a:solidFill>
              </a:rPr>
              <a:t>‘1955-12-08’</a:t>
            </a:r>
            <a:r>
              <a:rPr lang="en-US"/>
              <a:t> </a:t>
            </a:r>
            <a:r>
              <a:rPr lang="en-US">
                <a:solidFill>
                  <a:srgbClr val="777777"/>
                </a:solidFill>
              </a:rPr>
              <a:t>AND</a:t>
            </a:r>
            <a:r>
              <a:rPr lang="en-US"/>
              <a:t> </a:t>
            </a:r>
            <a:r>
              <a:rPr lang="en-US">
                <a:solidFill>
                  <a:srgbClr val="CC0000"/>
                </a:solidFill>
              </a:rPr>
              <a:t>‘1966-07-19’</a:t>
            </a:r>
            <a:endParaRPr lang="en-US">
              <a:solidFill>
                <a:srgbClr val="777777"/>
              </a:solidFill>
            </a:endParaRPr>
          </a:p>
        </p:txBody>
      </p:sp>
      <p:grpSp>
        <p:nvGrpSpPr>
          <p:cNvPr id="636954" name="Group 26"/>
          <p:cNvGrpSpPr>
            <a:grpSpLocks/>
          </p:cNvGrpSpPr>
          <p:nvPr/>
        </p:nvGrpSpPr>
        <p:grpSpPr bwMode="auto">
          <a:xfrm>
            <a:off x="914400" y="4281488"/>
            <a:ext cx="3048000" cy="1128712"/>
            <a:chOff x="720" y="2889"/>
            <a:chExt cx="1920" cy="711"/>
          </a:xfrm>
        </p:grpSpPr>
        <p:sp>
          <p:nvSpPr>
            <p:cNvPr id="636935" name="Text Box 7"/>
            <p:cNvSpPr txBox="1">
              <a:spLocks noChangeArrowheads="1"/>
            </p:cNvSpPr>
            <p:nvPr/>
          </p:nvSpPr>
          <p:spPr bwMode="auto">
            <a:xfrm>
              <a:off x="1728" y="2937"/>
              <a:ext cx="91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YYYY-MM-DD</a:t>
              </a:r>
            </a:p>
          </p:txBody>
        </p:sp>
        <p:sp>
          <p:nvSpPr>
            <p:cNvPr id="636937" name="Text Box 9"/>
            <p:cNvSpPr txBox="1">
              <a:spLocks noChangeArrowheads="1"/>
            </p:cNvSpPr>
            <p:nvPr/>
          </p:nvSpPr>
          <p:spPr bwMode="auto">
            <a:xfrm>
              <a:off x="1728" y="3168"/>
              <a:ext cx="91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MM/DD/YYYY</a:t>
              </a:r>
            </a:p>
          </p:txBody>
        </p:sp>
        <p:sp>
          <p:nvSpPr>
            <p:cNvPr id="636938" name="Text Box 10"/>
            <p:cNvSpPr txBox="1">
              <a:spLocks noChangeArrowheads="1"/>
            </p:cNvSpPr>
            <p:nvPr/>
          </p:nvSpPr>
          <p:spPr bwMode="auto">
            <a:xfrm>
              <a:off x="720" y="2889"/>
              <a:ext cx="1584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en-US">
                  <a:solidFill>
                    <a:srgbClr val="CC0000"/>
                  </a:solidFill>
                </a:rPr>
                <a:t>‘1955-12-08’</a:t>
              </a:r>
            </a:p>
          </p:txBody>
        </p:sp>
        <p:sp>
          <p:nvSpPr>
            <p:cNvPr id="636939" name="Text Box 11"/>
            <p:cNvSpPr txBox="1">
              <a:spLocks noChangeArrowheads="1"/>
            </p:cNvSpPr>
            <p:nvPr/>
          </p:nvSpPr>
          <p:spPr bwMode="auto">
            <a:xfrm>
              <a:off x="720" y="3120"/>
              <a:ext cx="1584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en-US">
                  <a:solidFill>
                    <a:srgbClr val="CC0000"/>
                  </a:solidFill>
                </a:rPr>
                <a:t>’12/08/1955’</a:t>
              </a:r>
            </a:p>
          </p:txBody>
        </p:sp>
        <p:sp>
          <p:nvSpPr>
            <p:cNvPr id="636940" name="Text Box 12"/>
            <p:cNvSpPr txBox="1">
              <a:spLocks noChangeArrowheads="1"/>
            </p:cNvSpPr>
            <p:nvPr/>
          </p:nvSpPr>
          <p:spPr bwMode="auto">
            <a:xfrm>
              <a:off x="720" y="3369"/>
              <a:ext cx="1584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en-US" dirty="0">
                  <a:solidFill>
                    <a:srgbClr val="CC0000"/>
                  </a:solidFill>
                </a:rPr>
                <a:t>‘December 8, 1955’</a:t>
              </a:r>
            </a:p>
          </p:txBody>
        </p:sp>
      </p:grpSp>
      <p:grpSp>
        <p:nvGrpSpPr>
          <p:cNvPr id="636953" name="Group 25"/>
          <p:cNvGrpSpPr>
            <a:grpSpLocks/>
          </p:cNvGrpSpPr>
          <p:nvPr/>
        </p:nvGrpSpPr>
        <p:grpSpPr bwMode="auto">
          <a:xfrm>
            <a:off x="5181600" y="4267200"/>
            <a:ext cx="3048000" cy="747713"/>
            <a:chOff x="3216" y="2889"/>
            <a:chExt cx="1920" cy="471"/>
          </a:xfrm>
        </p:grpSpPr>
        <p:sp>
          <p:nvSpPr>
            <p:cNvPr id="636943" name="Text Box 15"/>
            <p:cNvSpPr txBox="1">
              <a:spLocks noChangeArrowheads="1"/>
            </p:cNvSpPr>
            <p:nvPr/>
          </p:nvSpPr>
          <p:spPr bwMode="auto">
            <a:xfrm>
              <a:off x="4224" y="2937"/>
              <a:ext cx="91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HH:MI:SS</a:t>
              </a:r>
            </a:p>
          </p:txBody>
        </p:sp>
        <p:sp>
          <p:nvSpPr>
            <p:cNvPr id="636945" name="Text Box 17"/>
            <p:cNvSpPr txBox="1">
              <a:spLocks noChangeArrowheads="1"/>
            </p:cNvSpPr>
            <p:nvPr/>
          </p:nvSpPr>
          <p:spPr bwMode="auto">
            <a:xfrm>
              <a:off x="3216" y="2889"/>
              <a:ext cx="1584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en-US">
                  <a:solidFill>
                    <a:srgbClr val="CC0000"/>
                  </a:solidFill>
                </a:rPr>
                <a:t>’17:30:00’</a:t>
              </a:r>
            </a:p>
          </p:txBody>
        </p:sp>
        <p:sp>
          <p:nvSpPr>
            <p:cNvPr id="636949" name="Text Box 21"/>
            <p:cNvSpPr txBox="1">
              <a:spLocks noChangeArrowheads="1"/>
            </p:cNvSpPr>
            <p:nvPr/>
          </p:nvSpPr>
          <p:spPr bwMode="auto">
            <a:xfrm>
              <a:off x="3216" y="3129"/>
              <a:ext cx="1584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en-US">
                  <a:solidFill>
                    <a:srgbClr val="CC0000"/>
                  </a:solidFill>
                </a:rPr>
                <a:t>’05:30 PM’</a:t>
              </a:r>
            </a:p>
          </p:txBody>
        </p:sp>
      </p:grpSp>
      <p:sp>
        <p:nvSpPr>
          <p:cNvPr id="636951" name="Text Box 23"/>
          <p:cNvSpPr txBox="1">
            <a:spLocks noChangeArrowheads="1"/>
          </p:cNvSpPr>
          <p:nvPr/>
        </p:nvSpPr>
        <p:spPr bwMode="auto">
          <a:xfrm>
            <a:off x="3048000" y="5867400"/>
            <a:ext cx="3124200" cy="3667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>
                <a:solidFill>
                  <a:srgbClr val="CC0000"/>
                </a:solidFill>
              </a:rPr>
              <a:t>‘1955-12-08 17:30:00’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54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415453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Mệnh</a:t>
            </a:r>
            <a:r>
              <a:rPr lang="en-US" sz="3500" b="1" dirty="0"/>
              <a:t> </a:t>
            </a:r>
            <a:r>
              <a:rPr lang="en-US" sz="3500" b="1" dirty="0" err="1"/>
              <a:t>đề</a:t>
            </a:r>
            <a:r>
              <a:rPr lang="en-US" sz="3500" b="1" dirty="0"/>
              <a:t> WHERE</a:t>
            </a:r>
          </a:p>
        </p:txBody>
      </p:sp>
      <p:sp>
        <p:nvSpPr>
          <p:cNvPr id="647176" name="Rectangle 8"/>
          <p:cNvSpPr>
            <a:spLocks noGrp="1" noChangeArrowheads="1"/>
          </p:cNvSpPr>
          <p:nvPr>
            <p:ph sz="quarter" idx="1"/>
          </p:nvPr>
        </p:nvSpPr>
        <p:spPr>
          <a:xfrm>
            <a:off x="457200" y="1981200"/>
            <a:ext cx="8229600" cy="4572000"/>
          </a:xfrm>
          <a:noFill/>
          <a:ln/>
        </p:spPr>
        <p:txBody>
          <a:bodyPr/>
          <a:lstStyle/>
          <a:p>
            <a:pPr lvl="1" algn="just">
              <a:lnSpc>
                <a:spcPct val="90000"/>
              </a:lnSpc>
            </a:pPr>
            <a:r>
              <a:rPr lang="en-US" dirty="0" err="1">
                <a:solidFill>
                  <a:schemeClr val="tx1"/>
                </a:solidFill>
              </a:rPr>
              <a:t>Sử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dụng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trong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trường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hợp</a:t>
            </a:r>
            <a:endParaRPr lang="en-US" dirty="0">
              <a:solidFill>
                <a:schemeClr val="tx1"/>
              </a:solidFill>
            </a:endParaRPr>
          </a:p>
          <a:p>
            <a:pPr lvl="2" algn="just">
              <a:lnSpc>
                <a:spcPct val="90000"/>
              </a:lnSpc>
            </a:pP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biết</a:t>
            </a:r>
            <a:r>
              <a:rPr lang="en-US" dirty="0"/>
              <a:t> (value unknown)</a:t>
            </a:r>
          </a:p>
          <a:p>
            <a:pPr lvl="2" algn="just">
              <a:lnSpc>
                <a:spcPct val="90000"/>
              </a:lnSpc>
            </a:pP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(value inapplicable)</a:t>
            </a:r>
          </a:p>
          <a:p>
            <a:pPr lvl="2" algn="just">
              <a:lnSpc>
                <a:spcPct val="90000"/>
              </a:lnSpc>
            </a:pP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tồn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(value withheld)</a:t>
            </a:r>
          </a:p>
          <a:p>
            <a:pPr lvl="1" algn="just">
              <a:lnSpc>
                <a:spcPct val="90000"/>
              </a:lnSpc>
            </a:pPr>
            <a:r>
              <a:rPr lang="en-US" dirty="0" err="1">
                <a:solidFill>
                  <a:schemeClr val="tx1"/>
                </a:solidFill>
              </a:rPr>
              <a:t>Những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biểu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thức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tính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toán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có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liên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quan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đến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giá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trị</a:t>
            </a:r>
            <a:r>
              <a:rPr lang="en-US" dirty="0">
                <a:solidFill>
                  <a:schemeClr val="tx1"/>
                </a:solidFill>
              </a:rPr>
              <a:t> NULL </a:t>
            </a:r>
            <a:r>
              <a:rPr lang="en-US" dirty="0" err="1">
                <a:solidFill>
                  <a:schemeClr val="tx1"/>
                </a:solidFill>
              </a:rPr>
              <a:t>sẽ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cho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ra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kết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quả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là</a:t>
            </a:r>
            <a:r>
              <a:rPr lang="en-US" dirty="0">
                <a:solidFill>
                  <a:schemeClr val="tx1"/>
                </a:solidFill>
              </a:rPr>
              <a:t> NULL</a:t>
            </a:r>
          </a:p>
          <a:p>
            <a:pPr lvl="2" algn="just">
              <a:lnSpc>
                <a:spcPct val="90000"/>
              </a:lnSpc>
            </a:pPr>
            <a:r>
              <a:rPr lang="en-US" dirty="0"/>
              <a:t>x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NULL</a:t>
            </a:r>
          </a:p>
          <a:p>
            <a:pPr lvl="2" algn="just">
              <a:lnSpc>
                <a:spcPct val="90000"/>
              </a:lnSpc>
            </a:pPr>
            <a:r>
              <a:rPr lang="en-US" dirty="0"/>
              <a:t>x + 3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NULL</a:t>
            </a:r>
          </a:p>
          <a:p>
            <a:pPr lvl="2" algn="just">
              <a:lnSpc>
                <a:spcPct val="90000"/>
              </a:lnSpc>
            </a:pPr>
            <a:r>
              <a:rPr lang="en-US" dirty="0"/>
              <a:t>x + 3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lệ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SQL</a:t>
            </a:r>
          </a:p>
          <a:p>
            <a:pPr lvl="1" algn="just">
              <a:lnSpc>
                <a:spcPct val="90000"/>
              </a:lnSpc>
            </a:pPr>
            <a:r>
              <a:rPr lang="en-US" dirty="0" err="1">
                <a:solidFill>
                  <a:schemeClr val="tx1"/>
                </a:solidFill>
              </a:rPr>
              <a:t>Những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biểu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thức</a:t>
            </a:r>
            <a:r>
              <a:rPr lang="en-US" dirty="0">
                <a:solidFill>
                  <a:schemeClr val="tx1"/>
                </a:solidFill>
              </a:rPr>
              <a:t> so </a:t>
            </a:r>
            <a:r>
              <a:rPr lang="en-US" dirty="0" err="1">
                <a:solidFill>
                  <a:schemeClr val="tx1"/>
                </a:solidFill>
              </a:rPr>
              <a:t>sánh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có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liên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quan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đến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giá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trị</a:t>
            </a:r>
            <a:r>
              <a:rPr lang="en-US" dirty="0">
                <a:solidFill>
                  <a:schemeClr val="tx1"/>
                </a:solidFill>
              </a:rPr>
              <a:t> NULL </a:t>
            </a:r>
            <a:r>
              <a:rPr lang="en-US" dirty="0" err="1">
                <a:solidFill>
                  <a:schemeClr val="tx1"/>
                </a:solidFill>
              </a:rPr>
              <a:t>sẽ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cho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ra</a:t>
            </a:r>
            <a:r>
              <a:rPr lang="en-US" dirty="0">
                <a:solidFill>
                  <a:schemeClr val="tx1"/>
                </a:solidFill>
              </a:rPr>
              <a:t>  </a:t>
            </a:r>
            <a:r>
              <a:rPr lang="en-US" dirty="0" err="1">
                <a:solidFill>
                  <a:schemeClr val="tx1"/>
                </a:solidFill>
              </a:rPr>
              <a:t>kết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quả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là</a:t>
            </a:r>
            <a:r>
              <a:rPr lang="en-US" dirty="0">
                <a:solidFill>
                  <a:schemeClr val="tx1"/>
                </a:solidFill>
              </a:rPr>
              <a:t> UNKNOWN</a:t>
            </a:r>
          </a:p>
          <a:p>
            <a:pPr lvl="2" algn="just">
              <a:lnSpc>
                <a:spcPct val="90000"/>
              </a:lnSpc>
            </a:pPr>
            <a:r>
              <a:rPr lang="en-US" dirty="0"/>
              <a:t>x = 3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UNKNOWN</a:t>
            </a:r>
          </a:p>
          <a:p>
            <a:pPr lvl="2" algn="just">
              <a:lnSpc>
                <a:spcPct val="90000"/>
              </a:lnSpc>
            </a:pPr>
            <a:r>
              <a:rPr lang="en-US" dirty="0"/>
              <a:t>x = 3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so </a:t>
            </a:r>
            <a:r>
              <a:rPr lang="en-US" dirty="0" err="1"/>
              <a:t>sánh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lệ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SQL</a:t>
            </a:r>
          </a:p>
        </p:txBody>
      </p:sp>
      <p:sp>
        <p:nvSpPr>
          <p:cNvPr id="647171" name="Text Box 3"/>
          <p:cNvSpPr txBox="1">
            <a:spLocks noChangeArrowheads="1"/>
          </p:cNvSpPr>
          <p:nvPr/>
        </p:nvSpPr>
        <p:spPr bwMode="auto">
          <a:xfrm>
            <a:off x="457200" y="1524000"/>
            <a:ext cx="1295400" cy="317500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400" b="1"/>
              <a:t>NULL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55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237251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9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Mệnh</a:t>
            </a:r>
            <a:r>
              <a:rPr lang="en-US" sz="3500" b="1" dirty="0"/>
              <a:t> </a:t>
            </a:r>
            <a:r>
              <a:rPr lang="en-US" sz="3500" b="1" dirty="0" err="1"/>
              <a:t>đề</a:t>
            </a:r>
            <a:r>
              <a:rPr lang="en-US" sz="3500" b="1" dirty="0"/>
              <a:t> WHERE</a:t>
            </a:r>
          </a:p>
        </p:txBody>
      </p:sp>
      <p:sp>
        <p:nvSpPr>
          <p:cNvPr id="638980" name="Text Box 4"/>
          <p:cNvSpPr txBox="1">
            <a:spLocks noChangeArrowheads="1"/>
          </p:cNvSpPr>
          <p:nvPr/>
        </p:nvSpPr>
        <p:spPr bwMode="auto">
          <a:xfrm>
            <a:off x="457200" y="1524000"/>
            <a:ext cx="1295400" cy="317500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400" b="1"/>
              <a:t>NULL</a:t>
            </a:r>
          </a:p>
        </p:txBody>
      </p:sp>
      <p:sp>
        <p:nvSpPr>
          <p:cNvPr id="638983" name="Text Box 7"/>
          <p:cNvSpPr txBox="1">
            <a:spLocks noChangeArrowheads="1"/>
          </p:cNvSpPr>
          <p:nvPr/>
        </p:nvSpPr>
        <p:spPr bwMode="auto">
          <a:xfrm>
            <a:off x="2286000" y="2209800"/>
            <a:ext cx="3886200" cy="11922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>
                <a:solidFill>
                  <a:srgbClr val="0000CC"/>
                </a:solidFill>
              </a:rPr>
              <a:t>SELECT</a:t>
            </a:r>
            <a:r>
              <a:rPr lang="en-US"/>
              <a:t> MANV, TENNV </a:t>
            </a:r>
          </a:p>
          <a:p>
            <a:pPr algn="l"/>
            <a:r>
              <a:rPr lang="en-US">
                <a:solidFill>
                  <a:srgbClr val="0000CC"/>
                </a:solidFill>
              </a:rPr>
              <a:t>FROM </a:t>
            </a:r>
            <a:r>
              <a:rPr lang="en-US"/>
              <a:t>NHANVIEN</a:t>
            </a:r>
            <a:endParaRPr lang="en-US">
              <a:solidFill>
                <a:srgbClr val="0000CC"/>
              </a:solidFill>
            </a:endParaRPr>
          </a:p>
          <a:p>
            <a:pPr algn="l"/>
            <a:r>
              <a:rPr lang="en-US">
                <a:solidFill>
                  <a:srgbClr val="0000CC"/>
                </a:solidFill>
              </a:rPr>
              <a:t>WHERE</a:t>
            </a:r>
            <a:r>
              <a:rPr lang="en-US"/>
              <a:t> MA_NQL </a:t>
            </a:r>
            <a:r>
              <a:rPr lang="en-US">
                <a:solidFill>
                  <a:srgbClr val="777777"/>
                </a:solidFill>
              </a:rPr>
              <a:t>IS NULL</a:t>
            </a:r>
          </a:p>
        </p:txBody>
      </p:sp>
      <p:sp>
        <p:nvSpPr>
          <p:cNvPr id="638985" name="Text Box 9"/>
          <p:cNvSpPr txBox="1">
            <a:spLocks noChangeArrowheads="1"/>
          </p:cNvSpPr>
          <p:nvPr/>
        </p:nvSpPr>
        <p:spPr bwMode="auto">
          <a:xfrm>
            <a:off x="2286000" y="4065588"/>
            <a:ext cx="3886200" cy="119221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>
                <a:solidFill>
                  <a:srgbClr val="0000CC"/>
                </a:solidFill>
              </a:rPr>
              <a:t>SELECT</a:t>
            </a:r>
            <a:r>
              <a:rPr lang="en-US"/>
              <a:t> MANV, TENNV </a:t>
            </a:r>
          </a:p>
          <a:p>
            <a:pPr algn="l"/>
            <a:r>
              <a:rPr lang="en-US">
                <a:solidFill>
                  <a:srgbClr val="0000CC"/>
                </a:solidFill>
              </a:rPr>
              <a:t>FROM </a:t>
            </a:r>
            <a:r>
              <a:rPr lang="en-US"/>
              <a:t>NHANVIEN</a:t>
            </a:r>
            <a:endParaRPr lang="en-US">
              <a:solidFill>
                <a:srgbClr val="0000CC"/>
              </a:solidFill>
            </a:endParaRPr>
          </a:p>
          <a:p>
            <a:pPr algn="l"/>
            <a:r>
              <a:rPr lang="en-US">
                <a:solidFill>
                  <a:srgbClr val="0000CC"/>
                </a:solidFill>
              </a:rPr>
              <a:t>WHERE</a:t>
            </a:r>
            <a:r>
              <a:rPr lang="en-US"/>
              <a:t> MA_NQL </a:t>
            </a:r>
            <a:r>
              <a:rPr lang="en-US">
                <a:solidFill>
                  <a:srgbClr val="777777"/>
                </a:solidFill>
              </a:rPr>
              <a:t>IS NOT NULL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56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547680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err="1"/>
              <a:t>Mệnh</a:t>
            </a:r>
            <a:r>
              <a:rPr lang="en-US" sz="3200" b="1" dirty="0"/>
              <a:t> </a:t>
            </a:r>
            <a:r>
              <a:rPr lang="en-US" sz="3200" b="1" dirty="0" err="1"/>
              <a:t>đề</a:t>
            </a:r>
            <a:r>
              <a:rPr lang="en-US" sz="3200" b="1" dirty="0"/>
              <a:t> WHERE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mệnh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WHERE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 err="1">
                <a:sym typeface="Wingdings" pitchFamily="2" charset="2"/>
              </a:rPr>
              <a:t>Tương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đương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với</a:t>
            </a:r>
            <a:r>
              <a:rPr lang="en-US" dirty="0">
                <a:sym typeface="Wingdings" pitchFamily="2" charset="2"/>
              </a:rPr>
              <a:t> WHERE (</a:t>
            </a:r>
            <a:r>
              <a:rPr lang="en-US" dirty="0" err="1">
                <a:sym typeface="Wingdings" pitchFamily="2" charset="2"/>
              </a:rPr>
              <a:t>mệnh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đề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luôn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đúng</a:t>
            </a:r>
            <a:r>
              <a:rPr lang="en-US" dirty="0">
                <a:sym typeface="Wingdings" pitchFamily="2" charset="2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514600"/>
            <a:ext cx="838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SELECT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srgbClr val="808080"/>
                </a:solidFill>
              </a:rPr>
              <a:t>*</a:t>
            </a:r>
            <a:r>
              <a:rPr lang="en-US" dirty="0">
                <a:solidFill>
                  <a:prstClr val="black"/>
                </a:solidFill>
              </a:rPr>
              <a:t> </a:t>
            </a:r>
          </a:p>
          <a:p>
            <a:r>
              <a:rPr lang="en-US" dirty="0">
                <a:solidFill>
                  <a:srgbClr val="0000FF"/>
                </a:solidFill>
              </a:rPr>
              <a:t>FROM</a:t>
            </a:r>
            <a:r>
              <a:rPr lang="en-US" dirty="0">
                <a:solidFill>
                  <a:prstClr val="black"/>
                </a:solidFill>
              </a:rPr>
              <a:t> PHONGBAN </a:t>
            </a:r>
          </a:p>
          <a:p>
            <a:r>
              <a:rPr lang="en-US" dirty="0">
                <a:solidFill>
                  <a:srgbClr val="0000FF"/>
                </a:solidFill>
              </a:rPr>
              <a:t>WHERE</a:t>
            </a:r>
            <a:r>
              <a:rPr lang="en-US" dirty="0">
                <a:solidFill>
                  <a:prstClr val="black"/>
                </a:solidFill>
              </a:rPr>
              <a:t> 1</a:t>
            </a:r>
            <a:r>
              <a:rPr lang="en-US" dirty="0">
                <a:solidFill>
                  <a:srgbClr val="808080"/>
                </a:solidFill>
              </a:rPr>
              <a:t>=</a:t>
            </a:r>
            <a:r>
              <a:rPr lang="en-US" dirty="0">
                <a:solidFill>
                  <a:prstClr val="black"/>
                </a:solidFill>
              </a:rPr>
              <a:t>1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57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497659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5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600" b="1" dirty="0" err="1"/>
              <a:t>Mệnh</a:t>
            </a:r>
            <a:r>
              <a:rPr lang="en-US" sz="3600" b="1" dirty="0"/>
              <a:t> </a:t>
            </a:r>
            <a:r>
              <a:rPr lang="en-US" sz="3600" b="1" dirty="0" err="1"/>
              <a:t>đề</a:t>
            </a:r>
            <a:r>
              <a:rPr lang="en-US" sz="3600" b="1" dirty="0"/>
              <a:t> WHERE</a:t>
            </a:r>
            <a:endParaRPr lang="en-US" sz="3500" b="1" dirty="0"/>
          </a:p>
        </p:txBody>
      </p:sp>
      <p:sp>
        <p:nvSpPr>
          <p:cNvPr id="620578" name="Text Box 34"/>
          <p:cNvSpPr txBox="1">
            <a:spLocks noChangeArrowheads="1"/>
          </p:cNvSpPr>
          <p:nvPr/>
        </p:nvSpPr>
        <p:spPr bwMode="auto">
          <a:xfrm>
            <a:off x="1690688" y="2957513"/>
            <a:ext cx="2438400" cy="36671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>
                <a:solidFill>
                  <a:srgbClr val="0000CC"/>
                </a:solidFill>
              </a:rPr>
              <a:t>WHERE</a:t>
            </a:r>
            <a:r>
              <a:rPr lang="en-US"/>
              <a:t> TRUE</a:t>
            </a:r>
          </a:p>
        </p:txBody>
      </p:sp>
      <p:sp>
        <p:nvSpPr>
          <p:cNvPr id="620547" name="Text Box 3"/>
          <p:cNvSpPr txBox="1">
            <a:spLocks noChangeArrowheads="1"/>
          </p:cNvSpPr>
          <p:nvPr/>
        </p:nvSpPr>
        <p:spPr bwMode="auto">
          <a:xfrm>
            <a:off x="2133600" y="2133600"/>
            <a:ext cx="4648200" cy="77946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>
                <a:solidFill>
                  <a:srgbClr val="0000CC"/>
                </a:solidFill>
              </a:rPr>
              <a:t>SELECT </a:t>
            </a:r>
            <a:r>
              <a:rPr lang="en-US"/>
              <a:t>MANV, MAPHG</a:t>
            </a:r>
            <a:endParaRPr lang="en-US">
              <a:solidFill>
                <a:srgbClr val="CC0000"/>
              </a:solidFill>
            </a:endParaRPr>
          </a:p>
          <a:p>
            <a:pPr algn="l"/>
            <a:r>
              <a:rPr lang="en-US">
                <a:solidFill>
                  <a:srgbClr val="0000CC"/>
                </a:solidFill>
              </a:rPr>
              <a:t>FROM</a:t>
            </a:r>
            <a:r>
              <a:rPr lang="en-US"/>
              <a:t> NHANVIEN, PHONGBAN</a:t>
            </a:r>
          </a:p>
        </p:txBody>
      </p:sp>
      <p:grpSp>
        <p:nvGrpSpPr>
          <p:cNvPr id="620576" name="Group 32"/>
          <p:cNvGrpSpPr>
            <a:grpSpLocks/>
          </p:cNvGrpSpPr>
          <p:nvPr/>
        </p:nvGrpSpPr>
        <p:grpSpPr bwMode="auto">
          <a:xfrm>
            <a:off x="2667000" y="3657600"/>
            <a:ext cx="2362200" cy="2590800"/>
            <a:chOff x="1392" y="2352"/>
            <a:chExt cx="1488" cy="1632"/>
          </a:xfrm>
        </p:grpSpPr>
        <p:sp>
          <p:nvSpPr>
            <p:cNvPr id="620557" name="Line 13"/>
            <p:cNvSpPr>
              <a:spLocks noChangeShapeType="1"/>
            </p:cNvSpPr>
            <p:nvPr/>
          </p:nvSpPr>
          <p:spPr bwMode="auto">
            <a:xfrm>
              <a:off x="1392" y="2544"/>
              <a:ext cx="14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20558" name="Text Box 14"/>
            <p:cNvSpPr txBox="1">
              <a:spLocks noChangeArrowheads="1"/>
            </p:cNvSpPr>
            <p:nvPr/>
          </p:nvSpPr>
          <p:spPr bwMode="auto">
            <a:xfrm>
              <a:off x="2208" y="2352"/>
              <a:ext cx="624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MAPHG</a:t>
              </a:r>
            </a:p>
          </p:txBody>
        </p:sp>
        <p:sp>
          <p:nvSpPr>
            <p:cNvPr id="620559" name="Text Box 15"/>
            <p:cNvSpPr txBox="1">
              <a:spLocks noChangeArrowheads="1"/>
            </p:cNvSpPr>
            <p:nvPr/>
          </p:nvSpPr>
          <p:spPr bwMode="auto">
            <a:xfrm>
              <a:off x="2208" y="2592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1</a:t>
              </a:r>
            </a:p>
          </p:txBody>
        </p:sp>
        <p:sp>
          <p:nvSpPr>
            <p:cNvPr id="620560" name="Text Box 16"/>
            <p:cNvSpPr txBox="1">
              <a:spLocks noChangeArrowheads="1"/>
            </p:cNvSpPr>
            <p:nvPr/>
          </p:nvSpPr>
          <p:spPr bwMode="auto">
            <a:xfrm>
              <a:off x="2208" y="2784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4</a:t>
              </a:r>
            </a:p>
          </p:txBody>
        </p:sp>
        <p:sp>
          <p:nvSpPr>
            <p:cNvPr id="620561" name="Text Box 17"/>
            <p:cNvSpPr txBox="1">
              <a:spLocks noChangeArrowheads="1"/>
            </p:cNvSpPr>
            <p:nvPr/>
          </p:nvSpPr>
          <p:spPr bwMode="auto">
            <a:xfrm>
              <a:off x="1488" y="2592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333445555</a:t>
              </a:r>
            </a:p>
          </p:txBody>
        </p:sp>
        <p:sp>
          <p:nvSpPr>
            <p:cNvPr id="620562" name="Text Box 18"/>
            <p:cNvSpPr txBox="1">
              <a:spLocks noChangeArrowheads="1"/>
            </p:cNvSpPr>
            <p:nvPr/>
          </p:nvSpPr>
          <p:spPr bwMode="auto">
            <a:xfrm>
              <a:off x="1488" y="2784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333445555</a:t>
              </a:r>
            </a:p>
          </p:txBody>
        </p:sp>
        <p:sp>
          <p:nvSpPr>
            <p:cNvPr id="620563" name="Text Box 19"/>
            <p:cNvSpPr txBox="1">
              <a:spLocks noChangeArrowheads="1"/>
            </p:cNvSpPr>
            <p:nvPr/>
          </p:nvSpPr>
          <p:spPr bwMode="auto">
            <a:xfrm>
              <a:off x="1488" y="2352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MANV</a:t>
              </a:r>
            </a:p>
          </p:txBody>
        </p:sp>
        <p:sp>
          <p:nvSpPr>
            <p:cNvPr id="620564" name="Line 20"/>
            <p:cNvSpPr>
              <a:spLocks noChangeShapeType="1"/>
            </p:cNvSpPr>
            <p:nvPr/>
          </p:nvSpPr>
          <p:spPr bwMode="auto">
            <a:xfrm>
              <a:off x="2208" y="2352"/>
              <a:ext cx="0" cy="16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20565" name="Text Box 21"/>
            <p:cNvSpPr txBox="1">
              <a:spLocks noChangeArrowheads="1"/>
            </p:cNvSpPr>
            <p:nvPr/>
          </p:nvSpPr>
          <p:spPr bwMode="auto">
            <a:xfrm>
              <a:off x="2208" y="2976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5</a:t>
              </a:r>
            </a:p>
          </p:txBody>
        </p:sp>
        <p:sp>
          <p:nvSpPr>
            <p:cNvPr id="620566" name="Text Box 22"/>
            <p:cNvSpPr txBox="1">
              <a:spLocks noChangeArrowheads="1"/>
            </p:cNvSpPr>
            <p:nvPr/>
          </p:nvSpPr>
          <p:spPr bwMode="auto">
            <a:xfrm>
              <a:off x="2208" y="3168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1</a:t>
              </a:r>
            </a:p>
          </p:txBody>
        </p:sp>
        <p:sp>
          <p:nvSpPr>
            <p:cNvPr id="620567" name="Text Box 23"/>
            <p:cNvSpPr txBox="1">
              <a:spLocks noChangeArrowheads="1"/>
            </p:cNvSpPr>
            <p:nvPr/>
          </p:nvSpPr>
          <p:spPr bwMode="auto">
            <a:xfrm>
              <a:off x="1488" y="3168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987987987</a:t>
              </a:r>
            </a:p>
          </p:txBody>
        </p:sp>
        <p:sp>
          <p:nvSpPr>
            <p:cNvPr id="620568" name="Text Box 24"/>
            <p:cNvSpPr txBox="1">
              <a:spLocks noChangeArrowheads="1"/>
            </p:cNvSpPr>
            <p:nvPr/>
          </p:nvSpPr>
          <p:spPr bwMode="auto">
            <a:xfrm>
              <a:off x="1488" y="3360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987987987</a:t>
              </a:r>
            </a:p>
          </p:txBody>
        </p:sp>
        <p:sp>
          <p:nvSpPr>
            <p:cNvPr id="620569" name="Text Box 25"/>
            <p:cNvSpPr txBox="1">
              <a:spLocks noChangeArrowheads="1"/>
            </p:cNvSpPr>
            <p:nvPr/>
          </p:nvSpPr>
          <p:spPr bwMode="auto">
            <a:xfrm>
              <a:off x="1488" y="2976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333445555</a:t>
              </a:r>
            </a:p>
          </p:txBody>
        </p:sp>
        <p:sp>
          <p:nvSpPr>
            <p:cNvPr id="620571" name="Text Box 27"/>
            <p:cNvSpPr txBox="1">
              <a:spLocks noChangeArrowheads="1"/>
            </p:cNvSpPr>
            <p:nvPr/>
          </p:nvSpPr>
          <p:spPr bwMode="auto">
            <a:xfrm>
              <a:off x="2208" y="3360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4</a:t>
              </a:r>
            </a:p>
          </p:txBody>
        </p:sp>
        <p:sp>
          <p:nvSpPr>
            <p:cNvPr id="620572" name="Text Box 28"/>
            <p:cNvSpPr txBox="1">
              <a:spLocks noChangeArrowheads="1"/>
            </p:cNvSpPr>
            <p:nvPr/>
          </p:nvSpPr>
          <p:spPr bwMode="auto">
            <a:xfrm>
              <a:off x="2208" y="3552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5</a:t>
              </a:r>
            </a:p>
          </p:txBody>
        </p:sp>
        <p:sp>
          <p:nvSpPr>
            <p:cNvPr id="620573" name="Text Box 29"/>
            <p:cNvSpPr txBox="1">
              <a:spLocks noChangeArrowheads="1"/>
            </p:cNvSpPr>
            <p:nvPr/>
          </p:nvSpPr>
          <p:spPr bwMode="auto">
            <a:xfrm>
              <a:off x="1488" y="3552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987987987</a:t>
              </a:r>
            </a:p>
          </p:txBody>
        </p:sp>
        <p:sp>
          <p:nvSpPr>
            <p:cNvPr id="620574" name="Text Box 30"/>
            <p:cNvSpPr txBox="1">
              <a:spLocks noChangeArrowheads="1"/>
            </p:cNvSpPr>
            <p:nvPr/>
          </p:nvSpPr>
          <p:spPr bwMode="auto">
            <a:xfrm>
              <a:off x="1488" y="3744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…</a:t>
              </a:r>
            </a:p>
          </p:txBody>
        </p:sp>
        <p:sp>
          <p:nvSpPr>
            <p:cNvPr id="620575" name="Text Box 31"/>
            <p:cNvSpPr txBox="1">
              <a:spLocks noChangeArrowheads="1"/>
            </p:cNvSpPr>
            <p:nvPr/>
          </p:nvSpPr>
          <p:spPr bwMode="auto">
            <a:xfrm>
              <a:off x="2160" y="3744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…</a:t>
              </a:r>
            </a:p>
          </p:txBody>
        </p:sp>
      </p:grpSp>
      <p:sp>
        <p:nvSpPr>
          <p:cNvPr id="620577" name="Rectangle 33"/>
          <p:cNvSpPr>
            <a:spLocks noChangeArrowheads="1"/>
          </p:cNvSpPr>
          <p:nvPr/>
        </p:nvSpPr>
        <p:spPr bwMode="auto">
          <a:xfrm>
            <a:off x="1752600" y="2895600"/>
            <a:ext cx="4038600" cy="533400"/>
          </a:xfrm>
          <a:prstGeom prst="rect">
            <a:avLst/>
          </a:prstGeom>
          <a:solidFill>
            <a:schemeClr val="bg1">
              <a:alpha val="60001"/>
            </a:schemeClr>
          </a:solidFill>
          <a:ln w="1270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58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060502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Mệnh</a:t>
            </a:r>
            <a:r>
              <a:rPr lang="en-US" b="1" dirty="0"/>
              <a:t> </a:t>
            </a:r>
            <a:r>
              <a:rPr lang="en-US" b="1" dirty="0" err="1"/>
              <a:t>đề</a:t>
            </a:r>
            <a:r>
              <a:rPr lang="en-US" b="1" dirty="0"/>
              <a:t> FROM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cũng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qua </a:t>
            </a:r>
            <a:r>
              <a:rPr lang="en-US" dirty="0" err="1"/>
              <a:t>mệnh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WHERE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mệnh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FROM.</a:t>
            </a:r>
          </a:p>
          <a:p>
            <a:pPr algn="just"/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phòng</a:t>
            </a:r>
            <a:r>
              <a:rPr lang="en-US" dirty="0"/>
              <a:t> ban </a:t>
            </a:r>
            <a:r>
              <a:rPr lang="en-US" dirty="0" err="1"/>
              <a:t>hãy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phòng</a:t>
            </a:r>
            <a:r>
              <a:rPr lang="en-US" dirty="0"/>
              <a:t> ban </a:t>
            </a:r>
            <a:r>
              <a:rPr lang="en-US" dirty="0" err="1"/>
              <a:t>đó</a:t>
            </a:r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609600" y="3763962"/>
            <a:ext cx="8686800" cy="427038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sz="2200" dirty="0">
                <a:sym typeface="Symbol" pitchFamily="18" charset="2"/>
              </a:rPr>
              <a:t>PHONGBAN(TENPHG, </a:t>
            </a:r>
            <a:r>
              <a:rPr lang="en-US" sz="2200" b="1" dirty="0">
                <a:sym typeface="Symbol" pitchFamily="18" charset="2"/>
              </a:rPr>
              <a:t>MAPHG</a:t>
            </a:r>
            <a:r>
              <a:rPr lang="en-US" sz="2200" dirty="0">
                <a:sym typeface="Symbol" pitchFamily="18" charset="2"/>
              </a:rPr>
              <a:t>, TRPHG, NG_NHANCHUC)</a:t>
            </a:r>
            <a:endParaRPr lang="en-US" sz="2200" baseline="-25000" dirty="0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609600" y="4160838"/>
            <a:ext cx="4724400" cy="42703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200" dirty="0">
                <a:sym typeface="Symbol" pitchFamily="18" charset="2"/>
              </a:rPr>
              <a:t>DIADIEMPHG(</a:t>
            </a:r>
            <a:r>
              <a:rPr lang="en-US" sz="2200" b="1" dirty="0">
                <a:sym typeface="Symbol" pitchFamily="18" charset="2"/>
              </a:rPr>
              <a:t>MAPHG</a:t>
            </a:r>
            <a:r>
              <a:rPr lang="en-US" sz="2200" dirty="0">
                <a:sym typeface="Symbol" pitchFamily="18" charset="2"/>
              </a:rPr>
              <a:t>, DIADIEM)</a:t>
            </a:r>
            <a:endParaRPr lang="en-US" sz="2200" baseline="-25000" dirty="0"/>
          </a:p>
        </p:txBody>
      </p:sp>
      <p:grpSp>
        <p:nvGrpSpPr>
          <p:cNvPr id="10" name="Group 14"/>
          <p:cNvGrpSpPr>
            <a:grpSpLocks/>
          </p:cNvGrpSpPr>
          <p:nvPr/>
        </p:nvGrpSpPr>
        <p:grpSpPr bwMode="auto">
          <a:xfrm>
            <a:off x="609600" y="4571528"/>
            <a:ext cx="8382000" cy="549275"/>
            <a:chOff x="384" y="3135"/>
            <a:chExt cx="4080" cy="346"/>
          </a:xfrm>
        </p:grpSpPr>
        <p:sp>
          <p:nvSpPr>
            <p:cNvPr id="11" name="Text Box 12"/>
            <p:cNvSpPr txBox="1">
              <a:spLocks noChangeArrowheads="1"/>
            </p:cNvSpPr>
            <p:nvPr/>
          </p:nvSpPr>
          <p:spPr bwMode="auto">
            <a:xfrm>
              <a:off x="384" y="3135"/>
              <a:ext cx="4080" cy="34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en-US" sz="2200" dirty="0">
                  <a:sym typeface="Symbol" pitchFamily="18" charset="2"/>
                </a:rPr>
                <a:t>KQ </a:t>
              </a:r>
              <a:r>
                <a:rPr lang="en-US" sz="3000" dirty="0">
                  <a:sym typeface="Symbol" pitchFamily="18" charset="2"/>
                </a:rPr>
                <a:t></a:t>
              </a:r>
              <a:r>
                <a:rPr lang="en-US" sz="2200" dirty="0">
                  <a:sym typeface="Symbol" pitchFamily="18" charset="2"/>
                </a:rPr>
                <a:t> PHONGBAN</a:t>
              </a:r>
              <a:r>
                <a:rPr lang="en-US" sz="2200" dirty="0"/>
                <a:t>      </a:t>
              </a:r>
              <a:r>
                <a:rPr lang="en-US" sz="2200" baseline="-25000" dirty="0"/>
                <a:t>MAPHG=MAPHG</a:t>
              </a:r>
              <a:r>
                <a:rPr lang="en-US" sz="2200" dirty="0"/>
                <a:t> DIADIEMPHG</a:t>
              </a:r>
            </a:p>
          </p:txBody>
        </p:sp>
        <p:sp>
          <p:nvSpPr>
            <p:cNvPr id="12" name="AutoShape 13"/>
            <p:cNvSpPr>
              <a:spLocks noChangeArrowheads="1"/>
            </p:cNvSpPr>
            <p:nvPr/>
          </p:nvSpPr>
          <p:spPr bwMode="auto">
            <a:xfrm rot="16200000">
              <a:off x="1644" y="3219"/>
              <a:ext cx="120" cy="192"/>
            </a:xfrm>
            <a:prstGeom prst="flowChartCollat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 dirty="0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609600" y="5172670"/>
            <a:ext cx="838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0000FF"/>
                </a:solidFill>
              </a:rPr>
              <a:t>SELECT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srgbClr val="808080"/>
                </a:solidFill>
              </a:rPr>
              <a:t>*</a:t>
            </a:r>
          </a:p>
          <a:p>
            <a:pPr algn="l"/>
            <a:r>
              <a:rPr lang="en-US" dirty="0">
                <a:solidFill>
                  <a:srgbClr val="0000FF"/>
                </a:solidFill>
              </a:rPr>
              <a:t>FROM</a:t>
            </a:r>
            <a:r>
              <a:rPr lang="en-US" dirty="0">
                <a:solidFill>
                  <a:prstClr val="black"/>
                </a:solidFill>
              </a:rPr>
              <a:t> PHONGBAN</a:t>
            </a:r>
            <a:r>
              <a:rPr lang="en-US" dirty="0">
                <a:solidFill>
                  <a:srgbClr val="808080"/>
                </a:solidFill>
              </a:rPr>
              <a:t>,</a:t>
            </a:r>
            <a:r>
              <a:rPr lang="en-US" dirty="0">
                <a:solidFill>
                  <a:prstClr val="black"/>
                </a:solidFill>
              </a:rPr>
              <a:t> DIADIEMPHG</a:t>
            </a:r>
          </a:p>
          <a:p>
            <a:pPr algn="l"/>
            <a:r>
              <a:rPr lang="en-US" dirty="0">
                <a:solidFill>
                  <a:srgbClr val="0000FF"/>
                </a:solidFill>
              </a:rPr>
              <a:t>WHERE</a:t>
            </a:r>
            <a:r>
              <a:rPr lang="en-US" dirty="0">
                <a:solidFill>
                  <a:prstClr val="black"/>
                </a:solidFill>
              </a:rPr>
              <a:t> PHONGBAN</a:t>
            </a:r>
            <a:r>
              <a:rPr lang="en-US" dirty="0">
                <a:solidFill>
                  <a:srgbClr val="808080"/>
                </a:solidFill>
              </a:rPr>
              <a:t>.</a:t>
            </a:r>
            <a:r>
              <a:rPr lang="en-US" dirty="0">
                <a:solidFill>
                  <a:prstClr val="black"/>
                </a:solidFill>
              </a:rPr>
              <a:t>MAPHG</a:t>
            </a:r>
            <a:r>
              <a:rPr lang="en-US" dirty="0">
                <a:solidFill>
                  <a:srgbClr val="808080"/>
                </a:solidFill>
              </a:rPr>
              <a:t>=</a:t>
            </a:r>
            <a:r>
              <a:rPr lang="en-US" dirty="0">
                <a:solidFill>
                  <a:prstClr val="black"/>
                </a:solidFill>
              </a:rPr>
              <a:t>DIADIEMPHG</a:t>
            </a:r>
            <a:r>
              <a:rPr lang="en-US" dirty="0">
                <a:solidFill>
                  <a:srgbClr val="808080"/>
                </a:solidFill>
              </a:rPr>
              <a:t>.</a:t>
            </a:r>
            <a:r>
              <a:rPr lang="en-US" dirty="0">
                <a:solidFill>
                  <a:prstClr val="black"/>
                </a:solidFill>
              </a:rPr>
              <a:t>MAPHG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59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955488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4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Mệnh</a:t>
            </a:r>
            <a:r>
              <a:rPr lang="en-US" sz="3500" b="1" dirty="0"/>
              <a:t> </a:t>
            </a:r>
            <a:r>
              <a:rPr lang="en-US" sz="3500" b="1" dirty="0" err="1"/>
              <a:t>đề</a:t>
            </a:r>
            <a:r>
              <a:rPr lang="en-US" sz="3500" b="1" dirty="0"/>
              <a:t> FROM</a:t>
            </a:r>
          </a:p>
        </p:txBody>
      </p:sp>
      <p:sp>
        <p:nvSpPr>
          <p:cNvPr id="616451" name="Text Box 3"/>
          <p:cNvSpPr txBox="1">
            <a:spLocks noChangeArrowheads="1"/>
          </p:cNvSpPr>
          <p:nvPr/>
        </p:nvSpPr>
        <p:spPr bwMode="auto">
          <a:xfrm>
            <a:off x="1981200" y="2362200"/>
            <a:ext cx="3733800" cy="11922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>
                <a:solidFill>
                  <a:srgbClr val="0000CC"/>
                </a:solidFill>
              </a:rPr>
              <a:t>SELECT </a:t>
            </a:r>
            <a:r>
              <a:rPr lang="en-US"/>
              <a:t>TENPHG, DIADIEM</a:t>
            </a:r>
            <a:endParaRPr lang="en-US">
              <a:solidFill>
                <a:srgbClr val="CC0000"/>
              </a:solidFill>
            </a:endParaRPr>
          </a:p>
          <a:p>
            <a:pPr algn="l"/>
            <a:r>
              <a:rPr lang="en-US">
                <a:solidFill>
                  <a:srgbClr val="0000CC"/>
                </a:solidFill>
              </a:rPr>
              <a:t>FROM</a:t>
            </a:r>
            <a:r>
              <a:rPr lang="en-US"/>
              <a:t> PHONGBAN, DDIEM_PHG</a:t>
            </a:r>
            <a:endParaRPr lang="en-US">
              <a:solidFill>
                <a:srgbClr val="0000CC"/>
              </a:solidFill>
            </a:endParaRPr>
          </a:p>
          <a:p>
            <a:pPr algn="l"/>
            <a:r>
              <a:rPr lang="en-US">
                <a:solidFill>
                  <a:srgbClr val="0000CC"/>
                </a:solidFill>
              </a:rPr>
              <a:t>WHERE</a:t>
            </a:r>
            <a:r>
              <a:rPr lang="en-US"/>
              <a:t> MAPHG=MAPHG</a:t>
            </a:r>
            <a:endParaRPr lang="en-US">
              <a:solidFill>
                <a:srgbClr val="CC0000"/>
              </a:solidFill>
            </a:endParaRPr>
          </a:p>
        </p:txBody>
      </p:sp>
      <p:sp>
        <p:nvSpPr>
          <p:cNvPr id="616452" name="Text Box 4"/>
          <p:cNvSpPr txBox="1">
            <a:spLocks noChangeArrowheads="1"/>
          </p:cNvSpPr>
          <p:nvPr/>
        </p:nvSpPr>
        <p:spPr bwMode="auto">
          <a:xfrm>
            <a:off x="457200" y="1524000"/>
            <a:ext cx="1295400" cy="317500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400" b="1"/>
              <a:t>Tên bí danh</a:t>
            </a:r>
          </a:p>
        </p:txBody>
      </p:sp>
      <p:grpSp>
        <p:nvGrpSpPr>
          <p:cNvPr id="616468" name="Group 20"/>
          <p:cNvGrpSpPr>
            <a:grpSpLocks/>
          </p:cNvGrpSpPr>
          <p:nvPr/>
        </p:nvGrpSpPr>
        <p:grpSpPr bwMode="auto">
          <a:xfrm>
            <a:off x="3124200" y="3124200"/>
            <a:ext cx="1219200" cy="457200"/>
            <a:chOff x="1753" y="2000"/>
            <a:chExt cx="1359" cy="938"/>
          </a:xfrm>
        </p:grpSpPr>
        <p:sp>
          <p:nvSpPr>
            <p:cNvPr id="616469" name="Freeform 21"/>
            <p:cNvSpPr>
              <a:spLocks/>
            </p:cNvSpPr>
            <p:nvPr/>
          </p:nvSpPr>
          <p:spPr bwMode="auto">
            <a:xfrm>
              <a:off x="1753" y="2000"/>
              <a:ext cx="1359" cy="851"/>
            </a:xfrm>
            <a:custGeom>
              <a:avLst/>
              <a:gdLst/>
              <a:ahLst/>
              <a:cxnLst>
                <a:cxn ang="0">
                  <a:pos x="0" y="851"/>
                </a:cxn>
                <a:cxn ang="0">
                  <a:pos x="421" y="509"/>
                </a:cxn>
                <a:cxn ang="0">
                  <a:pos x="574" y="444"/>
                </a:cxn>
                <a:cxn ang="0">
                  <a:pos x="916" y="262"/>
                </a:cxn>
                <a:cxn ang="0">
                  <a:pos x="1221" y="80"/>
                </a:cxn>
                <a:cxn ang="0">
                  <a:pos x="1308" y="29"/>
                </a:cxn>
                <a:cxn ang="0">
                  <a:pos x="1359" y="0"/>
                </a:cxn>
              </a:cxnLst>
              <a:rect l="0" t="0" r="r" b="b"/>
              <a:pathLst>
                <a:path w="1359" h="851">
                  <a:moveTo>
                    <a:pt x="0" y="851"/>
                  </a:moveTo>
                  <a:cubicBezTo>
                    <a:pt x="91" y="708"/>
                    <a:pt x="273" y="585"/>
                    <a:pt x="421" y="509"/>
                  </a:cubicBezTo>
                  <a:cubicBezTo>
                    <a:pt x="467" y="485"/>
                    <a:pt x="530" y="471"/>
                    <a:pt x="574" y="444"/>
                  </a:cubicBezTo>
                  <a:cubicBezTo>
                    <a:pt x="684" y="377"/>
                    <a:pt x="802" y="323"/>
                    <a:pt x="916" y="262"/>
                  </a:cubicBezTo>
                  <a:cubicBezTo>
                    <a:pt x="1021" y="206"/>
                    <a:pt x="1117" y="137"/>
                    <a:pt x="1221" y="80"/>
                  </a:cubicBezTo>
                  <a:cubicBezTo>
                    <a:pt x="1250" y="64"/>
                    <a:pt x="1279" y="46"/>
                    <a:pt x="1308" y="29"/>
                  </a:cubicBezTo>
                  <a:cubicBezTo>
                    <a:pt x="1325" y="19"/>
                    <a:pt x="1359" y="0"/>
                    <a:pt x="1359" y="0"/>
                  </a:cubicBez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470" name="Freeform 22"/>
            <p:cNvSpPr>
              <a:spLocks/>
            </p:cNvSpPr>
            <p:nvPr/>
          </p:nvSpPr>
          <p:spPr bwMode="auto">
            <a:xfrm>
              <a:off x="2022" y="2146"/>
              <a:ext cx="1018" cy="79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67" y="87"/>
                </a:cxn>
                <a:cxn ang="0">
                  <a:pos x="312" y="174"/>
                </a:cxn>
                <a:cxn ang="0">
                  <a:pos x="363" y="218"/>
                </a:cxn>
                <a:cxn ang="0">
                  <a:pos x="654" y="458"/>
                </a:cxn>
                <a:cxn ang="0">
                  <a:pos x="749" y="552"/>
                </a:cxn>
                <a:cxn ang="0">
                  <a:pos x="858" y="632"/>
                </a:cxn>
                <a:cxn ang="0">
                  <a:pos x="909" y="691"/>
                </a:cxn>
                <a:cxn ang="0">
                  <a:pos x="960" y="727"/>
                </a:cxn>
                <a:cxn ang="0">
                  <a:pos x="1018" y="792"/>
                </a:cxn>
              </a:cxnLst>
              <a:rect l="0" t="0" r="r" b="b"/>
              <a:pathLst>
                <a:path w="1018" h="792">
                  <a:moveTo>
                    <a:pt x="0" y="0"/>
                  </a:moveTo>
                  <a:cubicBezTo>
                    <a:pt x="103" y="28"/>
                    <a:pt x="87" y="33"/>
                    <a:pt x="167" y="87"/>
                  </a:cubicBezTo>
                  <a:cubicBezTo>
                    <a:pt x="213" y="118"/>
                    <a:pt x="265" y="145"/>
                    <a:pt x="312" y="174"/>
                  </a:cubicBezTo>
                  <a:cubicBezTo>
                    <a:pt x="412" y="236"/>
                    <a:pt x="278" y="158"/>
                    <a:pt x="363" y="218"/>
                  </a:cubicBezTo>
                  <a:cubicBezTo>
                    <a:pt x="466" y="291"/>
                    <a:pt x="560" y="373"/>
                    <a:pt x="654" y="458"/>
                  </a:cubicBezTo>
                  <a:cubicBezTo>
                    <a:pt x="687" y="488"/>
                    <a:pt x="713" y="526"/>
                    <a:pt x="749" y="552"/>
                  </a:cubicBezTo>
                  <a:cubicBezTo>
                    <a:pt x="785" y="579"/>
                    <a:pt x="829" y="598"/>
                    <a:pt x="858" y="632"/>
                  </a:cubicBezTo>
                  <a:cubicBezTo>
                    <a:pt x="875" y="652"/>
                    <a:pt x="890" y="673"/>
                    <a:pt x="909" y="691"/>
                  </a:cubicBezTo>
                  <a:cubicBezTo>
                    <a:pt x="924" y="705"/>
                    <a:pt x="945" y="713"/>
                    <a:pt x="960" y="727"/>
                  </a:cubicBezTo>
                  <a:cubicBezTo>
                    <a:pt x="981" y="746"/>
                    <a:pt x="997" y="772"/>
                    <a:pt x="1018" y="792"/>
                  </a:cubicBez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16472" name="Text Box 24"/>
          <p:cNvSpPr txBox="1">
            <a:spLocks noChangeArrowheads="1"/>
          </p:cNvSpPr>
          <p:nvPr/>
        </p:nvSpPr>
        <p:spPr bwMode="auto">
          <a:xfrm>
            <a:off x="1981200" y="4495800"/>
            <a:ext cx="4648200" cy="11922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>
                <a:solidFill>
                  <a:srgbClr val="0000CC"/>
                </a:solidFill>
              </a:rPr>
              <a:t>SELECT </a:t>
            </a:r>
            <a:r>
              <a:rPr lang="en-US"/>
              <a:t>TENNV, NGSINH, TENTN, NGSINH</a:t>
            </a:r>
            <a:endParaRPr lang="en-US">
              <a:solidFill>
                <a:srgbClr val="CC0000"/>
              </a:solidFill>
            </a:endParaRPr>
          </a:p>
          <a:p>
            <a:pPr algn="l"/>
            <a:r>
              <a:rPr lang="en-US">
                <a:solidFill>
                  <a:srgbClr val="0000CC"/>
                </a:solidFill>
              </a:rPr>
              <a:t>FROM</a:t>
            </a:r>
            <a:r>
              <a:rPr lang="en-US"/>
              <a:t> NHANVIEN, THANNHAN</a:t>
            </a:r>
            <a:endParaRPr lang="en-US">
              <a:solidFill>
                <a:srgbClr val="0000CC"/>
              </a:solidFill>
            </a:endParaRPr>
          </a:p>
          <a:p>
            <a:pPr algn="l"/>
            <a:r>
              <a:rPr lang="en-US">
                <a:solidFill>
                  <a:srgbClr val="0000CC"/>
                </a:solidFill>
              </a:rPr>
              <a:t>WHERE</a:t>
            </a:r>
            <a:r>
              <a:rPr lang="en-US"/>
              <a:t> MANV=MA_NVIEN</a:t>
            </a:r>
            <a:endParaRPr lang="en-US">
              <a:solidFill>
                <a:srgbClr val="CC0000"/>
              </a:solidFill>
            </a:endParaRPr>
          </a:p>
        </p:txBody>
      </p:sp>
      <p:grpSp>
        <p:nvGrpSpPr>
          <p:cNvPr id="616473" name="Group 25"/>
          <p:cNvGrpSpPr>
            <a:grpSpLocks/>
          </p:cNvGrpSpPr>
          <p:nvPr/>
        </p:nvGrpSpPr>
        <p:grpSpPr bwMode="auto">
          <a:xfrm>
            <a:off x="3810000" y="4495800"/>
            <a:ext cx="762000" cy="381000"/>
            <a:chOff x="1753" y="2000"/>
            <a:chExt cx="1359" cy="938"/>
          </a:xfrm>
        </p:grpSpPr>
        <p:sp>
          <p:nvSpPr>
            <p:cNvPr id="616474" name="Freeform 26"/>
            <p:cNvSpPr>
              <a:spLocks/>
            </p:cNvSpPr>
            <p:nvPr/>
          </p:nvSpPr>
          <p:spPr bwMode="auto">
            <a:xfrm>
              <a:off x="1753" y="2000"/>
              <a:ext cx="1359" cy="851"/>
            </a:xfrm>
            <a:custGeom>
              <a:avLst/>
              <a:gdLst/>
              <a:ahLst/>
              <a:cxnLst>
                <a:cxn ang="0">
                  <a:pos x="0" y="851"/>
                </a:cxn>
                <a:cxn ang="0">
                  <a:pos x="421" y="509"/>
                </a:cxn>
                <a:cxn ang="0">
                  <a:pos x="574" y="444"/>
                </a:cxn>
                <a:cxn ang="0">
                  <a:pos x="916" y="262"/>
                </a:cxn>
                <a:cxn ang="0">
                  <a:pos x="1221" y="80"/>
                </a:cxn>
                <a:cxn ang="0">
                  <a:pos x="1308" y="29"/>
                </a:cxn>
                <a:cxn ang="0">
                  <a:pos x="1359" y="0"/>
                </a:cxn>
              </a:cxnLst>
              <a:rect l="0" t="0" r="r" b="b"/>
              <a:pathLst>
                <a:path w="1359" h="851">
                  <a:moveTo>
                    <a:pt x="0" y="851"/>
                  </a:moveTo>
                  <a:cubicBezTo>
                    <a:pt x="91" y="708"/>
                    <a:pt x="273" y="585"/>
                    <a:pt x="421" y="509"/>
                  </a:cubicBezTo>
                  <a:cubicBezTo>
                    <a:pt x="467" y="485"/>
                    <a:pt x="530" y="471"/>
                    <a:pt x="574" y="444"/>
                  </a:cubicBezTo>
                  <a:cubicBezTo>
                    <a:pt x="684" y="377"/>
                    <a:pt x="802" y="323"/>
                    <a:pt x="916" y="262"/>
                  </a:cubicBezTo>
                  <a:cubicBezTo>
                    <a:pt x="1021" y="206"/>
                    <a:pt x="1117" y="137"/>
                    <a:pt x="1221" y="80"/>
                  </a:cubicBezTo>
                  <a:cubicBezTo>
                    <a:pt x="1250" y="64"/>
                    <a:pt x="1279" y="46"/>
                    <a:pt x="1308" y="29"/>
                  </a:cubicBezTo>
                  <a:cubicBezTo>
                    <a:pt x="1325" y="19"/>
                    <a:pt x="1359" y="0"/>
                    <a:pt x="1359" y="0"/>
                  </a:cubicBez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475" name="Freeform 27"/>
            <p:cNvSpPr>
              <a:spLocks/>
            </p:cNvSpPr>
            <p:nvPr/>
          </p:nvSpPr>
          <p:spPr bwMode="auto">
            <a:xfrm>
              <a:off x="2022" y="2146"/>
              <a:ext cx="1018" cy="79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67" y="87"/>
                </a:cxn>
                <a:cxn ang="0">
                  <a:pos x="312" y="174"/>
                </a:cxn>
                <a:cxn ang="0">
                  <a:pos x="363" y="218"/>
                </a:cxn>
                <a:cxn ang="0">
                  <a:pos x="654" y="458"/>
                </a:cxn>
                <a:cxn ang="0">
                  <a:pos x="749" y="552"/>
                </a:cxn>
                <a:cxn ang="0">
                  <a:pos x="858" y="632"/>
                </a:cxn>
                <a:cxn ang="0">
                  <a:pos x="909" y="691"/>
                </a:cxn>
                <a:cxn ang="0">
                  <a:pos x="960" y="727"/>
                </a:cxn>
                <a:cxn ang="0">
                  <a:pos x="1018" y="792"/>
                </a:cxn>
              </a:cxnLst>
              <a:rect l="0" t="0" r="r" b="b"/>
              <a:pathLst>
                <a:path w="1018" h="792">
                  <a:moveTo>
                    <a:pt x="0" y="0"/>
                  </a:moveTo>
                  <a:cubicBezTo>
                    <a:pt x="103" y="28"/>
                    <a:pt x="87" y="33"/>
                    <a:pt x="167" y="87"/>
                  </a:cubicBezTo>
                  <a:cubicBezTo>
                    <a:pt x="213" y="118"/>
                    <a:pt x="265" y="145"/>
                    <a:pt x="312" y="174"/>
                  </a:cubicBezTo>
                  <a:cubicBezTo>
                    <a:pt x="412" y="236"/>
                    <a:pt x="278" y="158"/>
                    <a:pt x="363" y="218"/>
                  </a:cubicBezTo>
                  <a:cubicBezTo>
                    <a:pt x="466" y="291"/>
                    <a:pt x="560" y="373"/>
                    <a:pt x="654" y="458"/>
                  </a:cubicBezTo>
                  <a:cubicBezTo>
                    <a:pt x="687" y="488"/>
                    <a:pt x="713" y="526"/>
                    <a:pt x="749" y="552"/>
                  </a:cubicBezTo>
                  <a:cubicBezTo>
                    <a:pt x="785" y="579"/>
                    <a:pt x="829" y="598"/>
                    <a:pt x="858" y="632"/>
                  </a:cubicBezTo>
                  <a:cubicBezTo>
                    <a:pt x="875" y="652"/>
                    <a:pt x="890" y="673"/>
                    <a:pt x="909" y="691"/>
                  </a:cubicBezTo>
                  <a:cubicBezTo>
                    <a:pt x="924" y="705"/>
                    <a:pt x="945" y="713"/>
                    <a:pt x="960" y="727"/>
                  </a:cubicBezTo>
                  <a:cubicBezTo>
                    <a:pt x="981" y="746"/>
                    <a:pt x="997" y="772"/>
                    <a:pt x="1018" y="792"/>
                  </a:cubicBez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16477" name="Group 29"/>
          <p:cNvGrpSpPr>
            <a:grpSpLocks/>
          </p:cNvGrpSpPr>
          <p:nvPr/>
        </p:nvGrpSpPr>
        <p:grpSpPr bwMode="auto">
          <a:xfrm>
            <a:off x="5715000" y="4495800"/>
            <a:ext cx="762000" cy="381000"/>
            <a:chOff x="1753" y="2000"/>
            <a:chExt cx="1359" cy="938"/>
          </a:xfrm>
        </p:grpSpPr>
        <p:sp>
          <p:nvSpPr>
            <p:cNvPr id="616478" name="Freeform 30"/>
            <p:cNvSpPr>
              <a:spLocks/>
            </p:cNvSpPr>
            <p:nvPr/>
          </p:nvSpPr>
          <p:spPr bwMode="auto">
            <a:xfrm>
              <a:off x="1753" y="2000"/>
              <a:ext cx="1359" cy="851"/>
            </a:xfrm>
            <a:custGeom>
              <a:avLst/>
              <a:gdLst/>
              <a:ahLst/>
              <a:cxnLst>
                <a:cxn ang="0">
                  <a:pos x="0" y="851"/>
                </a:cxn>
                <a:cxn ang="0">
                  <a:pos x="421" y="509"/>
                </a:cxn>
                <a:cxn ang="0">
                  <a:pos x="574" y="444"/>
                </a:cxn>
                <a:cxn ang="0">
                  <a:pos x="916" y="262"/>
                </a:cxn>
                <a:cxn ang="0">
                  <a:pos x="1221" y="80"/>
                </a:cxn>
                <a:cxn ang="0">
                  <a:pos x="1308" y="29"/>
                </a:cxn>
                <a:cxn ang="0">
                  <a:pos x="1359" y="0"/>
                </a:cxn>
              </a:cxnLst>
              <a:rect l="0" t="0" r="r" b="b"/>
              <a:pathLst>
                <a:path w="1359" h="851">
                  <a:moveTo>
                    <a:pt x="0" y="851"/>
                  </a:moveTo>
                  <a:cubicBezTo>
                    <a:pt x="91" y="708"/>
                    <a:pt x="273" y="585"/>
                    <a:pt x="421" y="509"/>
                  </a:cubicBezTo>
                  <a:cubicBezTo>
                    <a:pt x="467" y="485"/>
                    <a:pt x="530" y="471"/>
                    <a:pt x="574" y="444"/>
                  </a:cubicBezTo>
                  <a:cubicBezTo>
                    <a:pt x="684" y="377"/>
                    <a:pt x="802" y="323"/>
                    <a:pt x="916" y="262"/>
                  </a:cubicBezTo>
                  <a:cubicBezTo>
                    <a:pt x="1021" y="206"/>
                    <a:pt x="1117" y="137"/>
                    <a:pt x="1221" y="80"/>
                  </a:cubicBezTo>
                  <a:cubicBezTo>
                    <a:pt x="1250" y="64"/>
                    <a:pt x="1279" y="46"/>
                    <a:pt x="1308" y="29"/>
                  </a:cubicBezTo>
                  <a:cubicBezTo>
                    <a:pt x="1325" y="19"/>
                    <a:pt x="1359" y="0"/>
                    <a:pt x="1359" y="0"/>
                  </a:cubicBez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479" name="Freeform 31"/>
            <p:cNvSpPr>
              <a:spLocks/>
            </p:cNvSpPr>
            <p:nvPr/>
          </p:nvSpPr>
          <p:spPr bwMode="auto">
            <a:xfrm>
              <a:off x="2022" y="2146"/>
              <a:ext cx="1018" cy="79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67" y="87"/>
                </a:cxn>
                <a:cxn ang="0">
                  <a:pos x="312" y="174"/>
                </a:cxn>
                <a:cxn ang="0">
                  <a:pos x="363" y="218"/>
                </a:cxn>
                <a:cxn ang="0">
                  <a:pos x="654" y="458"/>
                </a:cxn>
                <a:cxn ang="0">
                  <a:pos x="749" y="552"/>
                </a:cxn>
                <a:cxn ang="0">
                  <a:pos x="858" y="632"/>
                </a:cxn>
                <a:cxn ang="0">
                  <a:pos x="909" y="691"/>
                </a:cxn>
                <a:cxn ang="0">
                  <a:pos x="960" y="727"/>
                </a:cxn>
                <a:cxn ang="0">
                  <a:pos x="1018" y="792"/>
                </a:cxn>
              </a:cxnLst>
              <a:rect l="0" t="0" r="r" b="b"/>
              <a:pathLst>
                <a:path w="1018" h="792">
                  <a:moveTo>
                    <a:pt x="0" y="0"/>
                  </a:moveTo>
                  <a:cubicBezTo>
                    <a:pt x="103" y="28"/>
                    <a:pt x="87" y="33"/>
                    <a:pt x="167" y="87"/>
                  </a:cubicBezTo>
                  <a:cubicBezTo>
                    <a:pt x="213" y="118"/>
                    <a:pt x="265" y="145"/>
                    <a:pt x="312" y="174"/>
                  </a:cubicBezTo>
                  <a:cubicBezTo>
                    <a:pt x="412" y="236"/>
                    <a:pt x="278" y="158"/>
                    <a:pt x="363" y="218"/>
                  </a:cubicBezTo>
                  <a:cubicBezTo>
                    <a:pt x="466" y="291"/>
                    <a:pt x="560" y="373"/>
                    <a:pt x="654" y="458"/>
                  </a:cubicBezTo>
                  <a:cubicBezTo>
                    <a:pt x="687" y="488"/>
                    <a:pt x="713" y="526"/>
                    <a:pt x="749" y="552"/>
                  </a:cubicBezTo>
                  <a:cubicBezTo>
                    <a:pt x="785" y="579"/>
                    <a:pt x="829" y="598"/>
                    <a:pt x="858" y="632"/>
                  </a:cubicBezTo>
                  <a:cubicBezTo>
                    <a:pt x="875" y="652"/>
                    <a:pt x="890" y="673"/>
                    <a:pt x="909" y="691"/>
                  </a:cubicBezTo>
                  <a:cubicBezTo>
                    <a:pt x="924" y="705"/>
                    <a:pt x="945" y="713"/>
                    <a:pt x="960" y="727"/>
                  </a:cubicBezTo>
                  <a:cubicBezTo>
                    <a:pt x="981" y="746"/>
                    <a:pt x="997" y="772"/>
                    <a:pt x="1018" y="792"/>
                  </a:cubicBez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60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203124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4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Mệnh</a:t>
            </a:r>
            <a:r>
              <a:rPr lang="en-US" sz="3500" b="1" dirty="0"/>
              <a:t> </a:t>
            </a:r>
            <a:r>
              <a:rPr lang="en-US" sz="3500" b="1" dirty="0" err="1"/>
              <a:t>đề</a:t>
            </a:r>
            <a:r>
              <a:rPr lang="en-US" sz="3500" b="1" dirty="0"/>
              <a:t> FROM</a:t>
            </a:r>
          </a:p>
        </p:txBody>
      </p:sp>
      <p:sp>
        <p:nvSpPr>
          <p:cNvPr id="616452" name="Text Box 4"/>
          <p:cNvSpPr txBox="1">
            <a:spLocks noChangeArrowheads="1"/>
          </p:cNvSpPr>
          <p:nvPr/>
        </p:nvSpPr>
        <p:spPr bwMode="auto">
          <a:xfrm>
            <a:off x="457200" y="1524000"/>
            <a:ext cx="1295400" cy="317500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400" b="1"/>
              <a:t>Tên bí danh</a:t>
            </a:r>
          </a:p>
        </p:txBody>
      </p:sp>
      <p:sp>
        <p:nvSpPr>
          <p:cNvPr id="616471" name="Text Box 23"/>
          <p:cNvSpPr txBox="1">
            <a:spLocks noChangeArrowheads="1"/>
          </p:cNvSpPr>
          <p:nvPr/>
        </p:nvSpPr>
        <p:spPr bwMode="auto">
          <a:xfrm>
            <a:off x="1981200" y="2346063"/>
            <a:ext cx="5181600" cy="11922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dirty="0">
                <a:solidFill>
                  <a:srgbClr val="0000CC"/>
                </a:solidFill>
              </a:rPr>
              <a:t>SELECT </a:t>
            </a:r>
            <a:r>
              <a:rPr lang="en-US" dirty="0"/>
              <a:t>TENPHG, DIADIEM</a:t>
            </a:r>
            <a:endParaRPr lang="en-US" dirty="0">
              <a:solidFill>
                <a:srgbClr val="CC0000"/>
              </a:solidFill>
            </a:endParaRPr>
          </a:p>
          <a:p>
            <a:pPr algn="l"/>
            <a:r>
              <a:rPr lang="en-US" dirty="0">
                <a:solidFill>
                  <a:srgbClr val="0000CC"/>
                </a:solidFill>
              </a:rPr>
              <a:t>FROM</a:t>
            </a:r>
            <a:r>
              <a:rPr lang="en-US" dirty="0"/>
              <a:t> PHONGBAN </a:t>
            </a:r>
            <a:r>
              <a:rPr lang="en-US" dirty="0">
                <a:solidFill>
                  <a:srgbClr val="0000CC"/>
                </a:solidFill>
              </a:rPr>
              <a:t>AS</a:t>
            </a:r>
            <a:r>
              <a:rPr lang="en-US" dirty="0"/>
              <a:t> PB, DDIEM_PHG </a:t>
            </a:r>
            <a:r>
              <a:rPr lang="en-US" dirty="0">
                <a:solidFill>
                  <a:srgbClr val="0000CC"/>
                </a:solidFill>
              </a:rPr>
              <a:t>AS</a:t>
            </a:r>
            <a:r>
              <a:rPr lang="en-US" dirty="0"/>
              <a:t> DD</a:t>
            </a:r>
            <a:endParaRPr lang="en-US" dirty="0">
              <a:solidFill>
                <a:srgbClr val="0000CC"/>
              </a:solidFill>
            </a:endParaRPr>
          </a:p>
          <a:p>
            <a:pPr algn="l"/>
            <a:r>
              <a:rPr lang="en-US" dirty="0">
                <a:solidFill>
                  <a:srgbClr val="0000CC"/>
                </a:solidFill>
              </a:rPr>
              <a:t>WHERE</a:t>
            </a:r>
            <a:r>
              <a:rPr lang="en-US" dirty="0"/>
              <a:t> PB.MAPHG=DD.MAPHG</a:t>
            </a:r>
            <a:endParaRPr lang="en-US" dirty="0">
              <a:solidFill>
                <a:srgbClr val="CC0000"/>
              </a:solidFill>
            </a:endParaRPr>
          </a:p>
        </p:txBody>
      </p:sp>
      <p:sp>
        <p:nvSpPr>
          <p:cNvPr id="616476" name="Text Box 28"/>
          <p:cNvSpPr txBox="1">
            <a:spLocks noChangeArrowheads="1"/>
          </p:cNvSpPr>
          <p:nvPr/>
        </p:nvSpPr>
        <p:spPr bwMode="auto">
          <a:xfrm>
            <a:off x="1999488" y="3847297"/>
            <a:ext cx="5638800" cy="11922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dirty="0">
                <a:solidFill>
                  <a:srgbClr val="0000CC"/>
                </a:solidFill>
              </a:rPr>
              <a:t>SELECT </a:t>
            </a:r>
            <a:r>
              <a:rPr lang="en-US" dirty="0"/>
              <a:t>TENNV, N.NGSINH, TENTN, TN.NGSINH</a:t>
            </a:r>
            <a:endParaRPr lang="en-US" dirty="0">
              <a:solidFill>
                <a:srgbClr val="CC0000"/>
              </a:solidFill>
            </a:endParaRPr>
          </a:p>
          <a:p>
            <a:pPr algn="l"/>
            <a:r>
              <a:rPr lang="en-US" dirty="0">
                <a:solidFill>
                  <a:srgbClr val="0000CC"/>
                </a:solidFill>
              </a:rPr>
              <a:t>FROM</a:t>
            </a:r>
            <a:r>
              <a:rPr lang="en-US" dirty="0"/>
              <a:t> NHANVIEN NV, THANNHAN TN</a:t>
            </a:r>
            <a:endParaRPr lang="en-US" dirty="0">
              <a:solidFill>
                <a:srgbClr val="0000CC"/>
              </a:solidFill>
            </a:endParaRPr>
          </a:p>
          <a:p>
            <a:pPr algn="l"/>
            <a:r>
              <a:rPr lang="en-US" dirty="0">
                <a:solidFill>
                  <a:srgbClr val="0000CC"/>
                </a:solidFill>
              </a:rPr>
              <a:t>WHERE</a:t>
            </a:r>
            <a:r>
              <a:rPr lang="en-US" dirty="0"/>
              <a:t> MANV=MA_NVIEN</a:t>
            </a:r>
            <a:endParaRPr lang="en-US" dirty="0">
              <a:solidFill>
                <a:srgbClr val="CC0000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61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129764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457200"/>
            <a:ext cx="7848600" cy="5744132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ADB3E4-BBE8-46D3-94D4-4227260B0B26}" type="slidenum">
              <a:rPr lang="en-US" altLang="en-US" smtClean="0"/>
              <a:pPr>
                <a:defRPr/>
              </a:pPr>
              <a:t>62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738263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1</a:t>
            </a:r>
          </a:p>
        </p:txBody>
      </p:sp>
      <p:sp>
        <p:nvSpPr>
          <p:cNvPr id="649230" name="Rectangle 14"/>
          <p:cNvSpPr>
            <a:spLocks noGrp="1" noChangeArrowheads="1"/>
          </p:cNvSpPr>
          <p:nvPr>
            <p:ph sz="quarter" idx="1"/>
          </p:nvPr>
        </p:nvSpPr>
        <p:spPr>
          <a:xfrm>
            <a:off x="457200" y="1676400"/>
            <a:ext cx="8229600" cy="4454525"/>
          </a:xfrm>
          <a:noFill/>
          <a:ln/>
        </p:spPr>
        <p:txBody>
          <a:bodyPr/>
          <a:lstStyle/>
          <a:p>
            <a:pPr algn="just"/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ở ‘Ha </a:t>
            </a:r>
            <a:r>
              <a:rPr lang="en-US" dirty="0" err="1"/>
              <a:t>Noi</a:t>
            </a:r>
            <a:r>
              <a:rPr lang="en-US" dirty="0"/>
              <a:t>’,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,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phòng</a:t>
            </a:r>
            <a:r>
              <a:rPr lang="en-US" dirty="0"/>
              <a:t> ban </a:t>
            </a:r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trì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, </a:t>
            </a:r>
            <a:r>
              <a:rPr lang="en-US" dirty="0" err="1"/>
              <a:t>họ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trưởng</a:t>
            </a:r>
            <a:r>
              <a:rPr lang="en-US" dirty="0"/>
              <a:t> </a:t>
            </a:r>
            <a:r>
              <a:rPr lang="en-US" dirty="0" err="1"/>
              <a:t>phòng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ngày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ấy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63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850846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2</a:t>
            </a:r>
          </a:p>
        </p:txBody>
      </p:sp>
      <p:sp>
        <p:nvSpPr>
          <p:cNvPr id="65126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76400"/>
            <a:ext cx="8229600" cy="4454525"/>
          </a:xfrm>
          <a:noFill/>
          <a:ln/>
        </p:spPr>
        <p:txBody>
          <a:bodyPr/>
          <a:lstStyle/>
          <a:p>
            <a:pPr algn="just"/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họ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phòng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5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gia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“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X”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giờ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10 </a:t>
            </a:r>
            <a:r>
              <a:rPr lang="en-US" dirty="0" err="1"/>
              <a:t>giờ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64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339552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3</a:t>
            </a:r>
          </a:p>
        </p:txBody>
      </p:sp>
      <p:sp>
        <p:nvSpPr>
          <p:cNvPr id="66150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76400"/>
            <a:ext cx="8229600" cy="4454525"/>
          </a:xfrm>
          <a:noFill/>
          <a:ln/>
        </p:spPr>
        <p:txBody>
          <a:bodyPr/>
          <a:lstStyle/>
          <a:p>
            <a:pPr algn="just"/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họ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trách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đó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65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85274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4</a:t>
            </a:r>
          </a:p>
        </p:txBody>
      </p:sp>
      <p:sp>
        <p:nvSpPr>
          <p:cNvPr id="66355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76400"/>
            <a:ext cx="8229600" cy="4454525"/>
          </a:xfrm>
          <a:noFill/>
          <a:ln/>
        </p:spPr>
        <p:txBody>
          <a:bodyPr/>
          <a:lstStyle/>
          <a:p>
            <a:pPr algn="just"/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họ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“Nguyen </a:t>
            </a:r>
            <a:r>
              <a:rPr lang="en-US" dirty="0" err="1"/>
              <a:t>Thanh</a:t>
            </a:r>
            <a:r>
              <a:rPr lang="en-US" dirty="0"/>
              <a:t> Tung” </a:t>
            </a:r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trách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66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225284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Mệnh</a:t>
            </a:r>
            <a:r>
              <a:rPr lang="en-US" sz="3500" b="1" dirty="0"/>
              <a:t> </a:t>
            </a:r>
            <a:r>
              <a:rPr lang="en-US" sz="3500" b="1" dirty="0" err="1"/>
              <a:t>đề</a:t>
            </a:r>
            <a:r>
              <a:rPr lang="en-US" sz="3500" b="1" dirty="0"/>
              <a:t> ORDER BY</a:t>
            </a:r>
          </a:p>
        </p:txBody>
      </p:sp>
      <p:sp>
        <p:nvSpPr>
          <p:cNvPr id="65536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76400"/>
            <a:ext cx="8229600" cy="4454525"/>
          </a:xfrm>
          <a:noFill/>
          <a:ln/>
        </p:spPr>
        <p:txBody>
          <a:bodyPr/>
          <a:lstStyle/>
          <a:p>
            <a:pPr algn="just"/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đó</a:t>
            </a:r>
            <a:endParaRPr lang="en-US" dirty="0"/>
          </a:p>
          <a:p>
            <a:r>
              <a:rPr lang="en-US" dirty="0" err="1"/>
              <a:t>Cú</a:t>
            </a:r>
            <a:r>
              <a:rPr lang="en-US" dirty="0"/>
              <a:t> </a:t>
            </a:r>
            <a:r>
              <a:rPr lang="en-US" dirty="0" err="1"/>
              <a:t>pháp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/>
              <a:t>ASC: </a:t>
            </a:r>
            <a:r>
              <a:rPr lang="en-US" dirty="0" err="1"/>
              <a:t>tăng</a:t>
            </a:r>
            <a:r>
              <a:rPr lang="en-US" dirty="0"/>
              <a:t> (</a:t>
            </a:r>
            <a:r>
              <a:rPr lang="en-US" dirty="0" err="1"/>
              <a:t>mặc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DESC: </a:t>
            </a:r>
            <a:r>
              <a:rPr lang="en-US" dirty="0" err="1"/>
              <a:t>giảm</a:t>
            </a:r>
            <a:endParaRPr lang="en-US" dirty="0"/>
          </a:p>
        </p:txBody>
      </p:sp>
      <p:sp>
        <p:nvSpPr>
          <p:cNvPr id="655364" name="Rectangle 4"/>
          <p:cNvSpPr>
            <a:spLocks noChangeArrowheads="1"/>
          </p:cNvSpPr>
          <p:nvPr/>
        </p:nvSpPr>
        <p:spPr bwMode="auto">
          <a:xfrm>
            <a:off x="1752600" y="3200400"/>
            <a:ext cx="3733800" cy="1617663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l"/>
            <a:r>
              <a:rPr lang="en-US" b="1" dirty="0"/>
              <a:t>SELECT</a:t>
            </a:r>
            <a:r>
              <a:rPr lang="en-US" dirty="0"/>
              <a:t> &lt;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cột</a:t>
            </a:r>
            <a:r>
              <a:rPr lang="en-US" dirty="0"/>
              <a:t>&gt;</a:t>
            </a:r>
          </a:p>
          <a:p>
            <a:pPr algn="l"/>
            <a:r>
              <a:rPr lang="en-US" b="1" dirty="0"/>
              <a:t>FROM</a:t>
            </a:r>
            <a:r>
              <a:rPr lang="en-US" dirty="0"/>
              <a:t> &lt;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&gt;</a:t>
            </a:r>
          </a:p>
          <a:p>
            <a:pPr algn="l"/>
            <a:r>
              <a:rPr lang="en-US" b="1" dirty="0"/>
              <a:t>WHERE</a:t>
            </a:r>
            <a:r>
              <a:rPr lang="en-US" dirty="0"/>
              <a:t> &lt;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&gt;</a:t>
            </a:r>
          </a:p>
          <a:p>
            <a:pPr algn="l"/>
            <a:r>
              <a:rPr lang="en-US" b="1" dirty="0"/>
              <a:t>ORDER BY</a:t>
            </a:r>
            <a:r>
              <a:rPr lang="en-US" dirty="0"/>
              <a:t> &lt;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cột</a:t>
            </a:r>
            <a:r>
              <a:rPr lang="en-US" dirty="0"/>
              <a:t>&gt;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67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561261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Mệnh</a:t>
            </a:r>
            <a:r>
              <a:rPr lang="en-US" sz="3500" b="1" dirty="0"/>
              <a:t> </a:t>
            </a:r>
            <a:r>
              <a:rPr lang="en-US" sz="3500" b="1" dirty="0" err="1"/>
              <a:t>đề</a:t>
            </a:r>
            <a:r>
              <a:rPr lang="en-US" sz="3500" b="1" dirty="0"/>
              <a:t> ORDER BY</a:t>
            </a:r>
          </a:p>
        </p:txBody>
      </p:sp>
      <p:sp>
        <p:nvSpPr>
          <p:cNvPr id="65741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524000"/>
            <a:ext cx="8229600" cy="4606925"/>
          </a:xfrm>
          <a:noFill/>
          <a:ln/>
        </p:spPr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endParaRPr lang="en-US" dirty="0"/>
          </a:p>
          <a:p>
            <a:endParaRPr lang="en-US" dirty="0"/>
          </a:p>
        </p:txBody>
      </p:sp>
      <p:sp>
        <p:nvSpPr>
          <p:cNvPr id="657413" name="Text Box 5"/>
          <p:cNvSpPr txBox="1">
            <a:spLocks noChangeArrowheads="1"/>
          </p:cNvSpPr>
          <p:nvPr/>
        </p:nvSpPr>
        <p:spPr bwMode="auto">
          <a:xfrm>
            <a:off x="1676400" y="1931988"/>
            <a:ext cx="4114800" cy="119221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>
                <a:solidFill>
                  <a:srgbClr val="0000CC"/>
                </a:solidFill>
              </a:rPr>
              <a:t>SELECT </a:t>
            </a:r>
            <a:r>
              <a:rPr lang="en-US"/>
              <a:t>MA_NVIEN, SODA</a:t>
            </a:r>
            <a:endParaRPr lang="en-US">
              <a:solidFill>
                <a:srgbClr val="CC0000"/>
              </a:solidFill>
            </a:endParaRPr>
          </a:p>
          <a:p>
            <a:pPr algn="l"/>
            <a:r>
              <a:rPr lang="en-US">
                <a:solidFill>
                  <a:srgbClr val="0000CC"/>
                </a:solidFill>
              </a:rPr>
              <a:t>FROM</a:t>
            </a:r>
            <a:r>
              <a:rPr lang="en-US"/>
              <a:t> PHANCONG</a:t>
            </a:r>
          </a:p>
          <a:p>
            <a:pPr algn="l"/>
            <a:r>
              <a:rPr lang="en-US">
                <a:solidFill>
                  <a:srgbClr val="0000CC"/>
                </a:solidFill>
              </a:rPr>
              <a:t>ORDER BY</a:t>
            </a:r>
            <a:r>
              <a:rPr lang="en-US"/>
              <a:t> MA_NVIEN </a:t>
            </a:r>
            <a:r>
              <a:rPr lang="en-US">
                <a:solidFill>
                  <a:srgbClr val="0000CC"/>
                </a:solidFill>
              </a:rPr>
              <a:t>DESC</a:t>
            </a:r>
            <a:r>
              <a:rPr lang="en-US"/>
              <a:t>, SODA</a:t>
            </a:r>
          </a:p>
        </p:txBody>
      </p:sp>
      <p:grpSp>
        <p:nvGrpSpPr>
          <p:cNvPr id="657441" name="Group 33"/>
          <p:cNvGrpSpPr>
            <a:grpSpLocks/>
          </p:cNvGrpSpPr>
          <p:nvPr/>
        </p:nvGrpSpPr>
        <p:grpSpPr bwMode="auto">
          <a:xfrm>
            <a:off x="2514600" y="3505200"/>
            <a:ext cx="2209800" cy="2590800"/>
            <a:chOff x="1584" y="2160"/>
            <a:chExt cx="1392" cy="1632"/>
          </a:xfrm>
        </p:grpSpPr>
        <p:sp>
          <p:nvSpPr>
            <p:cNvPr id="657437" name="Rectangle 29"/>
            <p:cNvSpPr>
              <a:spLocks noChangeArrowheads="1"/>
            </p:cNvSpPr>
            <p:nvPr/>
          </p:nvSpPr>
          <p:spPr bwMode="auto">
            <a:xfrm>
              <a:off x="1584" y="2400"/>
              <a:ext cx="816" cy="1344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 algn="ctr">
              <a:solidFill>
                <a:srgbClr val="99CCFF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57439" name="Rectangle 31"/>
            <p:cNvSpPr>
              <a:spLocks noChangeArrowheads="1"/>
            </p:cNvSpPr>
            <p:nvPr/>
          </p:nvSpPr>
          <p:spPr bwMode="auto">
            <a:xfrm>
              <a:off x="1728" y="2400"/>
              <a:ext cx="1248" cy="384"/>
            </a:xfrm>
            <a:prstGeom prst="rect">
              <a:avLst/>
            </a:prstGeom>
            <a:solidFill>
              <a:srgbClr val="FF99CC">
                <a:alpha val="80000"/>
              </a:srgbClr>
            </a:solidFill>
            <a:ln w="12700" algn="ctr">
              <a:solidFill>
                <a:srgbClr val="FF99CC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57415" name="Line 7"/>
            <p:cNvSpPr>
              <a:spLocks noChangeShapeType="1"/>
            </p:cNvSpPr>
            <p:nvPr/>
          </p:nvSpPr>
          <p:spPr bwMode="auto">
            <a:xfrm>
              <a:off x="1584" y="2352"/>
              <a:ext cx="13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57416" name="Text Box 8"/>
            <p:cNvSpPr txBox="1">
              <a:spLocks noChangeArrowheads="1"/>
            </p:cNvSpPr>
            <p:nvPr/>
          </p:nvSpPr>
          <p:spPr bwMode="auto">
            <a:xfrm>
              <a:off x="2448" y="2160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SODA</a:t>
              </a:r>
            </a:p>
          </p:txBody>
        </p:sp>
        <p:sp>
          <p:nvSpPr>
            <p:cNvPr id="657417" name="Text Box 9"/>
            <p:cNvSpPr txBox="1">
              <a:spLocks noChangeArrowheads="1"/>
            </p:cNvSpPr>
            <p:nvPr/>
          </p:nvSpPr>
          <p:spPr bwMode="auto">
            <a:xfrm>
              <a:off x="2448" y="2400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10</a:t>
              </a:r>
            </a:p>
          </p:txBody>
        </p:sp>
        <p:sp>
          <p:nvSpPr>
            <p:cNvPr id="657418" name="Text Box 10"/>
            <p:cNvSpPr txBox="1">
              <a:spLocks noChangeArrowheads="1"/>
            </p:cNvSpPr>
            <p:nvPr/>
          </p:nvSpPr>
          <p:spPr bwMode="auto">
            <a:xfrm>
              <a:off x="2448" y="2592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30</a:t>
              </a:r>
            </a:p>
          </p:txBody>
        </p:sp>
        <p:sp>
          <p:nvSpPr>
            <p:cNvPr id="657419" name="Text Box 11"/>
            <p:cNvSpPr txBox="1">
              <a:spLocks noChangeArrowheads="1"/>
            </p:cNvSpPr>
            <p:nvPr/>
          </p:nvSpPr>
          <p:spPr bwMode="auto">
            <a:xfrm>
              <a:off x="1728" y="2400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999887777</a:t>
              </a:r>
            </a:p>
          </p:txBody>
        </p:sp>
        <p:sp>
          <p:nvSpPr>
            <p:cNvPr id="657420" name="Text Box 12"/>
            <p:cNvSpPr txBox="1">
              <a:spLocks noChangeArrowheads="1"/>
            </p:cNvSpPr>
            <p:nvPr/>
          </p:nvSpPr>
          <p:spPr bwMode="auto">
            <a:xfrm>
              <a:off x="1728" y="2592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999887777</a:t>
              </a:r>
            </a:p>
          </p:txBody>
        </p:sp>
        <p:sp>
          <p:nvSpPr>
            <p:cNvPr id="657421" name="Text Box 13"/>
            <p:cNvSpPr txBox="1">
              <a:spLocks noChangeArrowheads="1"/>
            </p:cNvSpPr>
            <p:nvPr/>
          </p:nvSpPr>
          <p:spPr bwMode="auto">
            <a:xfrm>
              <a:off x="1632" y="2160"/>
              <a:ext cx="76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MA_NVIEN</a:t>
              </a:r>
            </a:p>
          </p:txBody>
        </p:sp>
        <p:sp>
          <p:nvSpPr>
            <p:cNvPr id="657422" name="Line 14"/>
            <p:cNvSpPr>
              <a:spLocks noChangeShapeType="1"/>
            </p:cNvSpPr>
            <p:nvPr/>
          </p:nvSpPr>
          <p:spPr bwMode="auto">
            <a:xfrm>
              <a:off x="2448" y="2160"/>
              <a:ext cx="0" cy="16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57423" name="Text Box 15"/>
            <p:cNvSpPr txBox="1">
              <a:spLocks noChangeArrowheads="1"/>
            </p:cNvSpPr>
            <p:nvPr/>
          </p:nvSpPr>
          <p:spPr bwMode="auto">
            <a:xfrm>
              <a:off x="2448" y="2784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10</a:t>
              </a:r>
            </a:p>
          </p:txBody>
        </p:sp>
        <p:sp>
          <p:nvSpPr>
            <p:cNvPr id="657424" name="Text Box 16"/>
            <p:cNvSpPr txBox="1">
              <a:spLocks noChangeArrowheads="1"/>
            </p:cNvSpPr>
            <p:nvPr/>
          </p:nvSpPr>
          <p:spPr bwMode="auto">
            <a:xfrm>
              <a:off x="2448" y="2976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30</a:t>
              </a:r>
            </a:p>
          </p:txBody>
        </p:sp>
        <p:sp>
          <p:nvSpPr>
            <p:cNvPr id="657425" name="Text Box 17"/>
            <p:cNvSpPr txBox="1">
              <a:spLocks noChangeArrowheads="1"/>
            </p:cNvSpPr>
            <p:nvPr/>
          </p:nvSpPr>
          <p:spPr bwMode="auto">
            <a:xfrm>
              <a:off x="1728" y="2976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987987987</a:t>
              </a:r>
            </a:p>
          </p:txBody>
        </p:sp>
        <p:sp>
          <p:nvSpPr>
            <p:cNvPr id="657426" name="Text Box 18"/>
            <p:cNvSpPr txBox="1">
              <a:spLocks noChangeArrowheads="1"/>
            </p:cNvSpPr>
            <p:nvPr/>
          </p:nvSpPr>
          <p:spPr bwMode="auto">
            <a:xfrm>
              <a:off x="1728" y="3168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987654321</a:t>
              </a:r>
            </a:p>
          </p:txBody>
        </p:sp>
        <p:sp>
          <p:nvSpPr>
            <p:cNvPr id="657427" name="Text Box 19"/>
            <p:cNvSpPr txBox="1">
              <a:spLocks noChangeArrowheads="1"/>
            </p:cNvSpPr>
            <p:nvPr/>
          </p:nvSpPr>
          <p:spPr bwMode="auto">
            <a:xfrm>
              <a:off x="1728" y="2784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987987987</a:t>
              </a:r>
            </a:p>
          </p:txBody>
        </p:sp>
        <p:sp>
          <p:nvSpPr>
            <p:cNvPr id="657428" name="Text Box 20"/>
            <p:cNvSpPr txBox="1">
              <a:spLocks noChangeArrowheads="1"/>
            </p:cNvSpPr>
            <p:nvPr/>
          </p:nvSpPr>
          <p:spPr bwMode="auto">
            <a:xfrm>
              <a:off x="2448" y="3168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10</a:t>
              </a:r>
            </a:p>
          </p:txBody>
        </p:sp>
        <p:sp>
          <p:nvSpPr>
            <p:cNvPr id="657429" name="Text Box 21"/>
            <p:cNvSpPr txBox="1">
              <a:spLocks noChangeArrowheads="1"/>
            </p:cNvSpPr>
            <p:nvPr/>
          </p:nvSpPr>
          <p:spPr bwMode="auto">
            <a:xfrm>
              <a:off x="2448" y="3360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20</a:t>
              </a:r>
            </a:p>
          </p:txBody>
        </p:sp>
        <p:sp>
          <p:nvSpPr>
            <p:cNvPr id="657430" name="Text Box 22"/>
            <p:cNvSpPr txBox="1">
              <a:spLocks noChangeArrowheads="1"/>
            </p:cNvSpPr>
            <p:nvPr/>
          </p:nvSpPr>
          <p:spPr bwMode="auto">
            <a:xfrm>
              <a:off x="1728" y="3360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987654321</a:t>
              </a:r>
            </a:p>
          </p:txBody>
        </p:sp>
        <p:sp>
          <p:nvSpPr>
            <p:cNvPr id="657435" name="Text Box 27"/>
            <p:cNvSpPr txBox="1">
              <a:spLocks noChangeArrowheads="1"/>
            </p:cNvSpPr>
            <p:nvPr/>
          </p:nvSpPr>
          <p:spPr bwMode="auto">
            <a:xfrm>
              <a:off x="2448" y="3552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30</a:t>
              </a:r>
            </a:p>
          </p:txBody>
        </p:sp>
        <p:sp>
          <p:nvSpPr>
            <p:cNvPr id="657436" name="Text Box 28"/>
            <p:cNvSpPr txBox="1">
              <a:spLocks noChangeArrowheads="1"/>
            </p:cNvSpPr>
            <p:nvPr/>
          </p:nvSpPr>
          <p:spPr bwMode="auto">
            <a:xfrm>
              <a:off x="1728" y="3552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987654321</a:t>
              </a:r>
            </a:p>
          </p:txBody>
        </p:sp>
        <p:sp>
          <p:nvSpPr>
            <p:cNvPr id="657438" name="Line 30"/>
            <p:cNvSpPr>
              <a:spLocks noChangeShapeType="1"/>
            </p:cNvSpPr>
            <p:nvPr/>
          </p:nvSpPr>
          <p:spPr bwMode="auto">
            <a:xfrm>
              <a:off x="1680" y="2592"/>
              <a:ext cx="0" cy="1008"/>
            </a:xfrm>
            <a:prstGeom prst="line">
              <a:avLst/>
            </a:prstGeom>
            <a:noFill/>
            <a:ln w="12700">
              <a:solidFill>
                <a:srgbClr val="777777"/>
              </a:solidFill>
              <a:prstDash val="dash"/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57440" name="Line 32"/>
            <p:cNvSpPr>
              <a:spLocks noChangeShapeType="1"/>
            </p:cNvSpPr>
            <p:nvPr/>
          </p:nvSpPr>
          <p:spPr bwMode="auto">
            <a:xfrm flipV="1">
              <a:off x="2880" y="2448"/>
              <a:ext cx="0" cy="288"/>
            </a:xfrm>
            <a:prstGeom prst="line">
              <a:avLst/>
            </a:prstGeom>
            <a:noFill/>
            <a:ln w="12700">
              <a:solidFill>
                <a:srgbClr val="777777"/>
              </a:solidFill>
              <a:prstDash val="dash"/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68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994463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/>
              <a:t>b) </a:t>
            </a:r>
            <a:r>
              <a:rPr lang="en-US" sz="3500" b="1" dirty="0" err="1"/>
              <a:t>Phép</a:t>
            </a:r>
            <a:r>
              <a:rPr lang="en-US" sz="3500" b="1" dirty="0"/>
              <a:t> </a:t>
            </a:r>
            <a:r>
              <a:rPr lang="en-US" sz="3500" b="1" dirty="0" err="1"/>
              <a:t>toán</a:t>
            </a:r>
            <a:r>
              <a:rPr lang="en-US" sz="3500" b="1" dirty="0"/>
              <a:t> </a:t>
            </a:r>
            <a:r>
              <a:rPr lang="en-US" sz="3500" b="1" dirty="0" err="1"/>
              <a:t>tập</a:t>
            </a:r>
            <a:r>
              <a:rPr lang="en-US" sz="3500" b="1" dirty="0"/>
              <a:t> </a:t>
            </a:r>
            <a:r>
              <a:rPr lang="en-US" sz="3500" b="1" dirty="0" err="1"/>
              <a:t>hợp</a:t>
            </a:r>
            <a:r>
              <a:rPr lang="en-US" sz="3500" b="1" dirty="0"/>
              <a:t> </a:t>
            </a:r>
            <a:r>
              <a:rPr lang="en-US" sz="3500" b="1" dirty="0" err="1"/>
              <a:t>trong</a:t>
            </a:r>
            <a:r>
              <a:rPr lang="en-US" sz="3500" b="1" dirty="0"/>
              <a:t> SQL</a:t>
            </a:r>
          </a:p>
        </p:txBody>
      </p:sp>
      <p:sp>
        <p:nvSpPr>
          <p:cNvPr id="65331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229600" cy="4724400"/>
          </a:xfrm>
        </p:spPr>
        <p:txBody>
          <a:bodyPr/>
          <a:lstStyle/>
          <a:p>
            <a:r>
              <a:rPr lang="en-US" dirty="0"/>
              <a:t>SQL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toán</a:t>
            </a:r>
            <a:endParaRPr lang="en-US" dirty="0"/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Hợp</a:t>
            </a:r>
            <a:r>
              <a:rPr lang="en-US" dirty="0">
                <a:solidFill>
                  <a:schemeClr val="tx1"/>
                </a:solidFill>
              </a:rPr>
              <a:t> (UNION)</a:t>
            </a:r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Giao</a:t>
            </a:r>
            <a:r>
              <a:rPr lang="en-US" dirty="0">
                <a:solidFill>
                  <a:schemeClr val="tx1"/>
                </a:solidFill>
              </a:rPr>
              <a:t> (INTERSECT)</a:t>
            </a:r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Trừ</a:t>
            </a:r>
            <a:r>
              <a:rPr lang="en-US" dirty="0">
                <a:solidFill>
                  <a:schemeClr val="tx1"/>
                </a:solidFill>
              </a:rPr>
              <a:t> (EXCEPT)</a:t>
            </a:r>
          </a:p>
          <a:p>
            <a:endParaRPr lang="en-US" dirty="0"/>
          </a:p>
          <a:p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hợp</a:t>
            </a:r>
            <a:endParaRPr lang="en-US" dirty="0"/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Loại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bỏ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các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bộ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trùng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nhau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Để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giữ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lại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các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bộ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trùng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nhau</a:t>
            </a:r>
            <a:endParaRPr lang="en-US" dirty="0">
              <a:solidFill>
                <a:schemeClr val="tx1"/>
              </a:solidFill>
            </a:endParaRPr>
          </a:p>
          <a:p>
            <a:pPr lvl="2"/>
            <a:r>
              <a:rPr lang="en-US" dirty="0"/>
              <a:t>UNION ALL</a:t>
            </a:r>
          </a:p>
          <a:p>
            <a:pPr lvl="2"/>
            <a:r>
              <a:rPr lang="en-US" dirty="0"/>
              <a:t>INTERSECT ALL</a:t>
            </a:r>
          </a:p>
          <a:p>
            <a:pPr lvl="2"/>
            <a:r>
              <a:rPr lang="en-US" dirty="0"/>
              <a:t>EXCEPT ALL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69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942199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/>
              <a:t>a) </a:t>
            </a:r>
            <a:r>
              <a:rPr lang="en-US" sz="3500" b="1" dirty="0" err="1"/>
              <a:t>Phép</a:t>
            </a:r>
            <a:r>
              <a:rPr lang="en-US" sz="3500" b="1" dirty="0"/>
              <a:t> </a:t>
            </a:r>
            <a:r>
              <a:rPr lang="en-US" sz="3500" b="1" dirty="0" err="1"/>
              <a:t>toán</a:t>
            </a:r>
            <a:r>
              <a:rPr lang="en-US" sz="3500" b="1" dirty="0"/>
              <a:t> </a:t>
            </a:r>
            <a:r>
              <a:rPr lang="en-US" sz="3500" b="1" dirty="0" err="1"/>
              <a:t>tập</a:t>
            </a:r>
            <a:r>
              <a:rPr lang="en-US" sz="3500" b="1" dirty="0"/>
              <a:t> </a:t>
            </a:r>
            <a:r>
              <a:rPr lang="en-US" sz="3500" b="1" dirty="0" err="1"/>
              <a:t>hợp</a:t>
            </a:r>
            <a:r>
              <a:rPr lang="en-US" sz="3500" b="1" dirty="0"/>
              <a:t> </a:t>
            </a:r>
            <a:r>
              <a:rPr lang="en-US" sz="3500" b="1" dirty="0" err="1"/>
              <a:t>trong</a:t>
            </a:r>
            <a:r>
              <a:rPr lang="en-US" sz="3500" b="1" dirty="0"/>
              <a:t> SQL</a:t>
            </a:r>
          </a:p>
        </p:txBody>
      </p:sp>
      <p:sp>
        <p:nvSpPr>
          <p:cNvPr id="66560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524000"/>
            <a:ext cx="8229600" cy="4800600"/>
          </a:xfrm>
        </p:spPr>
        <p:txBody>
          <a:bodyPr/>
          <a:lstStyle/>
          <a:p>
            <a:r>
              <a:rPr lang="en-US" dirty="0" err="1"/>
              <a:t>Cú</a:t>
            </a:r>
            <a:r>
              <a:rPr lang="en-US" dirty="0"/>
              <a:t> </a:t>
            </a:r>
            <a:r>
              <a:rPr lang="en-US" dirty="0" err="1"/>
              <a:t>pháp</a:t>
            </a:r>
            <a:endParaRPr lang="en-US" dirty="0"/>
          </a:p>
        </p:txBody>
      </p:sp>
      <p:sp>
        <p:nvSpPr>
          <p:cNvPr id="665604" name="Rectangle 4"/>
          <p:cNvSpPr>
            <a:spLocks noChangeArrowheads="1"/>
          </p:cNvSpPr>
          <p:nvPr/>
        </p:nvSpPr>
        <p:spPr bwMode="auto">
          <a:xfrm>
            <a:off x="1524000" y="2071687"/>
            <a:ext cx="6019800" cy="1204913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l"/>
            <a:r>
              <a:rPr lang="en-US" dirty="0"/>
              <a:t>SELECT &lt;ds </a:t>
            </a:r>
            <a:r>
              <a:rPr lang="en-US" dirty="0" err="1"/>
              <a:t>cột</a:t>
            </a:r>
            <a:r>
              <a:rPr lang="en-US" dirty="0"/>
              <a:t>&gt; FROM &lt;ds </a:t>
            </a:r>
            <a:r>
              <a:rPr lang="en-US" dirty="0" err="1"/>
              <a:t>bảng</a:t>
            </a:r>
            <a:r>
              <a:rPr lang="en-US" dirty="0"/>
              <a:t>&gt; WHERE &lt;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&gt;</a:t>
            </a:r>
          </a:p>
          <a:p>
            <a:pPr algn="l"/>
            <a:r>
              <a:rPr lang="en-US" b="1" dirty="0"/>
              <a:t>UNION [ALL]</a:t>
            </a:r>
          </a:p>
          <a:p>
            <a:pPr algn="l"/>
            <a:r>
              <a:rPr lang="en-US" dirty="0"/>
              <a:t>SELECT &lt;ds </a:t>
            </a:r>
            <a:r>
              <a:rPr lang="en-US" dirty="0" err="1"/>
              <a:t>cột</a:t>
            </a:r>
            <a:r>
              <a:rPr lang="en-US" dirty="0"/>
              <a:t>&gt; FROM &lt;ds </a:t>
            </a:r>
            <a:r>
              <a:rPr lang="en-US" dirty="0" err="1"/>
              <a:t>bảng</a:t>
            </a:r>
            <a:r>
              <a:rPr lang="en-US" dirty="0"/>
              <a:t>&gt; WHERE &lt;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&gt;</a:t>
            </a:r>
          </a:p>
        </p:txBody>
      </p:sp>
      <p:sp>
        <p:nvSpPr>
          <p:cNvPr id="665605" name="Rectangle 5"/>
          <p:cNvSpPr>
            <a:spLocks noChangeArrowheads="1"/>
          </p:cNvSpPr>
          <p:nvPr/>
        </p:nvSpPr>
        <p:spPr bwMode="auto">
          <a:xfrm>
            <a:off x="1524000" y="3519488"/>
            <a:ext cx="6019800" cy="1204912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l"/>
            <a:r>
              <a:rPr lang="en-US" dirty="0"/>
              <a:t>SELECT &lt;ds </a:t>
            </a:r>
            <a:r>
              <a:rPr lang="en-US" dirty="0" err="1"/>
              <a:t>cột</a:t>
            </a:r>
            <a:r>
              <a:rPr lang="en-US" dirty="0"/>
              <a:t>&gt; FROM &lt;ds </a:t>
            </a:r>
            <a:r>
              <a:rPr lang="en-US" dirty="0" err="1"/>
              <a:t>bảng</a:t>
            </a:r>
            <a:r>
              <a:rPr lang="en-US" dirty="0"/>
              <a:t>&gt; WHERE &lt;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&gt;</a:t>
            </a:r>
          </a:p>
          <a:p>
            <a:pPr algn="l"/>
            <a:r>
              <a:rPr lang="en-US" b="1" dirty="0"/>
              <a:t>INTERSECT [ALL]</a:t>
            </a:r>
          </a:p>
          <a:p>
            <a:pPr algn="l"/>
            <a:r>
              <a:rPr lang="en-US" dirty="0"/>
              <a:t>SELECT &lt;ds </a:t>
            </a:r>
            <a:r>
              <a:rPr lang="en-US" dirty="0" err="1"/>
              <a:t>cột</a:t>
            </a:r>
            <a:r>
              <a:rPr lang="en-US" dirty="0"/>
              <a:t>&gt; FROM &lt;ds </a:t>
            </a:r>
            <a:r>
              <a:rPr lang="en-US" dirty="0" err="1"/>
              <a:t>bảng</a:t>
            </a:r>
            <a:r>
              <a:rPr lang="en-US" dirty="0"/>
              <a:t>&gt; WHERE &lt;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&gt;</a:t>
            </a:r>
          </a:p>
        </p:txBody>
      </p:sp>
      <p:sp>
        <p:nvSpPr>
          <p:cNvPr id="665606" name="Rectangle 6"/>
          <p:cNvSpPr>
            <a:spLocks noChangeArrowheads="1"/>
          </p:cNvSpPr>
          <p:nvPr/>
        </p:nvSpPr>
        <p:spPr bwMode="auto">
          <a:xfrm>
            <a:off x="1524000" y="4953000"/>
            <a:ext cx="6019800" cy="1204912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l"/>
            <a:r>
              <a:rPr lang="en-US"/>
              <a:t>SELECT &lt;ds cột&gt; FROM &lt;ds bảng&gt; WHERE &lt;điều kiện&gt;</a:t>
            </a:r>
          </a:p>
          <a:p>
            <a:pPr algn="l"/>
            <a:r>
              <a:rPr lang="en-US" b="1"/>
              <a:t>EXCEPT [ALL]</a:t>
            </a:r>
          </a:p>
          <a:p>
            <a:pPr algn="l"/>
            <a:r>
              <a:rPr lang="en-US"/>
              <a:t>SELECT &lt;ds cột&gt; FROM &lt;ds bảng&gt; WHERE &lt;điều kiện&gt;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70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678862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5</a:t>
            </a:r>
          </a:p>
        </p:txBody>
      </p:sp>
      <p:sp>
        <p:nvSpPr>
          <p:cNvPr id="66765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229600" cy="4724400"/>
          </a:xfrm>
        </p:spPr>
        <p:txBody>
          <a:bodyPr/>
          <a:lstStyle/>
          <a:p>
            <a:r>
              <a:rPr lang="en-US" dirty="0"/>
              <a:t>Cho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</a:t>
            </a:r>
            <a:r>
              <a:rPr lang="en-US" dirty="0" err="1"/>
              <a:t>có</a:t>
            </a:r>
            <a:endParaRPr lang="en-US" dirty="0"/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Nhân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viên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với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họ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là</a:t>
            </a:r>
            <a:r>
              <a:rPr lang="en-US" dirty="0">
                <a:solidFill>
                  <a:schemeClr val="tx1"/>
                </a:solidFill>
              </a:rPr>
              <a:t> ‘Nguyen’ </a:t>
            </a:r>
            <a:r>
              <a:rPr lang="en-US" dirty="0" err="1">
                <a:solidFill>
                  <a:schemeClr val="tx1"/>
                </a:solidFill>
              </a:rPr>
              <a:t>tham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gia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hoặc</a:t>
            </a:r>
            <a:r>
              <a:rPr lang="en-US" dirty="0">
                <a:solidFill>
                  <a:schemeClr val="tx1"/>
                </a:solidFill>
              </a:rPr>
              <a:t>,</a:t>
            </a:r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Trưởng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phòng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chủ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trì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đề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án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đó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với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họ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là</a:t>
            </a:r>
            <a:r>
              <a:rPr lang="en-US" dirty="0">
                <a:solidFill>
                  <a:schemeClr val="tx1"/>
                </a:solidFill>
              </a:rPr>
              <a:t> ‘Nguyen’</a:t>
            </a:r>
          </a:p>
        </p:txBody>
      </p:sp>
      <p:sp>
        <p:nvSpPr>
          <p:cNvPr id="667655" name="Text Box 7"/>
          <p:cNvSpPr txBox="1">
            <a:spLocks noChangeArrowheads="1"/>
          </p:cNvSpPr>
          <p:nvPr/>
        </p:nvSpPr>
        <p:spPr bwMode="auto">
          <a:xfrm>
            <a:off x="1143000" y="2916238"/>
            <a:ext cx="6400800" cy="325596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dirty="0">
                <a:solidFill>
                  <a:srgbClr val="0000CC"/>
                </a:solidFill>
              </a:rPr>
              <a:t>SELECT </a:t>
            </a:r>
            <a:r>
              <a:rPr lang="en-US" dirty="0"/>
              <a:t>SODA </a:t>
            </a:r>
            <a:endParaRPr lang="en-US" dirty="0">
              <a:solidFill>
                <a:srgbClr val="CC0000"/>
              </a:solidFill>
            </a:endParaRPr>
          </a:p>
          <a:p>
            <a:pPr algn="l"/>
            <a:r>
              <a:rPr lang="en-US" dirty="0">
                <a:solidFill>
                  <a:srgbClr val="0000CC"/>
                </a:solidFill>
              </a:rPr>
              <a:t>FROM</a:t>
            </a:r>
            <a:r>
              <a:rPr lang="en-US" dirty="0"/>
              <a:t> NHANVIEN, PHANCONG</a:t>
            </a:r>
            <a:endParaRPr lang="en-US" dirty="0">
              <a:solidFill>
                <a:srgbClr val="0000CC"/>
              </a:solidFill>
            </a:endParaRPr>
          </a:p>
          <a:p>
            <a:pPr algn="l"/>
            <a:r>
              <a:rPr lang="en-US" dirty="0">
                <a:solidFill>
                  <a:srgbClr val="0000CC"/>
                </a:solidFill>
              </a:rPr>
              <a:t>WHERE</a:t>
            </a:r>
            <a:r>
              <a:rPr lang="en-US" dirty="0"/>
              <a:t> MANV=MA_NVIEN </a:t>
            </a:r>
            <a:r>
              <a:rPr lang="en-US" dirty="0">
                <a:solidFill>
                  <a:srgbClr val="777777"/>
                </a:solidFill>
              </a:rPr>
              <a:t>AND</a:t>
            </a:r>
            <a:r>
              <a:rPr lang="en-US" dirty="0"/>
              <a:t> HONV=</a:t>
            </a:r>
            <a:r>
              <a:rPr lang="en-US" dirty="0">
                <a:solidFill>
                  <a:srgbClr val="CC0000"/>
                </a:solidFill>
              </a:rPr>
              <a:t>‘Nguyen’</a:t>
            </a:r>
          </a:p>
          <a:p>
            <a:pPr algn="l"/>
            <a:r>
              <a:rPr lang="en-US" dirty="0">
                <a:solidFill>
                  <a:srgbClr val="0000CC"/>
                </a:solidFill>
              </a:rPr>
              <a:t>UNION</a:t>
            </a:r>
          </a:p>
          <a:p>
            <a:pPr algn="l"/>
            <a:r>
              <a:rPr lang="en-US" dirty="0">
                <a:solidFill>
                  <a:srgbClr val="0000CC"/>
                </a:solidFill>
              </a:rPr>
              <a:t>SELECT </a:t>
            </a:r>
            <a:r>
              <a:rPr lang="en-US" dirty="0"/>
              <a:t>MADA</a:t>
            </a:r>
            <a:endParaRPr lang="en-US" dirty="0">
              <a:solidFill>
                <a:srgbClr val="CC0000"/>
              </a:solidFill>
            </a:endParaRPr>
          </a:p>
          <a:p>
            <a:pPr algn="l"/>
            <a:r>
              <a:rPr lang="en-US" dirty="0">
                <a:solidFill>
                  <a:srgbClr val="0000CC"/>
                </a:solidFill>
              </a:rPr>
              <a:t>FROM</a:t>
            </a:r>
            <a:r>
              <a:rPr lang="en-US" dirty="0"/>
              <a:t> NHANVIEN, PHONGBAN, DEAN</a:t>
            </a:r>
            <a:endParaRPr lang="en-US" dirty="0">
              <a:solidFill>
                <a:srgbClr val="0000CC"/>
              </a:solidFill>
            </a:endParaRPr>
          </a:p>
          <a:p>
            <a:pPr algn="l"/>
            <a:r>
              <a:rPr lang="en-US" dirty="0">
                <a:solidFill>
                  <a:srgbClr val="0000CC"/>
                </a:solidFill>
              </a:rPr>
              <a:t>WHERE</a:t>
            </a:r>
            <a:r>
              <a:rPr lang="en-US" dirty="0"/>
              <a:t> MANV=TRPHG </a:t>
            </a:r>
            <a:r>
              <a:rPr lang="en-US" dirty="0">
                <a:solidFill>
                  <a:srgbClr val="777777"/>
                </a:solidFill>
              </a:rPr>
              <a:t>AND</a:t>
            </a:r>
            <a:r>
              <a:rPr lang="en-US" dirty="0"/>
              <a:t> MAPHG=PHONG</a:t>
            </a:r>
          </a:p>
          <a:p>
            <a:pPr algn="l"/>
            <a:r>
              <a:rPr lang="en-US" dirty="0">
                <a:solidFill>
                  <a:srgbClr val="777777"/>
                </a:solidFill>
              </a:rPr>
              <a:t>AND</a:t>
            </a:r>
            <a:r>
              <a:rPr lang="en-US" dirty="0"/>
              <a:t> HONV=</a:t>
            </a:r>
            <a:r>
              <a:rPr lang="en-US" dirty="0">
                <a:solidFill>
                  <a:srgbClr val="CC0000"/>
                </a:solidFill>
              </a:rPr>
              <a:t>‘Nguyen’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71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630530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6</a:t>
            </a:r>
          </a:p>
        </p:txBody>
      </p:sp>
      <p:sp>
        <p:nvSpPr>
          <p:cNvPr id="67174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229600" cy="4724400"/>
          </a:xfrm>
        </p:spPr>
        <p:txBody>
          <a:bodyPr/>
          <a:lstStyle/>
          <a:p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thân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tính</a:t>
            </a:r>
            <a:endParaRPr lang="en-US" dirty="0"/>
          </a:p>
        </p:txBody>
      </p:sp>
      <p:sp>
        <p:nvSpPr>
          <p:cNvPr id="671748" name="Text Box 4"/>
          <p:cNvSpPr txBox="1">
            <a:spLocks noChangeArrowheads="1"/>
          </p:cNvSpPr>
          <p:nvPr/>
        </p:nvSpPr>
        <p:spPr bwMode="auto">
          <a:xfrm>
            <a:off x="1676400" y="2362200"/>
            <a:ext cx="4876800" cy="11922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>
                <a:solidFill>
                  <a:srgbClr val="0000CC"/>
                </a:solidFill>
              </a:rPr>
              <a:t>SELECT </a:t>
            </a:r>
            <a:r>
              <a:rPr lang="en-US"/>
              <a:t>TENNV, PHAI </a:t>
            </a:r>
            <a:r>
              <a:rPr lang="en-US">
                <a:solidFill>
                  <a:srgbClr val="0000CC"/>
                </a:solidFill>
              </a:rPr>
              <a:t>FROM</a:t>
            </a:r>
            <a:r>
              <a:rPr lang="en-US"/>
              <a:t> NHANVIEN</a:t>
            </a:r>
            <a:endParaRPr lang="en-US">
              <a:solidFill>
                <a:srgbClr val="0000CC"/>
              </a:solidFill>
            </a:endParaRPr>
          </a:p>
          <a:p>
            <a:pPr algn="l"/>
            <a:r>
              <a:rPr lang="en-US">
                <a:solidFill>
                  <a:srgbClr val="0000CC"/>
                </a:solidFill>
              </a:rPr>
              <a:t>INTERSECT</a:t>
            </a:r>
          </a:p>
          <a:p>
            <a:pPr algn="l"/>
            <a:r>
              <a:rPr lang="en-US">
                <a:solidFill>
                  <a:srgbClr val="0000CC"/>
                </a:solidFill>
              </a:rPr>
              <a:t>SELECT </a:t>
            </a:r>
            <a:r>
              <a:rPr lang="en-US"/>
              <a:t>TENTN, PHAI </a:t>
            </a:r>
            <a:r>
              <a:rPr lang="en-US">
                <a:solidFill>
                  <a:srgbClr val="0000CC"/>
                </a:solidFill>
              </a:rPr>
              <a:t>FROM</a:t>
            </a:r>
            <a:r>
              <a:rPr lang="en-US"/>
              <a:t> THANNHAN</a:t>
            </a:r>
          </a:p>
        </p:txBody>
      </p:sp>
      <p:grpSp>
        <p:nvGrpSpPr>
          <p:cNvPr id="671749" name="Group 5"/>
          <p:cNvGrpSpPr>
            <a:grpSpLocks/>
          </p:cNvGrpSpPr>
          <p:nvPr/>
        </p:nvGrpSpPr>
        <p:grpSpPr bwMode="auto">
          <a:xfrm>
            <a:off x="2372573" y="2488750"/>
            <a:ext cx="2362200" cy="990600"/>
            <a:chOff x="1753" y="2000"/>
            <a:chExt cx="1359" cy="938"/>
          </a:xfrm>
        </p:grpSpPr>
        <p:sp>
          <p:nvSpPr>
            <p:cNvPr id="671750" name="Freeform 6"/>
            <p:cNvSpPr>
              <a:spLocks/>
            </p:cNvSpPr>
            <p:nvPr/>
          </p:nvSpPr>
          <p:spPr bwMode="auto">
            <a:xfrm>
              <a:off x="1753" y="2000"/>
              <a:ext cx="1359" cy="851"/>
            </a:xfrm>
            <a:custGeom>
              <a:avLst/>
              <a:gdLst/>
              <a:ahLst/>
              <a:cxnLst>
                <a:cxn ang="0">
                  <a:pos x="0" y="851"/>
                </a:cxn>
                <a:cxn ang="0">
                  <a:pos x="421" y="509"/>
                </a:cxn>
                <a:cxn ang="0">
                  <a:pos x="574" y="444"/>
                </a:cxn>
                <a:cxn ang="0">
                  <a:pos x="916" y="262"/>
                </a:cxn>
                <a:cxn ang="0">
                  <a:pos x="1221" y="80"/>
                </a:cxn>
                <a:cxn ang="0">
                  <a:pos x="1308" y="29"/>
                </a:cxn>
                <a:cxn ang="0">
                  <a:pos x="1359" y="0"/>
                </a:cxn>
              </a:cxnLst>
              <a:rect l="0" t="0" r="r" b="b"/>
              <a:pathLst>
                <a:path w="1359" h="851">
                  <a:moveTo>
                    <a:pt x="0" y="851"/>
                  </a:moveTo>
                  <a:cubicBezTo>
                    <a:pt x="91" y="708"/>
                    <a:pt x="273" y="585"/>
                    <a:pt x="421" y="509"/>
                  </a:cubicBezTo>
                  <a:cubicBezTo>
                    <a:pt x="467" y="485"/>
                    <a:pt x="530" y="471"/>
                    <a:pt x="574" y="444"/>
                  </a:cubicBezTo>
                  <a:cubicBezTo>
                    <a:pt x="684" y="377"/>
                    <a:pt x="802" y="323"/>
                    <a:pt x="916" y="262"/>
                  </a:cubicBezTo>
                  <a:cubicBezTo>
                    <a:pt x="1021" y="206"/>
                    <a:pt x="1117" y="137"/>
                    <a:pt x="1221" y="80"/>
                  </a:cubicBezTo>
                  <a:cubicBezTo>
                    <a:pt x="1250" y="64"/>
                    <a:pt x="1279" y="46"/>
                    <a:pt x="1308" y="29"/>
                  </a:cubicBezTo>
                  <a:cubicBezTo>
                    <a:pt x="1325" y="19"/>
                    <a:pt x="1359" y="0"/>
                    <a:pt x="1359" y="0"/>
                  </a:cubicBez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1751" name="Freeform 7"/>
            <p:cNvSpPr>
              <a:spLocks/>
            </p:cNvSpPr>
            <p:nvPr/>
          </p:nvSpPr>
          <p:spPr bwMode="auto">
            <a:xfrm>
              <a:off x="2022" y="2146"/>
              <a:ext cx="1018" cy="79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67" y="87"/>
                </a:cxn>
                <a:cxn ang="0">
                  <a:pos x="312" y="174"/>
                </a:cxn>
                <a:cxn ang="0">
                  <a:pos x="363" y="218"/>
                </a:cxn>
                <a:cxn ang="0">
                  <a:pos x="654" y="458"/>
                </a:cxn>
                <a:cxn ang="0">
                  <a:pos x="749" y="552"/>
                </a:cxn>
                <a:cxn ang="0">
                  <a:pos x="858" y="632"/>
                </a:cxn>
                <a:cxn ang="0">
                  <a:pos x="909" y="691"/>
                </a:cxn>
                <a:cxn ang="0">
                  <a:pos x="960" y="727"/>
                </a:cxn>
                <a:cxn ang="0">
                  <a:pos x="1018" y="792"/>
                </a:cxn>
              </a:cxnLst>
              <a:rect l="0" t="0" r="r" b="b"/>
              <a:pathLst>
                <a:path w="1018" h="792">
                  <a:moveTo>
                    <a:pt x="0" y="0"/>
                  </a:moveTo>
                  <a:cubicBezTo>
                    <a:pt x="103" y="28"/>
                    <a:pt x="87" y="33"/>
                    <a:pt x="167" y="87"/>
                  </a:cubicBezTo>
                  <a:cubicBezTo>
                    <a:pt x="213" y="118"/>
                    <a:pt x="265" y="145"/>
                    <a:pt x="312" y="174"/>
                  </a:cubicBezTo>
                  <a:cubicBezTo>
                    <a:pt x="412" y="236"/>
                    <a:pt x="278" y="158"/>
                    <a:pt x="363" y="218"/>
                  </a:cubicBezTo>
                  <a:cubicBezTo>
                    <a:pt x="466" y="291"/>
                    <a:pt x="560" y="373"/>
                    <a:pt x="654" y="458"/>
                  </a:cubicBezTo>
                  <a:cubicBezTo>
                    <a:pt x="687" y="488"/>
                    <a:pt x="713" y="526"/>
                    <a:pt x="749" y="552"/>
                  </a:cubicBezTo>
                  <a:cubicBezTo>
                    <a:pt x="785" y="579"/>
                    <a:pt x="829" y="598"/>
                    <a:pt x="858" y="632"/>
                  </a:cubicBezTo>
                  <a:cubicBezTo>
                    <a:pt x="875" y="652"/>
                    <a:pt x="890" y="673"/>
                    <a:pt x="909" y="691"/>
                  </a:cubicBezTo>
                  <a:cubicBezTo>
                    <a:pt x="924" y="705"/>
                    <a:pt x="945" y="713"/>
                    <a:pt x="960" y="727"/>
                  </a:cubicBezTo>
                  <a:cubicBezTo>
                    <a:pt x="981" y="746"/>
                    <a:pt x="997" y="772"/>
                    <a:pt x="1018" y="792"/>
                  </a:cubicBez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71753" name="Text Box 9"/>
          <p:cNvSpPr txBox="1">
            <a:spLocks noChangeArrowheads="1"/>
          </p:cNvSpPr>
          <p:nvPr/>
        </p:nvSpPr>
        <p:spPr bwMode="auto">
          <a:xfrm>
            <a:off x="1676400" y="4038600"/>
            <a:ext cx="5867400" cy="160496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dirty="0">
                <a:solidFill>
                  <a:srgbClr val="0000CC"/>
                </a:solidFill>
              </a:rPr>
              <a:t>SELECT</a:t>
            </a:r>
            <a:r>
              <a:rPr lang="en-US" dirty="0"/>
              <a:t> NV.*</a:t>
            </a:r>
          </a:p>
          <a:p>
            <a:pPr algn="l"/>
            <a:r>
              <a:rPr lang="en-US" dirty="0">
                <a:solidFill>
                  <a:srgbClr val="0000CC"/>
                </a:solidFill>
              </a:rPr>
              <a:t>FROM</a:t>
            </a:r>
            <a:r>
              <a:rPr lang="en-US" dirty="0"/>
              <a:t> NHANVIEN NV, THANNHAN TN</a:t>
            </a:r>
          </a:p>
          <a:p>
            <a:pPr algn="l"/>
            <a:r>
              <a:rPr lang="en-US" dirty="0">
                <a:solidFill>
                  <a:srgbClr val="0000CC"/>
                </a:solidFill>
              </a:rPr>
              <a:t>WHERE</a:t>
            </a:r>
            <a:r>
              <a:rPr lang="en-US" dirty="0"/>
              <a:t> NV.MANV=TN.MA_NVIEN</a:t>
            </a:r>
          </a:p>
          <a:p>
            <a:pPr algn="l"/>
            <a:r>
              <a:rPr lang="en-US" dirty="0">
                <a:solidFill>
                  <a:srgbClr val="777777"/>
                </a:solidFill>
              </a:rPr>
              <a:t>AND</a:t>
            </a:r>
            <a:r>
              <a:rPr lang="en-US" dirty="0"/>
              <a:t> NV.TENNV=TN.TENTN </a:t>
            </a:r>
            <a:r>
              <a:rPr lang="en-US" dirty="0">
                <a:solidFill>
                  <a:srgbClr val="777777"/>
                </a:solidFill>
              </a:rPr>
              <a:t>AND</a:t>
            </a:r>
            <a:r>
              <a:rPr lang="en-US" dirty="0"/>
              <a:t> NV.PHAI=TN.PHAI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72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5169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71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71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717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717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1748" grpId="0"/>
      <p:bldP spid="671753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7</a:t>
            </a:r>
          </a:p>
        </p:txBody>
      </p:sp>
      <p:sp>
        <p:nvSpPr>
          <p:cNvPr id="66969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524000"/>
            <a:ext cx="8229600" cy="4800600"/>
          </a:xfrm>
        </p:spPr>
        <p:txBody>
          <a:bodyPr/>
          <a:lstStyle/>
          <a:p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thân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nào</a:t>
            </a:r>
            <a:endParaRPr lang="en-US" dirty="0"/>
          </a:p>
        </p:txBody>
      </p:sp>
      <p:sp>
        <p:nvSpPr>
          <p:cNvPr id="669701" name="Text Box 5"/>
          <p:cNvSpPr txBox="1">
            <a:spLocks noChangeArrowheads="1"/>
          </p:cNvSpPr>
          <p:nvPr/>
        </p:nvSpPr>
        <p:spPr bwMode="auto">
          <a:xfrm>
            <a:off x="1828800" y="2362200"/>
            <a:ext cx="5715000" cy="11922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>
                <a:solidFill>
                  <a:srgbClr val="0000CC"/>
                </a:solidFill>
              </a:rPr>
              <a:t>SELECT</a:t>
            </a:r>
            <a:r>
              <a:rPr lang="en-US"/>
              <a:t> MANV </a:t>
            </a:r>
            <a:r>
              <a:rPr lang="en-US">
                <a:solidFill>
                  <a:srgbClr val="0000CC"/>
                </a:solidFill>
              </a:rPr>
              <a:t>FROM</a:t>
            </a:r>
            <a:r>
              <a:rPr lang="en-US"/>
              <a:t> NHANVIEN </a:t>
            </a:r>
          </a:p>
          <a:p>
            <a:pPr algn="l"/>
            <a:r>
              <a:rPr lang="en-US">
                <a:solidFill>
                  <a:srgbClr val="0000CC"/>
                </a:solidFill>
              </a:rPr>
              <a:t>EXCEPT</a:t>
            </a:r>
          </a:p>
          <a:p>
            <a:pPr algn="l"/>
            <a:r>
              <a:rPr lang="en-US">
                <a:solidFill>
                  <a:srgbClr val="0000CC"/>
                </a:solidFill>
              </a:rPr>
              <a:t>SELECT</a:t>
            </a:r>
            <a:r>
              <a:rPr lang="en-US"/>
              <a:t> MA_NVIEN </a:t>
            </a:r>
            <a:r>
              <a:rPr lang="en-US">
                <a:solidFill>
                  <a:srgbClr val="0000CC"/>
                </a:solidFill>
              </a:rPr>
              <a:t>AS</a:t>
            </a:r>
            <a:r>
              <a:rPr lang="en-US"/>
              <a:t> MANV </a:t>
            </a:r>
            <a:r>
              <a:rPr lang="en-US">
                <a:solidFill>
                  <a:srgbClr val="0000CC"/>
                </a:solidFill>
              </a:rPr>
              <a:t>FROM</a:t>
            </a:r>
            <a:r>
              <a:rPr lang="en-US"/>
              <a:t> THANNHAN</a:t>
            </a:r>
            <a:endParaRPr lang="en-US">
              <a:solidFill>
                <a:srgbClr val="0000CC"/>
              </a:solidFill>
            </a:endParaRPr>
          </a:p>
        </p:txBody>
      </p:sp>
      <p:grpSp>
        <p:nvGrpSpPr>
          <p:cNvPr id="669702" name="Group 6"/>
          <p:cNvGrpSpPr>
            <a:grpSpLocks/>
          </p:cNvGrpSpPr>
          <p:nvPr/>
        </p:nvGrpSpPr>
        <p:grpSpPr bwMode="auto">
          <a:xfrm>
            <a:off x="1828800" y="2819400"/>
            <a:ext cx="762000" cy="381000"/>
            <a:chOff x="1753" y="2000"/>
            <a:chExt cx="1359" cy="938"/>
          </a:xfrm>
        </p:grpSpPr>
        <p:sp>
          <p:nvSpPr>
            <p:cNvPr id="669703" name="Freeform 7"/>
            <p:cNvSpPr>
              <a:spLocks/>
            </p:cNvSpPr>
            <p:nvPr/>
          </p:nvSpPr>
          <p:spPr bwMode="auto">
            <a:xfrm>
              <a:off x="1753" y="2000"/>
              <a:ext cx="1359" cy="851"/>
            </a:xfrm>
            <a:custGeom>
              <a:avLst/>
              <a:gdLst/>
              <a:ahLst/>
              <a:cxnLst>
                <a:cxn ang="0">
                  <a:pos x="0" y="851"/>
                </a:cxn>
                <a:cxn ang="0">
                  <a:pos x="421" y="509"/>
                </a:cxn>
                <a:cxn ang="0">
                  <a:pos x="574" y="444"/>
                </a:cxn>
                <a:cxn ang="0">
                  <a:pos x="916" y="262"/>
                </a:cxn>
                <a:cxn ang="0">
                  <a:pos x="1221" y="80"/>
                </a:cxn>
                <a:cxn ang="0">
                  <a:pos x="1308" y="29"/>
                </a:cxn>
                <a:cxn ang="0">
                  <a:pos x="1359" y="0"/>
                </a:cxn>
              </a:cxnLst>
              <a:rect l="0" t="0" r="r" b="b"/>
              <a:pathLst>
                <a:path w="1359" h="851">
                  <a:moveTo>
                    <a:pt x="0" y="851"/>
                  </a:moveTo>
                  <a:cubicBezTo>
                    <a:pt x="91" y="708"/>
                    <a:pt x="273" y="585"/>
                    <a:pt x="421" y="509"/>
                  </a:cubicBezTo>
                  <a:cubicBezTo>
                    <a:pt x="467" y="485"/>
                    <a:pt x="530" y="471"/>
                    <a:pt x="574" y="444"/>
                  </a:cubicBezTo>
                  <a:cubicBezTo>
                    <a:pt x="684" y="377"/>
                    <a:pt x="802" y="323"/>
                    <a:pt x="916" y="262"/>
                  </a:cubicBezTo>
                  <a:cubicBezTo>
                    <a:pt x="1021" y="206"/>
                    <a:pt x="1117" y="137"/>
                    <a:pt x="1221" y="80"/>
                  </a:cubicBezTo>
                  <a:cubicBezTo>
                    <a:pt x="1250" y="64"/>
                    <a:pt x="1279" y="46"/>
                    <a:pt x="1308" y="29"/>
                  </a:cubicBezTo>
                  <a:cubicBezTo>
                    <a:pt x="1325" y="19"/>
                    <a:pt x="1359" y="0"/>
                    <a:pt x="1359" y="0"/>
                  </a:cubicBez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9704" name="Freeform 8"/>
            <p:cNvSpPr>
              <a:spLocks/>
            </p:cNvSpPr>
            <p:nvPr/>
          </p:nvSpPr>
          <p:spPr bwMode="auto">
            <a:xfrm>
              <a:off x="2022" y="2146"/>
              <a:ext cx="1018" cy="79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67" y="87"/>
                </a:cxn>
                <a:cxn ang="0">
                  <a:pos x="312" y="174"/>
                </a:cxn>
                <a:cxn ang="0">
                  <a:pos x="363" y="218"/>
                </a:cxn>
                <a:cxn ang="0">
                  <a:pos x="654" y="458"/>
                </a:cxn>
                <a:cxn ang="0">
                  <a:pos x="749" y="552"/>
                </a:cxn>
                <a:cxn ang="0">
                  <a:pos x="858" y="632"/>
                </a:cxn>
                <a:cxn ang="0">
                  <a:pos x="909" y="691"/>
                </a:cxn>
                <a:cxn ang="0">
                  <a:pos x="960" y="727"/>
                </a:cxn>
                <a:cxn ang="0">
                  <a:pos x="1018" y="792"/>
                </a:cxn>
              </a:cxnLst>
              <a:rect l="0" t="0" r="r" b="b"/>
              <a:pathLst>
                <a:path w="1018" h="792">
                  <a:moveTo>
                    <a:pt x="0" y="0"/>
                  </a:moveTo>
                  <a:cubicBezTo>
                    <a:pt x="103" y="28"/>
                    <a:pt x="87" y="33"/>
                    <a:pt x="167" y="87"/>
                  </a:cubicBezTo>
                  <a:cubicBezTo>
                    <a:pt x="213" y="118"/>
                    <a:pt x="265" y="145"/>
                    <a:pt x="312" y="174"/>
                  </a:cubicBezTo>
                  <a:cubicBezTo>
                    <a:pt x="412" y="236"/>
                    <a:pt x="278" y="158"/>
                    <a:pt x="363" y="218"/>
                  </a:cubicBezTo>
                  <a:cubicBezTo>
                    <a:pt x="466" y="291"/>
                    <a:pt x="560" y="373"/>
                    <a:pt x="654" y="458"/>
                  </a:cubicBezTo>
                  <a:cubicBezTo>
                    <a:pt x="687" y="488"/>
                    <a:pt x="713" y="526"/>
                    <a:pt x="749" y="552"/>
                  </a:cubicBezTo>
                  <a:cubicBezTo>
                    <a:pt x="785" y="579"/>
                    <a:pt x="829" y="598"/>
                    <a:pt x="858" y="632"/>
                  </a:cubicBezTo>
                  <a:cubicBezTo>
                    <a:pt x="875" y="652"/>
                    <a:pt x="890" y="673"/>
                    <a:pt x="909" y="691"/>
                  </a:cubicBezTo>
                  <a:cubicBezTo>
                    <a:pt x="924" y="705"/>
                    <a:pt x="945" y="713"/>
                    <a:pt x="960" y="727"/>
                  </a:cubicBezTo>
                  <a:cubicBezTo>
                    <a:pt x="981" y="746"/>
                    <a:pt x="997" y="772"/>
                    <a:pt x="1018" y="792"/>
                  </a:cubicBez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73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9547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69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69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9701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Truy</a:t>
            </a:r>
            <a:r>
              <a:rPr lang="en-US" sz="3500" b="1" dirty="0"/>
              <a:t> </a:t>
            </a:r>
            <a:r>
              <a:rPr lang="en-US" sz="3500" b="1" dirty="0" err="1"/>
              <a:t>vấn</a:t>
            </a:r>
            <a:r>
              <a:rPr lang="en-US" sz="3500" b="1" dirty="0"/>
              <a:t> </a:t>
            </a:r>
            <a:r>
              <a:rPr lang="en-US" sz="3500" b="1" dirty="0" err="1"/>
              <a:t>lồng</a:t>
            </a:r>
            <a:endParaRPr lang="en-US" sz="3500" b="1" dirty="0"/>
          </a:p>
        </p:txBody>
      </p:sp>
      <p:sp>
        <p:nvSpPr>
          <p:cNvPr id="673807" name="Rectangle 15"/>
          <p:cNvSpPr>
            <a:spLocks noChangeArrowheads="1"/>
          </p:cNvSpPr>
          <p:nvPr/>
        </p:nvSpPr>
        <p:spPr bwMode="auto">
          <a:xfrm>
            <a:off x="2252663" y="3629025"/>
            <a:ext cx="3200400" cy="1143000"/>
          </a:xfrm>
          <a:prstGeom prst="rect">
            <a:avLst/>
          </a:prstGeom>
          <a:solidFill>
            <a:srgbClr val="FF99CC">
              <a:alpha val="80000"/>
            </a:srgbClr>
          </a:solidFill>
          <a:ln w="12700" algn="ctr">
            <a:solidFill>
              <a:srgbClr val="FF99CC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73806" name="Rectangle 14"/>
          <p:cNvSpPr>
            <a:spLocks noChangeArrowheads="1"/>
          </p:cNvSpPr>
          <p:nvPr/>
        </p:nvSpPr>
        <p:spPr bwMode="auto">
          <a:xfrm>
            <a:off x="3124200" y="4876800"/>
            <a:ext cx="3200400" cy="1066800"/>
          </a:xfrm>
          <a:prstGeom prst="rect">
            <a:avLst/>
          </a:prstGeom>
          <a:solidFill>
            <a:srgbClr val="FF99CC">
              <a:alpha val="80000"/>
            </a:srgbClr>
          </a:solidFill>
          <a:ln w="12700" algn="ctr">
            <a:solidFill>
              <a:srgbClr val="FF99CC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73802" name="Rectangle 10"/>
          <p:cNvSpPr>
            <a:spLocks noChangeArrowheads="1"/>
          </p:cNvSpPr>
          <p:nvPr/>
        </p:nvSpPr>
        <p:spPr bwMode="auto">
          <a:xfrm>
            <a:off x="1295400" y="2362200"/>
            <a:ext cx="5638800" cy="533400"/>
          </a:xfrm>
          <a:prstGeom prst="rect">
            <a:avLst/>
          </a:prstGeom>
          <a:solidFill>
            <a:srgbClr val="99CCFF">
              <a:alpha val="80000"/>
            </a:srgbClr>
          </a:solidFill>
          <a:ln w="12700" algn="ctr">
            <a:solidFill>
              <a:srgbClr val="99CCFF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73803" name="Text Box 11"/>
          <p:cNvSpPr txBox="1">
            <a:spLocks noChangeArrowheads="1"/>
          </p:cNvSpPr>
          <p:nvPr/>
        </p:nvSpPr>
        <p:spPr bwMode="auto">
          <a:xfrm>
            <a:off x="1524000" y="1600200"/>
            <a:ext cx="5562600" cy="11922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>
                <a:solidFill>
                  <a:srgbClr val="0000CC"/>
                </a:solidFill>
              </a:rPr>
              <a:t>SELECT</a:t>
            </a:r>
            <a:r>
              <a:rPr lang="en-US"/>
              <a:t> MANV, TENNV </a:t>
            </a:r>
          </a:p>
          <a:p>
            <a:pPr algn="l"/>
            <a:r>
              <a:rPr lang="en-US">
                <a:solidFill>
                  <a:srgbClr val="0000CC"/>
                </a:solidFill>
              </a:rPr>
              <a:t>FROM </a:t>
            </a:r>
            <a:r>
              <a:rPr lang="en-US"/>
              <a:t>NHANVIEN, PHONGBAN</a:t>
            </a:r>
            <a:endParaRPr lang="en-US">
              <a:solidFill>
                <a:srgbClr val="0000CC"/>
              </a:solidFill>
            </a:endParaRPr>
          </a:p>
          <a:p>
            <a:pPr algn="l"/>
            <a:r>
              <a:rPr lang="en-US">
                <a:solidFill>
                  <a:srgbClr val="0000CC"/>
                </a:solidFill>
              </a:rPr>
              <a:t>WHERE </a:t>
            </a:r>
            <a:r>
              <a:rPr lang="en-US"/>
              <a:t>TENPHG=</a:t>
            </a:r>
            <a:r>
              <a:rPr lang="en-US">
                <a:solidFill>
                  <a:srgbClr val="CC0000"/>
                </a:solidFill>
              </a:rPr>
              <a:t>‘Nghien cuu’</a:t>
            </a:r>
            <a:r>
              <a:rPr lang="en-US"/>
              <a:t> </a:t>
            </a:r>
            <a:r>
              <a:rPr lang="en-US">
                <a:solidFill>
                  <a:srgbClr val="777777"/>
                </a:solidFill>
              </a:rPr>
              <a:t>AND </a:t>
            </a:r>
            <a:r>
              <a:rPr lang="en-US"/>
              <a:t>PHG=MAPHG</a:t>
            </a:r>
            <a:endParaRPr lang="en-US">
              <a:solidFill>
                <a:srgbClr val="777777"/>
              </a:solidFill>
            </a:endParaRPr>
          </a:p>
        </p:txBody>
      </p:sp>
      <p:sp>
        <p:nvSpPr>
          <p:cNvPr id="673805" name="Rectangle 13"/>
          <p:cNvSpPr>
            <a:spLocks noChangeArrowheads="1"/>
          </p:cNvSpPr>
          <p:nvPr/>
        </p:nvSpPr>
        <p:spPr bwMode="auto">
          <a:xfrm>
            <a:off x="2209800" y="3581400"/>
            <a:ext cx="4419600" cy="2443163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l"/>
            <a:r>
              <a:rPr lang="en-US" b="1"/>
              <a:t>SELECT</a:t>
            </a:r>
            <a:r>
              <a:rPr lang="en-US"/>
              <a:t> &lt;danh sách các cột&gt;</a:t>
            </a:r>
          </a:p>
          <a:p>
            <a:pPr algn="l"/>
            <a:r>
              <a:rPr lang="en-US" b="1"/>
              <a:t>FROM</a:t>
            </a:r>
            <a:r>
              <a:rPr lang="en-US"/>
              <a:t> &lt;danh sách các bảng&gt;</a:t>
            </a:r>
          </a:p>
          <a:p>
            <a:pPr algn="l"/>
            <a:r>
              <a:rPr lang="en-US" b="1"/>
              <a:t>WHERE</a:t>
            </a:r>
            <a:r>
              <a:rPr lang="en-US"/>
              <a:t> &lt;so sánh tập hợp&gt; (</a:t>
            </a:r>
          </a:p>
          <a:p>
            <a:pPr algn="l"/>
            <a:r>
              <a:rPr lang="en-US"/>
              <a:t>	</a:t>
            </a:r>
            <a:r>
              <a:rPr lang="en-US" b="1"/>
              <a:t>SELECT</a:t>
            </a:r>
            <a:r>
              <a:rPr lang="en-US"/>
              <a:t> &lt;danh sách các cột&gt;</a:t>
            </a:r>
          </a:p>
          <a:p>
            <a:pPr algn="l"/>
            <a:r>
              <a:rPr lang="en-US" b="1"/>
              <a:t>	FROM</a:t>
            </a:r>
            <a:r>
              <a:rPr lang="en-US"/>
              <a:t> &lt;danh sách các bảng&gt;</a:t>
            </a:r>
          </a:p>
          <a:p>
            <a:pPr algn="l"/>
            <a:r>
              <a:rPr lang="en-US" b="1"/>
              <a:t>	WHERE</a:t>
            </a:r>
            <a:r>
              <a:rPr lang="en-US"/>
              <a:t> &lt;điều kiện&gt;)</a:t>
            </a:r>
          </a:p>
        </p:txBody>
      </p:sp>
      <p:sp>
        <p:nvSpPr>
          <p:cNvPr id="673809" name="Text Box 17"/>
          <p:cNvSpPr txBox="1">
            <a:spLocks noChangeArrowheads="1"/>
          </p:cNvSpPr>
          <p:nvPr/>
        </p:nvSpPr>
        <p:spPr bwMode="auto">
          <a:xfrm>
            <a:off x="228600" y="3733800"/>
            <a:ext cx="1905000" cy="6413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Câu truy vấn cha (Outer query)</a:t>
            </a:r>
          </a:p>
        </p:txBody>
      </p:sp>
      <p:sp>
        <p:nvSpPr>
          <p:cNvPr id="673810" name="Text Box 18"/>
          <p:cNvSpPr txBox="1">
            <a:spLocks noChangeArrowheads="1"/>
          </p:cNvSpPr>
          <p:nvPr/>
        </p:nvSpPr>
        <p:spPr bwMode="auto">
          <a:xfrm>
            <a:off x="6705600" y="5105400"/>
            <a:ext cx="1905000" cy="6413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Câu truy vấn con (Subquery)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74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815328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Truy</a:t>
            </a:r>
            <a:r>
              <a:rPr lang="en-US" sz="3500" b="1" dirty="0"/>
              <a:t> </a:t>
            </a:r>
            <a:r>
              <a:rPr lang="en-US" sz="3500" b="1" dirty="0" err="1"/>
              <a:t>vấn</a:t>
            </a:r>
            <a:r>
              <a:rPr lang="en-US" sz="3500" b="1" dirty="0"/>
              <a:t> </a:t>
            </a:r>
            <a:r>
              <a:rPr lang="en-US" sz="3500" b="1" dirty="0" err="1"/>
              <a:t>lồng</a:t>
            </a:r>
            <a:endParaRPr lang="en-US" sz="3500" b="1" dirty="0"/>
          </a:p>
        </p:txBody>
      </p:sp>
      <p:sp>
        <p:nvSpPr>
          <p:cNvPr id="67584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1371600"/>
            <a:ext cx="8610600" cy="5105400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SELECT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lồng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 ở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mức</a:t>
            </a:r>
            <a:endParaRPr lang="en-US" dirty="0"/>
          </a:p>
          <a:p>
            <a:pPr algn="just">
              <a:lnSpc>
                <a:spcPct val="90000"/>
              </a:lnSpc>
            </a:pP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con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endParaRPr lang="en-US" dirty="0"/>
          </a:p>
          <a:p>
            <a:pPr algn="just">
              <a:lnSpc>
                <a:spcPct val="90000"/>
              </a:lnSpc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con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mệnh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WHERE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logic</a:t>
            </a:r>
          </a:p>
          <a:p>
            <a:pPr algn="just">
              <a:lnSpc>
                <a:spcPct val="90000"/>
              </a:lnSpc>
            </a:pPr>
            <a:r>
              <a:rPr lang="en-US" dirty="0" err="1"/>
              <a:t>Mệnh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WHERE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cha</a:t>
            </a:r>
          </a:p>
          <a:p>
            <a:pPr lvl="1" algn="just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&lt;</a:t>
            </a:r>
            <a:r>
              <a:rPr lang="en-US" dirty="0" err="1">
                <a:solidFill>
                  <a:schemeClr val="tx1"/>
                </a:solidFill>
              </a:rPr>
              <a:t>biểu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thức</a:t>
            </a:r>
            <a:r>
              <a:rPr lang="en-US" dirty="0">
                <a:solidFill>
                  <a:schemeClr val="tx1"/>
                </a:solidFill>
              </a:rPr>
              <a:t>&gt; &lt;so </a:t>
            </a:r>
            <a:r>
              <a:rPr lang="en-US" dirty="0" err="1">
                <a:solidFill>
                  <a:schemeClr val="tx1"/>
                </a:solidFill>
              </a:rPr>
              <a:t>sánh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tập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hợp</a:t>
            </a:r>
            <a:r>
              <a:rPr lang="en-US" dirty="0">
                <a:solidFill>
                  <a:schemeClr val="tx1"/>
                </a:solidFill>
              </a:rPr>
              <a:t>&gt; &lt;</a:t>
            </a:r>
            <a:r>
              <a:rPr lang="en-US" dirty="0" err="1">
                <a:solidFill>
                  <a:schemeClr val="tx1"/>
                </a:solidFill>
              </a:rPr>
              <a:t>truy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vấn</a:t>
            </a:r>
            <a:r>
              <a:rPr lang="en-US" dirty="0">
                <a:solidFill>
                  <a:schemeClr val="tx1"/>
                </a:solidFill>
              </a:rPr>
              <a:t> con&gt;</a:t>
            </a:r>
          </a:p>
          <a:p>
            <a:pPr lvl="1" algn="just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So </a:t>
            </a:r>
            <a:r>
              <a:rPr lang="en-US" dirty="0" err="1">
                <a:solidFill>
                  <a:schemeClr val="tx1"/>
                </a:solidFill>
              </a:rPr>
              <a:t>sánh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tập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hợp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thường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cùng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với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một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số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toán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tử</a:t>
            </a:r>
            <a:endParaRPr lang="en-US" dirty="0">
              <a:solidFill>
                <a:schemeClr val="tx1"/>
              </a:solidFill>
            </a:endParaRPr>
          </a:p>
          <a:p>
            <a:pPr lvl="2" algn="just">
              <a:lnSpc>
                <a:spcPct val="90000"/>
              </a:lnSpc>
            </a:pPr>
            <a:r>
              <a:rPr lang="en-US" dirty="0"/>
              <a:t>IN, NOT IN</a:t>
            </a:r>
          </a:p>
          <a:p>
            <a:pPr lvl="2" algn="just">
              <a:lnSpc>
                <a:spcPct val="90000"/>
              </a:lnSpc>
            </a:pPr>
            <a:r>
              <a:rPr lang="en-US" dirty="0"/>
              <a:t>ALL</a:t>
            </a:r>
          </a:p>
          <a:p>
            <a:pPr lvl="2" algn="just">
              <a:lnSpc>
                <a:spcPct val="90000"/>
              </a:lnSpc>
            </a:pPr>
            <a:r>
              <a:rPr lang="en-US" dirty="0"/>
              <a:t>ANY </a:t>
            </a:r>
            <a:r>
              <a:rPr lang="en-US" dirty="0" err="1"/>
              <a:t>hoặc</a:t>
            </a:r>
            <a:r>
              <a:rPr lang="en-US" dirty="0"/>
              <a:t> SOME</a:t>
            </a:r>
          </a:p>
          <a:p>
            <a:pPr lvl="1" algn="just">
              <a:lnSpc>
                <a:spcPct val="90000"/>
              </a:lnSpc>
            </a:pPr>
            <a:r>
              <a:rPr lang="en-US" dirty="0" err="1">
                <a:solidFill>
                  <a:schemeClr val="tx1"/>
                </a:solidFill>
              </a:rPr>
              <a:t>Kiểm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sự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tồn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tại</a:t>
            </a:r>
            <a:endParaRPr lang="en-US" dirty="0">
              <a:solidFill>
                <a:schemeClr val="tx1"/>
              </a:solidFill>
            </a:endParaRPr>
          </a:p>
          <a:p>
            <a:pPr lvl="2" algn="just">
              <a:lnSpc>
                <a:spcPct val="90000"/>
              </a:lnSpc>
            </a:pPr>
            <a:r>
              <a:rPr lang="en-US" dirty="0"/>
              <a:t>EXISTS</a:t>
            </a:r>
          </a:p>
          <a:p>
            <a:pPr lvl="2" algn="just">
              <a:lnSpc>
                <a:spcPct val="90000"/>
              </a:lnSpc>
            </a:pPr>
            <a:r>
              <a:rPr lang="en-US" dirty="0"/>
              <a:t>NOT EXISTS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75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166963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Truy</a:t>
            </a:r>
            <a:r>
              <a:rPr lang="en-US" sz="3500" b="1" dirty="0"/>
              <a:t> </a:t>
            </a:r>
            <a:r>
              <a:rPr lang="en-US" sz="3500" b="1" dirty="0" err="1"/>
              <a:t>vấn</a:t>
            </a:r>
            <a:r>
              <a:rPr lang="en-US" sz="3500" b="1" dirty="0"/>
              <a:t> </a:t>
            </a:r>
            <a:r>
              <a:rPr lang="en-US" sz="3500" b="1" dirty="0" err="1"/>
              <a:t>lồng</a:t>
            </a:r>
            <a:endParaRPr lang="en-US" sz="3500" b="1" dirty="0"/>
          </a:p>
        </p:txBody>
      </p:sp>
      <p:sp>
        <p:nvSpPr>
          <p:cNvPr id="67789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229600" cy="4724400"/>
          </a:xfrm>
        </p:spPr>
        <p:txBody>
          <a:bodyPr/>
          <a:lstStyle/>
          <a:p>
            <a:pPr algn="just"/>
            <a:r>
              <a:rPr lang="en-US" dirty="0" err="1"/>
              <a:t>Có</a:t>
            </a:r>
            <a:r>
              <a:rPr lang="en-US" dirty="0"/>
              <a:t> 2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lồng</a:t>
            </a:r>
            <a:endParaRPr lang="en-US" dirty="0"/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Lồng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phân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cấp</a:t>
            </a:r>
            <a:endParaRPr lang="en-US" dirty="0">
              <a:solidFill>
                <a:schemeClr val="tx1"/>
              </a:solidFill>
            </a:endParaRPr>
          </a:p>
          <a:p>
            <a:pPr lvl="2" algn="just"/>
            <a:r>
              <a:rPr lang="en-US" dirty="0" err="1"/>
              <a:t>Mệnh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WHERE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con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chiếu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mệnh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FROM ở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cha</a:t>
            </a:r>
          </a:p>
          <a:p>
            <a:pPr lvl="2" algn="just"/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,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con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trước</a:t>
            </a:r>
            <a:endParaRPr lang="en-US" dirty="0"/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Lồng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tương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quan</a:t>
            </a:r>
            <a:endParaRPr lang="en-US" dirty="0">
              <a:solidFill>
                <a:schemeClr val="tx1"/>
              </a:solidFill>
            </a:endParaRPr>
          </a:p>
          <a:p>
            <a:pPr lvl="2" algn="just"/>
            <a:r>
              <a:rPr lang="en-US" dirty="0" err="1"/>
              <a:t>Mệnh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WHERE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con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chiếu</a:t>
            </a:r>
            <a:r>
              <a:rPr lang="en-US" dirty="0"/>
              <a:t> </a:t>
            </a:r>
            <a:r>
              <a:rPr lang="en-US" dirty="0" err="1"/>
              <a:t>ít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mệnh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FROM ở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cha</a:t>
            </a:r>
          </a:p>
          <a:p>
            <a:pPr lvl="2" algn="just"/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,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con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lần</a:t>
            </a:r>
            <a:r>
              <a:rPr lang="en-US" dirty="0"/>
              <a:t>,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lần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cha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76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849401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- </a:t>
            </a:r>
            <a:r>
              <a:rPr lang="en-US" sz="3500" b="1" dirty="0" err="1"/>
              <a:t>Lồng</a:t>
            </a:r>
            <a:r>
              <a:rPr lang="en-US" sz="3500" b="1" dirty="0"/>
              <a:t> </a:t>
            </a:r>
            <a:r>
              <a:rPr lang="en-US" sz="3500" b="1" dirty="0" err="1"/>
              <a:t>phân</a:t>
            </a:r>
            <a:r>
              <a:rPr lang="en-US" sz="3500" b="1" dirty="0"/>
              <a:t> </a:t>
            </a:r>
            <a:r>
              <a:rPr lang="en-US" sz="3500" b="1" dirty="0" err="1"/>
              <a:t>cấp</a:t>
            </a:r>
            <a:endParaRPr lang="en-US" sz="3500" b="1" dirty="0"/>
          </a:p>
        </p:txBody>
      </p:sp>
      <p:sp>
        <p:nvSpPr>
          <p:cNvPr id="679941" name="Text Box 5"/>
          <p:cNvSpPr txBox="1">
            <a:spLocks noChangeArrowheads="1"/>
          </p:cNvSpPr>
          <p:nvPr/>
        </p:nvSpPr>
        <p:spPr bwMode="auto">
          <a:xfrm>
            <a:off x="310274" y="1460500"/>
            <a:ext cx="5562600" cy="11922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dirty="0">
                <a:solidFill>
                  <a:srgbClr val="0000CC"/>
                </a:solidFill>
              </a:rPr>
              <a:t>SELECT</a:t>
            </a:r>
            <a:r>
              <a:rPr lang="en-US" dirty="0"/>
              <a:t> MANV, TENNV </a:t>
            </a:r>
          </a:p>
          <a:p>
            <a:pPr algn="l"/>
            <a:r>
              <a:rPr lang="en-US" dirty="0">
                <a:solidFill>
                  <a:srgbClr val="0000CC"/>
                </a:solidFill>
              </a:rPr>
              <a:t>FROM </a:t>
            </a:r>
            <a:r>
              <a:rPr lang="en-US" dirty="0"/>
              <a:t>NHANVIEN, PHONGBAN</a:t>
            </a:r>
            <a:endParaRPr lang="en-US" dirty="0">
              <a:solidFill>
                <a:srgbClr val="0000CC"/>
              </a:solidFill>
            </a:endParaRPr>
          </a:p>
          <a:p>
            <a:pPr algn="l"/>
            <a:r>
              <a:rPr lang="en-US" dirty="0">
                <a:solidFill>
                  <a:srgbClr val="0000CC"/>
                </a:solidFill>
              </a:rPr>
              <a:t>WHERE </a:t>
            </a:r>
            <a:r>
              <a:rPr lang="en-US" dirty="0"/>
              <a:t>TENPHG=</a:t>
            </a:r>
            <a:r>
              <a:rPr lang="en-US" dirty="0">
                <a:solidFill>
                  <a:srgbClr val="CC0000"/>
                </a:solidFill>
              </a:rPr>
              <a:t>‘</a:t>
            </a:r>
            <a:r>
              <a:rPr lang="en-US" dirty="0" err="1">
                <a:solidFill>
                  <a:srgbClr val="CC0000"/>
                </a:solidFill>
              </a:rPr>
              <a:t>Nghien</a:t>
            </a:r>
            <a:r>
              <a:rPr lang="en-US" dirty="0">
                <a:solidFill>
                  <a:srgbClr val="CC0000"/>
                </a:solidFill>
              </a:rPr>
              <a:t> </a:t>
            </a:r>
            <a:r>
              <a:rPr lang="en-US" dirty="0" err="1">
                <a:solidFill>
                  <a:srgbClr val="CC0000"/>
                </a:solidFill>
              </a:rPr>
              <a:t>cuu</a:t>
            </a:r>
            <a:r>
              <a:rPr lang="en-US" dirty="0">
                <a:solidFill>
                  <a:srgbClr val="CC0000"/>
                </a:solidFill>
              </a:rPr>
              <a:t>’</a:t>
            </a:r>
            <a:r>
              <a:rPr lang="en-US" dirty="0"/>
              <a:t> </a:t>
            </a:r>
            <a:r>
              <a:rPr lang="en-US" dirty="0">
                <a:solidFill>
                  <a:srgbClr val="777777"/>
                </a:solidFill>
              </a:rPr>
              <a:t>AND </a:t>
            </a:r>
            <a:r>
              <a:rPr lang="en-US" dirty="0"/>
              <a:t>PHG=MAPHG</a:t>
            </a:r>
            <a:endParaRPr lang="en-US" dirty="0">
              <a:solidFill>
                <a:srgbClr val="777777"/>
              </a:solidFill>
            </a:endParaRPr>
          </a:p>
        </p:txBody>
      </p:sp>
      <p:grpSp>
        <p:nvGrpSpPr>
          <p:cNvPr id="679951" name="Group 15"/>
          <p:cNvGrpSpPr>
            <a:grpSpLocks/>
          </p:cNvGrpSpPr>
          <p:nvPr/>
        </p:nvGrpSpPr>
        <p:grpSpPr bwMode="auto">
          <a:xfrm>
            <a:off x="381000" y="3048000"/>
            <a:ext cx="6134100" cy="2395538"/>
            <a:chOff x="552" y="1947"/>
            <a:chExt cx="3864" cy="1509"/>
          </a:xfrm>
        </p:grpSpPr>
        <p:sp>
          <p:nvSpPr>
            <p:cNvPr id="679942" name="Text Box 6"/>
            <p:cNvSpPr txBox="1">
              <a:spLocks noChangeArrowheads="1"/>
            </p:cNvSpPr>
            <p:nvPr/>
          </p:nvSpPr>
          <p:spPr bwMode="auto">
            <a:xfrm>
              <a:off x="939" y="1965"/>
              <a:ext cx="3477" cy="127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en-US">
                  <a:solidFill>
                    <a:srgbClr val="0000CC"/>
                  </a:solidFill>
                </a:rPr>
                <a:t>SELECT</a:t>
              </a:r>
              <a:r>
                <a:rPr lang="en-US"/>
                <a:t> MANV, TENNV </a:t>
              </a:r>
            </a:p>
            <a:p>
              <a:pPr algn="l"/>
              <a:r>
                <a:rPr lang="en-US">
                  <a:solidFill>
                    <a:srgbClr val="0000CC"/>
                  </a:solidFill>
                </a:rPr>
                <a:t>FROM    </a:t>
              </a:r>
              <a:r>
                <a:rPr lang="en-US"/>
                <a:t>NHANVIEN</a:t>
              </a:r>
              <a:r>
                <a:rPr lang="en-US">
                  <a:solidFill>
                    <a:srgbClr val="CC0000"/>
                  </a:solidFill>
                </a:rPr>
                <a:t> </a:t>
              </a:r>
            </a:p>
            <a:p>
              <a:pPr algn="l"/>
              <a:r>
                <a:rPr lang="en-US">
                  <a:solidFill>
                    <a:srgbClr val="0000CC"/>
                  </a:solidFill>
                </a:rPr>
                <a:t>WHERE</a:t>
              </a:r>
              <a:r>
                <a:rPr lang="en-US"/>
                <a:t>  PHG </a:t>
              </a:r>
              <a:r>
                <a:rPr lang="en-US">
                  <a:solidFill>
                    <a:srgbClr val="777777"/>
                  </a:solidFill>
                </a:rPr>
                <a:t>IN</a:t>
              </a:r>
              <a:r>
                <a:rPr lang="en-US"/>
                <a:t> ( </a:t>
              </a:r>
              <a:r>
                <a:rPr lang="en-US">
                  <a:solidFill>
                    <a:srgbClr val="0000CC"/>
                  </a:solidFill>
                </a:rPr>
                <a:t>SELECT</a:t>
              </a:r>
              <a:r>
                <a:rPr lang="en-US"/>
                <a:t> MAPHG </a:t>
              </a:r>
            </a:p>
            <a:p>
              <a:pPr algn="l"/>
              <a:r>
                <a:rPr lang="en-US"/>
                <a:t>	             </a:t>
              </a:r>
              <a:r>
                <a:rPr lang="en-US">
                  <a:solidFill>
                    <a:srgbClr val="0000CC"/>
                  </a:solidFill>
                </a:rPr>
                <a:t>FROM</a:t>
              </a:r>
              <a:r>
                <a:rPr lang="en-US"/>
                <a:t> PHONGBAN</a:t>
              </a:r>
            </a:p>
            <a:p>
              <a:pPr algn="l"/>
              <a:r>
                <a:rPr lang="en-US"/>
                <a:t>                          </a:t>
              </a:r>
              <a:r>
                <a:rPr lang="en-US">
                  <a:solidFill>
                    <a:srgbClr val="0000CC"/>
                  </a:solidFill>
                </a:rPr>
                <a:t>WHERE</a:t>
              </a:r>
              <a:r>
                <a:rPr lang="en-US"/>
                <a:t> TENPHG=</a:t>
              </a:r>
              <a:r>
                <a:rPr lang="en-US">
                  <a:solidFill>
                    <a:srgbClr val="CC0000"/>
                  </a:solidFill>
                </a:rPr>
                <a:t>‘Nghien cuu’</a:t>
              </a:r>
              <a:r>
                <a:rPr lang="en-US"/>
                <a:t>)</a:t>
              </a:r>
            </a:p>
          </p:txBody>
        </p:sp>
        <p:sp>
          <p:nvSpPr>
            <p:cNvPr id="679944" name="Oval 8"/>
            <p:cNvSpPr>
              <a:spLocks noChangeArrowheads="1"/>
            </p:cNvSpPr>
            <p:nvPr/>
          </p:nvSpPr>
          <p:spPr bwMode="auto">
            <a:xfrm>
              <a:off x="552" y="1947"/>
              <a:ext cx="2880" cy="873"/>
            </a:xfrm>
            <a:prstGeom prst="ellipse">
              <a:avLst/>
            </a:prstGeom>
            <a:noFill/>
            <a:ln w="12700" algn="ctr">
              <a:solidFill>
                <a:srgbClr val="777777"/>
              </a:solidFill>
              <a:prstDash val="dash"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79945" name="Oval 9"/>
            <p:cNvSpPr>
              <a:spLocks noChangeArrowheads="1"/>
            </p:cNvSpPr>
            <p:nvPr/>
          </p:nvSpPr>
          <p:spPr bwMode="auto">
            <a:xfrm>
              <a:off x="1920" y="2340"/>
              <a:ext cx="2400" cy="1116"/>
            </a:xfrm>
            <a:prstGeom prst="ellipse">
              <a:avLst/>
            </a:prstGeom>
            <a:noFill/>
            <a:ln w="12700" algn="ctr">
              <a:solidFill>
                <a:srgbClr val="777777"/>
              </a:solidFill>
              <a:prstDash val="dash"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79953" name="Group 17"/>
          <p:cNvGrpSpPr>
            <a:grpSpLocks/>
          </p:cNvGrpSpPr>
          <p:nvPr/>
        </p:nvGrpSpPr>
        <p:grpSpPr bwMode="auto">
          <a:xfrm>
            <a:off x="5562600" y="2514600"/>
            <a:ext cx="3276600" cy="1600200"/>
            <a:chOff x="3651" y="1689"/>
            <a:chExt cx="2064" cy="1008"/>
          </a:xfrm>
        </p:grpSpPr>
        <p:sp>
          <p:nvSpPr>
            <p:cNvPr id="679948" name="Text Box 12"/>
            <p:cNvSpPr txBox="1">
              <a:spLocks noChangeArrowheads="1"/>
            </p:cNvSpPr>
            <p:nvPr/>
          </p:nvSpPr>
          <p:spPr bwMode="auto">
            <a:xfrm>
              <a:off x="3840" y="1776"/>
              <a:ext cx="1776" cy="75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en-US">
                  <a:solidFill>
                    <a:srgbClr val="0000CC"/>
                  </a:solidFill>
                </a:rPr>
                <a:t>SELECT</a:t>
              </a:r>
              <a:r>
                <a:rPr lang="en-US"/>
                <a:t> MANV, TENNV </a:t>
              </a:r>
            </a:p>
            <a:p>
              <a:pPr algn="l"/>
              <a:r>
                <a:rPr lang="en-US">
                  <a:solidFill>
                    <a:srgbClr val="0000CC"/>
                  </a:solidFill>
                </a:rPr>
                <a:t>FROM </a:t>
              </a:r>
              <a:r>
                <a:rPr lang="en-US"/>
                <a:t>NHANVIEN</a:t>
              </a:r>
              <a:endParaRPr lang="en-US">
                <a:solidFill>
                  <a:srgbClr val="0000CC"/>
                </a:solidFill>
              </a:endParaRPr>
            </a:p>
            <a:p>
              <a:pPr algn="l"/>
              <a:r>
                <a:rPr lang="en-US">
                  <a:solidFill>
                    <a:srgbClr val="0000CC"/>
                  </a:solidFill>
                </a:rPr>
                <a:t>WHERE</a:t>
              </a:r>
              <a:r>
                <a:rPr lang="en-US"/>
                <a:t> PHG </a:t>
              </a:r>
              <a:r>
                <a:rPr lang="en-US">
                  <a:solidFill>
                    <a:srgbClr val="777777"/>
                  </a:solidFill>
                </a:rPr>
                <a:t>IN</a:t>
              </a:r>
              <a:r>
                <a:rPr lang="en-US"/>
                <a:t> ( 1, 4, 5)</a:t>
              </a:r>
            </a:p>
          </p:txBody>
        </p:sp>
        <p:sp>
          <p:nvSpPr>
            <p:cNvPr id="679952" name="Oval 16"/>
            <p:cNvSpPr>
              <a:spLocks noChangeArrowheads="1"/>
            </p:cNvSpPr>
            <p:nvPr/>
          </p:nvSpPr>
          <p:spPr bwMode="auto">
            <a:xfrm>
              <a:off x="3651" y="1689"/>
              <a:ext cx="2064" cy="1008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77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0886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79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79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5</a:t>
            </a:r>
          </a:p>
        </p:txBody>
      </p:sp>
      <p:sp>
        <p:nvSpPr>
          <p:cNvPr id="684041" name="Text Box 9"/>
          <p:cNvSpPr txBox="1">
            <a:spLocks noChangeArrowheads="1"/>
          </p:cNvSpPr>
          <p:nvPr/>
        </p:nvSpPr>
        <p:spPr bwMode="auto">
          <a:xfrm>
            <a:off x="1219200" y="1752600"/>
            <a:ext cx="6400800" cy="325596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>
                <a:solidFill>
                  <a:srgbClr val="0000CC"/>
                </a:solidFill>
              </a:rPr>
              <a:t>SELECT </a:t>
            </a:r>
            <a:r>
              <a:rPr lang="en-US"/>
              <a:t>SODA </a:t>
            </a:r>
            <a:endParaRPr lang="en-US">
              <a:solidFill>
                <a:srgbClr val="CC0000"/>
              </a:solidFill>
            </a:endParaRPr>
          </a:p>
          <a:p>
            <a:pPr algn="l"/>
            <a:r>
              <a:rPr lang="en-US">
                <a:solidFill>
                  <a:srgbClr val="0000CC"/>
                </a:solidFill>
              </a:rPr>
              <a:t>FROM</a:t>
            </a:r>
            <a:r>
              <a:rPr lang="en-US"/>
              <a:t> NHANVIEN NV, PHANCONG PC</a:t>
            </a:r>
            <a:endParaRPr lang="en-US">
              <a:solidFill>
                <a:srgbClr val="0000CC"/>
              </a:solidFill>
            </a:endParaRPr>
          </a:p>
          <a:p>
            <a:pPr algn="l"/>
            <a:r>
              <a:rPr lang="en-US">
                <a:solidFill>
                  <a:srgbClr val="0000CC"/>
                </a:solidFill>
              </a:rPr>
              <a:t>WHERE</a:t>
            </a:r>
            <a:r>
              <a:rPr lang="en-US"/>
              <a:t> NV.MANV=PC.MA_NVIEN </a:t>
            </a:r>
            <a:r>
              <a:rPr lang="en-US">
                <a:solidFill>
                  <a:srgbClr val="777777"/>
                </a:solidFill>
              </a:rPr>
              <a:t>AND</a:t>
            </a:r>
            <a:r>
              <a:rPr lang="en-US"/>
              <a:t> NV.HONV=</a:t>
            </a:r>
            <a:r>
              <a:rPr lang="en-US">
                <a:solidFill>
                  <a:srgbClr val="CC0000"/>
                </a:solidFill>
              </a:rPr>
              <a:t>‘Nguyen’</a:t>
            </a:r>
          </a:p>
          <a:p>
            <a:pPr algn="l"/>
            <a:r>
              <a:rPr lang="en-US">
                <a:solidFill>
                  <a:srgbClr val="0000CC"/>
                </a:solidFill>
              </a:rPr>
              <a:t>UNION</a:t>
            </a:r>
          </a:p>
          <a:p>
            <a:pPr algn="l"/>
            <a:r>
              <a:rPr lang="en-US">
                <a:solidFill>
                  <a:srgbClr val="0000CC"/>
                </a:solidFill>
              </a:rPr>
              <a:t>SELECT </a:t>
            </a:r>
            <a:r>
              <a:rPr lang="en-US"/>
              <a:t>MADA</a:t>
            </a:r>
            <a:endParaRPr lang="en-US">
              <a:solidFill>
                <a:srgbClr val="CC0000"/>
              </a:solidFill>
            </a:endParaRPr>
          </a:p>
          <a:p>
            <a:pPr algn="l"/>
            <a:r>
              <a:rPr lang="en-US">
                <a:solidFill>
                  <a:srgbClr val="0000CC"/>
                </a:solidFill>
              </a:rPr>
              <a:t>FROM</a:t>
            </a:r>
            <a:r>
              <a:rPr lang="en-US"/>
              <a:t> NHANVIEN NV, PHONGBAN PB, DEAN DA</a:t>
            </a:r>
            <a:endParaRPr lang="en-US">
              <a:solidFill>
                <a:srgbClr val="0000CC"/>
              </a:solidFill>
            </a:endParaRPr>
          </a:p>
          <a:p>
            <a:pPr algn="l"/>
            <a:r>
              <a:rPr lang="en-US">
                <a:solidFill>
                  <a:srgbClr val="0000CC"/>
                </a:solidFill>
              </a:rPr>
              <a:t>WHERE</a:t>
            </a:r>
            <a:r>
              <a:rPr lang="en-US"/>
              <a:t> NV.MANV=PB.TRPHG </a:t>
            </a:r>
            <a:r>
              <a:rPr lang="en-US">
                <a:solidFill>
                  <a:srgbClr val="777777"/>
                </a:solidFill>
              </a:rPr>
              <a:t>AND</a:t>
            </a:r>
            <a:r>
              <a:rPr lang="en-US"/>
              <a:t> PB.MAPHG=DA.PHONG</a:t>
            </a:r>
          </a:p>
          <a:p>
            <a:pPr algn="l"/>
            <a:r>
              <a:rPr lang="en-US">
                <a:solidFill>
                  <a:srgbClr val="777777"/>
                </a:solidFill>
              </a:rPr>
              <a:t>AND</a:t>
            </a:r>
            <a:r>
              <a:rPr lang="en-US"/>
              <a:t> NV.HONV=</a:t>
            </a:r>
            <a:r>
              <a:rPr lang="en-US">
                <a:solidFill>
                  <a:srgbClr val="CC0000"/>
                </a:solidFill>
              </a:rPr>
              <a:t>‘Nguyen’</a:t>
            </a:r>
            <a:endParaRPr lang="en-US"/>
          </a:p>
        </p:txBody>
      </p:sp>
      <p:grpSp>
        <p:nvGrpSpPr>
          <p:cNvPr id="684043" name="Group 11"/>
          <p:cNvGrpSpPr>
            <a:grpSpLocks/>
          </p:cNvGrpSpPr>
          <p:nvPr/>
        </p:nvGrpSpPr>
        <p:grpSpPr bwMode="auto">
          <a:xfrm>
            <a:off x="914400" y="1524000"/>
            <a:ext cx="7391400" cy="4800600"/>
            <a:chOff x="576" y="960"/>
            <a:chExt cx="4656" cy="3024"/>
          </a:xfrm>
        </p:grpSpPr>
        <p:sp>
          <p:nvSpPr>
            <p:cNvPr id="684044" name="Text Box 12"/>
            <p:cNvSpPr txBox="1">
              <a:spLocks noChangeArrowheads="1"/>
            </p:cNvSpPr>
            <p:nvPr/>
          </p:nvSpPr>
          <p:spPr bwMode="auto">
            <a:xfrm>
              <a:off x="576" y="960"/>
              <a:ext cx="4512" cy="28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en-US" dirty="0">
                  <a:solidFill>
                    <a:srgbClr val="0000CC"/>
                  </a:solidFill>
                </a:rPr>
                <a:t>SELECT DISTINCT </a:t>
              </a:r>
              <a:r>
                <a:rPr lang="en-US" dirty="0"/>
                <a:t>TENDA </a:t>
              </a:r>
            </a:p>
            <a:p>
              <a:pPr algn="l"/>
              <a:r>
                <a:rPr lang="en-US" dirty="0">
                  <a:solidFill>
                    <a:srgbClr val="0000CC"/>
                  </a:solidFill>
                </a:rPr>
                <a:t>FROM</a:t>
              </a:r>
              <a:r>
                <a:rPr lang="en-US" dirty="0"/>
                <a:t> DEAN</a:t>
              </a:r>
            </a:p>
            <a:p>
              <a:pPr algn="l"/>
              <a:r>
                <a:rPr lang="en-US" dirty="0">
                  <a:solidFill>
                    <a:srgbClr val="0000CC"/>
                  </a:solidFill>
                </a:rPr>
                <a:t>WHERE</a:t>
              </a:r>
              <a:r>
                <a:rPr lang="en-US" dirty="0"/>
                <a:t> MADA </a:t>
              </a:r>
              <a:r>
                <a:rPr lang="en-US" dirty="0">
                  <a:solidFill>
                    <a:srgbClr val="777777"/>
                  </a:solidFill>
                </a:rPr>
                <a:t>IN</a:t>
              </a:r>
              <a:r>
                <a:rPr lang="en-US" dirty="0"/>
                <a:t> (</a:t>
              </a:r>
            </a:p>
            <a:p>
              <a:pPr algn="l"/>
              <a:r>
                <a:rPr lang="en-US" dirty="0"/>
                <a:t>		</a:t>
              </a:r>
              <a:r>
                <a:rPr lang="en-US" dirty="0">
                  <a:solidFill>
                    <a:srgbClr val="0000CC"/>
                  </a:solidFill>
                </a:rPr>
                <a:t>SELECT</a:t>
              </a:r>
              <a:r>
                <a:rPr lang="en-US" dirty="0"/>
                <a:t> SODA</a:t>
              </a:r>
            </a:p>
            <a:p>
              <a:pPr algn="l"/>
              <a:r>
                <a:rPr lang="en-US" dirty="0">
                  <a:solidFill>
                    <a:srgbClr val="0000CC"/>
                  </a:solidFill>
                </a:rPr>
                <a:t>		FROM</a:t>
              </a:r>
              <a:r>
                <a:rPr lang="en-US" dirty="0"/>
                <a:t> NHANVIEN, PHANCONG </a:t>
              </a:r>
              <a:endParaRPr lang="en-US" dirty="0">
                <a:solidFill>
                  <a:srgbClr val="0000CC"/>
                </a:solidFill>
              </a:endParaRPr>
            </a:p>
            <a:p>
              <a:pPr algn="l"/>
              <a:r>
                <a:rPr lang="en-US" dirty="0">
                  <a:solidFill>
                    <a:srgbClr val="0000CC"/>
                  </a:solidFill>
                </a:rPr>
                <a:t>		WHERE</a:t>
              </a:r>
              <a:r>
                <a:rPr lang="en-US" dirty="0"/>
                <a:t> MANV=MA_NVIEN </a:t>
              </a:r>
              <a:r>
                <a:rPr lang="en-US" dirty="0">
                  <a:solidFill>
                    <a:srgbClr val="777777"/>
                  </a:solidFill>
                </a:rPr>
                <a:t>AND</a:t>
              </a:r>
              <a:r>
                <a:rPr lang="en-US" dirty="0"/>
                <a:t> HONV=</a:t>
              </a:r>
              <a:r>
                <a:rPr lang="en-US" dirty="0">
                  <a:solidFill>
                    <a:srgbClr val="CC0000"/>
                  </a:solidFill>
                </a:rPr>
                <a:t>‘Nguyen’</a:t>
              </a:r>
              <a:r>
                <a:rPr lang="en-US" dirty="0"/>
                <a:t>)</a:t>
              </a:r>
            </a:p>
            <a:p>
              <a:pPr algn="l"/>
              <a:r>
                <a:rPr lang="en-US" dirty="0">
                  <a:solidFill>
                    <a:srgbClr val="777777"/>
                  </a:solidFill>
                </a:rPr>
                <a:t>OR</a:t>
              </a:r>
              <a:r>
                <a:rPr lang="en-US" dirty="0"/>
                <a:t> MADA </a:t>
              </a:r>
              <a:r>
                <a:rPr lang="en-US" dirty="0">
                  <a:solidFill>
                    <a:srgbClr val="777777"/>
                  </a:solidFill>
                </a:rPr>
                <a:t>IN</a:t>
              </a:r>
              <a:r>
                <a:rPr lang="en-US" dirty="0"/>
                <a:t> (</a:t>
              </a:r>
              <a:endParaRPr lang="en-US" dirty="0">
                <a:solidFill>
                  <a:srgbClr val="777777"/>
                </a:solidFill>
              </a:endParaRPr>
            </a:p>
            <a:p>
              <a:pPr algn="l"/>
              <a:r>
                <a:rPr lang="en-US" dirty="0">
                  <a:solidFill>
                    <a:srgbClr val="0000CC"/>
                  </a:solidFill>
                </a:rPr>
                <a:t>		SELECT </a:t>
              </a:r>
              <a:r>
                <a:rPr lang="en-US" dirty="0"/>
                <a:t>MADA</a:t>
              </a:r>
              <a:endParaRPr lang="en-US" dirty="0">
                <a:solidFill>
                  <a:srgbClr val="CC0000"/>
                </a:solidFill>
              </a:endParaRPr>
            </a:p>
            <a:p>
              <a:pPr algn="l"/>
              <a:r>
                <a:rPr lang="en-US" dirty="0">
                  <a:solidFill>
                    <a:srgbClr val="0000CC"/>
                  </a:solidFill>
                </a:rPr>
                <a:t>		FROM</a:t>
              </a:r>
              <a:r>
                <a:rPr lang="en-US" dirty="0"/>
                <a:t> NHANVIEN, PHONGBAN DEAN </a:t>
              </a:r>
              <a:endParaRPr lang="en-US" dirty="0">
                <a:solidFill>
                  <a:srgbClr val="0000CC"/>
                </a:solidFill>
              </a:endParaRPr>
            </a:p>
            <a:p>
              <a:pPr algn="l"/>
              <a:r>
                <a:rPr lang="en-US" dirty="0">
                  <a:solidFill>
                    <a:srgbClr val="0000CC"/>
                  </a:solidFill>
                </a:rPr>
                <a:t>		WHERE</a:t>
              </a:r>
              <a:r>
                <a:rPr lang="en-US" dirty="0"/>
                <a:t> MANV=TRPHG </a:t>
              </a:r>
              <a:r>
                <a:rPr lang="en-US" dirty="0">
                  <a:solidFill>
                    <a:srgbClr val="777777"/>
                  </a:solidFill>
                </a:rPr>
                <a:t>AND</a:t>
              </a:r>
              <a:r>
                <a:rPr lang="en-US" dirty="0"/>
                <a:t> MAPHG=PHONG </a:t>
              </a:r>
            </a:p>
            <a:p>
              <a:pPr algn="l"/>
              <a:r>
                <a:rPr lang="en-US" dirty="0"/>
                <a:t>		</a:t>
              </a:r>
              <a:r>
                <a:rPr lang="en-US" dirty="0">
                  <a:solidFill>
                    <a:srgbClr val="777777"/>
                  </a:solidFill>
                </a:rPr>
                <a:t>AND</a:t>
              </a:r>
              <a:r>
                <a:rPr lang="en-US" dirty="0"/>
                <a:t> HONV=</a:t>
              </a:r>
              <a:r>
                <a:rPr lang="en-US" dirty="0">
                  <a:solidFill>
                    <a:srgbClr val="CC0000"/>
                  </a:solidFill>
                </a:rPr>
                <a:t>‘Nguyen’</a:t>
              </a:r>
              <a:r>
                <a:rPr lang="en-US" dirty="0"/>
                <a:t>)</a:t>
              </a:r>
            </a:p>
          </p:txBody>
        </p:sp>
        <p:sp>
          <p:nvSpPr>
            <p:cNvPr id="684045" name="Oval 13"/>
            <p:cNvSpPr>
              <a:spLocks noChangeArrowheads="1"/>
            </p:cNvSpPr>
            <p:nvPr/>
          </p:nvSpPr>
          <p:spPr bwMode="auto">
            <a:xfrm>
              <a:off x="1536" y="1488"/>
              <a:ext cx="3696" cy="1200"/>
            </a:xfrm>
            <a:prstGeom prst="ellipse">
              <a:avLst/>
            </a:prstGeom>
            <a:noFill/>
            <a:ln w="12700" algn="ctr">
              <a:solidFill>
                <a:srgbClr val="777777"/>
              </a:solidFill>
              <a:prstDash val="dash"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84046" name="Oval 14"/>
            <p:cNvSpPr>
              <a:spLocks noChangeArrowheads="1"/>
            </p:cNvSpPr>
            <p:nvPr/>
          </p:nvSpPr>
          <p:spPr bwMode="auto">
            <a:xfrm>
              <a:off x="1296" y="2640"/>
              <a:ext cx="3504" cy="1344"/>
            </a:xfrm>
            <a:prstGeom prst="ellipse">
              <a:avLst/>
            </a:prstGeom>
            <a:noFill/>
            <a:ln w="12700" algn="ctr">
              <a:solidFill>
                <a:srgbClr val="777777"/>
              </a:solidFill>
              <a:prstDash val="dash"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78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4232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4041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>
            <a:normAutofit fontScale="90000"/>
          </a:bodyPr>
          <a:lstStyle/>
          <a:p>
            <a:r>
              <a:rPr lang="en-US" sz="3500" b="1"/>
              <a:t>Ví dụ 7</a:t>
            </a:r>
          </a:p>
        </p:txBody>
      </p:sp>
      <p:sp>
        <p:nvSpPr>
          <p:cNvPr id="692228" name="Rectangle 4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229600" cy="4724400"/>
          </a:xfrm>
          <a:noFill/>
          <a:ln/>
        </p:spPr>
        <p:txBody>
          <a:bodyPr/>
          <a:lstStyle/>
          <a:p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thân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nào</a:t>
            </a:r>
            <a:endParaRPr lang="en-US" dirty="0"/>
          </a:p>
        </p:txBody>
      </p:sp>
      <p:sp>
        <p:nvSpPr>
          <p:cNvPr id="692227" name="Text Box 3"/>
          <p:cNvSpPr txBox="1">
            <a:spLocks noChangeArrowheads="1"/>
          </p:cNvSpPr>
          <p:nvPr/>
        </p:nvSpPr>
        <p:spPr bwMode="auto">
          <a:xfrm>
            <a:off x="1676400" y="2020888"/>
            <a:ext cx="5105400" cy="201771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dirty="0">
                <a:solidFill>
                  <a:srgbClr val="0000CC"/>
                </a:solidFill>
              </a:rPr>
              <a:t>SELECT</a:t>
            </a:r>
            <a:r>
              <a:rPr lang="en-US" dirty="0"/>
              <a:t> *</a:t>
            </a:r>
          </a:p>
          <a:p>
            <a:pPr algn="l"/>
            <a:r>
              <a:rPr lang="en-US" dirty="0">
                <a:solidFill>
                  <a:srgbClr val="0000CC"/>
                </a:solidFill>
              </a:rPr>
              <a:t>FROM</a:t>
            </a:r>
            <a:r>
              <a:rPr lang="en-US" dirty="0"/>
              <a:t> NHANVIEN </a:t>
            </a:r>
          </a:p>
          <a:p>
            <a:pPr algn="l"/>
            <a:r>
              <a:rPr lang="en-US" dirty="0">
                <a:solidFill>
                  <a:srgbClr val="0000CC"/>
                </a:solidFill>
              </a:rPr>
              <a:t>WHERE</a:t>
            </a:r>
            <a:r>
              <a:rPr lang="en-US" dirty="0"/>
              <a:t> MANV </a:t>
            </a:r>
            <a:r>
              <a:rPr lang="en-US" dirty="0">
                <a:solidFill>
                  <a:srgbClr val="777777"/>
                </a:solidFill>
              </a:rPr>
              <a:t>NOT IN</a:t>
            </a:r>
            <a:r>
              <a:rPr lang="en-US" dirty="0"/>
              <a:t> (</a:t>
            </a:r>
          </a:p>
          <a:p>
            <a:pPr algn="l"/>
            <a:r>
              <a:rPr lang="en-US" dirty="0"/>
              <a:t>		</a:t>
            </a:r>
            <a:r>
              <a:rPr lang="en-US" dirty="0">
                <a:solidFill>
                  <a:srgbClr val="0000CC"/>
                </a:solidFill>
              </a:rPr>
              <a:t>SELECT</a:t>
            </a:r>
            <a:r>
              <a:rPr lang="en-US" dirty="0"/>
              <a:t> MA_NVIEN</a:t>
            </a:r>
          </a:p>
          <a:p>
            <a:pPr algn="l"/>
            <a:r>
              <a:rPr lang="en-US" dirty="0"/>
              <a:t>		</a:t>
            </a:r>
            <a:r>
              <a:rPr lang="en-US" dirty="0">
                <a:solidFill>
                  <a:srgbClr val="0000CC"/>
                </a:solidFill>
              </a:rPr>
              <a:t>FROM</a:t>
            </a:r>
            <a:r>
              <a:rPr lang="en-US" dirty="0"/>
              <a:t> THANNHAN )</a:t>
            </a:r>
          </a:p>
        </p:txBody>
      </p:sp>
      <p:sp>
        <p:nvSpPr>
          <p:cNvPr id="692229" name="Text Box 5"/>
          <p:cNvSpPr txBox="1">
            <a:spLocks noChangeArrowheads="1"/>
          </p:cNvSpPr>
          <p:nvPr/>
        </p:nvSpPr>
        <p:spPr bwMode="auto">
          <a:xfrm>
            <a:off x="1687773" y="4191000"/>
            <a:ext cx="5105400" cy="20177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dirty="0">
                <a:solidFill>
                  <a:srgbClr val="0000CC"/>
                </a:solidFill>
              </a:rPr>
              <a:t>SELECT</a:t>
            </a:r>
            <a:r>
              <a:rPr lang="en-US" dirty="0"/>
              <a:t> *</a:t>
            </a:r>
          </a:p>
          <a:p>
            <a:pPr algn="l"/>
            <a:r>
              <a:rPr lang="en-US" dirty="0">
                <a:solidFill>
                  <a:srgbClr val="0000CC"/>
                </a:solidFill>
              </a:rPr>
              <a:t>FROM</a:t>
            </a:r>
            <a:r>
              <a:rPr lang="en-US" dirty="0"/>
              <a:t> NHANVIEN </a:t>
            </a:r>
          </a:p>
          <a:p>
            <a:pPr algn="l"/>
            <a:r>
              <a:rPr lang="en-US" dirty="0">
                <a:solidFill>
                  <a:srgbClr val="0000CC"/>
                </a:solidFill>
              </a:rPr>
              <a:t>WHERE</a:t>
            </a:r>
            <a:r>
              <a:rPr lang="en-US" dirty="0"/>
              <a:t> MANV &lt;&gt;</a:t>
            </a:r>
            <a:r>
              <a:rPr lang="en-US" dirty="0">
                <a:solidFill>
                  <a:srgbClr val="777777"/>
                </a:solidFill>
              </a:rPr>
              <a:t> ALL</a:t>
            </a:r>
            <a:r>
              <a:rPr lang="en-US" dirty="0"/>
              <a:t> (</a:t>
            </a:r>
          </a:p>
          <a:p>
            <a:pPr algn="l"/>
            <a:r>
              <a:rPr lang="en-US" dirty="0"/>
              <a:t>		</a:t>
            </a:r>
            <a:r>
              <a:rPr lang="en-US" dirty="0">
                <a:solidFill>
                  <a:srgbClr val="0000CC"/>
                </a:solidFill>
              </a:rPr>
              <a:t>SELECT</a:t>
            </a:r>
            <a:r>
              <a:rPr lang="en-US" dirty="0"/>
              <a:t> MA_NVIEN</a:t>
            </a:r>
          </a:p>
          <a:p>
            <a:pPr algn="l"/>
            <a:r>
              <a:rPr lang="en-US" dirty="0"/>
              <a:t>		</a:t>
            </a:r>
            <a:r>
              <a:rPr lang="en-US" dirty="0">
                <a:solidFill>
                  <a:srgbClr val="0000CC"/>
                </a:solidFill>
              </a:rPr>
              <a:t>FROM</a:t>
            </a:r>
            <a:r>
              <a:rPr lang="en-US" dirty="0"/>
              <a:t> THANNHAN 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79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129383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>
            <a:normAutofit fontScale="90000"/>
          </a:bodyPr>
          <a:lstStyle/>
          <a:p>
            <a:r>
              <a:rPr lang="en-US" sz="3500" b="1"/>
              <a:t>Ví dụ 8</a:t>
            </a:r>
          </a:p>
        </p:txBody>
      </p:sp>
      <p:sp>
        <p:nvSpPr>
          <p:cNvPr id="696324" name="Rectangle 4"/>
          <p:cNvSpPr>
            <a:spLocks noGrp="1" noChangeArrowheads="1"/>
          </p:cNvSpPr>
          <p:nvPr>
            <p:ph sz="quarter" idx="1"/>
          </p:nvPr>
        </p:nvSpPr>
        <p:spPr>
          <a:xfrm>
            <a:off x="381000" y="1542506"/>
            <a:ext cx="8458200" cy="4800600"/>
          </a:xfrm>
          <a:noFill/>
          <a:ln/>
        </p:spPr>
        <p:txBody>
          <a:bodyPr/>
          <a:lstStyle/>
          <a:p>
            <a:pPr algn="just"/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lương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lương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u="sng" dirty="0" err="1"/>
              <a:t>ít</a:t>
            </a:r>
            <a:r>
              <a:rPr lang="en-US" u="sng" dirty="0"/>
              <a:t> </a:t>
            </a:r>
            <a:r>
              <a:rPr lang="en-US" u="sng" dirty="0" err="1"/>
              <a:t>nhất</a:t>
            </a:r>
            <a:r>
              <a:rPr lang="en-US" u="sng" dirty="0"/>
              <a:t> </a:t>
            </a:r>
            <a:r>
              <a:rPr lang="en-US" u="sng" dirty="0" err="1"/>
              <a:t>một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phòng</a:t>
            </a:r>
            <a:r>
              <a:rPr lang="en-US" dirty="0"/>
              <a:t> 4</a:t>
            </a:r>
          </a:p>
        </p:txBody>
      </p:sp>
      <p:sp>
        <p:nvSpPr>
          <p:cNvPr id="696323" name="Text Box 3"/>
          <p:cNvSpPr txBox="1">
            <a:spLocks noChangeArrowheads="1"/>
          </p:cNvSpPr>
          <p:nvPr/>
        </p:nvSpPr>
        <p:spPr bwMode="auto">
          <a:xfrm>
            <a:off x="1600200" y="2438400"/>
            <a:ext cx="5105400" cy="243046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>
                <a:solidFill>
                  <a:srgbClr val="0000CC"/>
                </a:solidFill>
              </a:rPr>
              <a:t>SELECT</a:t>
            </a:r>
            <a:r>
              <a:rPr lang="en-US"/>
              <a:t> *</a:t>
            </a:r>
          </a:p>
          <a:p>
            <a:pPr algn="l"/>
            <a:r>
              <a:rPr lang="en-US">
                <a:solidFill>
                  <a:srgbClr val="0000CC"/>
                </a:solidFill>
              </a:rPr>
              <a:t>FROM</a:t>
            </a:r>
            <a:r>
              <a:rPr lang="en-US"/>
              <a:t> NHANVIEN </a:t>
            </a:r>
          </a:p>
          <a:p>
            <a:pPr algn="l"/>
            <a:r>
              <a:rPr lang="en-US">
                <a:solidFill>
                  <a:srgbClr val="0000CC"/>
                </a:solidFill>
              </a:rPr>
              <a:t>WHERE</a:t>
            </a:r>
            <a:r>
              <a:rPr lang="en-US"/>
              <a:t> LUONG &gt;</a:t>
            </a:r>
            <a:r>
              <a:rPr lang="en-US">
                <a:solidFill>
                  <a:srgbClr val="777777"/>
                </a:solidFill>
              </a:rPr>
              <a:t> ANY</a:t>
            </a:r>
            <a:r>
              <a:rPr lang="en-US"/>
              <a:t> (</a:t>
            </a:r>
          </a:p>
          <a:p>
            <a:pPr algn="l"/>
            <a:r>
              <a:rPr lang="en-US"/>
              <a:t>		</a:t>
            </a:r>
            <a:r>
              <a:rPr lang="en-US">
                <a:solidFill>
                  <a:srgbClr val="0000CC"/>
                </a:solidFill>
              </a:rPr>
              <a:t>SELECT</a:t>
            </a:r>
            <a:r>
              <a:rPr lang="en-US"/>
              <a:t> LUONG</a:t>
            </a:r>
          </a:p>
          <a:p>
            <a:pPr algn="l"/>
            <a:r>
              <a:rPr lang="en-US"/>
              <a:t>		</a:t>
            </a:r>
            <a:r>
              <a:rPr lang="en-US">
                <a:solidFill>
                  <a:srgbClr val="0000CC"/>
                </a:solidFill>
              </a:rPr>
              <a:t>FROM</a:t>
            </a:r>
            <a:r>
              <a:rPr lang="en-US"/>
              <a:t> NHANVIEN</a:t>
            </a:r>
          </a:p>
          <a:p>
            <a:pPr algn="l"/>
            <a:r>
              <a:rPr lang="en-US"/>
              <a:t>		</a:t>
            </a:r>
            <a:r>
              <a:rPr lang="en-US">
                <a:solidFill>
                  <a:srgbClr val="0000CC"/>
                </a:solidFill>
              </a:rPr>
              <a:t>WHERE</a:t>
            </a:r>
            <a:r>
              <a:rPr lang="en-US"/>
              <a:t> PHG=4 )</a:t>
            </a:r>
          </a:p>
        </p:txBody>
      </p:sp>
      <p:sp>
        <p:nvSpPr>
          <p:cNvPr id="696325" name="Text Box 5"/>
          <p:cNvSpPr txBox="1">
            <a:spLocks noChangeArrowheads="1"/>
          </p:cNvSpPr>
          <p:nvPr/>
        </p:nvSpPr>
        <p:spPr bwMode="auto">
          <a:xfrm>
            <a:off x="1600200" y="4877962"/>
            <a:ext cx="6553200" cy="11922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dirty="0">
                <a:solidFill>
                  <a:srgbClr val="0000CC"/>
                </a:solidFill>
              </a:rPr>
              <a:t>SELECT</a:t>
            </a:r>
            <a:r>
              <a:rPr lang="en-US" dirty="0"/>
              <a:t> NV1.*</a:t>
            </a:r>
          </a:p>
          <a:p>
            <a:pPr algn="l"/>
            <a:r>
              <a:rPr lang="en-US" dirty="0">
                <a:solidFill>
                  <a:srgbClr val="0000CC"/>
                </a:solidFill>
              </a:rPr>
              <a:t>FROM</a:t>
            </a:r>
            <a:r>
              <a:rPr lang="en-US" dirty="0"/>
              <a:t> NHANVIEN NV1, NHANVIEN NV2</a:t>
            </a:r>
          </a:p>
          <a:p>
            <a:pPr algn="l"/>
            <a:r>
              <a:rPr lang="en-US" dirty="0">
                <a:solidFill>
                  <a:srgbClr val="0000CC"/>
                </a:solidFill>
              </a:rPr>
              <a:t>WHERE</a:t>
            </a:r>
            <a:r>
              <a:rPr lang="en-US" dirty="0"/>
              <a:t> NV1.LUONG &gt;</a:t>
            </a:r>
            <a:r>
              <a:rPr lang="en-US" dirty="0">
                <a:solidFill>
                  <a:srgbClr val="777777"/>
                </a:solidFill>
              </a:rPr>
              <a:t> </a:t>
            </a:r>
            <a:r>
              <a:rPr lang="en-US" dirty="0"/>
              <a:t>NV2.LUONG </a:t>
            </a:r>
            <a:r>
              <a:rPr lang="en-US" dirty="0">
                <a:solidFill>
                  <a:srgbClr val="777777"/>
                </a:solidFill>
              </a:rPr>
              <a:t>AND </a:t>
            </a:r>
            <a:r>
              <a:rPr lang="en-US" dirty="0"/>
              <a:t>NV2.PHG=4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80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6878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96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96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25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9</a:t>
            </a:r>
          </a:p>
        </p:txBody>
      </p:sp>
      <p:sp>
        <p:nvSpPr>
          <p:cNvPr id="700420" name="Rectangle 4"/>
          <p:cNvSpPr>
            <a:spLocks noGrp="1" noChangeArrowheads="1"/>
          </p:cNvSpPr>
          <p:nvPr>
            <p:ph sz="quarter" idx="1"/>
          </p:nvPr>
        </p:nvSpPr>
        <p:spPr>
          <a:xfrm>
            <a:off x="304800" y="1600200"/>
            <a:ext cx="8458200" cy="4724400"/>
          </a:xfrm>
          <a:noFill/>
          <a:ln/>
        </p:spPr>
        <p:txBody>
          <a:bodyPr/>
          <a:lstStyle/>
          <a:p>
            <a:pPr algn="just"/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lương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lương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tất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phòng</a:t>
            </a:r>
            <a:r>
              <a:rPr lang="en-US" dirty="0"/>
              <a:t> 4</a:t>
            </a:r>
          </a:p>
        </p:txBody>
      </p:sp>
      <p:sp>
        <p:nvSpPr>
          <p:cNvPr id="700419" name="Text Box 3"/>
          <p:cNvSpPr txBox="1">
            <a:spLocks noChangeArrowheads="1"/>
          </p:cNvSpPr>
          <p:nvPr/>
        </p:nvSpPr>
        <p:spPr bwMode="auto">
          <a:xfrm>
            <a:off x="685800" y="2819400"/>
            <a:ext cx="5105400" cy="243046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dirty="0">
                <a:solidFill>
                  <a:srgbClr val="0000CC"/>
                </a:solidFill>
              </a:rPr>
              <a:t>SELECT</a:t>
            </a:r>
            <a:r>
              <a:rPr lang="en-US" dirty="0"/>
              <a:t> *</a:t>
            </a:r>
          </a:p>
          <a:p>
            <a:pPr algn="l"/>
            <a:r>
              <a:rPr lang="en-US" dirty="0">
                <a:solidFill>
                  <a:srgbClr val="0000CC"/>
                </a:solidFill>
              </a:rPr>
              <a:t>FROM</a:t>
            </a:r>
            <a:r>
              <a:rPr lang="en-US" dirty="0"/>
              <a:t> NHANVIEN </a:t>
            </a:r>
          </a:p>
          <a:p>
            <a:pPr algn="l"/>
            <a:r>
              <a:rPr lang="en-US" dirty="0">
                <a:solidFill>
                  <a:srgbClr val="0000CC"/>
                </a:solidFill>
              </a:rPr>
              <a:t>WHERE</a:t>
            </a:r>
            <a:r>
              <a:rPr lang="en-US" dirty="0"/>
              <a:t> LUONG &gt;</a:t>
            </a:r>
            <a:r>
              <a:rPr lang="en-US" dirty="0">
                <a:solidFill>
                  <a:srgbClr val="777777"/>
                </a:solidFill>
              </a:rPr>
              <a:t> ALL</a:t>
            </a:r>
            <a:r>
              <a:rPr lang="en-US" dirty="0"/>
              <a:t> (</a:t>
            </a:r>
          </a:p>
          <a:p>
            <a:pPr algn="l"/>
            <a:r>
              <a:rPr lang="en-US" dirty="0"/>
              <a:t>		</a:t>
            </a:r>
            <a:r>
              <a:rPr lang="en-US" dirty="0">
                <a:solidFill>
                  <a:srgbClr val="0000CC"/>
                </a:solidFill>
              </a:rPr>
              <a:t>SELECT</a:t>
            </a:r>
            <a:r>
              <a:rPr lang="en-US" dirty="0"/>
              <a:t> LUONG</a:t>
            </a:r>
          </a:p>
          <a:p>
            <a:pPr algn="l"/>
            <a:r>
              <a:rPr lang="en-US" dirty="0"/>
              <a:t>		</a:t>
            </a:r>
            <a:r>
              <a:rPr lang="en-US" dirty="0">
                <a:solidFill>
                  <a:srgbClr val="0000CC"/>
                </a:solidFill>
              </a:rPr>
              <a:t>FROM</a:t>
            </a:r>
            <a:r>
              <a:rPr lang="en-US" dirty="0"/>
              <a:t> NHANVIEN</a:t>
            </a:r>
          </a:p>
          <a:p>
            <a:pPr algn="l"/>
            <a:r>
              <a:rPr lang="en-US" dirty="0"/>
              <a:t>		</a:t>
            </a:r>
            <a:r>
              <a:rPr lang="en-US" dirty="0">
                <a:solidFill>
                  <a:srgbClr val="0000CC"/>
                </a:solidFill>
              </a:rPr>
              <a:t>WHERE</a:t>
            </a:r>
            <a:r>
              <a:rPr lang="en-US" dirty="0"/>
              <a:t> PHG=4 )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81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364027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10</a:t>
            </a:r>
          </a:p>
        </p:txBody>
      </p:sp>
      <p:sp>
        <p:nvSpPr>
          <p:cNvPr id="70656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828800"/>
            <a:ext cx="8229600" cy="4495800"/>
          </a:xfrm>
          <a:noFill/>
          <a:ln/>
        </p:spPr>
        <p:txBody>
          <a:bodyPr/>
          <a:lstStyle/>
          <a:p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trưởng</a:t>
            </a:r>
            <a:r>
              <a:rPr lang="en-US" dirty="0"/>
              <a:t> </a:t>
            </a:r>
            <a:r>
              <a:rPr lang="en-US" dirty="0" err="1"/>
              <a:t>phòng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u="sng" dirty="0" err="1"/>
              <a:t>tối</a:t>
            </a:r>
            <a:r>
              <a:rPr lang="en-US" u="sng" dirty="0"/>
              <a:t> </a:t>
            </a:r>
            <a:r>
              <a:rPr lang="en-US" u="sng" dirty="0" err="1"/>
              <a:t>thiểu</a:t>
            </a:r>
            <a:r>
              <a:rPr lang="en-US" u="sng" dirty="0"/>
              <a:t> </a:t>
            </a:r>
            <a:r>
              <a:rPr lang="en-US" u="sng" dirty="0" err="1"/>
              <a:t>một</a:t>
            </a:r>
            <a:r>
              <a:rPr lang="en-US" dirty="0"/>
              <a:t> </a:t>
            </a:r>
            <a:r>
              <a:rPr lang="en-US" dirty="0" err="1"/>
              <a:t>thân</a:t>
            </a:r>
            <a:r>
              <a:rPr lang="en-US" dirty="0"/>
              <a:t> </a:t>
            </a:r>
            <a:r>
              <a:rPr lang="en-US" dirty="0" err="1"/>
              <a:t>nhân</a:t>
            </a:r>
            <a:endParaRPr lang="en-US" dirty="0"/>
          </a:p>
        </p:txBody>
      </p:sp>
      <p:sp>
        <p:nvSpPr>
          <p:cNvPr id="706564" name="Rectangle 4"/>
          <p:cNvSpPr>
            <a:spLocks noChangeArrowheads="1"/>
          </p:cNvSpPr>
          <p:nvPr/>
        </p:nvSpPr>
        <p:spPr bwMode="auto">
          <a:xfrm>
            <a:off x="1371600" y="2514600"/>
            <a:ext cx="6019800" cy="160496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>
                <a:solidFill>
                  <a:srgbClr val="0000CC"/>
                </a:solidFill>
              </a:rPr>
              <a:t>SELECT</a:t>
            </a:r>
            <a:r>
              <a:rPr lang="en-US"/>
              <a:t> * </a:t>
            </a:r>
          </a:p>
          <a:p>
            <a:pPr algn="l"/>
            <a:r>
              <a:rPr lang="en-US">
                <a:solidFill>
                  <a:srgbClr val="0000CC"/>
                </a:solidFill>
              </a:rPr>
              <a:t>FROM</a:t>
            </a:r>
            <a:r>
              <a:rPr lang="en-US"/>
              <a:t> NHANVIEN</a:t>
            </a:r>
          </a:p>
          <a:p>
            <a:pPr algn="l"/>
            <a:r>
              <a:rPr lang="en-US">
                <a:solidFill>
                  <a:srgbClr val="0000CC"/>
                </a:solidFill>
              </a:rPr>
              <a:t>WHERE</a:t>
            </a:r>
            <a:r>
              <a:rPr lang="en-US"/>
              <a:t> MANV </a:t>
            </a:r>
            <a:r>
              <a:rPr lang="en-US">
                <a:solidFill>
                  <a:srgbClr val="777777"/>
                </a:solidFill>
              </a:rPr>
              <a:t>IN</a:t>
            </a:r>
            <a:r>
              <a:rPr lang="en-US"/>
              <a:t> (</a:t>
            </a:r>
            <a:r>
              <a:rPr lang="en-US">
                <a:solidFill>
                  <a:srgbClr val="0000CC"/>
                </a:solidFill>
              </a:rPr>
              <a:t>SELECT</a:t>
            </a:r>
            <a:r>
              <a:rPr lang="en-US"/>
              <a:t> MA_NVIEN </a:t>
            </a:r>
            <a:r>
              <a:rPr lang="en-US">
                <a:solidFill>
                  <a:srgbClr val="0000CC"/>
                </a:solidFill>
              </a:rPr>
              <a:t>FROM</a:t>
            </a:r>
            <a:r>
              <a:rPr lang="en-US"/>
              <a:t> THANNHAN)</a:t>
            </a:r>
          </a:p>
          <a:p>
            <a:pPr algn="l"/>
            <a:r>
              <a:rPr lang="en-US">
                <a:solidFill>
                  <a:srgbClr val="777777"/>
                </a:solidFill>
              </a:rPr>
              <a:t>AND</a:t>
            </a:r>
            <a:r>
              <a:rPr lang="en-US"/>
              <a:t> MANV </a:t>
            </a:r>
            <a:r>
              <a:rPr lang="en-US">
                <a:solidFill>
                  <a:srgbClr val="777777"/>
                </a:solidFill>
              </a:rPr>
              <a:t>IN</a:t>
            </a:r>
            <a:r>
              <a:rPr lang="en-US"/>
              <a:t> (</a:t>
            </a:r>
            <a:r>
              <a:rPr lang="en-US">
                <a:solidFill>
                  <a:srgbClr val="0000CC"/>
                </a:solidFill>
              </a:rPr>
              <a:t>SELECT</a:t>
            </a:r>
            <a:r>
              <a:rPr lang="en-US"/>
              <a:t> TRPHG </a:t>
            </a:r>
            <a:r>
              <a:rPr lang="en-US">
                <a:solidFill>
                  <a:srgbClr val="0000CC"/>
                </a:solidFill>
              </a:rPr>
              <a:t>FROM</a:t>
            </a:r>
            <a:r>
              <a:rPr lang="en-US"/>
              <a:t> PHONGBAN)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82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907806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- </a:t>
            </a:r>
            <a:r>
              <a:rPr lang="en-US" sz="3500" b="1" dirty="0" err="1"/>
              <a:t>Lồng</a:t>
            </a:r>
            <a:r>
              <a:rPr lang="en-US" sz="3500" b="1" dirty="0"/>
              <a:t> </a:t>
            </a:r>
            <a:r>
              <a:rPr lang="en-US" sz="3500" b="1" dirty="0" err="1"/>
              <a:t>tương</a:t>
            </a:r>
            <a:r>
              <a:rPr lang="en-US" sz="3500" b="1" dirty="0"/>
              <a:t> </a:t>
            </a:r>
            <a:r>
              <a:rPr lang="en-US" sz="3500" b="1" dirty="0" err="1"/>
              <a:t>quan</a:t>
            </a:r>
            <a:endParaRPr lang="en-US" sz="3500" b="1" dirty="0"/>
          </a:p>
        </p:txBody>
      </p:sp>
      <p:sp>
        <p:nvSpPr>
          <p:cNvPr id="681987" name="Text Box 3"/>
          <p:cNvSpPr txBox="1">
            <a:spLocks noChangeArrowheads="1"/>
          </p:cNvSpPr>
          <p:nvPr/>
        </p:nvSpPr>
        <p:spPr bwMode="auto">
          <a:xfrm>
            <a:off x="1371600" y="1524000"/>
            <a:ext cx="5562600" cy="11922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>
                <a:solidFill>
                  <a:srgbClr val="0000CC"/>
                </a:solidFill>
              </a:rPr>
              <a:t>SELECT</a:t>
            </a:r>
            <a:r>
              <a:rPr lang="en-US"/>
              <a:t> MANV, TENNV </a:t>
            </a:r>
          </a:p>
          <a:p>
            <a:pPr algn="l"/>
            <a:r>
              <a:rPr lang="en-US">
                <a:solidFill>
                  <a:srgbClr val="0000CC"/>
                </a:solidFill>
              </a:rPr>
              <a:t>FROM </a:t>
            </a:r>
            <a:r>
              <a:rPr lang="en-US"/>
              <a:t>NHANVIEN, PHONGBAN</a:t>
            </a:r>
            <a:endParaRPr lang="en-US">
              <a:solidFill>
                <a:srgbClr val="0000CC"/>
              </a:solidFill>
            </a:endParaRPr>
          </a:p>
          <a:p>
            <a:pPr algn="l"/>
            <a:r>
              <a:rPr lang="en-US">
                <a:solidFill>
                  <a:srgbClr val="0000CC"/>
                </a:solidFill>
              </a:rPr>
              <a:t>WHERE </a:t>
            </a:r>
            <a:r>
              <a:rPr lang="en-US"/>
              <a:t>TENPHG=</a:t>
            </a:r>
            <a:r>
              <a:rPr lang="en-US">
                <a:solidFill>
                  <a:srgbClr val="CC0000"/>
                </a:solidFill>
              </a:rPr>
              <a:t>‘Nghien cuu’</a:t>
            </a:r>
            <a:r>
              <a:rPr lang="en-US"/>
              <a:t> </a:t>
            </a:r>
            <a:r>
              <a:rPr lang="en-US">
                <a:solidFill>
                  <a:srgbClr val="777777"/>
                </a:solidFill>
              </a:rPr>
              <a:t>AND </a:t>
            </a:r>
            <a:r>
              <a:rPr lang="en-US"/>
              <a:t>PHG=MAPHG</a:t>
            </a:r>
            <a:endParaRPr lang="en-US">
              <a:solidFill>
                <a:srgbClr val="777777"/>
              </a:solidFill>
            </a:endParaRPr>
          </a:p>
        </p:txBody>
      </p:sp>
      <p:sp>
        <p:nvSpPr>
          <p:cNvPr id="681988" name="Text Box 4"/>
          <p:cNvSpPr txBox="1">
            <a:spLocks noChangeArrowheads="1"/>
          </p:cNvSpPr>
          <p:nvPr/>
        </p:nvSpPr>
        <p:spPr bwMode="auto">
          <a:xfrm>
            <a:off x="1447800" y="3429000"/>
            <a:ext cx="6934200" cy="243046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>
                <a:solidFill>
                  <a:srgbClr val="0000CC"/>
                </a:solidFill>
              </a:rPr>
              <a:t>SELECT</a:t>
            </a:r>
            <a:r>
              <a:rPr lang="en-US"/>
              <a:t> MANV, TENNV </a:t>
            </a:r>
          </a:p>
          <a:p>
            <a:pPr algn="l"/>
            <a:r>
              <a:rPr lang="en-US">
                <a:solidFill>
                  <a:srgbClr val="0000CC"/>
                </a:solidFill>
              </a:rPr>
              <a:t>FROM </a:t>
            </a:r>
            <a:r>
              <a:rPr lang="en-US"/>
              <a:t>NHANVIEN</a:t>
            </a:r>
            <a:endParaRPr lang="en-US">
              <a:solidFill>
                <a:srgbClr val="0000CC"/>
              </a:solidFill>
            </a:endParaRPr>
          </a:p>
          <a:p>
            <a:pPr algn="l"/>
            <a:r>
              <a:rPr lang="en-US">
                <a:solidFill>
                  <a:srgbClr val="0000CC"/>
                </a:solidFill>
              </a:rPr>
              <a:t>WHERE </a:t>
            </a:r>
            <a:r>
              <a:rPr lang="en-US">
                <a:solidFill>
                  <a:srgbClr val="777777"/>
                </a:solidFill>
              </a:rPr>
              <a:t>EXISTS </a:t>
            </a:r>
            <a:r>
              <a:rPr lang="en-US"/>
              <a:t>(</a:t>
            </a:r>
          </a:p>
          <a:p>
            <a:pPr algn="l"/>
            <a:r>
              <a:rPr lang="en-US">
                <a:solidFill>
                  <a:srgbClr val="0000CC"/>
                </a:solidFill>
              </a:rPr>
              <a:t>	SELECT</a:t>
            </a:r>
            <a:r>
              <a:rPr lang="en-US"/>
              <a:t> *</a:t>
            </a:r>
          </a:p>
          <a:p>
            <a:pPr algn="l"/>
            <a:r>
              <a:rPr lang="en-US"/>
              <a:t>	</a:t>
            </a:r>
            <a:r>
              <a:rPr lang="en-US">
                <a:solidFill>
                  <a:srgbClr val="0000CC"/>
                </a:solidFill>
              </a:rPr>
              <a:t>FROM</a:t>
            </a:r>
            <a:r>
              <a:rPr lang="en-US"/>
              <a:t> PHONGBAN</a:t>
            </a:r>
          </a:p>
          <a:p>
            <a:pPr algn="l"/>
            <a:r>
              <a:rPr lang="en-US"/>
              <a:t>	</a:t>
            </a:r>
            <a:r>
              <a:rPr lang="en-US">
                <a:solidFill>
                  <a:srgbClr val="0000CC"/>
                </a:solidFill>
              </a:rPr>
              <a:t>WHERE</a:t>
            </a:r>
            <a:r>
              <a:rPr lang="en-US"/>
              <a:t> TENPHG=</a:t>
            </a:r>
            <a:r>
              <a:rPr lang="en-US">
                <a:solidFill>
                  <a:srgbClr val="CC0000"/>
                </a:solidFill>
              </a:rPr>
              <a:t>‘Nghien cuu’</a:t>
            </a:r>
            <a:r>
              <a:rPr lang="en-US"/>
              <a:t> </a:t>
            </a:r>
            <a:r>
              <a:rPr lang="en-US">
                <a:solidFill>
                  <a:srgbClr val="777777"/>
                </a:solidFill>
              </a:rPr>
              <a:t>AND </a:t>
            </a:r>
            <a:r>
              <a:rPr lang="en-US"/>
              <a:t>PHG=MAPHG )</a:t>
            </a:r>
            <a:endParaRPr lang="en-US">
              <a:solidFill>
                <a:srgbClr val="777777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83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755876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6</a:t>
            </a:r>
          </a:p>
        </p:txBody>
      </p:sp>
      <p:sp>
        <p:nvSpPr>
          <p:cNvPr id="688138" name="Rectangle 10"/>
          <p:cNvSpPr>
            <a:spLocks noGrp="1" noChangeArrowheads="1"/>
          </p:cNvSpPr>
          <p:nvPr>
            <p:ph sz="quarter" idx="1"/>
          </p:nvPr>
        </p:nvSpPr>
        <p:spPr>
          <a:xfrm>
            <a:off x="457200" y="1676400"/>
            <a:ext cx="8229600" cy="4648200"/>
          </a:xfrm>
          <a:noFill/>
          <a:ln/>
        </p:spPr>
        <p:txBody>
          <a:bodyPr/>
          <a:lstStyle/>
          <a:p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thân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tính</a:t>
            </a:r>
            <a:endParaRPr lang="en-US" dirty="0"/>
          </a:p>
        </p:txBody>
      </p:sp>
      <p:sp>
        <p:nvSpPr>
          <p:cNvPr id="688137" name="Text Box 9"/>
          <p:cNvSpPr txBox="1">
            <a:spLocks noChangeArrowheads="1"/>
          </p:cNvSpPr>
          <p:nvPr/>
        </p:nvSpPr>
        <p:spPr bwMode="auto">
          <a:xfrm>
            <a:off x="1371600" y="2362200"/>
            <a:ext cx="6172200" cy="325596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>
                <a:solidFill>
                  <a:srgbClr val="0000CC"/>
                </a:solidFill>
              </a:rPr>
              <a:t>SELECT</a:t>
            </a:r>
            <a:r>
              <a:rPr lang="en-US"/>
              <a:t> *</a:t>
            </a:r>
          </a:p>
          <a:p>
            <a:pPr algn="l"/>
            <a:r>
              <a:rPr lang="en-US">
                <a:solidFill>
                  <a:srgbClr val="0000CC"/>
                </a:solidFill>
              </a:rPr>
              <a:t>FROM</a:t>
            </a:r>
            <a:r>
              <a:rPr lang="en-US"/>
              <a:t> NHANVIEN NV </a:t>
            </a:r>
          </a:p>
          <a:p>
            <a:pPr algn="l"/>
            <a:r>
              <a:rPr lang="en-US">
                <a:solidFill>
                  <a:srgbClr val="0000CC"/>
                </a:solidFill>
              </a:rPr>
              <a:t>WHERE</a:t>
            </a:r>
            <a:r>
              <a:rPr lang="en-US"/>
              <a:t> EXISTS (</a:t>
            </a:r>
          </a:p>
          <a:p>
            <a:pPr algn="l"/>
            <a:r>
              <a:rPr lang="en-US"/>
              <a:t>		SELECT *</a:t>
            </a:r>
          </a:p>
          <a:p>
            <a:pPr algn="l"/>
            <a:r>
              <a:rPr lang="en-US"/>
              <a:t>		FROM THANNHAN TN</a:t>
            </a:r>
          </a:p>
          <a:p>
            <a:pPr algn="l"/>
            <a:r>
              <a:rPr lang="en-US"/>
              <a:t>		WHERE NV.MANV=TN.MA_NVIEN</a:t>
            </a:r>
          </a:p>
          <a:p>
            <a:pPr algn="l"/>
            <a:r>
              <a:rPr lang="en-US">
                <a:solidFill>
                  <a:srgbClr val="777777"/>
                </a:solidFill>
              </a:rPr>
              <a:t>		AND</a:t>
            </a:r>
            <a:r>
              <a:rPr lang="en-US"/>
              <a:t> NV.TENNV=TN.TENTN </a:t>
            </a:r>
          </a:p>
          <a:p>
            <a:pPr algn="l"/>
            <a:r>
              <a:rPr lang="en-US">
                <a:solidFill>
                  <a:srgbClr val="777777"/>
                </a:solidFill>
              </a:rPr>
              <a:t>		AND</a:t>
            </a:r>
            <a:r>
              <a:rPr lang="en-US"/>
              <a:t> NV.PHAI=TN.PHAI )</a:t>
            </a:r>
            <a:endParaRPr lang="en-US">
              <a:solidFill>
                <a:srgbClr val="0000CC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84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890558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7</a:t>
            </a:r>
          </a:p>
        </p:txBody>
      </p:sp>
      <p:sp>
        <p:nvSpPr>
          <p:cNvPr id="690181" name="Rectangle 5"/>
          <p:cNvSpPr>
            <a:spLocks noGrp="1" noChangeArrowheads="1"/>
          </p:cNvSpPr>
          <p:nvPr>
            <p:ph sz="quarter" idx="1"/>
          </p:nvPr>
        </p:nvSpPr>
        <p:spPr>
          <a:xfrm>
            <a:off x="457200" y="1828800"/>
            <a:ext cx="8229600" cy="4495800"/>
          </a:xfrm>
          <a:noFill/>
          <a:ln/>
        </p:spPr>
        <p:txBody>
          <a:bodyPr/>
          <a:lstStyle/>
          <a:p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thân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nào</a:t>
            </a:r>
            <a:endParaRPr lang="en-US" dirty="0"/>
          </a:p>
        </p:txBody>
      </p:sp>
      <p:sp>
        <p:nvSpPr>
          <p:cNvPr id="690180" name="Text Box 4"/>
          <p:cNvSpPr txBox="1">
            <a:spLocks noChangeArrowheads="1"/>
          </p:cNvSpPr>
          <p:nvPr/>
        </p:nvSpPr>
        <p:spPr bwMode="auto">
          <a:xfrm>
            <a:off x="1600200" y="2286000"/>
            <a:ext cx="6019800" cy="243046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dirty="0">
                <a:solidFill>
                  <a:srgbClr val="0000CC"/>
                </a:solidFill>
              </a:rPr>
              <a:t>SELECT</a:t>
            </a:r>
            <a:r>
              <a:rPr lang="en-US" dirty="0"/>
              <a:t> *</a:t>
            </a:r>
          </a:p>
          <a:p>
            <a:pPr algn="l"/>
            <a:r>
              <a:rPr lang="en-US" dirty="0">
                <a:solidFill>
                  <a:srgbClr val="0000CC"/>
                </a:solidFill>
              </a:rPr>
              <a:t>FROM</a:t>
            </a:r>
            <a:r>
              <a:rPr lang="en-US" dirty="0"/>
              <a:t> NHANVIEN </a:t>
            </a:r>
          </a:p>
          <a:p>
            <a:pPr algn="l"/>
            <a:r>
              <a:rPr lang="en-US" dirty="0">
                <a:solidFill>
                  <a:srgbClr val="0000CC"/>
                </a:solidFill>
              </a:rPr>
              <a:t>WHERE</a:t>
            </a:r>
            <a:r>
              <a:rPr lang="en-US" dirty="0"/>
              <a:t> </a:t>
            </a:r>
            <a:r>
              <a:rPr lang="en-US" dirty="0">
                <a:solidFill>
                  <a:srgbClr val="777777"/>
                </a:solidFill>
              </a:rPr>
              <a:t>NOT EXISTS</a:t>
            </a:r>
            <a:r>
              <a:rPr lang="en-US" dirty="0"/>
              <a:t> (</a:t>
            </a:r>
          </a:p>
          <a:p>
            <a:pPr algn="l"/>
            <a:r>
              <a:rPr lang="en-US" dirty="0"/>
              <a:t>		</a:t>
            </a:r>
            <a:r>
              <a:rPr lang="en-US" dirty="0">
                <a:solidFill>
                  <a:srgbClr val="0000CC"/>
                </a:solidFill>
              </a:rPr>
              <a:t>SELECT</a:t>
            </a:r>
            <a:r>
              <a:rPr lang="en-US" dirty="0"/>
              <a:t> *</a:t>
            </a:r>
          </a:p>
          <a:p>
            <a:pPr algn="l"/>
            <a:r>
              <a:rPr lang="en-US" dirty="0"/>
              <a:t>		</a:t>
            </a:r>
            <a:r>
              <a:rPr lang="en-US" dirty="0">
                <a:solidFill>
                  <a:srgbClr val="0000CC"/>
                </a:solidFill>
              </a:rPr>
              <a:t>FROM</a:t>
            </a:r>
            <a:r>
              <a:rPr lang="en-US" dirty="0"/>
              <a:t> THANNHAN</a:t>
            </a:r>
          </a:p>
          <a:p>
            <a:pPr algn="l"/>
            <a:r>
              <a:rPr lang="en-US" dirty="0"/>
              <a:t>		</a:t>
            </a:r>
            <a:r>
              <a:rPr lang="en-US" dirty="0">
                <a:solidFill>
                  <a:srgbClr val="0000CC"/>
                </a:solidFill>
              </a:rPr>
              <a:t>WHERE</a:t>
            </a:r>
            <a:r>
              <a:rPr lang="en-US" dirty="0"/>
              <a:t> MANV=MA_NVIEN)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85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78972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8</a:t>
            </a:r>
          </a:p>
        </p:txBody>
      </p:sp>
      <p:sp>
        <p:nvSpPr>
          <p:cNvPr id="708612" name="Rectangle 4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077200" cy="4724400"/>
          </a:xfrm>
          <a:noFill/>
          <a:ln/>
        </p:spPr>
        <p:txBody>
          <a:bodyPr/>
          <a:lstStyle/>
          <a:p>
            <a:pPr algn="just"/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lương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lương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u="sng" dirty="0" err="1"/>
              <a:t>ít</a:t>
            </a:r>
            <a:r>
              <a:rPr lang="en-US" u="sng" dirty="0"/>
              <a:t> </a:t>
            </a:r>
            <a:r>
              <a:rPr lang="en-US" u="sng" dirty="0" err="1"/>
              <a:t>nhất</a:t>
            </a:r>
            <a:r>
              <a:rPr lang="en-US" u="sng" dirty="0"/>
              <a:t> </a:t>
            </a:r>
            <a:r>
              <a:rPr lang="en-US" u="sng" dirty="0" err="1"/>
              <a:t>một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phòng</a:t>
            </a:r>
            <a:r>
              <a:rPr lang="en-US" dirty="0"/>
              <a:t> 4</a:t>
            </a:r>
          </a:p>
        </p:txBody>
      </p:sp>
      <p:sp>
        <p:nvSpPr>
          <p:cNvPr id="708611" name="Text Box 3"/>
          <p:cNvSpPr txBox="1">
            <a:spLocks noChangeArrowheads="1"/>
          </p:cNvSpPr>
          <p:nvPr/>
        </p:nvSpPr>
        <p:spPr bwMode="auto">
          <a:xfrm>
            <a:off x="1447800" y="2643188"/>
            <a:ext cx="6629400" cy="284321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>
                <a:solidFill>
                  <a:srgbClr val="0000CC"/>
                </a:solidFill>
              </a:rPr>
              <a:t>SELECT</a:t>
            </a:r>
            <a:r>
              <a:rPr lang="en-US"/>
              <a:t> *</a:t>
            </a:r>
          </a:p>
          <a:p>
            <a:pPr algn="l"/>
            <a:r>
              <a:rPr lang="en-US">
                <a:solidFill>
                  <a:srgbClr val="0000CC"/>
                </a:solidFill>
              </a:rPr>
              <a:t>FROM</a:t>
            </a:r>
            <a:r>
              <a:rPr lang="en-US"/>
              <a:t> NHANVIEN NV1</a:t>
            </a:r>
          </a:p>
          <a:p>
            <a:pPr algn="l"/>
            <a:r>
              <a:rPr lang="en-US">
                <a:solidFill>
                  <a:srgbClr val="0000CC"/>
                </a:solidFill>
              </a:rPr>
              <a:t>WHERE</a:t>
            </a:r>
            <a:r>
              <a:rPr lang="en-US"/>
              <a:t> </a:t>
            </a:r>
            <a:r>
              <a:rPr lang="en-US">
                <a:solidFill>
                  <a:srgbClr val="777777"/>
                </a:solidFill>
              </a:rPr>
              <a:t>EXISTS</a:t>
            </a:r>
            <a:r>
              <a:rPr lang="en-US"/>
              <a:t> (</a:t>
            </a:r>
          </a:p>
          <a:p>
            <a:pPr algn="l"/>
            <a:r>
              <a:rPr lang="en-US"/>
              <a:t>		</a:t>
            </a:r>
            <a:r>
              <a:rPr lang="en-US">
                <a:solidFill>
                  <a:srgbClr val="0000CC"/>
                </a:solidFill>
              </a:rPr>
              <a:t>SELECT</a:t>
            </a:r>
            <a:r>
              <a:rPr lang="en-US"/>
              <a:t> *</a:t>
            </a:r>
          </a:p>
          <a:p>
            <a:pPr algn="l"/>
            <a:r>
              <a:rPr lang="en-US"/>
              <a:t>		</a:t>
            </a:r>
            <a:r>
              <a:rPr lang="en-US">
                <a:solidFill>
                  <a:srgbClr val="0000CC"/>
                </a:solidFill>
              </a:rPr>
              <a:t>FROM</a:t>
            </a:r>
            <a:r>
              <a:rPr lang="en-US"/>
              <a:t> NHANVIEN NV2</a:t>
            </a:r>
          </a:p>
          <a:p>
            <a:pPr algn="l"/>
            <a:r>
              <a:rPr lang="en-US"/>
              <a:t>		</a:t>
            </a:r>
            <a:r>
              <a:rPr lang="en-US">
                <a:solidFill>
                  <a:srgbClr val="0000CC"/>
                </a:solidFill>
              </a:rPr>
              <a:t>WHERE</a:t>
            </a:r>
            <a:r>
              <a:rPr lang="en-US"/>
              <a:t> NV2PHG=4 </a:t>
            </a:r>
          </a:p>
          <a:p>
            <a:pPr algn="l"/>
            <a:r>
              <a:rPr lang="en-US"/>
              <a:t>		</a:t>
            </a:r>
            <a:r>
              <a:rPr lang="en-US">
                <a:solidFill>
                  <a:srgbClr val="777777"/>
                </a:solidFill>
              </a:rPr>
              <a:t>AND</a:t>
            </a:r>
            <a:r>
              <a:rPr lang="en-US"/>
              <a:t> NV1.LUONG&gt;NV2.LUONG)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86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232238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>
            <a:normAutofit fontScale="90000"/>
          </a:bodyPr>
          <a:lstStyle/>
          <a:p>
            <a:r>
              <a:rPr lang="en-US" sz="3500" b="1"/>
              <a:t>Ví dụ 10</a:t>
            </a:r>
          </a:p>
        </p:txBody>
      </p:sp>
      <p:sp>
        <p:nvSpPr>
          <p:cNvPr id="694276" name="Rectangle 4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229600" cy="4724400"/>
          </a:xfrm>
          <a:noFill/>
          <a:ln/>
        </p:spPr>
        <p:txBody>
          <a:bodyPr/>
          <a:lstStyle/>
          <a:p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trưởng</a:t>
            </a:r>
            <a:r>
              <a:rPr lang="en-US" dirty="0"/>
              <a:t> </a:t>
            </a:r>
            <a:r>
              <a:rPr lang="en-US" dirty="0" err="1"/>
              <a:t>phòng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u="sng" dirty="0" err="1"/>
              <a:t>tối</a:t>
            </a:r>
            <a:r>
              <a:rPr lang="en-US" u="sng" dirty="0"/>
              <a:t> </a:t>
            </a:r>
            <a:r>
              <a:rPr lang="en-US" u="sng" dirty="0" err="1"/>
              <a:t>thiểu</a:t>
            </a:r>
            <a:r>
              <a:rPr lang="en-US" u="sng" dirty="0"/>
              <a:t> </a:t>
            </a:r>
            <a:r>
              <a:rPr lang="en-US" u="sng" dirty="0" err="1"/>
              <a:t>một</a:t>
            </a:r>
            <a:r>
              <a:rPr lang="en-US" dirty="0"/>
              <a:t> </a:t>
            </a:r>
            <a:r>
              <a:rPr lang="en-US" dirty="0" err="1"/>
              <a:t>thân</a:t>
            </a:r>
            <a:r>
              <a:rPr lang="en-US" dirty="0"/>
              <a:t> </a:t>
            </a:r>
            <a:r>
              <a:rPr lang="en-US" dirty="0" err="1"/>
              <a:t>nhân</a:t>
            </a:r>
            <a:endParaRPr lang="en-US" dirty="0"/>
          </a:p>
        </p:txBody>
      </p:sp>
      <p:sp>
        <p:nvSpPr>
          <p:cNvPr id="694275" name="Text Box 3"/>
          <p:cNvSpPr txBox="1">
            <a:spLocks noChangeArrowheads="1"/>
          </p:cNvSpPr>
          <p:nvPr/>
        </p:nvSpPr>
        <p:spPr bwMode="auto">
          <a:xfrm>
            <a:off x="762000" y="2209800"/>
            <a:ext cx="5105400" cy="408146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dirty="0">
                <a:solidFill>
                  <a:srgbClr val="0000CC"/>
                </a:solidFill>
              </a:rPr>
              <a:t>SELECT</a:t>
            </a:r>
            <a:r>
              <a:rPr lang="en-US" dirty="0"/>
              <a:t> *</a:t>
            </a:r>
          </a:p>
          <a:p>
            <a:pPr algn="l"/>
            <a:r>
              <a:rPr lang="en-US" dirty="0">
                <a:solidFill>
                  <a:srgbClr val="0000CC"/>
                </a:solidFill>
              </a:rPr>
              <a:t>FROM</a:t>
            </a:r>
            <a:r>
              <a:rPr lang="en-US" dirty="0"/>
              <a:t> NHANVIEN </a:t>
            </a:r>
          </a:p>
          <a:p>
            <a:pPr algn="l"/>
            <a:r>
              <a:rPr lang="en-US" dirty="0">
                <a:solidFill>
                  <a:srgbClr val="0000CC"/>
                </a:solidFill>
              </a:rPr>
              <a:t>WHERE</a:t>
            </a:r>
            <a:r>
              <a:rPr lang="en-US" dirty="0"/>
              <a:t> </a:t>
            </a:r>
            <a:r>
              <a:rPr lang="en-US" dirty="0">
                <a:solidFill>
                  <a:srgbClr val="777777"/>
                </a:solidFill>
              </a:rPr>
              <a:t>EXISTS</a:t>
            </a:r>
            <a:r>
              <a:rPr lang="en-US" dirty="0"/>
              <a:t> (</a:t>
            </a:r>
          </a:p>
          <a:p>
            <a:pPr algn="l"/>
            <a:r>
              <a:rPr lang="en-US" dirty="0"/>
              <a:t>		</a:t>
            </a:r>
            <a:r>
              <a:rPr lang="en-US" dirty="0">
                <a:solidFill>
                  <a:srgbClr val="0000CC"/>
                </a:solidFill>
              </a:rPr>
              <a:t>SELECT</a:t>
            </a:r>
            <a:r>
              <a:rPr lang="en-US" dirty="0"/>
              <a:t> *</a:t>
            </a:r>
          </a:p>
          <a:p>
            <a:pPr algn="l"/>
            <a:r>
              <a:rPr lang="en-US" dirty="0"/>
              <a:t>		</a:t>
            </a:r>
            <a:r>
              <a:rPr lang="en-US" dirty="0">
                <a:solidFill>
                  <a:srgbClr val="0000CC"/>
                </a:solidFill>
              </a:rPr>
              <a:t>FROM</a:t>
            </a:r>
            <a:r>
              <a:rPr lang="en-US" dirty="0"/>
              <a:t> THANNHAN </a:t>
            </a:r>
          </a:p>
          <a:p>
            <a:pPr algn="l"/>
            <a:r>
              <a:rPr lang="en-US" dirty="0"/>
              <a:t>		</a:t>
            </a:r>
            <a:r>
              <a:rPr lang="en-US" dirty="0">
                <a:solidFill>
                  <a:srgbClr val="0000CC"/>
                </a:solidFill>
              </a:rPr>
              <a:t>WHERE</a:t>
            </a:r>
            <a:r>
              <a:rPr lang="en-US" dirty="0"/>
              <a:t> MANV=MA_NVIEN )</a:t>
            </a:r>
          </a:p>
          <a:p>
            <a:pPr algn="l"/>
            <a:r>
              <a:rPr lang="en-US" dirty="0">
                <a:solidFill>
                  <a:srgbClr val="777777"/>
                </a:solidFill>
              </a:rPr>
              <a:t>AND EXISTS</a:t>
            </a:r>
            <a:r>
              <a:rPr lang="en-US" dirty="0"/>
              <a:t> (</a:t>
            </a:r>
          </a:p>
          <a:p>
            <a:pPr algn="l"/>
            <a:r>
              <a:rPr lang="en-US" dirty="0"/>
              <a:t>		</a:t>
            </a:r>
            <a:r>
              <a:rPr lang="en-US" dirty="0">
                <a:solidFill>
                  <a:srgbClr val="0000CC"/>
                </a:solidFill>
              </a:rPr>
              <a:t>SELECT</a:t>
            </a:r>
            <a:r>
              <a:rPr lang="en-US" dirty="0"/>
              <a:t> *</a:t>
            </a:r>
          </a:p>
          <a:p>
            <a:pPr algn="l"/>
            <a:r>
              <a:rPr lang="en-US" dirty="0"/>
              <a:t>		</a:t>
            </a:r>
            <a:r>
              <a:rPr lang="en-US" dirty="0">
                <a:solidFill>
                  <a:srgbClr val="0000CC"/>
                </a:solidFill>
              </a:rPr>
              <a:t>FROM</a:t>
            </a:r>
            <a:r>
              <a:rPr lang="en-US" dirty="0"/>
              <a:t> PHONGBAN</a:t>
            </a:r>
          </a:p>
          <a:p>
            <a:pPr algn="l"/>
            <a:r>
              <a:rPr lang="en-US" dirty="0"/>
              <a:t>		</a:t>
            </a:r>
            <a:r>
              <a:rPr lang="en-US" dirty="0">
                <a:solidFill>
                  <a:srgbClr val="0000CC"/>
                </a:solidFill>
              </a:rPr>
              <a:t>WHERE</a:t>
            </a:r>
            <a:r>
              <a:rPr lang="en-US" dirty="0"/>
              <a:t> MANV=TRPHG 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87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254556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/>
              <a:t>IN </a:t>
            </a:r>
            <a:r>
              <a:rPr lang="en-US" sz="3500" b="1" dirty="0" err="1"/>
              <a:t>và</a:t>
            </a:r>
            <a:r>
              <a:rPr lang="en-US" sz="3500" b="1" dirty="0"/>
              <a:t> EXISTS</a:t>
            </a:r>
          </a:p>
        </p:txBody>
      </p:sp>
      <p:sp>
        <p:nvSpPr>
          <p:cNvPr id="71065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229600" cy="4724400"/>
          </a:xfrm>
        </p:spPr>
        <p:txBody>
          <a:bodyPr/>
          <a:lstStyle/>
          <a:p>
            <a:pPr algn="just"/>
            <a:r>
              <a:rPr lang="en-US" dirty="0"/>
              <a:t>IN</a:t>
            </a:r>
          </a:p>
          <a:p>
            <a:pPr lvl="1" algn="just"/>
            <a:r>
              <a:rPr lang="en-US" dirty="0">
                <a:solidFill>
                  <a:schemeClr val="tx1"/>
                </a:solidFill>
              </a:rPr>
              <a:t>&lt;</a:t>
            </a:r>
            <a:r>
              <a:rPr lang="en-US" dirty="0" err="1">
                <a:solidFill>
                  <a:schemeClr val="tx1"/>
                </a:solidFill>
              </a:rPr>
              <a:t>tên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cột</a:t>
            </a:r>
            <a:r>
              <a:rPr lang="en-US" dirty="0">
                <a:solidFill>
                  <a:schemeClr val="tx1"/>
                </a:solidFill>
              </a:rPr>
              <a:t>&gt; IN &lt;</a:t>
            </a:r>
            <a:r>
              <a:rPr lang="en-US" dirty="0" err="1">
                <a:solidFill>
                  <a:schemeClr val="tx1"/>
                </a:solidFill>
              </a:rPr>
              <a:t>câu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truy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vấn</a:t>
            </a:r>
            <a:r>
              <a:rPr lang="en-US" dirty="0">
                <a:solidFill>
                  <a:schemeClr val="tx1"/>
                </a:solidFill>
              </a:rPr>
              <a:t> con&gt;</a:t>
            </a:r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Thuộc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tính</a:t>
            </a:r>
            <a:r>
              <a:rPr lang="en-US" dirty="0">
                <a:solidFill>
                  <a:schemeClr val="tx1"/>
                </a:solidFill>
              </a:rPr>
              <a:t> ở </a:t>
            </a:r>
            <a:r>
              <a:rPr lang="en-US" dirty="0" err="1">
                <a:solidFill>
                  <a:schemeClr val="tx1"/>
                </a:solidFill>
              </a:rPr>
              <a:t>mệnh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đề</a:t>
            </a:r>
            <a:r>
              <a:rPr lang="en-US" dirty="0">
                <a:solidFill>
                  <a:schemeClr val="tx1"/>
                </a:solidFill>
              </a:rPr>
              <a:t> SELECT </a:t>
            </a:r>
            <a:r>
              <a:rPr lang="en-US" dirty="0" err="1">
                <a:solidFill>
                  <a:schemeClr val="tx1"/>
                </a:solidFill>
              </a:rPr>
              <a:t>của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truy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vấn</a:t>
            </a:r>
            <a:r>
              <a:rPr lang="en-US" dirty="0">
                <a:solidFill>
                  <a:schemeClr val="tx1"/>
                </a:solidFill>
              </a:rPr>
              <a:t> con </a:t>
            </a:r>
            <a:r>
              <a:rPr lang="en-US" dirty="0" err="1">
                <a:solidFill>
                  <a:schemeClr val="tx1"/>
                </a:solidFill>
              </a:rPr>
              <a:t>phải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có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cùng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kiểu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dữ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liệu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với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thuộc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tính</a:t>
            </a:r>
            <a:r>
              <a:rPr lang="en-US" dirty="0">
                <a:solidFill>
                  <a:schemeClr val="tx1"/>
                </a:solidFill>
              </a:rPr>
              <a:t> ở </a:t>
            </a:r>
            <a:r>
              <a:rPr lang="en-US" dirty="0" err="1">
                <a:solidFill>
                  <a:schemeClr val="tx1"/>
                </a:solidFill>
              </a:rPr>
              <a:t>mệnh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đề</a:t>
            </a:r>
            <a:r>
              <a:rPr lang="en-US" dirty="0">
                <a:solidFill>
                  <a:schemeClr val="tx1"/>
                </a:solidFill>
              </a:rPr>
              <a:t> WHERE </a:t>
            </a:r>
            <a:r>
              <a:rPr lang="en-US" dirty="0" err="1">
                <a:solidFill>
                  <a:schemeClr val="tx1"/>
                </a:solidFill>
              </a:rPr>
              <a:t>của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truy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vấn</a:t>
            </a:r>
            <a:r>
              <a:rPr lang="en-US" dirty="0">
                <a:solidFill>
                  <a:schemeClr val="tx1"/>
                </a:solidFill>
              </a:rPr>
              <a:t> cha</a:t>
            </a:r>
          </a:p>
          <a:p>
            <a:pPr algn="just"/>
            <a:r>
              <a:rPr lang="en-US" dirty="0"/>
              <a:t>EXISTS</a:t>
            </a:r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Không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cần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có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thuộc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tính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hằng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số</a:t>
            </a:r>
            <a:r>
              <a:rPr lang="en-US" dirty="0">
                <a:solidFill>
                  <a:schemeClr val="tx1"/>
                </a:solidFill>
              </a:rPr>
              <a:t> hay </a:t>
            </a:r>
            <a:r>
              <a:rPr lang="en-US" dirty="0" err="1">
                <a:solidFill>
                  <a:schemeClr val="tx1"/>
                </a:solidFill>
              </a:rPr>
              <a:t>biểu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thức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nào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khác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đứng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trước</a:t>
            </a:r>
            <a:endParaRPr lang="en-US" dirty="0">
              <a:solidFill>
                <a:schemeClr val="tx1"/>
              </a:solidFill>
            </a:endParaRPr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Không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nhất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thiết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liệt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kê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tên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thuộc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tính</a:t>
            </a:r>
            <a:r>
              <a:rPr lang="en-US" dirty="0">
                <a:solidFill>
                  <a:schemeClr val="tx1"/>
                </a:solidFill>
              </a:rPr>
              <a:t> ở </a:t>
            </a:r>
            <a:r>
              <a:rPr lang="en-US" dirty="0" err="1">
                <a:solidFill>
                  <a:schemeClr val="tx1"/>
                </a:solidFill>
              </a:rPr>
              <a:t>mệnh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đề</a:t>
            </a:r>
            <a:r>
              <a:rPr lang="en-US" dirty="0">
                <a:solidFill>
                  <a:schemeClr val="tx1"/>
                </a:solidFill>
              </a:rPr>
              <a:t> SELECT </a:t>
            </a:r>
            <a:r>
              <a:rPr lang="en-US" dirty="0" err="1">
                <a:solidFill>
                  <a:schemeClr val="tx1"/>
                </a:solidFill>
              </a:rPr>
              <a:t>của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truy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vấn</a:t>
            </a:r>
            <a:r>
              <a:rPr lang="en-US" dirty="0">
                <a:solidFill>
                  <a:schemeClr val="tx1"/>
                </a:solidFill>
              </a:rPr>
              <a:t> con</a:t>
            </a:r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Những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câu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truy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vấn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có</a:t>
            </a:r>
            <a:r>
              <a:rPr lang="en-US" dirty="0">
                <a:solidFill>
                  <a:schemeClr val="tx1"/>
                </a:solidFill>
              </a:rPr>
              <a:t> = ANY hay IN </a:t>
            </a:r>
            <a:r>
              <a:rPr lang="en-US" dirty="0" err="1">
                <a:solidFill>
                  <a:schemeClr val="tx1"/>
                </a:solidFill>
              </a:rPr>
              <a:t>đều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có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thể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chuyển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thành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câu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truy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vấn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có</a:t>
            </a:r>
            <a:r>
              <a:rPr lang="en-US" dirty="0">
                <a:solidFill>
                  <a:schemeClr val="tx1"/>
                </a:solidFill>
              </a:rPr>
              <a:t> EXISTS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88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227327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Phép</a:t>
            </a:r>
            <a:r>
              <a:rPr lang="en-US" sz="3500" b="1" dirty="0"/>
              <a:t> chia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89</a:t>
            </a:fld>
            <a:endParaRPr lang="en-US" altLang="en-US"/>
          </a:p>
        </p:txBody>
      </p:sp>
      <p:sp>
        <p:nvSpPr>
          <p:cNvPr id="11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295400"/>
            <a:ext cx="8229600" cy="51816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 err="1"/>
              <a:t>Được</a:t>
            </a:r>
            <a:r>
              <a:rPr lang="en-US" altLang="en-US" dirty="0"/>
              <a:t> </a:t>
            </a:r>
            <a:r>
              <a:rPr lang="en-US" altLang="en-US" dirty="0" err="1"/>
              <a:t>dùng</a:t>
            </a:r>
            <a:r>
              <a:rPr lang="en-US" altLang="en-US" dirty="0"/>
              <a:t> </a:t>
            </a:r>
            <a:r>
              <a:rPr lang="en-US" altLang="en-US" dirty="0" err="1"/>
              <a:t>để</a:t>
            </a:r>
            <a:r>
              <a:rPr lang="en-US" altLang="en-US" dirty="0"/>
              <a:t> </a:t>
            </a:r>
            <a:r>
              <a:rPr lang="en-US" altLang="en-US" dirty="0" err="1"/>
              <a:t>lấy</a:t>
            </a:r>
            <a:r>
              <a:rPr lang="en-US" altLang="en-US" dirty="0"/>
              <a:t> </a:t>
            </a:r>
            <a:r>
              <a:rPr lang="en-US" altLang="en-US" dirty="0" err="1"/>
              <a:t>ra</a:t>
            </a:r>
            <a:r>
              <a:rPr lang="en-US" altLang="en-US" dirty="0"/>
              <a:t> </a:t>
            </a:r>
            <a:r>
              <a:rPr lang="en-US" altLang="en-US" dirty="0" err="1"/>
              <a:t>một</a:t>
            </a:r>
            <a:r>
              <a:rPr lang="en-US" altLang="en-US" dirty="0"/>
              <a:t> </a:t>
            </a:r>
            <a:r>
              <a:rPr lang="en-US" altLang="en-US" dirty="0" err="1"/>
              <a:t>số</a:t>
            </a:r>
            <a:r>
              <a:rPr lang="en-US" altLang="en-US" dirty="0"/>
              <a:t> </a:t>
            </a:r>
            <a:r>
              <a:rPr lang="en-US" altLang="en-US" dirty="0" err="1"/>
              <a:t>bộ</a:t>
            </a:r>
            <a:r>
              <a:rPr lang="en-US" altLang="en-US" dirty="0"/>
              <a:t> </a:t>
            </a:r>
            <a:r>
              <a:rPr lang="en-US" altLang="en-US" dirty="0" err="1"/>
              <a:t>trong</a:t>
            </a:r>
            <a:r>
              <a:rPr lang="en-US" altLang="en-US" dirty="0"/>
              <a:t> </a:t>
            </a:r>
            <a:r>
              <a:rPr lang="en-US" altLang="en-US" dirty="0" err="1"/>
              <a:t>quan</a:t>
            </a:r>
            <a:r>
              <a:rPr lang="en-US" altLang="en-US" dirty="0"/>
              <a:t> </a:t>
            </a:r>
            <a:r>
              <a:rPr lang="en-US" altLang="en-US" dirty="0" err="1"/>
              <a:t>hệ</a:t>
            </a:r>
            <a:r>
              <a:rPr lang="en-US" altLang="en-US" dirty="0"/>
              <a:t> R </a:t>
            </a:r>
            <a:r>
              <a:rPr lang="en-US" altLang="en-US" dirty="0" err="1"/>
              <a:t>sao</a:t>
            </a:r>
            <a:r>
              <a:rPr lang="en-US" altLang="en-US" dirty="0"/>
              <a:t> </a:t>
            </a:r>
            <a:r>
              <a:rPr lang="en-US" altLang="en-US" dirty="0" err="1"/>
              <a:t>cho</a:t>
            </a:r>
            <a:r>
              <a:rPr lang="en-US" altLang="en-US" dirty="0"/>
              <a:t> </a:t>
            </a:r>
            <a:r>
              <a:rPr lang="en-US" altLang="en-US" dirty="0" err="1"/>
              <a:t>thỏa</a:t>
            </a:r>
            <a:r>
              <a:rPr lang="en-US" altLang="en-US" dirty="0"/>
              <a:t> </a:t>
            </a:r>
            <a:r>
              <a:rPr lang="en-US" altLang="en-US" dirty="0" err="1"/>
              <a:t>với</a:t>
            </a:r>
            <a:r>
              <a:rPr lang="en-US" altLang="en-US" dirty="0"/>
              <a:t> </a:t>
            </a:r>
            <a:r>
              <a:rPr lang="en-US" altLang="en-US" u="sng" dirty="0" err="1"/>
              <a:t>tất</a:t>
            </a:r>
            <a:r>
              <a:rPr lang="en-US" altLang="en-US" u="sng" dirty="0"/>
              <a:t> </a:t>
            </a:r>
            <a:r>
              <a:rPr lang="en-US" altLang="en-US" u="sng" dirty="0" err="1"/>
              <a:t>cả</a:t>
            </a:r>
            <a:r>
              <a:rPr lang="en-US" altLang="en-US" dirty="0"/>
              <a:t> </a:t>
            </a:r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bộ</a:t>
            </a:r>
            <a:r>
              <a:rPr lang="en-US" altLang="en-US" dirty="0"/>
              <a:t> </a:t>
            </a:r>
            <a:r>
              <a:rPr lang="en-US" altLang="en-US" dirty="0" err="1"/>
              <a:t>trong</a:t>
            </a:r>
            <a:r>
              <a:rPr lang="en-US" altLang="en-US" dirty="0"/>
              <a:t> </a:t>
            </a:r>
            <a:r>
              <a:rPr lang="en-US" altLang="en-US" dirty="0" err="1"/>
              <a:t>quan</a:t>
            </a:r>
            <a:r>
              <a:rPr lang="en-US" altLang="en-US" dirty="0"/>
              <a:t> </a:t>
            </a:r>
            <a:r>
              <a:rPr lang="en-US" altLang="en-US" dirty="0" err="1"/>
              <a:t>hệ</a:t>
            </a:r>
            <a:r>
              <a:rPr lang="en-US" altLang="en-US" dirty="0"/>
              <a:t> S</a:t>
            </a:r>
          </a:p>
          <a:p>
            <a:pPr eaLnBrk="1" hangingPunct="1"/>
            <a:r>
              <a:rPr lang="en-US" altLang="en-US" dirty="0" err="1"/>
              <a:t>Ký</a:t>
            </a:r>
            <a:r>
              <a:rPr lang="en-US" altLang="en-US" dirty="0"/>
              <a:t> </a:t>
            </a:r>
            <a:r>
              <a:rPr lang="en-US" altLang="en-US" dirty="0" err="1"/>
              <a:t>hiệu</a:t>
            </a:r>
            <a:r>
              <a:rPr lang="en-US" altLang="en-US" dirty="0"/>
              <a:t> R </a:t>
            </a:r>
            <a:r>
              <a:rPr lang="en-US" altLang="en-US" b="1" dirty="0">
                <a:sym typeface="Symbol" pitchFamily="18" charset="2"/>
              </a:rPr>
              <a:t></a:t>
            </a:r>
            <a:r>
              <a:rPr lang="en-US" altLang="en-US" dirty="0">
                <a:sym typeface="Symbol" pitchFamily="18" charset="2"/>
              </a:rPr>
              <a:t> </a:t>
            </a:r>
            <a:r>
              <a:rPr lang="en-US" altLang="en-US" dirty="0"/>
              <a:t>S</a:t>
            </a:r>
          </a:p>
          <a:p>
            <a:pPr lvl="1" eaLnBrk="1" hangingPunct="1"/>
            <a:r>
              <a:rPr lang="en-US" altLang="en-US" dirty="0"/>
              <a:t>R(Z) </a:t>
            </a:r>
            <a:r>
              <a:rPr lang="en-US" altLang="en-US" dirty="0" err="1"/>
              <a:t>và</a:t>
            </a:r>
            <a:r>
              <a:rPr lang="en-US" altLang="en-US" dirty="0"/>
              <a:t> S(X)</a:t>
            </a:r>
          </a:p>
          <a:p>
            <a:pPr lvl="2" eaLnBrk="1" hangingPunct="1"/>
            <a:r>
              <a:rPr lang="en-US" altLang="en-US" dirty="0"/>
              <a:t>Z </a:t>
            </a:r>
            <a:r>
              <a:rPr lang="en-US" altLang="en-US" dirty="0" err="1"/>
              <a:t>là</a:t>
            </a:r>
            <a:r>
              <a:rPr lang="en-US" altLang="en-US" dirty="0"/>
              <a:t> </a:t>
            </a:r>
            <a:r>
              <a:rPr lang="en-US" altLang="en-US" dirty="0" err="1"/>
              <a:t>tập</a:t>
            </a:r>
            <a:r>
              <a:rPr lang="en-US" altLang="en-US" dirty="0"/>
              <a:t> </a:t>
            </a:r>
            <a:r>
              <a:rPr lang="en-US" altLang="en-US" dirty="0" err="1"/>
              <a:t>thuộc</a:t>
            </a:r>
            <a:r>
              <a:rPr lang="en-US" altLang="en-US" dirty="0"/>
              <a:t> </a:t>
            </a:r>
            <a:r>
              <a:rPr lang="en-US" altLang="en-US" dirty="0" err="1"/>
              <a:t>tính</a:t>
            </a:r>
            <a:r>
              <a:rPr lang="en-US" altLang="en-US" dirty="0"/>
              <a:t> </a:t>
            </a:r>
            <a:r>
              <a:rPr lang="en-US" altLang="en-US" dirty="0" err="1"/>
              <a:t>của</a:t>
            </a:r>
            <a:r>
              <a:rPr lang="en-US" altLang="en-US" dirty="0"/>
              <a:t> R, X </a:t>
            </a:r>
            <a:r>
              <a:rPr lang="en-US" altLang="en-US" dirty="0" err="1"/>
              <a:t>là</a:t>
            </a:r>
            <a:r>
              <a:rPr lang="en-US" altLang="en-US" dirty="0"/>
              <a:t> </a:t>
            </a:r>
            <a:r>
              <a:rPr lang="en-US" altLang="en-US" dirty="0" err="1"/>
              <a:t>tập</a:t>
            </a:r>
            <a:r>
              <a:rPr lang="en-US" altLang="en-US" dirty="0"/>
              <a:t> </a:t>
            </a:r>
            <a:r>
              <a:rPr lang="en-US" altLang="en-US" dirty="0" err="1"/>
              <a:t>thuộc</a:t>
            </a:r>
            <a:r>
              <a:rPr lang="en-US" altLang="en-US" dirty="0"/>
              <a:t> </a:t>
            </a:r>
            <a:r>
              <a:rPr lang="en-US" altLang="en-US" dirty="0" err="1"/>
              <a:t>tính</a:t>
            </a:r>
            <a:r>
              <a:rPr lang="en-US" altLang="en-US" dirty="0"/>
              <a:t> </a:t>
            </a:r>
            <a:r>
              <a:rPr lang="en-US" altLang="en-US" dirty="0" err="1"/>
              <a:t>của</a:t>
            </a:r>
            <a:r>
              <a:rPr lang="en-US" altLang="en-US" dirty="0"/>
              <a:t> S</a:t>
            </a:r>
          </a:p>
          <a:p>
            <a:pPr lvl="2" eaLnBrk="1" hangingPunct="1"/>
            <a:r>
              <a:rPr lang="en-US" altLang="en-US" dirty="0"/>
              <a:t>X </a:t>
            </a:r>
            <a:r>
              <a:rPr lang="en-US" altLang="en-US" dirty="0">
                <a:sym typeface="Symbol" pitchFamily="18" charset="2"/>
              </a:rPr>
              <a:t> Z</a:t>
            </a:r>
            <a:endParaRPr lang="en-US" altLang="en-US" dirty="0"/>
          </a:p>
          <a:p>
            <a:pPr eaLnBrk="1" hangingPunct="1"/>
            <a:r>
              <a:rPr lang="en-US" altLang="en-US" dirty="0" err="1"/>
              <a:t>Kết</a:t>
            </a:r>
            <a:r>
              <a:rPr lang="en-US" altLang="en-US" dirty="0"/>
              <a:t> </a:t>
            </a:r>
            <a:r>
              <a:rPr lang="en-US" altLang="en-US" dirty="0" err="1"/>
              <a:t>quả</a:t>
            </a:r>
            <a:r>
              <a:rPr lang="en-US" altLang="en-US" dirty="0"/>
              <a:t> </a:t>
            </a:r>
            <a:r>
              <a:rPr lang="en-US" altLang="en-US" dirty="0" err="1"/>
              <a:t>của</a:t>
            </a:r>
            <a:r>
              <a:rPr lang="en-US" altLang="en-US" dirty="0"/>
              <a:t> </a:t>
            </a:r>
            <a:r>
              <a:rPr lang="en-US" altLang="en-US" dirty="0" err="1"/>
              <a:t>phép</a:t>
            </a:r>
            <a:r>
              <a:rPr lang="en-US" altLang="en-US" dirty="0"/>
              <a:t> chia </a:t>
            </a:r>
            <a:r>
              <a:rPr lang="en-US" altLang="en-US" dirty="0" err="1"/>
              <a:t>là</a:t>
            </a:r>
            <a:r>
              <a:rPr lang="en-US" altLang="en-US" dirty="0"/>
              <a:t> </a:t>
            </a:r>
            <a:r>
              <a:rPr lang="en-US" altLang="en-US" dirty="0" err="1"/>
              <a:t>một</a:t>
            </a:r>
            <a:r>
              <a:rPr lang="en-US" altLang="en-US" dirty="0"/>
              <a:t> </a:t>
            </a:r>
            <a:r>
              <a:rPr lang="en-US" altLang="en-US" dirty="0" err="1"/>
              <a:t>quan</a:t>
            </a:r>
            <a:r>
              <a:rPr lang="en-US" altLang="en-US" dirty="0"/>
              <a:t> </a:t>
            </a:r>
            <a:r>
              <a:rPr lang="en-US" altLang="en-US" dirty="0" err="1"/>
              <a:t>hệ</a:t>
            </a:r>
            <a:r>
              <a:rPr lang="en-US" altLang="en-US" dirty="0"/>
              <a:t> T(Y) </a:t>
            </a:r>
          </a:p>
          <a:p>
            <a:pPr lvl="1" eaLnBrk="1" hangingPunct="1"/>
            <a:r>
              <a:rPr lang="en-US" altLang="en-US" dirty="0" err="1"/>
              <a:t>Với</a:t>
            </a:r>
            <a:r>
              <a:rPr lang="en-US" altLang="en-US" dirty="0"/>
              <a:t> Y=Z-X</a:t>
            </a:r>
          </a:p>
          <a:p>
            <a:pPr lvl="1" eaLnBrk="1" hangingPunct="1"/>
            <a:r>
              <a:rPr lang="en-US" altLang="en-US" dirty="0" err="1"/>
              <a:t>Có</a:t>
            </a:r>
            <a:r>
              <a:rPr lang="en-US" altLang="en-US" dirty="0"/>
              <a:t> t </a:t>
            </a:r>
            <a:r>
              <a:rPr lang="en-US" altLang="en-US" dirty="0" err="1"/>
              <a:t>là</a:t>
            </a:r>
            <a:r>
              <a:rPr lang="en-US" altLang="en-US" dirty="0"/>
              <a:t> </a:t>
            </a:r>
            <a:r>
              <a:rPr lang="en-US" altLang="en-US" dirty="0" err="1"/>
              <a:t>một</a:t>
            </a:r>
            <a:r>
              <a:rPr lang="en-US" altLang="en-US" dirty="0"/>
              <a:t> </a:t>
            </a:r>
            <a:r>
              <a:rPr lang="en-US" altLang="en-US" dirty="0" err="1"/>
              <a:t>bộ</a:t>
            </a:r>
            <a:r>
              <a:rPr lang="en-US" altLang="en-US" dirty="0"/>
              <a:t> </a:t>
            </a:r>
            <a:r>
              <a:rPr lang="en-US" altLang="en-US" dirty="0" err="1"/>
              <a:t>của</a:t>
            </a:r>
            <a:r>
              <a:rPr lang="en-US" altLang="en-US" dirty="0"/>
              <a:t> T </a:t>
            </a:r>
            <a:r>
              <a:rPr lang="en-US" altLang="en-US" dirty="0" err="1"/>
              <a:t>nếu</a:t>
            </a:r>
            <a:r>
              <a:rPr lang="en-US" altLang="en-US" dirty="0"/>
              <a:t> </a:t>
            </a:r>
            <a:r>
              <a:rPr lang="en-US" altLang="en-US" u="sng" dirty="0" err="1"/>
              <a:t>với</a:t>
            </a:r>
            <a:r>
              <a:rPr lang="en-US" altLang="en-US" u="sng" dirty="0"/>
              <a:t> </a:t>
            </a:r>
            <a:r>
              <a:rPr lang="en-US" altLang="en-US" u="sng" dirty="0" err="1"/>
              <a:t>mọi</a:t>
            </a:r>
            <a:r>
              <a:rPr lang="en-US" altLang="en-US" u="sng" dirty="0"/>
              <a:t> </a:t>
            </a:r>
            <a:r>
              <a:rPr lang="en-US" altLang="en-US" u="sng" dirty="0" err="1"/>
              <a:t>bộ</a:t>
            </a:r>
            <a:r>
              <a:rPr lang="en-US" altLang="en-US" dirty="0"/>
              <a:t> </a:t>
            </a:r>
            <a:r>
              <a:rPr lang="en-US" altLang="en-US" dirty="0" err="1">
                <a:sym typeface="Symbol" pitchFamily="18" charset="2"/>
              </a:rPr>
              <a:t>t</a:t>
            </a:r>
            <a:r>
              <a:rPr lang="en-US" altLang="en-US" baseline="-25000" dirty="0" err="1">
                <a:sym typeface="Symbol" pitchFamily="18" charset="2"/>
              </a:rPr>
              <a:t>S</a:t>
            </a:r>
            <a:r>
              <a:rPr lang="en-US" altLang="en-US" dirty="0" err="1">
                <a:sym typeface="Symbol" pitchFamily="18" charset="2"/>
              </a:rPr>
              <a:t>S</a:t>
            </a:r>
            <a:r>
              <a:rPr lang="en-US" altLang="en-US" dirty="0">
                <a:sym typeface="Symbol" pitchFamily="18" charset="2"/>
              </a:rPr>
              <a:t>, </a:t>
            </a:r>
            <a:r>
              <a:rPr lang="en-US" altLang="en-US" dirty="0" err="1">
                <a:sym typeface="Symbol" pitchFamily="18" charset="2"/>
              </a:rPr>
              <a:t>tồn</a:t>
            </a:r>
            <a:r>
              <a:rPr lang="en-US" altLang="en-US" dirty="0">
                <a:sym typeface="Symbol" pitchFamily="18" charset="2"/>
              </a:rPr>
              <a:t> </a:t>
            </a:r>
            <a:r>
              <a:rPr lang="en-US" altLang="en-US" dirty="0" err="1">
                <a:sym typeface="Symbol" pitchFamily="18" charset="2"/>
              </a:rPr>
              <a:t>tại</a:t>
            </a:r>
            <a:r>
              <a:rPr lang="en-US" altLang="en-US" dirty="0">
                <a:sym typeface="Symbol" pitchFamily="18" charset="2"/>
              </a:rPr>
              <a:t> </a:t>
            </a:r>
            <a:r>
              <a:rPr lang="en-US" altLang="en-US" dirty="0" err="1">
                <a:sym typeface="Symbol" pitchFamily="18" charset="2"/>
              </a:rPr>
              <a:t>bộ</a:t>
            </a:r>
            <a:r>
              <a:rPr lang="en-US" altLang="en-US" dirty="0">
                <a:sym typeface="Symbol" pitchFamily="18" charset="2"/>
              </a:rPr>
              <a:t> </a:t>
            </a:r>
            <a:r>
              <a:rPr lang="en-US" altLang="en-US" dirty="0" err="1">
                <a:sym typeface="Symbol" pitchFamily="18" charset="2"/>
              </a:rPr>
              <a:t>t</a:t>
            </a:r>
            <a:r>
              <a:rPr lang="en-US" altLang="en-US" baseline="-25000" dirty="0" err="1">
                <a:sym typeface="Symbol" pitchFamily="18" charset="2"/>
              </a:rPr>
              <a:t>R</a:t>
            </a:r>
            <a:r>
              <a:rPr lang="en-US" altLang="en-US" dirty="0" err="1">
                <a:sym typeface="Symbol" pitchFamily="18" charset="2"/>
              </a:rPr>
              <a:t>R</a:t>
            </a:r>
            <a:r>
              <a:rPr lang="en-US" altLang="en-US" dirty="0">
                <a:sym typeface="Symbol" pitchFamily="18" charset="2"/>
              </a:rPr>
              <a:t> </a:t>
            </a:r>
            <a:r>
              <a:rPr lang="en-US" altLang="en-US" dirty="0" err="1">
                <a:sym typeface="Symbol" pitchFamily="18" charset="2"/>
              </a:rPr>
              <a:t>thỏa</a:t>
            </a:r>
            <a:r>
              <a:rPr lang="en-US" altLang="en-US" dirty="0">
                <a:sym typeface="Symbol" pitchFamily="18" charset="2"/>
              </a:rPr>
              <a:t> 2 </a:t>
            </a:r>
            <a:r>
              <a:rPr lang="en-US" altLang="en-US" dirty="0" err="1">
                <a:sym typeface="Symbol" pitchFamily="18" charset="2"/>
              </a:rPr>
              <a:t>điều</a:t>
            </a:r>
            <a:r>
              <a:rPr lang="en-US" altLang="en-US" dirty="0">
                <a:sym typeface="Symbol" pitchFamily="18" charset="2"/>
              </a:rPr>
              <a:t> </a:t>
            </a:r>
            <a:r>
              <a:rPr lang="en-US" altLang="en-US" dirty="0" err="1">
                <a:sym typeface="Symbol" pitchFamily="18" charset="2"/>
              </a:rPr>
              <a:t>kiện</a:t>
            </a:r>
            <a:endParaRPr lang="en-US" altLang="en-US" dirty="0">
              <a:sym typeface="Symbol" pitchFamily="18" charset="2"/>
            </a:endParaRPr>
          </a:p>
          <a:p>
            <a:pPr lvl="2" eaLnBrk="1" hangingPunct="1"/>
            <a:r>
              <a:rPr lang="en-US" altLang="en-US" dirty="0" err="1">
                <a:sym typeface="Symbol" pitchFamily="18" charset="2"/>
              </a:rPr>
              <a:t>t</a:t>
            </a:r>
            <a:r>
              <a:rPr lang="en-US" altLang="en-US" baseline="-25000" dirty="0" err="1">
                <a:sym typeface="Symbol" pitchFamily="18" charset="2"/>
              </a:rPr>
              <a:t>R</a:t>
            </a:r>
            <a:r>
              <a:rPr lang="en-US" altLang="en-US" dirty="0">
                <a:sym typeface="Symbol" pitchFamily="18" charset="2"/>
              </a:rPr>
              <a:t>(Y) = t</a:t>
            </a:r>
          </a:p>
          <a:p>
            <a:pPr lvl="2" eaLnBrk="1" hangingPunct="1"/>
            <a:r>
              <a:rPr lang="en-US" altLang="en-US" dirty="0" err="1">
                <a:sym typeface="Symbol" pitchFamily="18" charset="2"/>
              </a:rPr>
              <a:t>t</a:t>
            </a:r>
            <a:r>
              <a:rPr lang="en-US" altLang="en-US" baseline="-25000" dirty="0" err="1">
                <a:sym typeface="Symbol" pitchFamily="18" charset="2"/>
              </a:rPr>
              <a:t>R</a:t>
            </a:r>
            <a:r>
              <a:rPr lang="en-US" altLang="en-US" dirty="0">
                <a:sym typeface="Symbol" pitchFamily="18" charset="2"/>
              </a:rPr>
              <a:t>(X) = </a:t>
            </a:r>
            <a:r>
              <a:rPr lang="en-US" altLang="en-US" dirty="0" err="1">
                <a:sym typeface="Symbol" pitchFamily="18" charset="2"/>
              </a:rPr>
              <a:t>t</a:t>
            </a:r>
            <a:r>
              <a:rPr lang="en-US" altLang="en-US" baseline="-25000" dirty="0" err="1">
                <a:sym typeface="Symbol" pitchFamily="18" charset="2"/>
              </a:rPr>
              <a:t>S</a:t>
            </a:r>
            <a:r>
              <a:rPr lang="en-US" altLang="en-US" dirty="0">
                <a:sym typeface="Symbol" pitchFamily="18" charset="2"/>
              </a:rPr>
              <a:t>(X)</a:t>
            </a:r>
          </a:p>
        </p:txBody>
      </p:sp>
      <p:grpSp>
        <p:nvGrpSpPr>
          <p:cNvPr id="114" name="Group 27"/>
          <p:cNvGrpSpPr>
            <a:grpSpLocks/>
          </p:cNvGrpSpPr>
          <p:nvPr/>
        </p:nvGrpSpPr>
        <p:grpSpPr bwMode="auto">
          <a:xfrm>
            <a:off x="4361688" y="5369504"/>
            <a:ext cx="3429000" cy="838200"/>
            <a:chOff x="2976" y="3456"/>
            <a:chExt cx="2160" cy="480"/>
          </a:xfrm>
        </p:grpSpPr>
        <p:grpSp>
          <p:nvGrpSpPr>
            <p:cNvPr id="115" name="Group 24"/>
            <p:cNvGrpSpPr>
              <a:grpSpLocks/>
            </p:cNvGrpSpPr>
            <p:nvPr/>
          </p:nvGrpSpPr>
          <p:grpSpPr bwMode="auto">
            <a:xfrm>
              <a:off x="2976" y="3680"/>
              <a:ext cx="816" cy="192"/>
              <a:chOff x="3024" y="3728"/>
              <a:chExt cx="816" cy="192"/>
            </a:xfrm>
          </p:grpSpPr>
          <p:grpSp>
            <p:nvGrpSpPr>
              <p:cNvPr id="130" name="Group 21"/>
              <p:cNvGrpSpPr>
                <a:grpSpLocks/>
              </p:cNvGrpSpPr>
              <p:nvPr/>
            </p:nvGrpSpPr>
            <p:grpSpPr bwMode="auto">
              <a:xfrm>
                <a:off x="3024" y="3744"/>
                <a:ext cx="816" cy="144"/>
                <a:chOff x="2640" y="3744"/>
                <a:chExt cx="816" cy="144"/>
              </a:xfrm>
            </p:grpSpPr>
            <p:sp>
              <p:nvSpPr>
                <p:cNvPr id="133" name="Rectangle 19"/>
                <p:cNvSpPr>
                  <a:spLocks noChangeArrowheads="1"/>
                </p:cNvSpPr>
                <p:nvPr/>
              </p:nvSpPr>
              <p:spPr bwMode="auto">
                <a:xfrm>
                  <a:off x="2640" y="3744"/>
                  <a:ext cx="480" cy="144"/>
                </a:xfrm>
                <a:prstGeom prst="rect">
                  <a:avLst/>
                </a:prstGeom>
                <a:solidFill>
                  <a:srgbClr val="FF99CC">
                    <a:alpha val="79999"/>
                  </a:srgbClr>
                </a:solidFill>
                <a:ln w="12700" algn="ctr">
                  <a:solidFill>
                    <a:srgbClr val="FF99CC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charset="0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charset="0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charset="0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charset="0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134" name="Rectangle 20"/>
                <p:cNvSpPr>
                  <a:spLocks noChangeArrowheads="1"/>
                </p:cNvSpPr>
                <p:nvPr/>
              </p:nvSpPr>
              <p:spPr bwMode="auto">
                <a:xfrm>
                  <a:off x="3120" y="3744"/>
                  <a:ext cx="336" cy="144"/>
                </a:xfrm>
                <a:prstGeom prst="rect">
                  <a:avLst/>
                </a:prstGeom>
                <a:solidFill>
                  <a:srgbClr val="99CCFF">
                    <a:alpha val="79999"/>
                  </a:srgbClr>
                </a:solidFill>
                <a:ln w="12700" algn="ctr">
                  <a:solidFill>
                    <a:srgbClr val="99CC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charset="0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charset="0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charset="0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charset="0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</p:grpSp>
          <p:sp>
            <p:nvSpPr>
              <p:cNvPr id="131" name="Text Box 22"/>
              <p:cNvSpPr txBox="1">
                <a:spLocks noChangeArrowheads="1"/>
              </p:cNvSpPr>
              <p:nvPr/>
            </p:nvSpPr>
            <p:spPr bwMode="auto">
              <a:xfrm>
                <a:off x="3024" y="3728"/>
                <a:ext cx="480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/>
                <a:r>
                  <a:rPr lang="en-US" altLang="en-US" sz="1400"/>
                  <a:t>X</a:t>
                </a:r>
              </a:p>
            </p:txBody>
          </p:sp>
          <p:sp>
            <p:nvSpPr>
              <p:cNvPr id="132" name="Text Box 23"/>
              <p:cNvSpPr txBox="1">
                <a:spLocks noChangeArrowheads="1"/>
              </p:cNvSpPr>
              <p:nvPr/>
            </p:nvSpPr>
            <p:spPr bwMode="auto">
              <a:xfrm>
                <a:off x="3456" y="3728"/>
                <a:ext cx="384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/>
                <a:r>
                  <a:rPr lang="en-US" altLang="en-US" sz="1400"/>
                  <a:t>Y</a:t>
                </a:r>
              </a:p>
            </p:txBody>
          </p:sp>
        </p:grpSp>
        <p:sp>
          <p:nvSpPr>
            <p:cNvPr id="116" name="Rectangle 18"/>
            <p:cNvSpPr>
              <a:spLocks noChangeArrowheads="1"/>
            </p:cNvSpPr>
            <p:nvPr/>
          </p:nvSpPr>
          <p:spPr bwMode="auto">
            <a:xfrm>
              <a:off x="4032" y="3648"/>
              <a:ext cx="480" cy="288"/>
            </a:xfrm>
            <a:prstGeom prst="rect">
              <a:avLst/>
            </a:prstGeom>
            <a:solidFill>
              <a:srgbClr val="FF99CC">
                <a:alpha val="79999"/>
              </a:srgbClr>
            </a:solidFill>
            <a:ln w="12700" algn="ctr">
              <a:solidFill>
                <a:srgbClr val="FF99CC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7" name="Rectangle 14"/>
            <p:cNvSpPr>
              <a:spLocks noChangeArrowheads="1"/>
            </p:cNvSpPr>
            <p:nvPr/>
          </p:nvSpPr>
          <p:spPr bwMode="auto">
            <a:xfrm>
              <a:off x="4800" y="3696"/>
              <a:ext cx="336" cy="144"/>
            </a:xfrm>
            <a:prstGeom prst="rect">
              <a:avLst/>
            </a:prstGeom>
            <a:solidFill>
              <a:srgbClr val="99CCFF">
                <a:alpha val="79999"/>
              </a:srgbClr>
            </a:solidFill>
            <a:ln w="12700" algn="ctr">
              <a:solidFill>
                <a:srgbClr val="99CC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grpSp>
          <p:nvGrpSpPr>
            <p:cNvPr id="118" name="Group 15"/>
            <p:cNvGrpSpPr>
              <a:grpSpLocks/>
            </p:cNvGrpSpPr>
            <p:nvPr/>
          </p:nvGrpSpPr>
          <p:grpSpPr bwMode="auto">
            <a:xfrm>
              <a:off x="4800" y="3456"/>
              <a:ext cx="336" cy="480"/>
              <a:chOff x="4704" y="3504"/>
              <a:chExt cx="480" cy="480"/>
            </a:xfrm>
          </p:grpSpPr>
          <p:sp>
            <p:nvSpPr>
              <p:cNvPr id="127" name="Rectangle 4"/>
              <p:cNvSpPr>
                <a:spLocks noChangeArrowheads="1"/>
              </p:cNvSpPr>
              <p:nvPr/>
            </p:nvSpPr>
            <p:spPr bwMode="auto">
              <a:xfrm>
                <a:off x="4704" y="3504"/>
                <a:ext cx="480" cy="480"/>
              </a:xfrm>
              <a:prstGeom prst="rect">
                <a:avLst/>
              </a:prstGeom>
              <a:noFill/>
              <a:ln w="127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28" name="Text Box 5"/>
              <p:cNvSpPr txBox="1">
                <a:spLocks noChangeArrowheads="1"/>
              </p:cNvSpPr>
              <p:nvPr/>
            </p:nvSpPr>
            <p:spPr bwMode="auto">
              <a:xfrm>
                <a:off x="4704" y="3504"/>
                <a:ext cx="480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/>
                <a:r>
                  <a:rPr lang="en-US" altLang="en-US" sz="1400"/>
                  <a:t>T(Y)</a:t>
                </a:r>
              </a:p>
            </p:txBody>
          </p:sp>
          <p:sp>
            <p:nvSpPr>
              <p:cNvPr id="129" name="Line 7"/>
              <p:cNvSpPr>
                <a:spLocks noChangeShapeType="1"/>
              </p:cNvSpPr>
              <p:nvPr/>
            </p:nvSpPr>
            <p:spPr bwMode="auto">
              <a:xfrm>
                <a:off x="4704" y="3696"/>
                <a:ext cx="48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119" name="Group 16"/>
            <p:cNvGrpSpPr>
              <a:grpSpLocks/>
            </p:cNvGrpSpPr>
            <p:nvPr/>
          </p:nvGrpSpPr>
          <p:grpSpPr bwMode="auto">
            <a:xfrm>
              <a:off x="4032" y="3456"/>
              <a:ext cx="480" cy="480"/>
              <a:chOff x="3888" y="3504"/>
              <a:chExt cx="480" cy="480"/>
            </a:xfrm>
          </p:grpSpPr>
          <p:sp>
            <p:nvSpPr>
              <p:cNvPr id="124" name="Rectangle 8"/>
              <p:cNvSpPr>
                <a:spLocks noChangeArrowheads="1"/>
              </p:cNvSpPr>
              <p:nvPr/>
            </p:nvSpPr>
            <p:spPr bwMode="auto">
              <a:xfrm>
                <a:off x="3888" y="3504"/>
                <a:ext cx="480" cy="480"/>
              </a:xfrm>
              <a:prstGeom prst="rect">
                <a:avLst/>
              </a:prstGeom>
              <a:noFill/>
              <a:ln w="127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25" name="Text Box 9"/>
              <p:cNvSpPr txBox="1">
                <a:spLocks noChangeArrowheads="1"/>
              </p:cNvSpPr>
              <p:nvPr/>
            </p:nvSpPr>
            <p:spPr bwMode="auto">
              <a:xfrm>
                <a:off x="3888" y="3504"/>
                <a:ext cx="480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/>
                <a:r>
                  <a:rPr lang="en-US" altLang="en-US" sz="1400"/>
                  <a:t>S(X)</a:t>
                </a:r>
              </a:p>
            </p:txBody>
          </p:sp>
          <p:sp>
            <p:nvSpPr>
              <p:cNvPr id="126" name="Line 10"/>
              <p:cNvSpPr>
                <a:spLocks noChangeShapeType="1"/>
              </p:cNvSpPr>
              <p:nvPr/>
            </p:nvSpPr>
            <p:spPr bwMode="auto">
              <a:xfrm>
                <a:off x="3888" y="3696"/>
                <a:ext cx="48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120" name="Group 17"/>
            <p:cNvGrpSpPr>
              <a:grpSpLocks/>
            </p:cNvGrpSpPr>
            <p:nvPr/>
          </p:nvGrpSpPr>
          <p:grpSpPr bwMode="auto">
            <a:xfrm>
              <a:off x="2976" y="3456"/>
              <a:ext cx="816" cy="480"/>
              <a:chOff x="2640" y="3504"/>
              <a:chExt cx="816" cy="480"/>
            </a:xfrm>
          </p:grpSpPr>
          <p:sp>
            <p:nvSpPr>
              <p:cNvPr id="121" name="Rectangle 11"/>
              <p:cNvSpPr>
                <a:spLocks noChangeArrowheads="1"/>
              </p:cNvSpPr>
              <p:nvPr/>
            </p:nvSpPr>
            <p:spPr bwMode="auto">
              <a:xfrm>
                <a:off x="2640" y="3504"/>
                <a:ext cx="816" cy="480"/>
              </a:xfrm>
              <a:prstGeom prst="rect">
                <a:avLst/>
              </a:prstGeom>
              <a:noFill/>
              <a:ln w="127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22" name="Text Box 12"/>
              <p:cNvSpPr txBox="1">
                <a:spLocks noChangeArrowheads="1"/>
              </p:cNvSpPr>
              <p:nvPr/>
            </p:nvSpPr>
            <p:spPr bwMode="auto">
              <a:xfrm>
                <a:off x="2640" y="3504"/>
                <a:ext cx="816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/>
                <a:r>
                  <a:rPr lang="en-US" altLang="en-US" sz="1400"/>
                  <a:t>R(Z)</a:t>
                </a:r>
              </a:p>
            </p:txBody>
          </p:sp>
          <p:sp>
            <p:nvSpPr>
              <p:cNvPr id="123" name="Line 13"/>
              <p:cNvSpPr>
                <a:spLocks noChangeShapeType="1"/>
              </p:cNvSpPr>
              <p:nvPr/>
            </p:nvSpPr>
            <p:spPr bwMode="auto">
              <a:xfrm>
                <a:off x="2640" y="3696"/>
                <a:ext cx="816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20089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" grpId="0" build="p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912" name="Rectangle 176"/>
          <p:cNvSpPr>
            <a:spLocks noChangeArrowheads="1"/>
          </p:cNvSpPr>
          <p:nvPr/>
        </p:nvSpPr>
        <p:spPr bwMode="auto">
          <a:xfrm>
            <a:off x="990600" y="4343400"/>
            <a:ext cx="1371600" cy="533400"/>
          </a:xfrm>
          <a:prstGeom prst="rect">
            <a:avLst/>
          </a:prstGeom>
          <a:solidFill>
            <a:srgbClr val="99CCFF">
              <a:alpha val="79999"/>
            </a:srgbClr>
          </a:solidFill>
          <a:ln w="12700" algn="ctr">
            <a:solidFill>
              <a:srgbClr val="99CC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00913" name="Rectangle 177"/>
          <p:cNvSpPr>
            <a:spLocks noChangeArrowheads="1"/>
          </p:cNvSpPr>
          <p:nvPr/>
        </p:nvSpPr>
        <p:spPr bwMode="auto">
          <a:xfrm>
            <a:off x="2362200" y="4343400"/>
            <a:ext cx="914400" cy="533400"/>
          </a:xfrm>
          <a:prstGeom prst="rect">
            <a:avLst/>
          </a:prstGeom>
          <a:solidFill>
            <a:srgbClr val="FF99CC">
              <a:alpha val="79999"/>
            </a:srgbClr>
          </a:solidFill>
          <a:ln w="12700" algn="ctr">
            <a:solidFill>
              <a:srgbClr val="FF99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00911" name="Rectangle 175"/>
          <p:cNvSpPr>
            <a:spLocks noChangeArrowheads="1"/>
          </p:cNvSpPr>
          <p:nvPr/>
        </p:nvSpPr>
        <p:spPr bwMode="auto">
          <a:xfrm>
            <a:off x="990600" y="3657600"/>
            <a:ext cx="1371600" cy="304800"/>
          </a:xfrm>
          <a:prstGeom prst="rect">
            <a:avLst/>
          </a:prstGeom>
          <a:solidFill>
            <a:srgbClr val="99CCFF">
              <a:alpha val="79999"/>
            </a:srgbClr>
          </a:solidFill>
          <a:ln w="12700" algn="ctr">
            <a:solidFill>
              <a:srgbClr val="99CC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00914" name="Rectangle 178"/>
          <p:cNvSpPr>
            <a:spLocks noChangeArrowheads="1"/>
          </p:cNvSpPr>
          <p:nvPr/>
        </p:nvSpPr>
        <p:spPr bwMode="auto">
          <a:xfrm>
            <a:off x="2362200" y="3657600"/>
            <a:ext cx="914400" cy="304800"/>
          </a:xfrm>
          <a:prstGeom prst="rect">
            <a:avLst/>
          </a:prstGeom>
          <a:solidFill>
            <a:srgbClr val="FF99CC">
              <a:alpha val="79999"/>
            </a:srgbClr>
          </a:solidFill>
          <a:ln w="12700" algn="ctr">
            <a:solidFill>
              <a:srgbClr val="FF99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00909" name="Rectangle 173"/>
          <p:cNvSpPr>
            <a:spLocks noChangeArrowheads="1"/>
          </p:cNvSpPr>
          <p:nvPr/>
        </p:nvSpPr>
        <p:spPr bwMode="auto">
          <a:xfrm>
            <a:off x="2362200" y="3048000"/>
            <a:ext cx="914400" cy="609600"/>
          </a:xfrm>
          <a:prstGeom prst="rect">
            <a:avLst/>
          </a:prstGeom>
          <a:solidFill>
            <a:srgbClr val="FF99CC">
              <a:alpha val="79999"/>
            </a:srgbClr>
          </a:solidFill>
          <a:ln w="12700" algn="ctr">
            <a:solidFill>
              <a:srgbClr val="FF99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00908" name="Rectangle 172"/>
          <p:cNvSpPr>
            <a:spLocks noChangeArrowheads="1"/>
          </p:cNvSpPr>
          <p:nvPr/>
        </p:nvSpPr>
        <p:spPr bwMode="auto">
          <a:xfrm>
            <a:off x="990600" y="3048000"/>
            <a:ext cx="1371600" cy="609600"/>
          </a:xfrm>
          <a:prstGeom prst="rect">
            <a:avLst/>
          </a:prstGeom>
          <a:solidFill>
            <a:srgbClr val="99CCFF">
              <a:alpha val="79999"/>
            </a:srgbClr>
          </a:solidFill>
          <a:ln w="12700" algn="ctr">
            <a:solidFill>
              <a:srgbClr val="99CC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00905" name="Rectangle 169"/>
          <p:cNvSpPr>
            <a:spLocks noChangeArrowheads="1"/>
          </p:cNvSpPr>
          <p:nvPr/>
        </p:nvSpPr>
        <p:spPr bwMode="auto">
          <a:xfrm>
            <a:off x="2362200" y="2743200"/>
            <a:ext cx="914400" cy="304800"/>
          </a:xfrm>
          <a:prstGeom prst="rect">
            <a:avLst/>
          </a:prstGeom>
          <a:solidFill>
            <a:srgbClr val="FF99CC">
              <a:alpha val="79999"/>
            </a:srgbClr>
          </a:solidFill>
          <a:ln w="12700" algn="ctr">
            <a:solidFill>
              <a:srgbClr val="FF99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00903" name="Rectangle 167"/>
          <p:cNvSpPr>
            <a:spLocks noChangeArrowheads="1"/>
          </p:cNvSpPr>
          <p:nvPr/>
        </p:nvSpPr>
        <p:spPr bwMode="auto">
          <a:xfrm>
            <a:off x="4419600" y="2667000"/>
            <a:ext cx="914400" cy="685800"/>
          </a:xfrm>
          <a:prstGeom prst="rect">
            <a:avLst/>
          </a:prstGeom>
          <a:solidFill>
            <a:srgbClr val="FF99CC">
              <a:alpha val="79999"/>
            </a:srgbClr>
          </a:solidFill>
          <a:ln w="12700" algn="ctr">
            <a:solidFill>
              <a:srgbClr val="FF99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00900" name="Rectangle 164"/>
          <p:cNvSpPr>
            <a:spLocks noChangeArrowheads="1"/>
          </p:cNvSpPr>
          <p:nvPr/>
        </p:nvSpPr>
        <p:spPr bwMode="auto">
          <a:xfrm>
            <a:off x="990600" y="2743200"/>
            <a:ext cx="1371600" cy="304800"/>
          </a:xfrm>
          <a:prstGeom prst="rect">
            <a:avLst/>
          </a:prstGeom>
          <a:solidFill>
            <a:srgbClr val="99CCFF">
              <a:alpha val="79999"/>
            </a:srgbClr>
          </a:solidFill>
          <a:ln w="12700" algn="ctr">
            <a:solidFill>
              <a:srgbClr val="99CC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349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>
            <a:noAutofit/>
          </a:bodyPr>
          <a:lstStyle/>
          <a:p>
            <a:r>
              <a:rPr lang="en-US" sz="3600" b="1" dirty="0" err="1"/>
              <a:t>Phép</a:t>
            </a:r>
            <a:r>
              <a:rPr lang="en-US" sz="3600" b="1" dirty="0"/>
              <a:t> chia</a:t>
            </a:r>
            <a:endParaRPr lang="en-US" altLang="en-US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500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295400"/>
            <a:ext cx="8229600" cy="5181600"/>
          </a:xfrm>
        </p:spPr>
        <p:txBody>
          <a:bodyPr/>
          <a:lstStyle/>
          <a:p>
            <a:pPr eaLnBrk="1" hangingPunct="1"/>
            <a:r>
              <a:rPr lang="en-US" altLang="en-US"/>
              <a:t>Ví dụ</a:t>
            </a:r>
          </a:p>
        </p:txBody>
      </p:sp>
      <p:grpSp>
        <p:nvGrpSpPr>
          <p:cNvPr id="63501" name="Group 84"/>
          <p:cNvGrpSpPr>
            <a:grpSpLocks/>
          </p:cNvGrpSpPr>
          <p:nvPr/>
        </p:nvGrpSpPr>
        <p:grpSpPr bwMode="auto">
          <a:xfrm>
            <a:off x="533400" y="2362200"/>
            <a:ext cx="2743200" cy="2819400"/>
            <a:chOff x="240" y="1392"/>
            <a:chExt cx="1728" cy="1776"/>
          </a:xfrm>
        </p:grpSpPr>
        <p:sp>
          <p:nvSpPr>
            <p:cNvPr id="63540" name="Text Box 27"/>
            <p:cNvSpPr txBox="1">
              <a:spLocks noChangeArrowheads="1"/>
            </p:cNvSpPr>
            <p:nvPr/>
          </p:nvSpPr>
          <p:spPr bwMode="auto">
            <a:xfrm>
              <a:off x="528" y="1392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/>
              <a:r>
                <a:rPr lang="en-US" altLang="en-US" sz="1400"/>
                <a:t>A</a:t>
              </a:r>
            </a:p>
          </p:txBody>
        </p:sp>
        <p:sp>
          <p:nvSpPr>
            <p:cNvPr id="63541" name="Text Box 28"/>
            <p:cNvSpPr txBox="1">
              <a:spLocks noChangeArrowheads="1"/>
            </p:cNvSpPr>
            <p:nvPr/>
          </p:nvSpPr>
          <p:spPr bwMode="auto">
            <a:xfrm>
              <a:off x="816" y="1392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/>
              <a:r>
                <a:rPr lang="en-US" altLang="en-US" sz="1400"/>
                <a:t>B</a:t>
              </a:r>
            </a:p>
          </p:txBody>
        </p:sp>
        <p:sp>
          <p:nvSpPr>
            <p:cNvPr id="63542" name="Text Box 29"/>
            <p:cNvSpPr txBox="1">
              <a:spLocks noChangeArrowheads="1"/>
            </p:cNvSpPr>
            <p:nvPr/>
          </p:nvSpPr>
          <p:spPr bwMode="auto">
            <a:xfrm>
              <a:off x="528" y="1632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/>
              <a:r>
                <a:rPr lang="en-US" altLang="en-US" sz="1400">
                  <a:sym typeface="Symbol" pitchFamily="18" charset="2"/>
                </a:rPr>
                <a:t></a:t>
              </a:r>
            </a:p>
          </p:txBody>
        </p:sp>
        <p:grpSp>
          <p:nvGrpSpPr>
            <p:cNvPr id="63543" name="Group 81"/>
            <p:cNvGrpSpPr>
              <a:grpSpLocks/>
            </p:cNvGrpSpPr>
            <p:nvPr/>
          </p:nvGrpSpPr>
          <p:grpSpPr bwMode="auto">
            <a:xfrm>
              <a:off x="240" y="1392"/>
              <a:ext cx="1728" cy="192"/>
              <a:chOff x="528" y="1392"/>
              <a:chExt cx="1440" cy="192"/>
            </a:xfrm>
          </p:grpSpPr>
          <p:sp>
            <p:nvSpPr>
              <p:cNvPr id="63596" name="Line 26"/>
              <p:cNvSpPr>
                <a:spLocks noChangeShapeType="1"/>
              </p:cNvSpPr>
              <p:nvPr/>
            </p:nvSpPr>
            <p:spPr bwMode="auto">
              <a:xfrm>
                <a:off x="528" y="1584"/>
                <a:ext cx="14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3597" name="Line 30"/>
              <p:cNvSpPr>
                <a:spLocks noChangeShapeType="1"/>
              </p:cNvSpPr>
              <p:nvPr/>
            </p:nvSpPr>
            <p:spPr bwMode="auto">
              <a:xfrm>
                <a:off x="528" y="1392"/>
                <a:ext cx="14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63544" name="Line 31"/>
            <p:cNvSpPr>
              <a:spLocks noChangeShapeType="1"/>
            </p:cNvSpPr>
            <p:nvPr/>
          </p:nvSpPr>
          <p:spPr bwMode="auto">
            <a:xfrm>
              <a:off x="528" y="3168"/>
              <a:ext cx="14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3545" name="Text Box 32"/>
            <p:cNvSpPr txBox="1">
              <a:spLocks noChangeArrowheads="1"/>
            </p:cNvSpPr>
            <p:nvPr/>
          </p:nvSpPr>
          <p:spPr bwMode="auto">
            <a:xfrm>
              <a:off x="528" y="2400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/>
              <a:r>
                <a:rPr lang="en-US" altLang="en-US" sz="1400">
                  <a:sym typeface="Symbol" pitchFamily="18" charset="2"/>
                </a:rPr>
                <a:t></a:t>
              </a:r>
            </a:p>
          </p:txBody>
        </p:sp>
        <p:sp>
          <p:nvSpPr>
            <p:cNvPr id="63546" name="Text Box 33"/>
            <p:cNvSpPr txBox="1">
              <a:spLocks noChangeArrowheads="1"/>
            </p:cNvSpPr>
            <p:nvPr/>
          </p:nvSpPr>
          <p:spPr bwMode="auto">
            <a:xfrm>
              <a:off x="816" y="1632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/>
              <a:r>
                <a:rPr lang="en-US" altLang="en-US" sz="1400">
                  <a:sym typeface="Symbol" pitchFamily="18" charset="2"/>
                </a:rPr>
                <a:t>a</a:t>
              </a:r>
            </a:p>
          </p:txBody>
        </p:sp>
        <p:sp>
          <p:nvSpPr>
            <p:cNvPr id="63547" name="Text Box 34"/>
            <p:cNvSpPr txBox="1">
              <a:spLocks noChangeArrowheads="1"/>
            </p:cNvSpPr>
            <p:nvPr/>
          </p:nvSpPr>
          <p:spPr bwMode="auto">
            <a:xfrm>
              <a:off x="816" y="2400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/>
              <a:r>
                <a:rPr lang="en-US" altLang="en-US" sz="1400">
                  <a:sym typeface="Symbol" pitchFamily="18" charset="2"/>
                </a:rPr>
                <a:t>a</a:t>
              </a:r>
            </a:p>
          </p:txBody>
        </p:sp>
        <p:grpSp>
          <p:nvGrpSpPr>
            <p:cNvPr id="63548" name="Group 35"/>
            <p:cNvGrpSpPr>
              <a:grpSpLocks/>
            </p:cNvGrpSpPr>
            <p:nvPr/>
          </p:nvGrpSpPr>
          <p:grpSpPr bwMode="auto">
            <a:xfrm>
              <a:off x="528" y="1392"/>
              <a:ext cx="1440" cy="1776"/>
              <a:chOff x="3120" y="1968"/>
              <a:chExt cx="1440" cy="624"/>
            </a:xfrm>
          </p:grpSpPr>
          <p:sp>
            <p:nvSpPr>
              <p:cNvPr id="63590" name="Line 36"/>
              <p:cNvSpPr>
                <a:spLocks noChangeShapeType="1"/>
              </p:cNvSpPr>
              <p:nvPr/>
            </p:nvSpPr>
            <p:spPr bwMode="auto">
              <a:xfrm>
                <a:off x="3408" y="19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3591" name="Line 37"/>
              <p:cNvSpPr>
                <a:spLocks noChangeShapeType="1"/>
              </p:cNvSpPr>
              <p:nvPr/>
            </p:nvSpPr>
            <p:spPr bwMode="auto">
              <a:xfrm>
                <a:off x="3120" y="19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3592" name="Line 38"/>
              <p:cNvSpPr>
                <a:spLocks noChangeShapeType="1"/>
              </p:cNvSpPr>
              <p:nvPr/>
            </p:nvSpPr>
            <p:spPr bwMode="auto">
              <a:xfrm>
                <a:off x="3696" y="19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3593" name="Line 39"/>
              <p:cNvSpPr>
                <a:spLocks noChangeShapeType="1"/>
              </p:cNvSpPr>
              <p:nvPr/>
            </p:nvSpPr>
            <p:spPr bwMode="auto">
              <a:xfrm>
                <a:off x="3984" y="19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3594" name="Line 40"/>
              <p:cNvSpPr>
                <a:spLocks noChangeShapeType="1"/>
              </p:cNvSpPr>
              <p:nvPr/>
            </p:nvSpPr>
            <p:spPr bwMode="auto">
              <a:xfrm>
                <a:off x="4272" y="19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3595" name="Line 41"/>
              <p:cNvSpPr>
                <a:spLocks noChangeShapeType="1"/>
              </p:cNvSpPr>
              <p:nvPr/>
            </p:nvSpPr>
            <p:spPr bwMode="auto">
              <a:xfrm>
                <a:off x="4560" y="19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63549" name="Text Box 42"/>
            <p:cNvSpPr txBox="1">
              <a:spLocks noChangeArrowheads="1"/>
            </p:cNvSpPr>
            <p:nvPr/>
          </p:nvSpPr>
          <p:spPr bwMode="auto">
            <a:xfrm>
              <a:off x="528" y="2592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/>
              <a:r>
                <a:rPr lang="en-US" altLang="en-US" sz="1400">
                  <a:sym typeface="Symbol" pitchFamily="18" charset="2"/>
                </a:rPr>
                <a:t></a:t>
              </a:r>
            </a:p>
          </p:txBody>
        </p:sp>
        <p:sp>
          <p:nvSpPr>
            <p:cNvPr id="63550" name="Text Box 43"/>
            <p:cNvSpPr txBox="1">
              <a:spLocks noChangeArrowheads="1"/>
            </p:cNvSpPr>
            <p:nvPr/>
          </p:nvSpPr>
          <p:spPr bwMode="auto">
            <a:xfrm>
              <a:off x="816" y="2592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/>
              <a:r>
                <a:rPr lang="en-US" altLang="en-US" sz="1400">
                  <a:sym typeface="Symbol" pitchFamily="18" charset="2"/>
                </a:rPr>
                <a:t>a</a:t>
              </a:r>
            </a:p>
          </p:txBody>
        </p:sp>
        <p:sp>
          <p:nvSpPr>
            <p:cNvPr id="63551" name="Text Box 44"/>
            <p:cNvSpPr txBox="1">
              <a:spLocks noChangeArrowheads="1"/>
            </p:cNvSpPr>
            <p:nvPr/>
          </p:nvSpPr>
          <p:spPr bwMode="auto">
            <a:xfrm>
              <a:off x="528" y="1824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/>
              <a:r>
                <a:rPr lang="en-US" altLang="en-US" sz="1400">
                  <a:sym typeface="Symbol" pitchFamily="18" charset="2"/>
                </a:rPr>
                <a:t></a:t>
              </a:r>
            </a:p>
          </p:txBody>
        </p:sp>
        <p:sp>
          <p:nvSpPr>
            <p:cNvPr id="63552" name="Text Box 45"/>
            <p:cNvSpPr txBox="1">
              <a:spLocks noChangeArrowheads="1"/>
            </p:cNvSpPr>
            <p:nvPr/>
          </p:nvSpPr>
          <p:spPr bwMode="auto">
            <a:xfrm>
              <a:off x="816" y="1824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/>
              <a:r>
                <a:rPr lang="en-US" altLang="en-US" sz="1400">
                  <a:sym typeface="Symbol" pitchFamily="18" charset="2"/>
                </a:rPr>
                <a:t>a</a:t>
              </a:r>
            </a:p>
          </p:txBody>
        </p:sp>
        <p:sp>
          <p:nvSpPr>
            <p:cNvPr id="63553" name="Text Box 46"/>
            <p:cNvSpPr txBox="1">
              <a:spLocks noChangeArrowheads="1"/>
            </p:cNvSpPr>
            <p:nvPr/>
          </p:nvSpPr>
          <p:spPr bwMode="auto">
            <a:xfrm>
              <a:off x="528" y="2016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/>
              <a:r>
                <a:rPr lang="en-US" altLang="en-US" sz="1400">
                  <a:sym typeface="Symbol" pitchFamily="18" charset="2"/>
                </a:rPr>
                <a:t></a:t>
              </a:r>
            </a:p>
          </p:txBody>
        </p:sp>
        <p:sp>
          <p:nvSpPr>
            <p:cNvPr id="63554" name="Text Box 47"/>
            <p:cNvSpPr txBox="1">
              <a:spLocks noChangeArrowheads="1"/>
            </p:cNvSpPr>
            <p:nvPr/>
          </p:nvSpPr>
          <p:spPr bwMode="auto">
            <a:xfrm>
              <a:off x="816" y="2016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/>
              <a:r>
                <a:rPr lang="en-US" altLang="en-US" sz="1400">
                  <a:sym typeface="Symbol" pitchFamily="18" charset="2"/>
                </a:rPr>
                <a:t>a</a:t>
              </a:r>
            </a:p>
          </p:txBody>
        </p:sp>
        <p:sp>
          <p:nvSpPr>
            <p:cNvPr id="63555" name="Text Box 48"/>
            <p:cNvSpPr txBox="1">
              <a:spLocks noChangeArrowheads="1"/>
            </p:cNvSpPr>
            <p:nvPr/>
          </p:nvSpPr>
          <p:spPr bwMode="auto">
            <a:xfrm>
              <a:off x="528" y="2208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/>
              <a:r>
                <a:rPr lang="en-US" altLang="en-US" sz="1400">
                  <a:sym typeface="Symbol" pitchFamily="18" charset="2"/>
                </a:rPr>
                <a:t></a:t>
              </a:r>
            </a:p>
          </p:txBody>
        </p:sp>
        <p:sp>
          <p:nvSpPr>
            <p:cNvPr id="63556" name="Text Box 49"/>
            <p:cNvSpPr txBox="1">
              <a:spLocks noChangeArrowheads="1"/>
            </p:cNvSpPr>
            <p:nvPr/>
          </p:nvSpPr>
          <p:spPr bwMode="auto">
            <a:xfrm>
              <a:off x="816" y="2208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/>
              <a:r>
                <a:rPr lang="en-US" altLang="en-US" sz="1400">
                  <a:sym typeface="Symbol" pitchFamily="18" charset="2"/>
                </a:rPr>
                <a:t>a</a:t>
              </a:r>
            </a:p>
          </p:txBody>
        </p:sp>
        <p:sp>
          <p:nvSpPr>
            <p:cNvPr id="63557" name="Text Box 50"/>
            <p:cNvSpPr txBox="1">
              <a:spLocks noChangeArrowheads="1"/>
            </p:cNvSpPr>
            <p:nvPr/>
          </p:nvSpPr>
          <p:spPr bwMode="auto">
            <a:xfrm>
              <a:off x="528" y="2784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/>
              <a:r>
                <a:rPr lang="en-US" altLang="en-US" sz="1400">
                  <a:sym typeface="Symbol" pitchFamily="18" charset="2"/>
                </a:rPr>
                <a:t></a:t>
              </a:r>
            </a:p>
          </p:txBody>
        </p:sp>
        <p:sp>
          <p:nvSpPr>
            <p:cNvPr id="63558" name="Text Box 51"/>
            <p:cNvSpPr txBox="1">
              <a:spLocks noChangeArrowheads="1"/>
            </p:cNvSpPr>
            <p:nvPr/>
          </p:nvSpPr>
          <p:spPr bwMode="auto">
            <a:xfrm>
              <a:off x="816" y="2784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/>
              <a:r>
                <a:rPr lang="en-US" altLang="en-US" sz="1400">
                  <a:sym typeface="Symbol" pitchFamily="18" charset="2"/>
                </a:rPr>
                <a:t>a</a:t>
              </a:r>
            </a:p>
          </p:txBody>
        </p:sp>
        <p:sp>
          <p:nvSpPr>
            <p:cNvPr id="63559" name="Text Box 52"/>
            <p:cNvSpPr txBox="1">
              <a:spLocks noChangeArrowheads="1"/>
            </p:cNvSpPr>
            <p:nvPr/>
          </p:nvSpPr>
          <p:spPr bwMode="auto">
            <a:xfrm>
              <a:off x="528" y="2976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/>
              <a:r>
                <a:rPr lang="en-US" altLang="en-US" sz="1400">
                  <a:sym typeface="Symbol" pitchFamily="18" charset="2"/>
                </a:rPr>
                <a:t></a:t>
              </a:r>
            </a:p>
          </p:txBody>
        </p:sp>
        <p:sp>
          <p:nvSpPr>
            <p:cNvPr id="63560" name="Text Box 53"/>
            <p:cNvSpPr txBox="1">
              <a:spLocks noChangeArrowheads="1"/>
            </p:cNvSpPr>
            <p:nvPr/>
          </p:nvSpPr>
          <p:spPr bwMode="auto">
            <a:xfrm>
              <a:off x="816" y="2976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/>
              <a:r>
                <a:rPr lang="en-US" altLang="en-US" sz="1400">
                  <a:sym typeface="Symbol" pitchFamily="18" charset="2"/>
                </a:rPr>
                <a:t>a</a:t>
              </a:r>
            </a:p>
          </p:txBody>
        </p:sp>
        <p:sp>
          <p:nvSpPr>
            <p:cNvPr id="63561" name="Text Box 54"/>
            <p:cNvSpPr txBox="1">
              <a:spLocks noChangeArrowheads="1"/>
            </p:cNvSpPr>
            <p:nvPr/>
          </p:nvSpPr>
          <p:spPr bwMode="auto">
            <a:xfrm>
              <a:off x="1104" y="1392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/>
              <a:r>
                <a:rPr lang="en-US" altLang="en-US" sz="1400"/>
                <a:t>C</a:t>
              </a:r>
            </a:p>
          </p:txBody>
        </p:sp>
        <p:sp>
          <p:nvSpPr>
            <p:cNvPr id="63562" name="Text Box 55"/>
            <p:cNvSpPr txBox="1">
              <a:spLocks noChangeArrowheads="1"/>
            </p:cNvSpPr>
            <p:nvPr/>
          </p:nvSpPr>
          <p:spPr bwMode="auto">
            <a:xfrm>
              <a:off x="1392" y="1392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/>
              <a:r>
                <a:rPr lang="en-US" altLang="en-US" sz="1400"/>
                <a:t>D</a:t>
              </a:r>
            </a:p>
          </p:txBody>
        </p:sp>
        <p:sp>
          <p:nvSpPr>
            <p:cNvPr id="63563" name="Text Box 56"/>
            <p:cNvSpPr txBox="1">
              <a:spLocks noChangeArrowheads="1"/>
            </p:cNvSpPr>
            <p:nvPr/>
          </p:nvSpPr>
          <p:spPr bwMode="auto">
            <a:xfrm>
              <a:off x="1104" y="1632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/>
              <a:r>
                <a:rPr lang="en-US" altLang="en-US" sz="1400" dirty="0">
                  <a:sym typeface="Symbol" pitchFamily="18" charset="2"/>
                </a:rPr>
                <a:t></a:t>
              </a:r>
            </a:p>
          </p:txBody>
        </p:sp>
        <p:sp>
          <p:nvSpPr>
            <p:cNvPr id="63564" name="Text Box 57"/>
            <p:cNvSpPr txBox="1">
              <a:spLocks noChangeArrowheads="1"/>
            </p:cNvSpPr>
            <p:nvPr/>
          </p:nvSpPr>
          <p:spPr bwMode="auto">
            <a:xfrm>
              <a:off x="1104" y="2400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/>
              <a:r>
                <a:rPr lang="en-US" altLang="en-US" sz="1400">
                  <a:sym typeface="Symbol" pitchFamily="18" charset="2"/>
                </a:rPr>
                <a:t></a:t>
              </a:r>
            </a:p>
          </p:txBody>
        </p:sp>
        <p:sp>
          <p:nvSpPr>
            <p:cNvPr id="63565" name="Text Box 58"/>
            <p:cNvSpPr txBox="1">
              <a:spLocks noChangeArrowheads="1"/>
            </p:cNvSpPr>
            <p:nvPr/>
          </p:nvSpPr>
          <p:spPr bwMode="auto">
            <a:xfrm>
              <a:off x="1392" y="1632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/>
              <a:r>
                <a:rPr lang="en-US" altLang="en-US" sz="1400">
                  <a:sym typeface="Symbol" pitchFamily="18" charset="2"/>
                </a:rPr>
                <a:t>a</a:t>
              </a:r>
            </a:p>
          </p:txBody>
        </p:sp>
        <p:sp>
          <p:nvSpPr>
            <p:cNvPr id="63566" name="Text Box 59"/>
            <p:cNvSpPr txBox="1">
              <a:spLocks noChangeArrowheads="1"/>
            </p:cNvSpPr>
            <p:nvPr/>
          </p:nvSpPr>
          <p:spPr bwMode="auto">
            <a:xfrm>
              <a:off x="1392" y="2400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/>
              <a:r>
                <a:rPr lang="en-US" altLang="en-US" sz="1400">
                  <a:sym typeface="Symbol" pitchFamily="18" charset="2"/>
                </a:rPr>
                <a:t>b</a:t>
              </a:r>
            </a:p>
          </p:txBody>
        </p:sp>
        <p:sp>
          <p:nvSpPr>
            <p:cNvPr id="63567" name="Text Box 60"/>
            <p:cNvSpPr txBox="1">
              <a:spLocks noChangeArrowheads="1"/>
            </p:cNvSpPr>
            <p:nvPr/>
          </p:nvSpPr>
          <p:spPr bwMode="auto">
            <a:xfrm>
              <a:off x="1104" y="2592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/>
              <a:r>
                <a:rPr lang="en-US" altLang="en-US" sz="1400">
                  <a:sym typeface="Symbol" pitchFamily="18" charset="2"/>
                </a:rPr>
                <a:t></a:t>
              </a:r>
            </a:p>
          </p:txBody>
        </p:sp>
        <p:sp>
          <p:nvSpPr>
            <p:cNvPr id="63568" name="Text Box 61"/>
            <p:cNvSpPr txBox="1">
              <a:spLocks noChangeArrowheads="1"/>
            </p:cNvSpPr>
            <p:nvPr/>
          </p:nvSpPr>
          <p:spPr bwMode="auto">
            <a:xfrm>
              <a:off x="1392" y="2592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/>
              <a:r>
                <a:rPr lang="en-US" altLang="en-US" sz="1400">
                  <a:sym typeface="Symbol" pitchFamily="18" charset="2"/>
                </a:rPr>
                <a:t>a</a:t>
              </a:r>
            </a:p>
          </p:txBody>
        </p:sp>
        <p:sp>
          <p:nvSpPr>
            <p:cNvPr id="63569" name="Text Box 62"/>
            <p:cNvSpPr txBox="1">
              <a:spLocks noChangeArrowheads="1"/>
            </p:cNvSpPr>
            <p:nvPr/>
          </p:nvSpPr>
          <p:spPr bwMode="auto">
            <a:xfrm>
              <a:off x="1104" y="1824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/>
              <a:r>
                <a:rPr lang="en-US" altLang="en-US" sz="1400">
                  <a:sym typeface="Symbol" pitchFamily="18" charset="2"/>
                </a:rPr>
                <a:t></a:t>
              </a:r>
            </a:p>
          </p:txBody>
        </p:sp>
        <p:sp>
          <p:nvSpPr>
            <p:cNvPr id="63570" name="Text Box 63"/>
            <p:cNvSpPr txBox="1">
              <a:spLocks noChangeArrowheads="1"/>
            </p:cNvSpPr>
            <p:nvPr/>
          </p:nvSpPr>
          <p:spPr bwMode="auto">
            <a:xfrm>
              <a:off x="1392" y="1824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/>
              <a:r>
                <a:rPr lang="en-US" altLang="en-US" sz="1400">
                  <a:sym typeface="Symbol" pitchFamily="18" charset="2"/>
                </a:rPr>
                <a:t>a</a:t>
              </a:r>
            </a:p>
          </p:txBody>
        </p:sp>
        <p:sp>
          <p:nvSpPr>
            <p:cNvPr id="63571" name="Text Box 64"/>
            <p:cNvSpPr txBox="1">
              <a:spLocks noChangeArrowheads="1"/>
            </p:cNvSpPr>
            <p:nvPr/>
          </p:nvSpPr>
          <p:spPr bwMode="auto">
            <a:xfrm>
              <a:off x="1104" y="2016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/>
              <a:r>
                <a:rPr lang="en-US" altLang="en-US" sz="1400">
                  <a:sym typeface="Symbol" pitchFamily="18" charset="2"/>
                </a:rPr>
                <a:t></a:t>
              </a:r>
            </a:p>
          </p:txBody>
        </p:sp>
        <p:sp>
          <p:nvSpPr>
            <p:cNvPr id="63572" name="Text Box 65"/>
            <p:cNvSpPr txBox="1">
              <a:spLocks noChangeArrowheads="1"/>
            </p:cNvSpPr>
            <p:nvPr/>
          </p:nvSpPr>
          <p:spPr bwMode="auto">
            <a:xfrm>
              <a:off x="1392" y="2016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/>
              <a:r>
                <a:rPr lang="en-US" altLang="en-US" sz="1400">
                  <a:sym typeface="Symbol" pitchFamily="18" charset="2"/>
                </a:rPr>
                <a:t>b</a:t>
              </a:r>
            </a:p>
          </p:txBody>
        </p:sp>
        <p:sp>
          <p:nvSpPr>
            <p:cNvPr id="63573" name="Text Box 66"/>
            <p:cNvSpPr txBox="1">
              <a:spLocks noChangeArrowheads="1"/>
            </p:cNvSpPr>
            <p:nvPr/>
          </p:nvSpPr>
          <p:spPr bwMode="auto">
            <a:xfrm>
              <a:off x="1104" y="2208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/>
              <a:r>
                <a:rPr lang="en-US" altLang="en-US" sz="1400">
                  <a:sym typeface="Symbol" pitchFamily="18" charset="2"/>
                </a:rPr>
                <a:t></a:t>
              </a:r>
            </a:p>
          </p:txBody>
        </p:sp>
        <p:sp>
          <p:nvSpPr>
            <p:cNvPr id="63574" name="Text Box 67"/>
            <p:cNvSpPr txBox="1">
              <a:spLocks noChangeArrowheads="1"/>
            </p:cNvSpPr>
            <p:nvPr/>
          </p:nvSpPr>
          <p:spPr bwMode="auto">
            <a:xfrm>
              <a:off x="1392" y="2208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/>
              <a:r>
                <a:rPr lang="en-US" altLang="en-US" sz="1400">
                  <a:sym typeface="Symbol" pitchFamily="18" charset="2"/>
                </a:rPr>
                <a:t>a</a:t>
              </a:r>
            </a:p>
          </p:txBody>
        </p:sp>
        <p:sp>
          <p:nvSpPr>
            <p:cNvPr id="63575" name="Text Box 68"/>
            <p:cNvSpPr txBox="1">
              <a:spLocks noChangeArrowheads="1"/>
            </p:cNvSpPr>
            <p:nvPr/>
          </p:nvSpPr>
          <p:spPr bwMode="auto">
            <a:xfrm>
              <a:off x="1104" y="2784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/>
              <a:r>
                <a:rPr lang="en-US" altLang="en-US" sz="1400">
                  <a:sym typeface="Symbol" pitchFamily="18" charset="2"/>
                </a:rPr>
                <a:t></a:t>
              </a:r>
            </a:p>
          </p:txBody>
        </p:sp>
        <p:sp>
          <p:nvSpPr>
            <p:cNvPr id="63576" name="Text Box 69"/>
            <p:cNvSpPr txBox="1">
              <a:spLocks noChangeArrowheads="1"/>
            </p:cNvSpPr>
            <p:nvPr/>
          </p:nvSpPr>
          <p:spPr bwMode="auto">
            <a:xfrm>
              <a:off x="1392" y="2784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/>
              <a:r>
                <a:rPr lang="en-US" altLang="en-US" sz="1400">
                  <a:sym typeface="Symbol" pitchFamily="18" charset="2"/>
                </a:rPr>
                <a:t>b</a:t>
              </a:r>
            </a:p>
          </p:txBody>
        </p:sp>
        <p:sp>
          <p:nvSpPr>
            <p:cNvPr id="63577" name="Text Box 70"/>
            <p:cNvSpPr txBox="1">
              <a:spLocks noChangeArrowheads="1"/>
            </p:cNvSpPr>
            <p:nvPr/>
          </p:nvSpPr>
          <p:spPr bwMode="auto">
            <a:xfrm>
              <a:off x="1104" y="2976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/>
              <a:r>
                <a:rPr lang="en-US" altLang="en-US" sz="1400">
                  <a:sym typeface="Symbol" pitchFamily="18" charset="2"/>
                </a:rPr>
                <a:t></a:t>
              </a:r>
            </a:p>
          </p:txBody>
        </p:sp>
        <p:sp>
          <p:nvSpPr>
            <p:cNvPr id="63578" name="Text Box 71"/>
            <p:cNvSpPr txBox="1">
              <a:spLocks noChangeArrowheads="1"/>
            </p:cNvSpPr>
            <p:nvPr/>
          </p:nvSpPr>
          <p:spPr bwMode="auto">
            <a:xfrm>
              <a:off x="1392" y="2976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/>
              <a:r>
                <a:rPr lang="en-US" altLang="en-US" sz="1400">
                  <a:sym typeface="Symbol" pitchFamily="18" charset="2"/>
                </a:rPr>
                <a:t>b</a:t>
              </a:r>
            </a:p>
          </p:txBody>
        </p:sp>
        <p:sp>
          <p:nvSpPr>
            <p:cNvPr id="63579" name="Text Box 72"/>
            <p:cNvSpPr txBox="1">
              <a:spLocks noChangeArrowheads="1"/>
            </p:cNvSpPr>
            <p:nvPr/>
          </p:nvSpPr>
          <p:spPr bwMode="auto">
            <a:xfrm>
              <a:off x="1680" y="1392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/>
              <a:r>
                <a:rPr lang="en-US" altLang="en-US" sz="1400"/>
                <a:t>E</a:t>
              </a:r>
            </a:p>
          </p:txBody>
        </p:sp>
        <p:sp>
          <p:nvSpPr>
            <p:cNvPr id="63580" name="Text Box 73"/>
            <p:cNvSpPr txBox="1">
              <a:spLocks noChangeArrowheads="1"/>
            </p:cNvSpPr>
            <p:nvPr/>
          </p:nvSpPr>
          <p:spPr bwMode="auto">
            <a:xfrm>
              <a:off x="1680" y="1632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/>
              <a:r>
                <a:rPr lang="en-US" altLang="en-US" sz="1400">
                  <a:sym typeface="Symbol" pitchFamily="18" charset="2"/>
                </a:rPr>
                <a:t>1</a:t>
              </a:r>
            </a:p>
          </p:txBody>
        </p:sp>
        <p:sp>
          <p:nvSpPr>
            <p:cNvPr id="63581" name="Text Box 74"/>
            <p:cNvSpPr txBox="1">
              <a:spLocks noChangeArrowheads="1"/>
            </p:cNvSpPr>
            <p:nvPr/>
          </p:nvSpPr>
          <p:spPr bwMode="auto">
            <a:xfrm>
              <a:off x="1680" y="2400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/>
              <a:r>
                <a:rPr lang="en-US" altLang="en-US" sz="1400">
                  <a:sym typeface="Symbol" pitchFamily="18" charset="2"/>
                </a:rPr>
                <a:t>3</a:t>
              </a:r>
            </a:p>
          </p:txBody>
        </p:sp>
        <p:sp>
          <p:nvSpPr>
            <p:cNvPr id="63582" name="Text Box 75"/>
            <p:cNvSpPr txBox="1">
              <a:spLocks noChangeArrowheads="1"/>
            </p:cNvSpPr>
            <p:nvPr/>
          </p:nvSpPr>
          <p:spPr bwMode="auto">
            <a:xfrm>
              <a:off x="1680" y="2592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/>
              <a:r>
                <a:rPr lang="en-US" altLang="en-US" sz="1400">
                  <a:sym typeface="Symbol" pitchFamily="18" charset="2"/>
                </a:rPr>
                <a:t>1</a:t>
              </a:r>
            </a:p>
          </p:txBody>
        </p:sp>
        <p:sp>
          <p:nvSpPr>
            <p:cNvPr id="63583" name="Text Box 76"/>
            <p:cNvSpPr txBox="1">
              <a:spLocks noChangeArrowheads="1"/>
            </p:cNvSpPr>
            <p:nvPr/>
          </p:nvSpPr>
          <p:spPr bwMode="auto">
            <a:xfrm>
              <a:off x="1680" y="1824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/>
              <a:r>
                <a:rPr lang="en-US" altLang="en-US" sz="1400">
                  <a:sym typeface="Symbol" pitchFamily="18" charset="2"/>
                </a:rPr>
                <a:t>1</a:t>
              </a:r>
            </a:p>
          </p:txBody>
        </p:sp>
        <p:sp>
          <p:nvSpPr>
            <p:cNvPr id="63584" name="Text Box 77"/>
            <p:cNvSpPr txBox="1">
              <a:spLocks noChangeArrowheads="1"/>
            </p:cNvSpPr>
            <p:nvPr/>
          </p:nvSpPr>
          <p:spPr bwMode="auto">
            <a:xfrm>
              <a:off x="1680" y="2016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/>
              <a:r>
                <a:rPr lang="en-US" altLang="en-US" sz="1400">
                  <a:sym typeface="Symbol" pitchFamily="18" charset="2"/>
                </a:rPr>
                <a:t>1</a:t>
              </a:r>
            </a:p>
          </p:txBody>
        </p:sp>
        <p:sp>
          <p:nvSpPr>
            <p:cNvPr id="63585" name="Text Box 78"/>
            <p:cNvSpPr txBox="1">
              <a:spLocks noChangeArrowheads="1"/>
            </p:cNvSpPr>
            <p:nvPr/>
          </p:nvSpPr>
          <p:spPr bwMode="auto">
            <a:xfrm>
              <a:off x="1680" y="2208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/>
              <a:r>
                <a:rPr lang="en-US" altLang="en-US" sz="1400">
                  <a:sym typeface="Symbol" pitchFamily="18" charset="2"/>
                </a:rPr>
                <a:t>1</a:t>
              </a:r>
            </a:p>
          </p:txBody>
        </p:sp>
        <p:sp>
          <p:nvSpPr>
            <p:cNvPr id="63586" name="Text Box 79"/>
            <p:cNvSpPr txBox="1">
              <a:spLocks noChangeArrowheads="1"/>
            </p:cNvSpPr>
            <p:nvPr/>
          </p:nvSpPr>
          <p:spPr bwMode="auto">
            <a:xfrm>
              <a:off x="1680" y="2784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/>
              <a:r>
                <a:rPr lang="en-US" altLang="en-US" sz="1400">
                  <a:sym typeface="Symbol" pitchFamily="18" charset="2"/>
                </a:rPr>
                <a:t>1</a:t>
              </a:r>
            </a:p>
          </p:txBody>
        </p:sp>
        <p:sp>
          <p:nvSpPr>
            <p:cNvPr id="63587" name="Text Box 80"/>
            <p:cNvSpPr txBox="1">
              <a:spLocks noChangeArrowheads="1"/>
            </p:cNvSpPr>
            <p:nvPr/>
          </p:nvSpPr>
          <p:spPr bwMode="auto">
            <a:xfrm>
              <a:off x="1680" y="2976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/>
              <a:r>
                <a:rPr lang="en-US" altLang="en-US" sz="1400">
                  <a:sym typeface="Symbol" pitchFamily="18" charset="2"/>
                </a:rPr>
                <a:t>1</a:t>
              </a:r>
            </a:p>
          </p:txBody>
        </p:sp>
        <p:sp>
          <p:nvSpPr>
            <p:cNvPr id="63588" name="Text Box 82"/>
            <p:cNvSpPr txBox="1">
              <a:spLocks noChangeArrowheads="1"/>
            </p:cNvSpPr>
            <p:nvPr/>
          </p:nvSpPr>
          <p:spPr bwMode="auto">
            <a:xfrm>
              <a:off x="240" y="1392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/>
              <a:r>
                <a:rPr lang="en-US" altLang="en-US" sz="1400" b="1"/>
                <a:t>R</a:t>
              </a:r>
            </a:p>
          </p:txBody>
        </p:sp>
        <p:sp>
          <p:nvSpPr>
            <p:cNvPr id="63589" name="Line 83"/>
            <p:cNvSpPr>
              <a:spLocks noChangeShapeType="1"/>
            </p:cNvSpPr>
            <p:nvPr/>
          </p:nvSpPr>
          <p:spPr bwMode="auto">
            <a:xfrm>
              <a:off x="240" y="139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3502" name="Group 85"/>
          <p:cNvGrpSpPr>
            <a:grpSpLocks/>
          </p:cNvGrpSpPr>
          <p:nvPr/>
        </p:nvGrpSpPr>
        <p:grpSpPr bwMode="auto">
          <a:xfrm>
            <a:off x="3886200" y="2362200"/>
            <a:ext cx="1447800" cy="990600"/>
            <a:chOff x="528" y="1248"/>
            <a:chExt cx="912" cy="624"/>
          </a:xfrm>
        </p:grpSpPr>
        <p:sp>
          <p:nvSpPr>
            <p:cNvPr id="63525" name="Line 86"/>
            <p:cNvSpPr>
              <a:spLocks noChangeShapeType="1"/>
            </p:cNvSpPr>
            <p:nvPr/>
          </p:nvSpPr>
          <p:spPr bwMode="auto">
            <a:xfrm>
              <a:off x="528" y="1440"/>
              <a:ext cx="9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3526" name="Text Box 87"/>
            <p:cNvSpPr txBox="1">
              <a:spLocks noChangeArrowheads="1"/>
            </p:cNvSpPr>
            <p:nvPr/>
          </p:nvSpPr>
          <p:spPr bwMode="auto">
            <a:xfrm>
              <a:off x="864" y="1248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/>
              <a:r>
                <a:rPr lang="en-US" altLang="en-US" sz="1400"/>
                <a:t>D</a:t>
              </a:r>
            </a:p>
          </p:txBody>
        </p:sp>
        <p:sp>
          <p:nvSpPr>
            <p:cNvPr id="63527" name="Text Box 88"/>
            <p:cNvSpPr txBox="1">
              <a:spLocks noChangeArrowheads="1"/>
            </p:cNvSpPr>
            <p:nvPr/>
          </p:nvSpPr>
          <p:spPr bwMode="auto">
            <a:xfrm>
              <a:off x="1152" y="1248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/>
              <a:r>
                <a:rPr lang="en-US" altLang="en-US" sz="1400"/>
                <a:t>E</a:t>
              </a:r>
            </a:p>
          </p:txBody>
        </p:sp>
        <p:sp>
          <p:nvSpPr>
            <p:cNvPr id="63528" name="Text Box 89"/>
            <p:cNvSpPr txBox="1">
              <a:spLocks noChangeArrowheads="1"/>
            </p:cNvSpPr>
            <p:nvPr/>
          </p:nvSpPr>
          <p:spPr bwMode="auto">
            <a:xfrm>
              <a:off x="864" y="1488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/>
              <a:r>
                <a:rPr lang="en-US" altLang="en-US" sz="1400">
                  <a:sym typeface="Symbol" pitchFamily="18" charset="2"/>
                </a:rPr>
                <a:t>a</a:t>
              </a:r>
            </a:p>
          </p:txBody>
        </p:sp>
        <p:sp>
          <p:nvSpPr>
            <p:cNvPr id="63529" name="Line 90"/>
            <p:cNvSpPr>
              <a:spLocks noChangeShapeType="1"/>
            </p:cNvSpPr>
            <p:nvPr/>
          </p:nvSpPr>
          <p:spPr bwMode="auto">
            <a:xfrm>
              <a:off x="528" y="1248"/>
              <a:ext cx="9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3530" name="Line 91"/>
            <p:cNvSpPr>
              <a:spLocks noChangeShapeType="1"/>
            </p:cNvSpPr>
            <p:nvPr/>
          </p:nvSpPr>
          <p:spPr bwMode="auto">
            <a:xfrm>
              <a:off x="864" y="1872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3531" name="Text Box 92"/>
            <p:cNvSpPr txBox="1">
              <a:spLocks noChangeArrowheads="1"/>
            </p:cNvSpPr>
            <p:nvPr/>
          </p:nvSpPr>
          <p:spPr bwMode="auto">
            <a:xfrm>
              <a:off x="528" y="1248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/>
              <a:r>
                <a:rPr lang="en-US" altLang="en-US" sz="1400" b="1"/>
                <a:t>S</a:t>
              </a:r>
            </a:p>
          </p:txBody>
        </p:sp>
        <p:sp>
          <p:nvSpPr>
            <p:cNvPr id="63532" name="Line 93"/>
            <p:cNvSpPr>
              <a:spLocks noChangeShapeType="1"/>
            </p:cNvSpPr>
            <p:nvPr/>
          </p:nvSpPr>
          <p:spPr bwMode="auto">
            <a:xfrm>
              <a:off x="528" y="124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3533" name="Text Box 94"/>
            <p:cNvSpPr txBox="1">
              <a:spLocks noChangeArrowheads="1"/>
            </p:cNvSpPr>
            <p:nvPr/>
          </p:nvSpPr>
          <p:spPr bwMode="auto">
            <a:xfrm>
              <a:off x="864" y="1680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/>
              <a:r>
                <a:rPr lang="en-US" altLang="en-US" sz="1400">
                  <a:sym typeface="Symbol" pitchFamily="18" charset="2"/>
                </a:rPr>
                <a:t>b</a:t>
              </a:r>
            </a:p>
          </p:txBody>
        </p:sp>
        <p:grpSp>
          <p:nvGrpSpPr>
            <p:cNvPr id="63534" name="Group 95"/>
            <p:cNvGrpSpPr>
              <a:grpSpLocks/>
            </p:cNvGrpSpPr>
            <p:nvPr/>
          </p:nvGrpSpPr>
          <p:grpSpPr bwMode="auto">
            <a:xfrm>
              <a:off x="864" y="1248"/>
              <a:ext cx="576" cy="624"/>
              <a:chOff x="960" y="2880"/>
              <a:chExt cx="576" cy="1008"/>
            </a:xfrm>
          </p:grpSpPr>
          <p:sp>
            <p:nvSpPr>
              <p:cNvPr id="63537" name="Line 96"/>
              <p:cNvSpPr>
                <a:spLocks noChangeShapeType="1"/>
              </p:cNvSpPr>
              <p:nvPr/>
            </p:nvSpPr>
            <p:spPr bwMode="auto">
              <a:xfrm>
                <a:off x="1248" y="28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3538" name="Line 97"/>
              <p:cNvSpPr>
                <a:spLocks noChangeShapeType="1"/>
              </p:cNvSpPr>
              <p:nvPr/>
            </p:nvSpPr>
            <p:spPr bwMode="auto">
              <a:xfrm>
                <a:off x="960" y="28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3539" name="Line 98"/>
              <p:cNvSpPr>
                <a:spLocks noChangeShapeType="1"/>
              </p:cNvSpPr>
              <p:nvPr/>
            </p:nvSpPr>
            <p:spPr bwMode="auto">
              <a:xfrm>
                <a:off x="1536" y="28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63535" name="Text Box 99"/>
            <p:cNvSpPr txBox="1">
              <a:spLocks noChangeArrowheads="1"/>
            </p:cNvSpPr>
            <p:nvPr/>
          </p:nvSpPr>
          <p:spPr bwMode="auto">
            <a:xfrm>
              <a:off x="1152" y="1488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/>
              <a:r>
                <a:rPr lang="en-US" altLang="en-US" sz="1400">
                  <a:sym typeface="Symbol" pitchFamily="18" charset="2"/>
                </a:rPr>
                <a:t>1</a:t>
              </a:r>
            </a:p>
          </p:txBody>
        </p:sp>
        <p:sp>
          <p:nvSpPr>
            <p:cNvPr id="63536" name="Text Box 100"/>
            <p:cNvSpPr txBox="1">
              <a:spLocks noChangeArrowheads="1"/>
            </p:cNvSpPr>
            <p:nvPr/>
          </p:nvSpPr>
          <p:spPr bwMode="auto">
            <a:xfrm>
              <a:off x="1152" y="1680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/>
              <a:r>
                <a:rPr lang="en-US" altLang="en-US" sz="1400">
                  <a:sym typeface="Symbol" pitchFamily="18" charset="2"/>
                </a:rPr>
                <a:t>1</a:t>
              </a:r>
            </a:p>
          </p:txBody>
        </p:sp>
      </p:grpSp>
      <p:sp>
        <p:nvSpPr>
          <p:cNvPr id="63503" name="Text Box 102"/>
          <p:cNvSpPr txBox="1">
            <a:spLocks noChangeArrowheads="1"/>
          </p:cNvSpPr>
          <p:nvPr/>
        </p:nvSpPr>
        <p:spPr bwMode="auto">
          <a:xfrm>
            <a:off x="6705600" y="1600200"/>
            <a:ext cx="1066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pPr algn="l" eaLnBrk="1" hangingPunct="1"/>
            <a:r>
              <a:rPr lang="en-US" altLang="en-US" sz="2200">
                <a:sym typeface="Symbol" pitchFamily="18" charset="2"/>
              </a:rPr>
              <a:t>R </a:t>
            </a:r>
            <a:r>
              <a:rPr lang="en-US" altLang="en-US" sz="2200" b="1">
                <a:sym typeface="Symbol" pitchFamily="18" charset="2"/>
              </a:rPr>
              <a:t></a:t>
            </a:r>
            <a:r>
              <a:rPr lang="en-US" altLang="en-US" sz="2200">
                <a:sym typeface="Symbol" pitchFamily="18" charset="2"/>
              </a:rPr>
              <a:t> S</a:t>
            </a:r>
          </a:p>
        </p:txBody>
      </p:sp>
      <p:grpSp>
        <p:nvGrpSpPr>
          <p:cNvPr id="500902" name="Group 166"/>
          <p:cNvGrpSpPr>
            <a:grpSpLocks/>
          </p:cNvGrpSpPr>
          <p:nvPr/>
        </p:nvGrpSpPr>
        <p:grpSpPr bwMode="auto">
          <a:xfrm>
            <a:off x="6324600" y="2362200"/>
            <a:ext cx="1371600" cy="1066800"/>
            <a:chOff x="3984" y="1488"/>
            <a:chExt cx="864" cy="672"/>
          </a:xfrm>
        </p:grpSpPr>
        <p:sp>
          <p:nvSpPr>
            <p:cNvPr id="63513" name="Text Box 105"/>
            <p:cNvSpPr txBox="1">
              <a:spLocks noChangeArrowheads="1"/>
            </p:cNvSpPr>
            <p:nvPr/>
          </p:nvSpPr>
          <p:spPr bwMode="auto">
            <a:xfrm>
              <a:off x="3984" y="1488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/>
              <a:r>
                <a:rPr lang="en-US" altLang="en-US" sz="1400"/>
                <a:t>A</a:t>
              </a:r>
            </a:p>
          </p:txBody>
        </p:sp>
        <p:sp>
          <p:nvSpPr>
            <p:cNvPr id="63514" name="Text Box 106"/>
            <p:cNvSpPr txBox="1">
              <a:spLocks noChangeArrowheads="1"/>
            </p:cNvSpPr>
            <p:nvPr/>
          </p:nvSpPr>
          <p:spPr bwMode="auto">
            <a:xfrm>
              <a:off x="4272" y="1488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/>
              <a:r>
                <a:rPr lang="en-US" altLang="en-US" sz="1400"/>
                <a:t>B</a:t>
              </a:r>
            </a:p>
          </p:txBody>
        </p:sp>
        <p:grpSp>
          <p:nvGrpSpPr>
            <p:cNvPr id="63515" name="Group 108"/>
            <p:cNvGrpSpPr>
              <a:grpSpLocks/>
            </p:cNvGrpSpPr>
            <p:nvPr/>
          </p:nvGrpSpPr>
          <p:grpSpPr bwMode="auto">
            <a:xfrm>
              <a:off x="3984" y="1488"/>
              <a:ext cx="864" cy="192"/>
              <a:chOff x="528" y="1392"/>
              <a:chExt cx="1440" cy="192"/>
            </a:xfrm>
          </p:grpSpPr>
          <p:sp>
            <p:nvSpPr>
              <p:cNvPr id="63523" name="Line 109"/>
              <p:cNvSpPr>
                <a:spLocks noChangeShapeType="1"/>
              </p:cNvSpPr>
              <p:nvPr/>
            </p:nvSpPr>
            <p:spPr bwMode="auto">
              <a:xfrm>
                <a:off x="528" y="1584"/>
                <a:ext cx="14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3524" name="Line 110"/>
              <p:cNvSpPr>
                <a:spLocks noChangeShapeType="1"/>
              </p:cNvSpPr>
              <p:nvPr/>
            </p:nvSpPr>
            <p:spPr bwMode="auto">
              <a:xfrm>
                <a:off x="528" y="1392"/>
                <a:ext cx="14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63516" name="Line 111"/>
            <p:cNvSpPr>
              <a:spLocks noChangeShapeType="1"/>
            </p:cNvSpPr>
            <p:nvPr/>
          </p:nvSpPr>
          <p:spPr bwMode="auto">
            <a:xfrm>
              <a:off x="3984" y="2160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pSp>
          <p:nvGrpSpPr>
            <p:cNvPr id="63517" name="Group 163"/>
            <p:cNvGrpSpPr>
              <a:grpSpLocks/>
            </p:cNvGrpSpPr>
            <p:nvPr/>
          </p:nvGrpSpPr>
          <p:grpSpPr bwMode="auto">
            <a:xfrm>
              <a:off x="3984" y="1488"/>
              <a:ext cx="864" cy="672"/>
              <a:chOff x="3984" y="1488"/>
              <a:chExt cx="864" cy="1776"/>
            </a:xfrm>
          </p:grpSpPr>
          <p:sp>
            <p:nvSpPr>
              <p:cNvPr id="63519" name="Line 116"/>
              <p:cNvSpPr>
                <a:spLocks noChangeShapeType="1"/>
              </p:cNvSpPr>
              <p:nvPr/>
            </p:nvSpPr>
            <p:spPr bwMode="auto">
              <a:xfrm>
                <a:off x="4272" y="1488"/>
                <a:ext cx="0" cy="177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3520" name="Line 117"/>
              <p:cNvSpPr>
                <a:spLocks noChangeShapeType="1"/>
              </p:cNvSpPr>
              <p:nvPr/>
            </p:nvSpPr>
            <p:spPr bwMode="auto">
              <a:xfrm>
                <a:off x="3984" y="1488"/>
                <a:ext cx="0" cy="177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3521" name="Line 118"/>
              <p:cNvSpPr>
                <a:spLocks noChangeShapeType="1"/>
              </p:cNvSpPr>
              <p:nvPr/>
            </p:nvSpPr>
            <p:spPr bwMode="auto">
              <a:xfrm>
                <a:off x="4560" y="1488"/>
                <a:ext cx="0" cy="177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3522" name="Line 119"/>
              <p:cNvSpPr>
                <a:spLocks noChangeShapeType="1"/>
              </p:cNvSpPr>
              <p:nvPr/>
            </p:nvSpPr>
            <p:spPr bwMode="auto">
              <a:xfrm>
                <a:off x="4848" y="1488"/>
                <a:ext cx="0" cy="177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63518" name="Text Box 134"/>
            <p:cNvSpPr txBox="1">
              <a:spLocks noChangeArrowheads="1"/>
            </p:cNvSpPr>
            <p:nvPr/>
          </p:nvSpPr>
          <p:spPr bwMode="auto">
            <a:xfrm>
              <a:off x="4560" y="1488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/>
              <a:r>
                <a:rPr lang="en-US" altLang="en-US" sz="1400"/>
                <a:t>C</a:t>
              </a:r>
            </a:p>
          </p:txBody>
        </p:sp>
      </p:grpSp>
      <p:grpSp>
        <p:nvGrpSpPr>
          <p:cNvPr id="500906" name="Group 170"/>
          <p:cNvGrpSpPr>
            <a:grpSpLocks/>
          </p:cNvGrpSpPr>
          <p:nvPr/>
        </p:nvGrpSpPr>
        <p:grpSpPr bwMode="auto">
          <a:xfrm>
            <a:off x="6324600" y="2743200"/>
            <a:ext cx="1371600" cy="304800"/>
            <a:chOff x="3984" y="1728"/>
            <a:chExt cx="864" cy="192"/>
          </a:xfrm>
        </p:grpSpPr>
        <p:sp>
          <p:nvSpPr>
            <p:cNvPr id="63510" name="Text Box 124"/>
            <p:cNvSpPr txBox="1">
              <a:spLocks noChangeArrowheads="1"/>
            </p:cNvSpPr>
            <p:nvPr/>
          </p:nvSpPr>
          <p:spPr bwMode="auto">
            <a:xfrm>
              <a:off x="3984" y="1728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/>
              <a:r>
                <a:rPr lang="en-US" altLang="en-US" sz="1400">
                  <a:sym typeface="Symbol" pitchFamily="18" charset="2"/>
                </a:rPr>
                <a:t></a:t>
              </a:r>
            </a:p>
          </p:txBody>
        </p:sp>
        <p:sp>
          <p:nvSpPr>
            <p:cNvPr id="63511" name="Text Box 125"/>
            <p:cNvSpPr txBox="1">
              <a:spLocks noChangeArrowheads="1"/>
            </p:cNvSpPr>
            <p:nvPr/>
          </p:nvSpPr>
          <p:spPr bwMode="auto">
            <a:xfrm>
              <a:off x="4272" y="1728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/>
              <a:r>
                <a:rPr lang="en-US" altLang="en-US" sz="1400">
                  <a:sym typeface="Symbol" pitchFamily="18" charset="2"/>
                </a:rPr>
                <a:t>a</a:t>
              </a:r>
            </a:p>
          </p:txBody>
        </p:sp>
        <p:sp>
          <p:nvSpPr>
            <p:cNvPr id="63512" name="Text Box 142"/>
            <p:cNvSpPr txBox="1">
              <a:spLocks noChangeArrowheads="1"/>
            </p:cNvSpPr>
            <p:nvPr/>
          </p:nvSpPr>
          <p:spPr bwMode="auto">
            <a:xfrm>
              <a:off x="4560" y="1728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/>
              <a:r>
                <a:rPr lang="en-US" altLang="en-US" sz="1400">
                  <a:sym typeface="Symbol" pitchFamily="18" charset="2"/>
                </a:rPr>
                <a:t></a:t>
              </a:r>
            </a:p>
          </p:txBody>
        </p:sp>
      </p:grpSp>
      <p:grpSp>
        <p:nvGrpSpPr>
          <p:cNvPr id="500907" name="Group 171"/>
          <p:cNvGrpSpPr>
            <a:grpSpLocks/>
          </p:cNvGrpSpPr>
          <p:nvPr/>
        </p:nvGrpSpPr>
        <p:grpSpPr bwMode="auto">
          <a:xfrm>
            <a:off x="6324600" y="3048000"/>
            <a:ext cx="1371600" cy="304800"/>
            <a:chOff x="3984" y="1920"/>
            <a:chExt cx="864" cy="192"/>
          </a:xfrm>
        </p:grpSpPr>
        <p:sp>
          <p:nvSpPr>
            <p:cNvPr id="63507" name="Text Box 130"/>
            <p:cNvSpPr txBox="1">
              <a:spLocks noChangeArrowheads="1"/>
            </p:cNvSpPr>
            <p:nvPr/>
          </p:nvSpPr>
          <p:spPr bwMode="auto">
            <a:xfrm>
              <a:off x="3984" y="1920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/>
              <a:r>
                <a:rPr lang="en-US" altLang="en-US" sz="1400">
                  <a:sym typeface="Symbol" pitchFamily="18" charset="2"/>
                </a:rPr>
                <a:t></a:t>
              </a:r>
            </a:p>
          </p:txBody>
        </p:sp>
        <p:sp>
          <p:nvSpPr>
            <p:cNvPr id="63508" name="Text Box 131"/>
            <p:cNvSpPr txBox="1">
              <a:spLocks noChangeArrowheads="1"/>
            </p:cNvSpPr>
            <p:nvPr/>
          </p:nvSpPr>
          <p:spPr bwMode="auto">
            <a:xfrm>
              <a:off x="4272" y="1920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/>
              <a:r>
                <a:rPr lang="en-US" altLang="en-US" sz="1400">
                  <a:sym typeface="Symbol" pitchFamily="18" charset="2"/>
                </a:rPr>
                <a:t>a</a:t>
              </a:r>
            </a:p>
          </p:txBody>
        </p:sp>
        <p:sp>
          <p:nvSpPr>
            <p:cNvPr id="63509" name="Text Box 148"/>
            <p:cNvSpPr txBox="1">
              <a:spLocks noChangeArrowheads="1"/>
            </p:cNvSpPr>
            <p:nvPr/>
          </p:nvSpPr>
          <p:spPr bwMode="auto">
            <a:xfrm>
              <a:off x="4560" y="1920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/>
              <a:r>
                <a:rPr lang="en-US" altLang="en-US" sz="1400">
                  <a:sym typeface="Symbol" pitchFamily="18" charset="2"/>
                </a:rPr>
                <a:t></a:t>
              </a:r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4294967295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en-US"/>
              <a:t>N.T. Uyên Nhi - Khoa CNTT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90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2971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0912" grpId="0" animBg="1"/>
      <p:bldP spid="500913" grpId="0" animBg="1"/>
      <p:bldP spid="500911" grpId="0" animBg="1"/>
      <p:bldP spid="500911" grpId="1" animBg="1"/>
      <p:bldP spid="500914" grpId="0" animBg="1"/>
      <p:bldP spid="500914" grpId="1" animBg="1"/>
      <p:bldP spid="500909" grpId="0" animBg="1"/>
      <p:bldP spid="500909" grpId="1" animBg="1"/>
      <p:bldP spid="500909" grpId="2" animBg="1"/>
      <p:bldP spid="500908" grpId="0" animBg="1"/>
      <p:bldP spid="500908" grpId="1" animBg="1"/>
      <p:bldP spid="500905" grpId="0" animBg="1"/>
      <p:bldP spid="500905" grpId="1" animBg="1"/>
      <p:bldP spid="500903" grpId="0" animBg="1"/>
      <p:bldP spid="500900" grpId="0" animBg="1"/>
      <p:bldP spid="500900" grpId="1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Phép</a:t>
            </a:r>
            <a:r>
              <a:rPr lang="en-US" sz="3500" b="1" dirty="0"/>
              <a:t> chia </a:t>
            </a:r>
            <a:r>
              <a:rPr lang="en-US" sz="3500" b="1" dirty="0" err="1"/>
              <a:t>trong</a:t>
            </a:r>
            <a:r>
              <a:rPr lang="en-US" sz="3500" b="1" dirty="0"/>
              <a:t> SQL</a:t>
            </a:r>
          </a:p>
        </p:txBody>
      </p:sp>
      <p:sp>
        <p:nvSpPr>
          <p:cNvPr id="71270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4800600"/>
            <a:ext cx="8229600" cy="1524000"/>
          </a:xfrm>
        </p:spPr>
        <p:txBody>
          <a:bodyPr/>
          <a:lstStyle/>
          <a:p>
            <a:pPr algn="just"/>
            <a:r>
              <a:rPr lang="en-US" dirty="0"/>
              <a:t>R</a:t>
            </a:r>
            <a:r>
              <a:rPr lang="en-US" dirty="0">
                <a:sym typeface="Symbol" pitchFamily="18" charset="2"/>
              </a:rPr>
              <a:t></a:t>
            </a:r>
            <a:r>
              <a:rPr lang="en-US" dirty="0"/>
              <a:t>S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a</a:t>
            </a:r>
            <a:r>
              <a:rPr lang="en-US" baseline="-25000" dirty="0" err="1"/>
              <a:t>i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R </a:t>
            </a:r>
            <a:r>
              <a:rPr lang="en-US" dirty="0" err="1"/>
              <a:t>sao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u="sng" dirty="0" err="1"/>
              <a:t>không</a:t>
            </a:r>
            <a:r>
              <a:rPr lang="en-US" u="sng" dirty="0"/>
              <a:t> </a:t>
            </a:r>
            <a:r>
              <a:rPr lang="en-US" u="sng" dirty="0" err="1"/>
              <a:t>có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b</a:t>
            </a:r>
            <a:r>
              <a:rPr lang="en-US" baseline="-25000" dirty="0"/>
              <a:t>i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S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(</a:t>
            </a:r>
            <a:r>
              <a:rPr lang="en-US" dirty="0" err="1"/>
              <a:t>a</a:t>
            </a:r>
            <a:r>
              <a:rPr lang="en-US" baseline="-25000" dirty="0" err="1"/>
              <a:t>i</a:t>
            </a:r>
            <a:r>
              <a:rPr lang="en-US" dirty="0"/>
              <a:t>, b</a:t>
            </a:r>
            <a:r>
              <a:rPr lang="en-US" baseline="-25000" dirty="0"/>
              <a:t>i</a:t>
            </a:r>
            <a:r>
              <a:rPr lang="en-US" dirty="0"/>
              <a:t>) </a:t>
            </a:r>
            <a:r>
              <a:rPr lang="en-US" u="sng" dirty="0" err="1"/>
              <a:t>không</a:t>
            </a:r>
            <a:r>
              <a:rPr lang="en-US" u="sng" dirty="0"/>
              <a:t> </a:t>
            </a:r>
            <a:r>
              <a:rPr lang="en-US" u="sng" dirty="0" err="1"/>
              <a:t>tồn</a:t>
            </a:r>
            <a:r>
              <a:rPr lang="en-US" u="sng" dirty="0"/>
              <a:t> </a:t>
            </a:r>
            <a:r>
              <a:rPr lang="en-US" u="sng" dirty="0" err="1"/>
              <a:t>tại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R</a:t>
            </a:r>
          </a:p>
        </p:txBody>
      </p:sp>
      <p:sp>
        <p:nvSpPr>
          <p:cNvPr id="712817" name="Rectangle 113"/>
          <p:cNvSpPr>
            <a:spLocks noChangeArrowheads="1"/>
          </p:cNvSpPr>
          <p:nvPr/>
        </p:nvSpPr>
        <p:spPr bwMode="auto">
          <a:xfrm>
            <a:off x="2514600" y="2590800"/>
            <a:ext cx="914400" cy="304800"/>
          </a:xfrm>
          <a:prstGeom prst="rect">
            <a:avLst/>
          </a:prstGeom>
          <a:solidFill>
            <a:srgbClr val="FF99CC">
              <a:alpha val="80000"/>
            </a:srgbClr>
          </a:solidFill>
          <a:ln w="12700" algn="ctr">
            <a:solidFill>
              <a:srgbClr val="FF99CC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2818" name="Rectangle 114"/>
          <p:cNvSpPr>
            <a:spLocks noChangeArrowheads="1"/>
          </p:cNvSpPr>
          <p:nvPr/>
        </p:nvSpPr>
        <p:spPr bwMode="auto">
          <a:xfrm>
            <a:off x="1143000" y="2590800"/>
            <a:ext cx="1371600" cy="304800"/>
          </a:xfrm>
          <a:prstGeom prst="rect">
            <a:avLst/>
          </a:prstGeom>
          <a:solidFill>
            <a:srgbClr val="99CCFF">
              <a:alpha val="80000"/>
            </a:srgbClr>
          </a:solidFill>
          <a:ln w="12700" algn="ctr">
            <a:solidFill>
              <a:srgbClr val="00CCFF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2813" name="Rectangle 109"/>
          <p:cNvSpPr>
            <a:spLocks noChangeArrowheads="1"/>
          </p:cNvSpPr>
          <p:nvPr/>
        </p:nvSpPr>
        <p:spPr bwMode="auto">
          <a:xfrm>
            <a:off x="2514600" y="2286000"/>
            <a:ext cx="914400" cy="304800"/>
          </a:xfrm>
          <a:prstGeom prst="rect">
            <a:avLst/>
          </a:prstGeom>
          <a:solidFill>
            <a:srgbClr val="FF99CC">
              <a:alpha val="80000"/>
            </a:srgbClr>
          </a:solidFill>
          <a:ln w="12700" algn="ctr">
            <a:solidFill>
              <a:srgbClr val="FF99CC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2811" name="Rectangle 107"/>
          <p:cNvSpPr>
            <a:spLocks noChangeArrowheads="1"/>
          </p:cNvSpPr>
          <p:nvPr/>
        </p:nvSpPr>
        <p:spPr bwMode="auto">
          <a:xfrm>
            <a:off x="1143000" y="2286000"/>
            <a:ext cx="1371600" cy="304800"/>
          </a:xfrm>
          <a:prstGeom prst="rect">
            <a:avLst/>
          </a:prstGeom>
          <a:solidFill>
            <a:srgbClr val="99CCFF">
              <a:alpha val="80000"/>
            </a:srgbClr>
          </a:solidFill>
          <a:ln w="12700" algn="ctr">
            <a:solidFill>
              <a:srgbClr val="00CCFF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2810" name="Rectangle 106"/>
          <p:cNvSpPr>
            <a:spLocks noChangeArrowheads="1"/>
          </p:cNvSpPr>
          <p:nvPr/>
        </p:nvSpPr>
        <p:spPr bwMode="auto">
          <a:xfrm>
            <a:off x="4572000" y="1981200"/>
            <a:ext cx="914400" cy="304800"/>
          </a:xfrm>
          <a:prstGeom prst="rect">
            <a:avLst/>
          </a:prstGeom>
          <a:solidFill>
            <a:srgbClr val="FF99CC">
              <a:alpha val="80000"/>
            </a:srgbClr>
          </a:solidFill>
          <a:ln w="12700" algn="ctr">
            <a:solidFill>
              <a:srgbClr val="FF99CC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2809" name="Rectangle 105"/>
          <p:cNvSpPr>
            <a:spLocks noChangeArrowheads="1"/>
          </p:cNvSpPr>
          <p:nvPr/>
        </p:nvSpPr>
        <p:spPr bwMode="auto">
          <a:xfrm>
            <a:off x="6858000" y="1981200"/>
            <a:ext cx="1371600" cy="304800"/>
          </a:xfrm>
          <a:prstGeom prst="rect">
            <a:avLst/>
          </a:prstGeom>
          <a:solidFill>
            <a:srgbClr val="99CCFF">
              <a:alpha val="80000"/>
            </a:srgbClr>
          </a:solidFill>
          <a:ln w="12700" algn="ctr">
            <a:solidFill>
              <a:srgbClr val="00CCFF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pSp>
        <p:nvGrpSpPr>
          <p:cNvPr id="712708" name="Group 4"/>
          <p:cNvGrpSpPr>
            <a:grpSpLocks/>
          </p:cNvGrpSpPr>
          <p:nvPr/>
        </p:nvGrpSpPr>
        <p:grpSpPr bwMode="auto">
          <a:xfrm>
            <a:off x="685800" y="1600200"/>
            <a:ext cx="2743200" cy="2819400"/>
            <a:chOff x="240" y="1392"/>
            <a:chExt cx="1728" cy="1776"/>
          </a:xfrm>
        </p:grpSpPr>
        <p:sp>
          <p:nvSpPr>
            <p:cNvPr id="712709" name="Text Box 5"/>
            <p:cNvSpPr txBox="1">
              <a:spLocks noChangeArrowheads="1"/>
            </p:cNvSpPr>
            <p:nvPr/>
          </p:nvSpPr>
          <p:spPr bwMode="auto">
            <a:xfrm>
              <a:off x="528" y="1392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A</a:t>
              </a:r>
            </a:p>
          </p:txBody>
        </p:sp>
        <p:sp>
          <p:nvSpPr>
            <p:cNvPr id="712710" name="Text Box 6"/>
            <p:cNvSpPr txBox="1">
              <a:spLocks noChangeArrowheads="1"/>
            </p:cNvSpPr>
            <p:nvPr/>
          </p:nvSpPr>
          <p:spPr bwMode="auto">
            <a:xfrm>
              <a:off x="816" y="1392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B</a:t>
              </a:r>
            </a:p>
          </p:txBody>
        </p:sp>
        <p:sp>
          <p:nvSpPr>
            <p:cNvPr id="712711" name="Text Box 7"/>
            <p:cNvSpPr txBox="1">
              <a:spLocks noChangeArrowheads="1"/>
            </p:cNvSpPr>
            <p:nvPr/>
          </p:nvSpPr>
          <p:spPr bwMode="auto">
            <a:xfrm>
              <a:off x="528" y="1632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</a:t>
              </a:r>
            </a:p>
          </p:txBody>
        </p:sp>
        <p:grpSp>
          <p:nvGrpSpPr>
            <p:cNvPr id="712712" name="Group 8"/>
            <p:cNvGrpSpPr>
              <a:grpSpLocks/>
            </p:cNvGrpSpPr>
            <p:nvPr/>
          </p:nvGrpSpPr>
          <p:grpSpPr bwMode="auto">
            <a:xfrm>
              <a:off x="240" y="1392"/>
              <a:ext cx="1728" cy="192"/>
              <a:chOff x="528" y="1392"/>
              <a:chExt cx="1440" cy="192"/>
            </a:xfrm>
          </p:grpSpPr>
          <p:sp>
            <p:nvSpPr>
              <p:cNvPr id="712713" name="Line 9"/>
              <p:cNvSpPr>
                <a:spLocks noChangeShapeType="1"/>
              </p:cNvSpPr>
              <p:nvPr/>
            </p:nvSpPr>
            <p:spPr bwMode="auto">
              <a:xfrm>
                <a:off x="528" y="1584"/>
                <a:ext cx="14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12714" name="Line 10"/>
              <p:cNvSpPr>
                <a:spLocks noChangeShapeType="1"/>
              </p:cNvSpPr>
              <p:nvPr/>
            </p:nvSpPr>
            <p:spPr bwMode="auto">
              <a:xfrm>
                <a:off x="528" y="1392"/>
                <a:ext cx="14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712715" name="Line 11"/>
            <p:cNvSpPr>
              <a:spLocks noChangeShapeType="1"/>
            </p:cNvSpPr>
            <p:nvPr/>
          </p:nvSpPr>
          <p:spPr bwMode="auto">
            <a:xfrm>
              <a:off x="528" y="3168"/>
              <a:ext cx="14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712716" name="Text Box 12"/>
            <p:cNvSpPr txBox="1">
              <a:spLocks noChangeArrowheads="1"/>
            </p:cNvSpPr>
            <p:nvPr/>
          </p:nvSpPr>
          <p:spPr bwMode="auto">
            <a:xfrm>
              <a:off x="528" y="2400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</a:t>
              </a:r>
            </a:p>
          </p:txBody>
        </p:sp>
        <p:sp>
          <p:nvSpPr>
            <p:cNvPr id="712717" name="Text Box 13"/>
            <p:cNvSpPr txBox="1">
              <a:spLocks noChangeArrowheads="1"/>
            </p:cNvSpPr>
            <p:nvPr/>
          </p:nvSpPr>
          <p:spPr bwMode="auto">
            <a:xfrm>
              <a:off x="816" y="1632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a</a:t>
              </a:r>
            </a:p>
          </p:txBody>
        </p:sp>
        <p:sp>
          <p:nvSpPr>
            <p:cNvPr id="712718" name="Text Box 14"/>
            <p:cNvSpPr txBox="1">
              <a:spLocks noChangeArrowheads="1"/>
            </p:cNvSpPr>
            <p:nvPr/>
          </p:nvSpPr>
          <p:spPr bwMode="auto">
            <a:xfrm>
              <a:off x="816" y="2400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a</a:t>
              </a:r>
            </a:p>
          </p:txBody>
        </p:sp>
        <p:grpSp>
          <p:nvGrpSpPr>
            <p:cNvPr id="712719" name="Group 15"/>
            <p:cNvGrpSpPr>
              <a:grpSpLocks/>
            </p:cNvGrpSpPr>
            <p:nvPr/>
          </p:nvGrpSpPr>
          <p:grpSpPr bwMode="auto">
            <a:xfrm>
              <a:off x="528" y="1392"/>
              <a:ext cx="1440" cy="1776"/>
              <a:chOff x="3120" y="1968"/>
              <a:chExt cx="1440" cy="624"/>
            </a:xfrm>
          </p:grpSpPr>
          <p:sp>
            <p:nvSpPr>
              <p:cNvPr id="712720" name="Line 16"/>
              <p:cNvSpPr>
                <a:spLocks noChangeShapeType="1"/>
              </p:cNvSpPr>
              <p:nvPr/>
            </p:nvSpPr>
            <p:spPr bwMode="auto">
              <a:xfrm>
                <a:off x="3408" y="19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12721" name="Line 17"/>
              <p:cNvSpPr>
                <a:spLocks noChangeShapeType="1"/>
              </p:cNvSpPr>
              <p:nvPr/>
            </p:nvSpPr>
            <p:spPr bwMode="auto">
              <a:xfrm>
                <a:off x="3120" y="19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12722" name="Line 18"/>
              <p:cNvSpPr>
                <a:spLocks noChangeShapeType="1"/>
              </p:cNvSpPr>
              <p:nvPr/>
            </p:nvSpPr>
            <p:spPr bwMode="auto">
              <a:xfrm>
                <a:off x="3696" y="19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12723" name="Line 19"/>
              <p:cNvSpPr>
                <a:spLocks noChangeShapeType="1"/>
              </p:cNvSpPr>
              <p:nvPr/>
            </p:nvSpPr>
            <p:spPr bwMode="auto">
              <a:xfrm>
                <a:off x="3984" y="19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12724" name="Line 20"/>
              <p:cNvSpPr>
                <a:spLocks noChangeShapeType="1"/>
              </p:cNvSpPr>
              <p:nvPr/>
            </p:nvSpPr>
            <p:spPr bwMode="auto">
              <a:xfrm>
                <a:off x="4272" y="19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12725" name="Line 21"/>
              <p:cNvSpPr>
                <a:spLocks noChangeShapeType="1"/>
              </p:cNvSpPr>
              <p:nvPr/>
            </p:nvSpPr>
            <p:spPr bwMode="auto">
              <a:xfrm>
                <a:off x="4560" y="19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712726" name="Text Box 22"/>
            <p:cNvSpPr txBox="1">
              <a:spLocks noChangeArrowheads="1"/>
            </p:cNvSpPr>
            <p:nvPr/>
          </p:nvSpPr>
          <p:spPr bwMode="auto">
            <a:xfrm>
              <a:off x="528" y="2592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</a:t>
              </a:r>
            </a:p>
          </p:txBody>
        </p:sp>
        <p:sp>
          <p:nvSpPr>
            <p:cNvPr id="712727" name="Text Box 23"/>
            <p:cNvSpPr txBox="1">
              <a:spLocks noChangeArrowheads="1"/>
            </p:cNvSpPr>
            <p:nvPr/>
          </p:nvSpPr>
          <p:spPr bwMode="auto">
            <a:xfrm>
              <a:off x="816" y="2592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a</a:t>
              </a:r>
            </a:p>
          </p:txBody>
        </p:sp>
        <p:sp>
          <p:nvSpPr>
            <p:cNvPr id="712728" name="Text Box 24"/>
            <p:cNvSpPr txBox="1">
              <a:spLocks noChangeArrowheads="1"/>
            </p:cNvSpPr>
            <p:nvPr/>
          </p:nvSpPr>
          <p:spPr bwMode="auto">
            <a:xfrm>
              <a:off x="528" y="1824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</a:t>
              </a:r>
            </a:p>
          </p:txBody>
        </p:sp>
        <p:sp>
          <p:nvSpPr>
            <p:cNvPr id="712729" name="Text Box 25"/>
            <p:cNvSpPr txBox="1">
              <a:spLocks noChangeArrowheads="1"/>
            </p:cNvSpPr>
            <p:nvPr/>
          </p:nvSpPr>
          <p:spPr bwMode="auto">
            <a:xfrm>
              <a:off x="816" y="1824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a</a:t>
              </a:r>
            </a:p>
          </p:txBody>
        </p:sp>
        <p:sp>
          <p:nvSpPr>
            <p:cNvPr id="712730" name="Text Box 26"/>
            <p:cNvSpPr txBox="1">
              <a:spLocks noChangeArrowheads="1"/>
            </p:cNvSpPr>
            <p:nvPr/>
          </p:nvSpPr>
          <p:spPr bwMode="auto">
            <a:xfrm>
              <a:off x="528" y="2016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</a:t>
              </a:r>
            </a:p>
          </p:txBody>
        </p:sp>
        <p:sp>
          <p:nvSpPr>
            <p:cNvPr id="712731" name="Text Box 27"/>
            <p:cNvSpPr txBox="1">
              <a:spLocks noChangeArrowheads="1"/>
            </p:cNvSpPr>
            <p:nvPr/>
          </p:nvSpPr>
          <p:spPr bwMode="auto">
            <a:xfrm>
              <a:off x="816" y="2016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a</a:t>
              </a:r>
            </a:p>
          </p:txBody>
        </p:sp>
        <p:sp>
          <p:nvSpPr>
            <p:cNvPr id="712732" name="Text Box 28"/>
            <p:cNvSpPr txBox="1">
              <a:spLocks noChangeArrowheads="1"/>
            </p:cNvSpPr>
            <p:nvPr/>
          </p:nvSpPr>
          <p:spPr bwMode="auto">
            <a:xfrm>
              <a:off x="528" y="2208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</a:t>
              </a:r>
            </a:p>
          </p:txBody>
        </p:sp>
        <p:sp>
          <p:nvSpPr>
            <p:cNvPr id="712733" name="Text Box 29"/>
            <p:cNvSpPr txBox="1">
              <a:spLocks noChangeArrowheads="1"/>
            </p:cNvSpPr>
            <p:nvPr/>
          </p:nvSpPr>
          <p:spPr bwMode="auto">
            <a:xfrm>
              <a:off x="816" y="2208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a</a:t>
              </a:r>
            </a:p>
          </p:txBody>
        </p:sp>
        <p:sp>
          <p:nvSpPr>
            <p:cNvPr id="712734" name="Text Box 30"/>
            <p:cNvSpPr txBox="1">
              <a:spLocks noChangeArrowheads="1"/>
            </p:cNvSpPr>
            <p:nvPr/>
          </p:nvSpPr>
          <p:spPr bwMode="auto">
            <a:xfrm>
              <a:off x="528" y="2784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</a:t>
              </a:r>
            </a:p>
          </p:txBody>
        </p:sp>
        <p:sp>
          <p:nvSpPr>
            <p:cNvPr id="712735" name="Text Box 31"/>
            <p:cNvSpPr txBox="1">
              <a:spLocks noChangeArrowheads="1"/>
            </p:cNvSpPr>
            <p:nvPr/>
          </p:nvSpPr>
          <p:spPr bwMode="auto">
            <a:xfrm>
              <a:off x="816" y="2784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a</a:t>
              </a:r>
            </a:p>
          </p:txBody>
        </p:sp>
        <p:sp>
          <p:nvSpPr>
            <p:cNvPr id="712736" name="Text Box 32"/>
            <p:cNvSpPr txBox="1">
              <a:spLocks noChangeArrowheads="1"/>
            </p:cNvSpPr>
            <p:nvPr/>
          </p:nvSpPr>
          <p:spPr bwMode="auto">
            <a:xfrm>
              <a:off x="528" y="2976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</a:t>
              </a:r>
            </a:p>
          </p:txBody>
        </p:sp>
        <p:sp>
          <p:nvSpPr>
            <p:cNvPr id="712737" name="Text Box 33"/>
            <p:cNvSpPr txBox="1">
              <a:spLocks noChangeArrowheads="1"/>
            </p:cNvSpPr>
            <p:nvPr/>
          </p:nvSpPr>
          <p:spPr bwMode="auto">
            <a:xfrm>
              <a:off x="816" y="2976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a</a:t>
              </a:r>
            </a:p>
          </p:txBody>
        </p:sp>
        <p:sp>
          <p:nvSpPr>
            <p:cNvPr id="712738" name="Text Box 34"/>
            <p:cNvSpPr txBox="1">
              <a:spLocks noChangeArrowheads="1"/>
            </p:cNvSpPr>
            <p:nvPr/>
          </p:nvSpPr>
          <p:spPr bwMode="auto">
            <a:xfrm>
              <a:off x="1104" y="1392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C</a:t>
              </a:r>
            </a:p>
          </p:txBody>
        </p:sp>
        <p:sp>
          <p:nvSpPr>
            <p:cNvPr id="712739" name="Text Box 35"/>
            <p:cNvSpPr txBox="1">
              <a:spLocks noChangeArrowheads="1"/>
            </p:cNvSpPr>
            <p:nvPr/>
          </p:nvSpPr>
          <p:spPr bwMode="auto">
            <a:xfrm>
              <a:off x="1392" y="1392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D</a:t>
              </a:r>
            </a:p>
          </p:txBody>
        </p:sp>
        <p:sp>
          <p:nvSpPr>
            <p:cNvPr id="712740" name="Text Box 36"/>
            <p:cNvSpPr txBox="1">
              <a:spLocks noChangeArrowheads="1"/>
            </p:cNvSpPr>
            <p:nvPr/>
          </p:nvSpPr>
          <p:spPr bwMode="auto">
            <a:xfrm>
              <a:off x="1104" y="1632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</a:t>
              </a:r>
            </a:p>
          </p:txBody>
        </p:sp>
        <p:sp>
          <p:nvSpPr>
            <p:cNvPr id="712741" name="Text Box 37"/>
            <p:cNvSpPr txBox="1">
              <a:spLocks noChangeArrowheads="1"/>
            </p:cNvSpPr>
            <p:nvPr/>
          </p:nvSpPr>
          <p:spPr bwMode="auto">
            <a:xfrm>
              <a:off x="1104" y="2400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</a:t>
              </a:r>
            </a:p>
          </p:txBody>
        </p:sp>
        <p:sp>
          <p:nvSpPr>
            <p:cNvPr id="712742" name="Text Box 38"/>
            <p:cNvSpPr txBox="1">
              <a:spLocks noChangeArrowheads="1"/>
            </p:cNvSpPr>
            <p:nvPr/>
          </p:nvSpPr>
          <p:spPr bwMode="auto">
            <a:xfrm>
              <a:off x="1392" y="1632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a</a:t>
              </a:r>
            </a:p>
          </p:txBody>
        </p:sp>
        <p:sp>
          <p:nvSpPr>
            <p:cNvPr id="712743" name="Text Box 39"/>
            <p:cNvSpPr txBox="1">
              <a:spLocks noChangeArrowheads="1"/>
            </p:cNvSpPr>
            <p:nvPr/>
          </p:nvSpPr>
          <p:spPr bwMode="auto">
            <a:xfrm>
              <a:off x="1392" y="2400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b</a:t>
              </a:r>
            </a:p>
          </p:txBody>
        </p:sp>
        <p:sp>
          <p:nvSpPr>
            <p:cNvPr id="712744" name="Text Box 40"/>
            <p:cNvSpPr txBox="1">
              <a:spLocks noChangeArrowheads="1"/>
            </p:cNvSpPr>
            <p:nvPr/>
          </p:nvSpPr>
          <p:spPr bwMode="auto">
            <a:xfrm>
              <a:off x="1104" y="2592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</a:t>
              </a:r>
            </a:p>
          </p:txBody>
        </p:sp>
        <p:sp>
          <p:nvSpPr>
            <p:cNvPr id="712745" name="Text Box 41"/>
            <p:cNvSpPr txBox="1">
              <a:spLocks noChangeArrowheads="1"/>
            </p:cNvSpPr>
            <p:nvPr/>
          </p:nvSpPr>
          <p:spPr bwMode="auto">
            <a:xfrm>
              <a:off x="1392" y="2592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a</a:t>
              </a:r>
            </a:p>
          </p:txBody>
        </p:sp>
        <p:sp>
          <p:nvSpPr>
            <p:cNvPr id="712746" name="Text Box 42"/>
            <p:cNvSpPr txBox="1">
              <a:spLocks noChangeArrowheads="1"/>
            </p:cNvSpPr>
            <p:nvPr/>
          </p:nvSpPr>
          <p:spPr bwMode="auto">
            <a:xfrm>
              <a:off x="1104" y="1824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</a:t>
              </a:r>
            </a:p>
          </p:txBody>
        </p:sp>
        <p:sp>
          <p:nvSpPr>
            <p:cNvPr id="712747" name="Text Box 43"/>
            <p:cNvSpPr txBox="1">
              <a:spLocks noChangeArrowheads="1"/>
            </p:cNvSpPr>
            <p:nvPr/>
          </p:nvSpPr>
          <p:spPr bwMode="auto">
            <a:xfrm>
              <a:off x="1392" y="1824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a</a:t>
              </a:r>
            </a:p>
          </p:txBody>
        </p:sp>
        <p:sp>
          <p:nvSpPr>
            <p:cNvPr id="712748" name="Text Box 44"/>
            <p:cNvSpPr txBox="1">
              <a:spLocks noChangeArrowheads="1"/>
            </p:cNvSpPr>
            <p:nvPr/>
          </p:nvSpPr>
          <p:spPr bwMode="auto">
            <a:xfrm>
              <a:off x="1104" y="2016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</a:t>
              </a:r>
            </a:p>
          </p:txBody>
        </p:sp>
        <p:sp>
          <p:nvSpPr>
            <p:cNvPr id="712749" name="Text Box 45"/>
            <p:cNvSpPr txBox="1">
              <a:spLocks noChangeArrowheads="1"/>
            </p:cNvSpPr>
            <p:nvPr/>
          </p:nvSpPr>
          <p:spPr bwMode="auto">
            <a:xfrm>
              <a:off x="1392" y="2016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b</a:t>
              </a:r>
            </a:p>
          </p:txBody>
        </p:sp>
        <p:sp>
          <p:nvSpPr>
            <p:cNvPr id="712750" name="Text Box 46"/>
            <p:cNvSpPr txBox="1">
              <a:spLocks noChangeArrowheads="1"/>
            </p:cNvSpPr>
            <p:nvPr/>
          </p:nvSpPr>
          <p:spPr bwMode="auto">
            <a:xfrm>
              <a:off x="1104" y="2208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</a:t>
              </a:r>
            </a:p>
          </p:txBody>
        </p:sp>
        <p:sp>
          <p:nvSpPr>
            <p:cNvPr id="712751" name="Text Box 47"/>
            <p:cNvSpPr txBox="1">
              <a:spLocks noChangeArrowheads="1"/>
            </p:cNvSpPr>
            <p:nvPr/>
          </p:nvSpPr>
          <p:spPr bwMode="auto">
            <a:xfrm>
              <a:off x="1392" y="2208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a</a:t>
              </a:r>
            </a:p>
          </p:txBody>
        </p:sp>
        <p:sp>
          <p:nvSpPr>
            <p:cNvPr id="712752" name="Text Box 48"/>
            <p:cNvSpPr txBox="1">
              <a:spLocks noChangeArrowheads="1"/>
            </p:cNvSpPr>
            <p:nvPr/>
          </p:nvSpPr>
          <p:spPr bwMode="auto">
            <a:xfrm>
              <a:off x="1104" y="2784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</a:t>
              </a:r>
            </a:p>
          </p:txBody>
        </p:sp>
        <p:sp>
          <p:nvSpPr>
            <p:cNvPr id="712753" name="Text Box 49"/>
            <p:cNvSpPr txBox="1">
              <a:spLocks noChangeArrowheads="1"/>
            </p:cNvSpPr>
            <p:nvPr/>
          </p:nvSpPr>
          <p:spPr bwMode="auto">
            <a:xfrm>
              <a:off x="1392" y="2784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b</a:t>
              </a:r>
            </a:p>
          </p:txBody>
        </p:sp>
        <p:sp>
          <p:nvSpPr>
            <p:cNvPr id="712754" name="Text Box 50"/>
            <p:cNvSpPr txBox="1">
              <a:spLocks noChangeArrowheads="1"/>
            </p:cNvSpPr>
            <p:nvPr/>
          </p:nvSpPr>
          <p:spPr bwMode="auto">
            <a:xfrm>
              <a:off x="1104" y="2976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</a:t>
              </a:r>
            </a:p>
          </p:txBody>
        </p:sp>
        <p:sp>
          <p:nvSpPr>
            <p:cNvPr id="712755" name="Text Box 51"/>
            <p:cNvSpPr txBox="1">
              <a:spLocks noChangeArrowheads="1"/>
            </p:cNvSpPr>
            <p:nvPr/>
          </p:nvSpPr>
          <p:spPr bwMode="auto">
            <a:xfrm>
              <a:off x="1392" y="2976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b</a:t>
              </a:r>
            </a:p>
          </p:txBody>
        </p:sp>
        <p:sp>
          <p:nvSpPr>
            <p:cNvPr id="712756" name="Text Box 52"/>
            <p:cNvSpPr txBox="1">
              <a:spLocks noChangeArrowheads="1"/>
            </p:cNvSpPr>
            <p:nvPr/>
          </p:nvSpPr>
          <p:spPr bwMode="auto">
            <a:xfrm>
              <a:off x="1680" y="1392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E</a:t>
              </a:r>
            </a:p>
          </p:txBody>
        </p:sp>
        <p:sp>
          <p:nvSpPr>
            <p:cNvPr id="712757" name="Text Box 53"/>
            <p:cNvSpPr txBox="1">
              <a:spLocks noChangeArrowheads="1"/>
            </p:cNvSpPr>
            <p:nvPr/>
          </p:nvSpPr>
          <p:spPr bwMode="auto">
            <a:xfrm>
              <a:off x="1680" y="1632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1</a:t>
              </a:r>
            </a:p>
          </p:txBody>
        </p:sp>
        <p:sp>
          <p:nvSpPr>
            <p:cNvPr id="712758" name="Text Box 54"/>
            <p:cNvSpPr txBox="1">
              <a:spLocks noChangeArrowheads="1"/>
            </p:cNvSpPr>
            <p:nvPr/>
          </p:nvSpPr>
          <p:spPr bwMode="auto">
            <a:xfrm>
              <a:off x="1680" y="2400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3</a:t>
              </a:r>
            </a:p>
          </p:txBody>
        </p:sp>
        <p:sp>
          <p:nvSpPr>
            <p:cNvPr id="712759" name="Text Box 55"/>
            <p:cNvSpPr txBox="1">
              <a:spLocks noChangeArrowheads="1"/>
            </p:cNvSpPr>
            <p:nvPr/>
          </p:nvSpPr>
          <p:spPr bwMode="auto">
            <a:xfrm>
              <a:off x="1680" y="2592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1</a:t>
              </a:r>
            </a:p>
          </p:txBody>
        </p:sp>
        <p:sp>
          <p:nvSpPr>
            <p:cNvPr id="712760" name="Text Box 56"/>
            <p:cNvSpPr txBox="1">
              <a:spLocks noChangeArrowheads="1"/>
            </p:cNvSpPr>
            <p:nvPr/>
          </p:nvSpPr>
          <p:spPr bwMode="auto">
            <a:xfrm>
              <a:off x="1680" y="1824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1</a:t>
              </a:r>
            </a:p>
          </p:txBody>
        </p:sp>
        <p:sp>
          <p:nvSpPr>
            <p:cNvPr id="712761" name="Text Box 57"/>
            <p:cNvSpPr txBox="1">
              <a:spLocks noChangeArrowheads="1"/>
            </p:cNvSpPr>
            <p:nvPr/>
          </p:nvSpPr>
          <p:spPr bwMode="auto">
            <a:xfrm>
              <a:off x="1680" y="2016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1</a:t>
              </a:r>
            </a:p>
          </p:txBody>
        </p:sp>
        <p:sp>
          <p:nvSpPr>
            <p:cNvPr id="712762" name="Text Box 58"/>
            <p:cNvSpPr txBox="1">
              <a:spLocks noChangeArrowheads="1"/>
            </p:cNvSpPr>
            <p:nvPr/>
          </p:nvSpPr>
          <p:spPr bwMode="auto">
            <a:xfrm>
              <a:off x="1680" y="2208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1</a:t>
              </a:r>
            </a:p>
          </p:txBody>
        </p:sp>
        <p:sp>
          <p:nvSpPr>
            <p:cNvPr id="712763" name="Text Box 59"/>
            <p:cNvSpPr txBox="1">
              <a:spLocks noChangeArrowheads="1"/>
            </p:cNvSpPr>
            <p:nvPr/>
          </p:nvSpPr>
          <p:spPr bwMode="auto">
            <a:xfrm>
              <a:off x="1680" y="2784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1</a:t>
              </a:r>
            </a:p>
          </p:txBody>
        </p:sp>
        <p:sp>
          <p:nvSpPr>
            <p:cNvPr id="712764" name="Text Box 60"/>
            <p:cNvSpPr txBox="1">
              <a:spLocks noChangeArrowheads="1"/>
            </p:cNvSpPr>
            <p:nvPr/>
          </p:nvSpPr>
          <p:spPr bwMode="auto">
            <a:xfrm>
              <a:off x="1680" y="2976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1</a:t>
              </a:r>
            </a:p>
          </p:txBody>
        </p:sp>
        <p:sp>
          <p:nvSpPr>
            <p:cNvPr id="712765" name="Text Box 61"/>
            <p:cNvSpPr txBox="1">
              <a:spLocks noChangeArrowheads="1"/>
            </p:cNvSpPr>
            <p:nvPr/>
          </p:nvSpPr>
          <p:spPr bwMode="auto">
            <a:xfrm>
              <a:off x="240" y="1392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 b="1"/>
                <a:t>R</a:t>
              </a:r>
            </a:p>
          </p:txBody>
        </p:sp>
        <p:sp>
          <p:nvSpPr>
            <p:cNvPr id="712766" name="Line 62"/>
            <p:cNvSpPr>
              <a:spLocks noChangeShapeType="1"/>
            </p:cNvSpPr>
            <p:nvPr/>
          </p:nvSpPr>
          <p:spPr bwMode="auto">
            <a:xfrm>
              <a:off x="240" y="139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712767" name="Group 63"/>
          <p:cNvGrpSpPr>
            <a:grpSpLocks/>
          </p:cNvGrpSpPr>
          <p:nvPr/>
        </p:nvGrpSpPr>
        <p:grpSpPr bwMode="auto">
          <a:xfrm>
            <a:off x="4038600" y="1600200"/>
            <a:ext cx="1447800" cy="990600"/>
            <a:chOff x="528" y="1248"/>
            <a:chExt cx="912" cy="624"/>
          </a:xfrm>
        </p:grpSpPr>
        <p:sp>
          <p:nvSpPr>
            <p:cNvPr id="712768" name="Line 64"/>
            <p:cNvSpPr>
              <a:spLocks noChangeShapeType="1"/>
            </p:cNvSpPr>
            <p:nvPr/>
          </p:nvSpPr>
          <p:spPr bwMode="auto">
            <a:xfrm>
              <a:off x="528" y="1440"/>
              <a:ext cx="9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712769" name="Text Box 65"/>
            <p:cNvSpPr txBox="1">
              <a:spLocks noChangeArrowheads="1"/>
            </p:cNvSpPr>
            <p:nvPr/>
          </p:nvSpPr>
          <p:spPr bwMode="auto">
            <a:xfrm>
              <a:off x="864" y="1248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D</a:t>
              </a:r>
            </a:p>
          </p:txBody>
        </p:sp>
        <p:sp>
          <p:nvSpPr>
            <p:cNvPr id="712770" name="Text Box 66"/>
            <p:cNvSpPr txBox="1">
              <a:spLocks noChangeArrowheads="1"/>
            </p:cNvSpPr>
            <p:nvPr/>
          </p:nvSpPr>
          <p:spPr bwMode="auto">
            <a:xfrm>
              <a:off x="1152" y="1248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E</a:t>
              </a:r>
            </a:p>
          </p:txBody>
        </p:sp>
        <p:sp>
          <p:nvSpPr>
            <p:cNvPr id="712771" name="Text Box 67"/>
            <p:cNvSpPr txBox="1">
              <a:spLocks noChangeArrowheads="1"/>
            </p:cNvSpPr>
            <p:nvPr/>
          </p:nvSpPr>
          <p:spPr bwMode="auto">
            <a:xfrm>
              <a:off x="864" y="1488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a</a:t>
              </a:r>
            </a:p>
          </p:txBody>
        </p:sp>
        <p:sp>
          <p:nvSpPr>
            <p:cNvPr id="712772" name="Line 68"/>
            <p:cNvSpPr>
              <a:spLocks noChangeShapeType="1"/>
            </p:cNvSpPr>
            <p:nvPr/>
          </p:nvSpPr>
          <p:spPr bwMode="auto">
            <a:xfrm>
              <a:off x="528" y="1248"/>
              <a:ext cx="9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712773" name="Line 69"/>
            <p:cNvSpPr>
              <a:spLocks noChangeShapeType="1"/>
            </p:cNvSpPr>
            <p:nvPr/>
          </p:nvSpPr>
          <p:spPr bwMode="auto">
            <a:xfrm>
              <a:off x="864" y="1872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712774" name="Text Box 70"/>
            <p:cNvSpPr txBox="1">
              <a:spLocks noChangeArrowheads="1"/>
            </p:cNvSpPr>
            <p:nvPr/>
          </p:nvSpPr>
          <p:spPr bwMode="auto">
            <a:xfrm>
              <a:off x="528" y="1248"/>
              <a:ext cx="336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 b="1"/>
                <a:t>S</a:t>
              </a:r>
            </a:p>
          </p:txBody>
        </p:sp>
        <p:sp>
          <p:nvSpPr>
            <p:cNvPr id="712775" name="Line 71"/>
            <p:cNvSpPr>
              <a:spLocks noChangeShapeType="1"/>
            </p:cNvSpPr>
            <p:nvPr/>
          </p:nvSpPr>
          <p:spPr bwMode="auto">
            <a:xfrm>
              <a:off x="528" y="124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712776" name="Text Box 72"/>
            <p:cNvSpPr txBox="1">
              <a:spLocks noChangeArrowheads="1"/>
            </p:cNvSpPr>
            <p:nvPr/>
          </p:nvSpPr>
          <p:spPr bwMode="auto">
            <a:xfrm>
              <a:off x="864" y="1680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b</a:t>
              </a:r>
            </a:p>
          </p:txBody>
        </p:sp>
        <p:grpSp>
          <p:nvGrpSpPr>
            <p:cNvPr id="712777" name="Group 73"/>
            <p:cNvGrpSpPr>
              <a:grpSpLocks/>
            </p:cNvGrpSpPr>
            <p:nvPr/>
          </p:nvGrpSpPr>
          <p:grpSpPr bwMode="auto">
            <a:xfrm>
              <a:off x="864" y="1248"/>
              <a:ext cx="576" cy="624"/>
              <a:chOff x="960" y="2880"/>
              <a:chExt cx="576" cy="1008"/>
            </a:xfrm>
          </p:grpSpPr>
          <p:sp>
            <p:nvSpPr>
              <p:cNvPr id="712778" name="Line 74"/>
              <p:cNvSpPr>
                <a:spLocks noChangeShapeType="1"/>
              </p:cNvSpPr>
              <p:nvPr/>
            </p:nvSpPr>
            <p:spPr bwMode="auto">
              <a:xfrm>
                <a:off x="1248" y="28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12779" name="Line 75"/>
              <p:cNvSpPr>
                <a:spLocks noChangeShapeType="1"/>
              </p:cNvSpPr>
              <p:nvPr/>
            </p:nvSpPr>
            <p:spPr bwMode="auto">
              <a:xfrm>
                <a:off x="960" y="28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12780" name="Line 76"/>
              <p:cNvSpPr>
                <a:spLocks noChangeShapeType="1"/>
              </p:cNvSpPr>
              <p:nvPr/>
            </p:nvSpPr>
            <p:spPr bwMode="auto">
              <a:xfrm>
                <a:off x="1536" y="28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712781" name="Text Box 77"/>
            <p:cNvSpPr txBox="1">
              <a:spLocks noChangeArrowheads="1"/>
            </p:cNvSpPr>
            <p:nvPr/>
          </p:nvSpPr>
          <p:spPr bwMode="auto">
            <a:xfrm>
              <a:off x="1152" y="1488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1</a:t>
              </a:r>
            </a:p>
          </p:txBody>
        </p:sp>
        <p:sp>
          <p:nvSpPr>
            <p:cNvPr id="712782" name="Text Box 78"/>
            <p:cNvSpPr txBox="1">
              <a:spLocks noChangeArrowheads="1"/>
            </p:cNvSpPr>
            <p:nvPr/>
          </p:nvSpPr>
          <p:spPr bwMode="auto">
            <a:xfrm>
              <a:off x="1152" y="1680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1</a:t>
              </a:r>
            </a:p>
          </p:txBody>
        </p:sp>
      </p:grpSp>
      <p:grpSp>
        <p:nvGrpSpPr>
          <p:cNvPr id="712806" name="Group 102"/>
          <p:cNvGrpSpPr>
            <a:grpSpLocks/>
          </p:cNvGrpSpPr>
          <p:nvPr/>
        </p:nvGrpSpPr>
        <p:grpSpPr bwMode="auto">
          <a:xfrm>
            <a:off x="6172200" y="1600200"/>
            <a:ext cx="2057400" cy="1066800"/>
            <a:chOff x="3552" y="1488"/>
            <a:chExt cx="1296" cy="672"/>
          </a:xfrm>
        </p:grpSpPr>
        <p:sp>
          <p:nvSpPr>
            <p:cNvPr id="712784" name="Text Box 80"/>
            <p:cNvSpPr txBox="1">
              <a:spLocks noChangeArrowheads="1"/>
            </p:cNvSpPr>
            <p:nvPr/>
          </p:nvSpPr>
          <p:spPr bwMode="auto">
            <a:xfrm>
              <a:off x="3984" y="1488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A</a:t>
              </a:r>
            </a:p>
          </p:txBody>
        </p:sp>
        <p:sp>
          <p:nvSpPr>
            <p:cNvPr id="712785" name="Text Box 81"/>
            <p:cNvSpPr txBox="1">
              <a:spLocks noChangeArrowheads="1"/>
            </p:cNvSpPr>
            <p:nvPr/>
          </p:nvSpPr>
          <p:spPr bwMode="auto">
            <a:xfrm>
              <a:off x="4272" y="1488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B</a:t>
              </a:r>
            </a:p>
          </p:txBody>
        </p:sp>
        <p:grpSp>
          <p:nvGrpSpPr>
            <p:cNvPr id="712786" name="Group 82"/>
            <p:cNvGrpSpPr>
              <a:grpSpLocks/>
            </p:cNvGrpSpPr>
            <p:nvPr/>
          </p:nvGrpSpPr>
          <p:grpSpPr bwMode="auto">
            <a:xfrm>
              <a:off x="3552" y="1488"/>
              <a:ext cx="1296" cy="192"/>
              <a:chOff x="528" y="1392"/>
              <a:chExt cx="1440" cy="192"/>
            </a:xfrm>
          </p:grpSpPr>
          <p:sp>
            <p:nvSpPr>
              <p:cNvPr id="712787" name="Line 83"/>
              <p:cNvSpPr>
                <a:spLocks noChangeShapeType="1"/>
              </p:cNvSpPr>
              <p:nvPr/>
            </p:nvSpPr>
            <p:spPr bwMode="auto">
              <a:xfrm>
                <a:off x="528" y="1584"/>
                <a:ext cx="14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12788" name="Line 84"/>
              <p:cNvSpPr>
                <a:spLocks noChangeShapeType="1"/>
              </p:cNvSpPr>
              <p:nvPr/>
            </p:nvSpPr>
            <p:spPr bwMode="auto">
              <a:xfrm>
                <a:off x="528" y="1392"/>
                <a:ext cx="14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712789" name="Line 85"/>
            <p:cNvSpPr>
              <a:spLocks noChangeShapeType="1"/>
            </p:cNvSpPr>
            <p:nvPr/>
          </p:nvSpPr>
          <p:spPr bwMode="auto">
            <a:xfrm>
              <a:off x="3984" y="2160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pSp>
          <p:nvGrpSpPr>
            <p:cNvPr id="712790" name="Group 86"/>
            <p:cNvGrpSpPr>
              <a:grpSpLocks/>
            </p:cNvGrpSpPr>
            <p:nvPr/>
          </p:nvGrpSpPr>
          <p:grpSpPr bwMode="auto">
            <a:xfrm>
              <a:off x="3984" y="1488"/>
              <a:ext cx="864" cy="672"/>
              <a:chOff x="3984" y="1488"/>
              <a:chExt cx="864" cy="1776"/>
            </a:xfrm>
          </p:grpSpPr>
          <p:sp>
            <p:nvSpPr>
              <p:cNvPr id="712791" name="Line 87"/>
              <p:cNvSpPr>
                <a:spLocks noChangeShapeType="1"/>
              </p:cNvSpPr>
              <p:nvPr/>
            </p:nvSpPr>
            <p:spPr bwMode="auto">
              <a:xfrm>
                <a:off x="4272" y="1488"/>
                <a:ext cx="0" cy="177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12792" name="Line 88"/>
              <p:cNvSpPr>
                <a:spLocks noChangeShapeType="1"/>
              </p:cNvSpPr>
              <p:nvPr/>
            </p:nvSpPr>
            <p:spPr bwMode="auto">
              <a:xfrm>
                <a:off x="3984" y="1488"/>
                <a:ext cx="0" cy="177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12793" name="Line 89"/>
              <p:cNvSpPr>
                <a:spLocks noChangeShapeType="1"/>
              </p:cNvSpPr>
              <p:nvPr/>
            </p:nvSpPr>
            <p:spPr bwMode="auto">
              <a:xfrm>
                <a:off x="4560" y="1488"/>
                <a:ext cx="0" cy="177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12794" name="Line 90"/>
              <p:cNvSpPr>
                <a:spLocks noChangeShapeType="1"/>
              </p:cNvSpPr>
              <p:nvPr/>
            </p:nvSpPr>
            <p:spPr bwMode="auto">
              <a:xfrm>
                <a:off x="4848" y="1488"/>
                <a:ext cx="0" cy="177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712795" name="Text Box 91"/>
            <p:cNvSpPr txBox="1">
              <a:spLocks noChangeArrowheads="1"/>
            </p:cNvSpPr>
            <p:nvPr/>
          </p:nvSpPr>
          <p:spPr bwMode="auto">
            <a:xfrm>
              <a:off x="4560" y="1488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C</a:t>
              </a:r>
            </a:p>
          </p:txBody>
        </p:sp>
        <p:grpSp>
          <p:nvGrpSpPr>
            <p:cNvPr id="712796" name="Group 92"/>
            <p:cNvGrpSpPr>
              <a:grpSpLocks/>
            </p:cNvGrpSpPr>
            <p:nvPr/>
          </p:nvGrpSpPr>
          <p:grpSpPr bwMode="auto">
            <a:xfrm>
              <a:off x="3984" y="1728"/>
              <a:ext cx="864" cy="192"/>
              <a:chOff x="3984" y="1728"/>
              <a:chExt cx="864" cy="192"/>
            </a:xfrm>
          </p:grpSpPr>
          <p:sp>
            <p:nvSpPr>
              <p:cNvPr id="712797" name="Text Box 93"/>
              <p:cNvSpPr txBox="1">
                <a:spLocks noChangeArrowheads="1"/>
              </p:cNvSpPr>
              <p:nvPr/>
            </p:nvSpPr>
            <p:spPr bwMode="auto">
              <a:xfrm>
                <a:off x="3984" y="1728"/>
                <a:ext cx="288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sz="1400">
                    <a:sym typeface="Symbol" pitchFamily="18" charset="2"/>
                  </a:rPr>
                  <a:t></a:t>
                </a:r>
              </a:p>
            </p:txBody>
          </p:sp>
          <p:sp>
            <p:nvSpPr>
              <p:cNvPr id="712798" name="Text Box 94"/>
              <p:cNvSpPr txBox="1">
                <a:spLocks noChangeArrowheads="1"/>
              </p:cNvSpPr>
              <p:nvPr/>
            </p:nvSpPr>
            <p:spPr bwMode="auto">
              <a:xfrm>
                <a:off x="4272" y="1728"/>
                <a:ext cx="288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sz="1400">
                    <a:sym typeface="Symbol" pitchFamily="18" charset="2"/>
                  </a:rPr>
                  <a:t>a</a:t>
                </a:r>
              </a:p>
            </p:txBody>
          </p:sp>
          <p:sp>
            <p:nvSpPr>
              <p:cNvPr id="712799" name="Text Box 95"/>
              <p:cNvSpPr txBox="1">
                <a:spLocks noChangeArrowheads="1"/>
              </p:cNvSpPr>
              <p:nvPr/>
            </p:nvSpPr>
            <p:spPr bwMode="auto">
              <a:xfrm>
                <a:off x="4560" y="1728"/>
                <a:ext cx="288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sz="1400">
                    <a:sym typeface="Symbol" pitchFamily="18" charset="2"/>
                  </a:rPr>
                  <a:t></a:t>
                </a:r>
              </a:p>
            </p:txBody>
          </p:sp>
        </p:grpSp>
        <p:grpSp>
          <p:nvGrpSpPr>
            <p:cNvPr id="712800" name="Group 96"/>
            <p:cNvGrpSpPr>
              <a:grpSpLocks/>
            </p:cNvGrpSpPr>
            <p:nvPr/>
          </p:nvGrpSpPr>
          <p:grpSpPr bwMode="auto">
            <a:xfrm>
              <a:off x="3984" y="1920"/>
              <a:ext cx="864" cy="192"/>
              <a:chOff x="3984" y="1920"/>
              <a:chExt cx="864" cy="192"/>
            </a:xfrm>
          </p:grpSpPr>
          <p:sp>
            <p:nvSpPr>
              <p:cNvPr id="712801" name="Text Box 97"/>
              <p:cNvSpPr txBox="1">
                <a:spLocks noChangeArrowheads="1"/>
              </p:cNvSpPr>
              <p:nvPr/>
            </p:nvSpPr>
            <p:spPr bwMode="auto">
              <a:xfrm>
                <a:off x="3984" y="1920"/>
                <a:ext cx="288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sz="1400">
                    <a:sym typeface="Symbol" pitchFamily="18" charset="2"/>
                  </a:rPr>
                  <a:t></a:t>
                </a:r>
              </a:p>
            </p:txBody>
          </p:sp>
          <p:sp>
            <p:nvSpPr>
              <p:cNvPr id="712802" name="Text Box 98"/>
              <p:cNvSpPr txBox="1">
                <a:spLocks noChangeArrowheads="1"/>
              </p:cNvSpPr>
              <p:nvPr/>
            </p:nvSpPr>
            <p:spPr bwMode="auto">
              <a:xfrm>
                <a:off x="4272" y="1920"/>
                <a:ext cx="288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sz="1400">
                    <a:sym typeface="Symbol" pitchFamily="18" charset="2"/>
                  </a:rPr>
                  <a:t>a</a:t>
                </a:r>
              </a:p>
            </p:txBody>
          </p:sp>
          <p:sp>
            <p:nvSpPr>
              <p:cNvPr id="712803" name="Text Box 99"/>
              <p:cNvSpPr txBox="1">
                <a:spLocks noChangeArrowheads="1"/>
              </p:cNvSpPr>
              <p:nvPr/>
            </p:nvSpPr>
            <p:spPr bwMode="auto">
              <a:xfrm>
                <a:off x="4560" y="1920"/>
                <a:ext cx="288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sz="1400">
                    <a:sym typeface="Symbol" pitchFamily="18" charset="2"/>
                  </a:rPr>
                  <a:t></a:t>
                </a:r>
              </a:p>
            </p:txBody>
          </p:sp>
        </p:grpSp>
        <p:sp>
          <p:nvSpPr>
            <p:cNvPr id="712804" name="Text Box 100"/>
            <p:cNvSpPr txBox="1">
              <a:spLocks noChangeArrowheads="1"/>
            </p:cNvSpPr>
            <p:nvPr/>
          </p:nvSpPr>
          <p:spPr bwMode="auto">
            <a:xfrm>
              <a:off x="3552" y="1488"/>
              <a:ext cx="384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 b="1"/>
                <a:t>R</a:t>
              </a:r>
              <a:r>
                <a:rPr lang="en-US" sz="1400" b="1">
                  <a:sym typeface="Symbol" pitchFamily="18" charset="2"/>
                </a:rPr>
                <a:t></a:t>
              </a:r>
              <a:r>
                <a:rPr lang="en-US" sz="1400" b="1"/>
                <a:t>S</a:t>
              </a:r>
            </a:p>
          </p:txBody>
        </p:sp>
        <p:sp>
          <p:nvSpPr>
            <p:cNvPr id="712805" name="Line 101"/>
            <p:cNvSpPr>
              <a:spLocks noChangeShapeType="1"/>
            </p:cNvSpPr>
            <p:nvPr/>
          </p:nvSpPr>
          <p:spPr bwMode="auto">
            <a:xfrm>
              <a:off x="3552" y="148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712814" name="Text Box 110"/>
          <p:cNvSpPr txBox="1">
            <a:spLocks noChangeArrowheads="1"/>
          </p:cNvSpPr>
          <p:nvPr/>
        </p:nvSpPr>
        <p:spPr bwMode="auto">
          <a:xfrm>
            <a:off x="6172200" y="1981200"/>
            <a:ext cx="609600" cy="3667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a</a:t>
            </a:r>
            <a:r>
              <a:rPr lang="en-US" baseline="-25000"/>
              <a:t>i</a:t>
            </a:r>
          </a:p>
        </p:txBody>
      </p:sp>
      <p:sp>
        <p:nvSpPr>
          <p:cNvPr id="712815" name="Text Box 111"/>
          <p:cNvSpPr txBox="1">
            <a:spLocks noChangeArrowheads="1"/>
          </p:cNvSpPr>
          <p:nvPr/>
        </p:nvSpPr>
        <p:spPr bwMode="auto">
          <a:xfrm>
            <a:off x="3886200" y="1981200"/>
            <a:ext cx="609600" cy="3667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b</a:t>
            </a:r>
            <a:r>
              <a:rPr lang="en-US" baseline="-25000"/>
              <a:t>i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91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999387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838200"/>
          </a:xfrm>
        </p:spPr>
        <p:txBody>
          <a:bodyPr>
            <a:normAutofit/>
          </a:bodyPr>
          <a:lstStyle/>
          <a:p>
            <a:r>
              <a:rPr lang="en-US" altLang="en-US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alt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chia</a:t>
            </a:r>
          </a:p>
        </p:txBody>
      </p:sp>
      <p:sp>
        <p:nvSpPr>
          <p:cNvPr id="121861" name="Rectangle 5"/>
          <p:cNvSpPr>
            <a:spLocks noGrp="1" noChangeArrowheads="1"/>
          </p:cNvSpPr>
          <p:nvPr>
            <p:ph sz="quarter" idx="1"/>
          </p:nvPr>
        </p:nvSpPr>
        <p:spPr>
          <a:xfrm>
            <a:off x="304801" y="1524000"/>
            <a:ext cx="3962400" cy="4876800"/>
          </a:xfrm>
          <a:noFill/>
        </p:spPr>
        <p:txBody>
          <a:bodyPr>
            <a:normAutofit fontScale="92500" lnSpcReduction="20000"/>
          </a:bodyPr>
          <a:lstStyle/>
          <a:p>
            <a:pPr marL="0" indent="0" defTabSz="688975">
              <a:buNone/>
              <a:tabLst>
                <a:tab pos="3657600" algn="l"/>
              </a:tabLst>
              <a:defRPr/>
            </a:pPr>
            <a:r>
              <a:rPr lang="en-US" sz="2300" dirty="0" err="1"/>
              <a:t>Các</a:t>
            </a:r>
            <a:r>
              <a:rPr lang="en-US" sz="2300" dirty="0"/>
              <a:t> </a:t>
            </a:r>
            <a:r>
              <a:rPr lang="en-US" sz="2300" dirty="0" err="1"/>
              <a:t>bước</a:t>
            </a:r>
            <a:r>
              <a:rPr lang="en-US" sz="2300" dirty="0"/>
              <a:t>:</a:t>
            </a:r>
          </a:p>
          <a:p>
            <a:pPr marL="684213" lvl="1" indent="0" defTabSz="688975">
              <a:buFontTx/>
              <a:buNone/>
              <a:tabLst>
                <a:tab pos="3657600" algn="l"/>
              </a:tabLst>
              <a:defRPr/>
            </a:pPr>
            <a:r>
              <a:rPr lang="en-US" sz="2300" dirty="0">
                <a:solidFill>
                  <a:schemeClr val="tx1"/>
                </a:solidFill>
                <a:sym typeface="Symbol" pitchFamily="18" charset="2"/>
              </a:rPr>
              <a:t>Q1  </a:t>
            </a:r>
            <a:r>
              <a:rPr lang="en-US" sz="2300" baseline="-25000" dirty="0">
                <a:solidFill>
                  <a:schemeClr val="tx1"/>
                </a:solidFill>
                <a:sym typeface="Symbol" pitchFamily="18" charset="2"/>
              </a:rPr>
              <a:t>Y</a:t>
            </a:r>
            <a:r>
              <a:rPr lang="en-US" sz="2300" dirty="0">
                <a:solidFill>
                  <a:schemeClr val="tx1"/>
                </a:solidFill>
                <a:sym typeface="Symbol" pitchFamily="18" charset="2"/>
              </a:rPr>
              <a:t>(R)	</a:t>
            </a:r>
            <a:r>
              <a:rPr lang="en-US" sz="2300" dirty="0">
                <a:solidFill>
                  <a:schemeClr val="tx1"/>
                </a:solidFill>
                <a:sym typeface="Wingdings" pitchFamily="2" charset="2"/>
              </a:rPr>
              <a:t> </a:t>
            </a:r>
            <a:r>
              <a:rPr lang="en-US" sz="2300" dirty="0" err="1">
                <a:solidFill>
                  <a:schemeClr val="tx1"/>
                </a:solidFill>
                <a:sym typeface="Wingdings" pitchFamily="2" charset="2"/>
              </a:rPr>
              <a:t>Chọn</a:t>
            </a:r>
            <a:r>
              <a:rPr lang="en-US" sz="2300" dirty="0">
                <a:solidFill>
                  <a:schemeClr val="tx1"/>
                </a:solidFill>
                <a:sym typeface="Wingdings" pitchFamily="2" charset="2"/>
              </a:rPr>
              <a:t> Y </a:t>
            </a:r>
            <a:r>
              <a:rPr lang="en-US" sz="2300" dirty="0" err="1">
                <a:solidFill>
                  <a:schemeClr val="tx1"/>
                </a:solidFill>
                <a:sym typeface="Wingdings" pitchFamily="2" charset="2"/>
              </a:rPr>
              <a:t>trên</a:t>
            </a:r>
            <a:r>
              <a:rPr lang="en-US" sz="2300" dirty="0">
                <a:solidFill>
                  <a:schemeClr val="tx1"/>
                </a:solidFill>
                <a:sym typeface="Wingdings" pitchFamily="2" charset="2"/>
              </a:rPr>
              <a:t> R</a:t>
            </a:r>
            <a:endParaRPr lang="en-US" sz="2300" dirty="0">
              <a:solidFill>
                <a:schemeClr val="tx1"/>
              </a:solidFill>
            </a:endParaRPr>
          </a:p>
          <a:p>
            <a:pPr marL="684213" lvl="1" indent="0" defTabSz="688975">
              <a:buFontTx/>
              <a:buNone/>
              <a:tabLst>
                <a:tab pos="3657600" algn="l"/>
              </a:tabLst>
              <a:defRPr/>
            </a:pPr>
            <a:r>
              <a:rPr lang="en-US" sz="2300" dirty="0">
                <a:solidFill>
                  <a:schemeClr val="tx1"/>
                </a:solidFill>
                <a:sym typeface="Symbol" pitchFamily="18" charset="2"/>
              </a:rPr>
              <a:t>Q2  Q1  S	</a:t>
            </a:r>
            <a:r>
              <a:rPr lang="en-US" sz="2300" dirty="0">
                <a:solidFill>
                  <a:schemeClr val="tx1"/>
                </a:solidFill>
                <a:sym typeface="Wingdings" pitchFamily="2" charset="2"/>
              </a:rPr>
              <a:t> </a:t>
            </a:r>
            <a:r>
              <a:rPr lang="en-US" sz="2300" dirty="0" err="1">
                <a:solidFill>
                  <a:schemeClr val="tx1"/>
                </a:solidFill>
                <a:sym typeface="Wingdings" pitchFamily="2" charset="2"/>
              </a:rPr>
              <a:t>Tích</a:t>
            </a:r>
            <a:r>
              <a:rPr lang="en-US" sz="2300" dirty="0">
                <a:solidFill>
                  <a:schemeClr val="tx1"/>
                </a:solidFill>
                <a:sym typeface="Wingdings" pitchFamily="2" charset="2"/>
              </a:rPr>
              <a:t> R</a:t>
            </a:r>
            <a:r>
              <a:rPr lang="en-US" sz="2300" baseline="-25000" dirty="0">
                <a:solidFill>
                  <a:schemeClr val="tx1"/>
                </a:solidFill>
                <a:sym typeface="Wingdings" pitchFamily="2" charset="2"/>
              </a:rPr>
              <a:t>Y</a:t>
            </a:r>
            <a:r>
              <a:rPr lang="en-US" sz="2300" dirty="0">
                <a:solidFill>
                  <a:schemeClr val="tx1"/>
                </a:solidFill>
                <a:sym typeface="Wingdings" pitchFamily="2" charset="2"/>
              </a:rPr>
              <a:t> x S</a:t>
            </a:r>
            <a:endParaRPr lang="en-US" sz="2300" dirty="0">
              <a:solidFill>
                <a:schemeClr val="tx1"/>
              </a:solidFill>
              <a:sym typeface="Symbol" pitchFamily="18" charset="2"/>
            </a:endParaRPr>
          </a:p>
          <a:p>
            <a:pPr marL="684213" lvl="1" indent="0" defTabSz="688975">
              <a:buFontTx/>
              <a:buNone/>
              <a:tabLst>
                <a:tab pos="3657600" algn="l"/>
              </a:tabLst>
              <a:defRPr/>
            </a:pPr>
            <a:r>
              <a:rPr lang="en-US" sz="2300" dirty="0">
                <a:solidFill>
                  <a:schemeClr val="tx1"/>
                </a:solidFill>
                <a:sym typeface="Symbol" pitchFamily="18" charset="2"/>
              </a:rPr>
              <a:t>Q3  </a:t>
            </a:r>
            <a:r>
              <a:rPr lang="en-US" sz="2300" baseline="-25000" dirty="0">
                <a:solidFill>
                  <a:schemeClr val="tx1"/>
                </a:solidFill>
                <a:sym typeface="Symbol" pitchFamily="18" charset="2"/>
              </a:rPr>
              <a:t>Y</a:t>
            </a:r>
            <a:r>
              <a:rPr lang="en-US" sz="2300" dirty="0">
                <a:solidFill>
                  <a:schemeClr val="tx1"/>
                </a:solidFill>
                <a:sym typeface="Symbol" pitchFamily="18" charset="2"/>
              </a:rPr>
              <a:t>(Q2  R)	</a:t>
            </a:r>
            <a:r>
              <a:rPr lang="en-US" sz="2300" dirty="0">
                <a:solidFill>
                  <a:schemeClr val="tx1"/>
                </a:solidFill>
                <a:sym typeface="Wingdings" pitchFamily="2" charset="2"/>
              </a:rPr>
              <a:t> ((R</a:t>
            </a:r>
            <a:r>
              <a:rPr lang="en-US" sz="2300" baseline="-25000" dirty="0">
                <a:solidFill>
                  <a:schemeClr val="tx1"/>
                </a:solidFill>
                <a:sym typeface="Wingdings" pitchFamily="2" charset="2"/>
              </a:rPr>
              <a:t>Y</a:t>
            </a:r>
            <a:r>
              <a:rPr lang="en-US" sz="2300" dirty="0">
                <a:solidFill>
                  <a:schemeClr val="tx1"/>
                </a:solidFill>
                <a:sym typeface="Wingdings" pitchFamily="2" charset="2"/>
              </a:rPr>
              <a:t> x S)-R)</a:t>
            </a:r>
            <a:r>
              <a:rPr lang="en-US" sz="2300" baseline="-25000" dirty="0">
                <a:solidFill>
                  <a:schemeClr val="tx1"/>
                </a:solidFill>
                <a:sym typeface="Wingdings" pitchFamily="2" charset="2"/>
              </a:rPr>
              <a:t>Y</a:t>
            </a:r>
            <a:endParaRPr lang="en-US" sz="2300" baseline="-25000" dirty="0">
              <a:solidFill>
                <a:schemeClr val="tx1"/>
              </a:solidFill>
              <a:sym typeface="Symbol" pitchFamily="18" charset="2"/>
            </a:endParaRPr>
          </a:p>
          <a:p>
            <a:pPr marL="684213" lvl="1" indent="0" algn="just" defTabSz="688975">
              <a:buFontTx/>
              <a:buNone/>
              <a:tabLst>
                <a:tab pos="3657600" algn="l"/>
              </a:tabLst>
              <a:defRPr/>
            </a:pPr>
            <a:r>
              <a:rPr lang="en-US" sz="2300" dirty="0">
                <a:solidFill>
                  <a:schemeClr val="tx1"/>
                </a:solidFill>
                <a:sym typeface="Symbol" pitchFamily="18" charset="2"/>
              </a:rPr>
              <a:t>(Q3: </a:t>
            </a:r>
            <a:r>
              <a:rPr lang="en-US" sz="2300" dirty="0" err="1">
                <a:solidFill>
                  <a:schemeClr val="tx1"/>
                </a:solidFill>
                <a:sym typeface="Symbol" pitchFamily="18" charset="2"/>
              </a:rPr>
              <a:t>Đến</a:t>
            </a:r>
            <a:r>
              <a:rPr lang="en-US" sz="2300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sz="2300" dirty="0" err="1">
                <a:solidFill>
                  <a:schemeClr val="tx1"/>
                </a:solidFill>
                <a:sym typeface="Symbol" pitchFamily="18" charset="2"/>
              </a:rPr>
              <a:t>đây</a:t>
            </a:r>
            <a:r>
              <a:rPr lang="en-US" sz="2300" dirty="0">
                <a:solidFill>
                  <a:schemeClr val="tx1"/>
                </a:solidFill>
                <a:sym typeface="Symbol" pitchFamily="18" charset="2"/>
              </a:rPr>
              <a:t> ta </a:t>
            </a:r>
            <a:r>
              <a:rPr lang="en-US" sz="2300" dirty="0" err="1">
                <a:solidFill>
                  <a:schemeClr val="tx1"/>
                </a:solidFill>
                <a:sym typeface="Symbol" pitchFamily="18" charset="2"/>
              </a:rPr>
              <a:t>tìm</a:t>
            </a:r>
            <a:r>
              <a:rPr lang="en-US" sz="2300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sz="2300" dirty="0" err="1">
                <a:solidFill>
                  <a:schemeClr val="tx1"/>
                </a:solidFill>
                <a:sym typeface="Symbol" pitchFamily="18" charset="2"/>
              </a:rPr>
              <a:t>ra</a:t>
            </a:r>
            <a:r>
              <a:rPr lang="en-US" sz="2300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sz="2300" dirty="0" err="1">
                <a:solidFill>
                  <a:schemeClr val="tx1"/>
                </a:solidFill>
                <a:sym typeface="Symbol" pitchFamily="18" charset="2"/>
              </a:rPr>
              <a:t>những</a:t>
            </a:r>
            <a:r>
              <a:rPr lang="en-US" sz="2300" dirty="0">
                <a:solidFill>
                  <a:schemeClr val="tx1"/>
                </a:solidFill>
                <a:sym typeface="Symbol" pitchFamily="18" charset="2"/>
              </a:rPr>
              <a:t> Y </a:t>
            </a:r>
            <a:r>
              <a:rPr lang="en-US" sz="2300" u="sng" dirty="0" err="1">
                <a:solidFill>
                  <a:schemeClr val="tx1"/>
                </a:solidFill>
                <a:sym typeface="Symbol" pitchFamily="18" charset="2"/>
              </a:rPr>
              <a:t>không</a:t>
            </a:r>
            <a:r>
              <a:rPr lang="en-US" sz="2300" u="sng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sz="2300" u="sng" dirty="0" err="1">
                <a:solidFill>
                  <a:schemeClr val="tx1"/>
                </a:solidFill>
                <a:sym typeface="Symbol" pitchFamily="18" charset="2"/>
              </a:rPr>
              <a:t>tham</a:t>
            </a:r>
            <a:r>
              <a:rPr lang="en-US" sz="2300" u="sng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sz="2300" u="sng" dirty="0" err="1">
                <a:solidFill>
                  <a:schemeClr val="tx1"/>
                </a:solidFill>
                <a:sym typeface="Symbol" pitchFamily="18" charset="2"/>
              </a:rPr>
              <a:t>gia</a:t>
            </a:r>
            <a:r>
              <a:rPr lang="en-US" sz="2300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sz="2300" dirty="0" err="1">
                <a:solidFill>
                  <a:schemeClr val="tx1"/>
                </a:solidFill>
                <a:sym typeface="Symbol" pitchFamily="18" charset="2"/>
              </a:rPr>
              <a:t>đầy</a:t>
            </a:r>
            <a:r>
              <a:rPr lang="en-US" sz="2300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sz="2300" dirty="0" err="1">
                <a:solidFill>
                  <a:schemeClr val="tx1"/>
                </a:solidFill>
                <a:sym typeface="Symbol" pitchFamily="18" charset="2"/>
              </a:rPr>
              <a:t>đủ</a:t>
            </a:r>
            <a:r>
              <a:rPr lang="en-US" sz="2300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sz="2300" dirty="0" err="1">
                <a:solidFill>
                  <a:schemeClr val="tx1"/>
                </a:solidFill>
                <a:sym typeface="Symbol" pitchFamily="18" charset="2"/>
              </a:rPr>
              <a:t>vào</a:t>
            </a:r>
            <a:r>
              <a:rPr lang="en-US" sz="2300" dirty="0">
                <a:solidFill>
                  <a:schemeClr val="tx1"/>
                </a:solidFill>
                <a:sym typeface="Symbol" pitchFamily="18" charset="2"/>
              </a:rPr>
              <a:t> S)</a:t>
            </a:r>
          </a:p>
          <a:p>
            <a:pPr marL="684213" lvl="1" indent="0" defTabSz="688975">
              <a:buFontTx/>
              <a:buNone/>
              <a:tabLst>
                <a:tab pos="3657600" algn="l"/>
              </a:tabLst>
              <a:defRPr/>
            </a:pPr>
            <a:r>
              <a:rPr lang="en-US" sz="2300" dirty="0">
                <a:solidFill>
                  <a:schemeClr val="tx1"/>
                </a:solidFill>
                <a:sym typeface="Symbol" pitchFamily="18" charset="2"/>
              </a:rPr>
              <a:t>T  Q1  Q3	</a:t>
            </a:r>
            <a:r>
              <a:rPr lang="en-US" sz="2300" dirty="0">
                <a:solidFill>
                  <a:schemeClr val="tx1"/>
                </a:solidFill>
                <a:sym typeface="Wingdings" pitchFamily="2" charset="2"/>
              </a:rPr>
              <a:t> R</a:t>
            </a:r>
            <a:r>
              <a:rPr lang="en-US" sz="2300" baseline="-25000" dirty="0">
                <a:solidFill>
                  <a:schemeClr val="tx1"/>
                </a:solidFill>
                <a:sym typeface="Wingdings" pitchFamily="2" charset="2"/>
              </a:rPr>
              <a:t>Y</a:t>
            </a:r>
            <a:r>
              <a:rPr lang="en-US" sz="2300" dirty="0">
                <a:solidFill>
                  <a:schemeClr val="tx1"/>
                </a:solidFill>
                <a:sym typeface="Wingdings" pitchFamily="2" charset="2"/>
              </a:rPr>
              <a:t> - ((R</a:t>
            </a:r>
            <a:r>
              <a:rPr lang="en-US" sz="2300" baseline="-25000" dirty="0">
                <a:solidFill>
                  <a:schemeClr val="tx1"/>
                </a:solidFill>
                <a:sym typeface="Wingdings" pitchFamily="2" charset="2"/>
              </a:rPr>
              <a:t>Y</a:t>
            </a:r>
            <a:r>
              <a:rPr lang="en-US" sz="2300" dirty="0">
                <a:solidFill>
                  <a:schemeClr val="tx1"/>
                </a:solidFill>
                <a:sym typeface="Wingdings" pitchFamily="2" charset="2"/>
              </a:rPr>
              <a:t> x S)-R)</a:t>
            </a:r>
            <a:r>
              <a:rPr lang="en-US" sz="2300" baseline="-25000" dirty="0">
                <a:solidFill>
                  <a:schemeClr val="tx1"/>
                </a:solidFill>
                <a:sym typeface="Wingdings" pitchFamily="2" charset="2"/>
              </a:rPr>
              <a:t>Y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4294967295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en-US"/>
              <a:t>N.T. Uyên Nhi - Khoa CNTT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92</a:t>
            </a:fld>
            <a:endParaRPr lang="en-US" altLang="en-US"/>
          </a:p>
        </p:txBody>
      </p:sp>
      <p:sp>
        <p:nvSpPr>
          <p:cNvPr id="28" name="Text Box 110"/>
          <p:cNvSpPr txBox="1">
            <a:spLocks noChangeArrowheads="1"/>
          </p:cNvSpPr>
          <p:nvPr/>
        </p:nvSpPr>
        <p:spPr bwMode="auto">
          <a:xfrm>
            <a:off x="4515771" y="1592443"/>
            <a:ext cx="3873447" cy="466281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dirty="0">
                <a:solidFill>
                  <a:srgbClr val="0000CC"/>
                </a:solidFill>
              </a:rPr>
              <a:t>SELECT</a:t>
            </a:r>
            <a:r>
              <a:rPr lang="en-US" dirty="0"/>
              <a:t> R1.A, R1.B, R1.C</a:t>
            </a:r>
          </a:p>
          <a:p>
            <a:pPr algn="l"/>
            <a:r>
              <a:rPr lang="en-US" dirty="0">
                <a:solidFill>
                  <a:srgbClr val="0000CC"/>
                </a:solidFill>
              </a:rPr>
              <a:t>FROM</a:t>
            </a:r>
            <a:r>
              <a:rPr lang="en-US" dirty="0"/>
              <a:t> R R1</a:t>
            </a:r>
          </a:p>
          <a:p>
            <a:pPr algn="l"/>
            <a:r>
              <a:rPr lang="en-US" dirty="0">
                <a:solidFill>
                  <a:srgbClr val="0000CC"/>
                </a:solidFill>
              </a:rPr>
              <a:t>WHERE</a:t>
            </a:r>
            <a:r>
              <a:rPr lang="en-US" dirty="0"/>
              <a:t> </a:t>
            </a:r>
            <a:r>
              <a:rPr lang="en-US" dirty="0">
                <a:solidFill>
                  <a:srgbClr val="777777"/>
                </a:solidFill>
              </a:rPr>
              <a:t>NOT EXISTS</a:t>
            </a:r>
            <a:r>
              <a:rPr lang="en-US" dirty="0"/>
              <a:t> (</a:t>
            </a:r>
          </a:p>
          <a:p>
            <a:pPr algn="l"/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SELECT</a:t>
            </a:r>
            <a:r>
              <a:rPr lang="en-US" dirty="0"/>
              <a:t> *</a:t>
            </a:r>
          </a:p>
          <a:p>
            <a:pPr algn="l"/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FROM</a:t>
            </a:r>
            <a:r>
              <a:rPr lang="en-US" dirty="0"/>
              <a:t> S</a:t>
            </a:r>
          </a:p>
          <a:p>
            <a:pPr algn="l"/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WHERE</a:t>
            </a:r>
            <a:r>
              <a:rPr lang="en-US" dirty="0"/>
              <a:t> </a:t>
            </a:r>
            <a:r>
              <a:rPr lang="en-US" dirty="0">
                <a:solidFill>
                  <a:srgbClr val="777777"/>
                </a:solidFill>
              </a:rPr>
              <a:t>NOT EXISTS</a:t>
            </a:r>
            <a:r>
              <a:rPr lang="en-US" dirty="0"/>
              <a:t> (</a:t>
            </a:r>
          </a:p>
          <a:p>
            <a:pPr algn="l"/>
            <a:r>
              <a:rPr lang="en-US" dirty="0"/>
              <a:t>		</a:t>
            </a:r>
            <a:r>
              <a:rPr lang="en-US" dirty="0">
                <a:solidFill>
                  <a:srgbClr val="0000CC"/>
                </a:solidFill>
              </a:rPr>
              <a:t>SELECT</a:t>
            </a:r>
            <a:r>
              <a:rPr lang="en-US" dirty="0"/>
              <a:t> * </a:t>
            </a:r>
          </a:p>
          <a:p>
            <a:pPr algn="l"/>
            <a:r>
              <a:rPr lang="en-US" dirty="0"/>
              <a:t>		</a:t>
            </a:r>
            <a:r>
              <a:rPr lang="en-US" dirty="0">
                <a:solidFill>
                  <a:srgbClr val="0000CC"/>
                </a:solidFill>
              </a:rPr>
              <a:t>FROM</a:t>
            </a:r>
            <a:r>
              <a:rPr lang="en-US" dirty="0"/>
              <a:t> R R2</a:t>
            </a:r>
          </a:p>
          <a:p>
            <a:pPr algn="l"/>
            <a:r>
              <a:rPr lang="en-US" dirty="0"/>
              <a:t>		</a:t>
            </a:r>
            <a:r>
              <a:rPr lang="en-US" dirty="0">
                <a:solidFill>
                  <a:srgbClr val="0000CC"/>
                </a:solidFill>
              </a:rPr>
              <a:t>WHERE</a:t>
            </a:r>
            <a:r>
              <a:rPr lang="en-US" dirty="0"/>
              <a:t> R2.D=S.D </a:t>
            </a:r>
            <a:r>
              <a:rPr lang="en-US" dirty="0">
                <a:solidFill>
                  <a:srgbClr val="777777"/>
                </a:solidFill>
              </a:rPr>
              <a:t>AND</a:t>
            </a:r>
            <a:r>
              <a:rPr lang="en-US" dirty="0"/>
              <a:t> R2.E=S.E </a:t>
            </a:r>
          </a:p>
          <a:p>
            <a:pPr algn="l"/>
            <a:r>
              <a:rPr lang="en-US" dirty="0"/>
              <a:t>		</a:t>
            </a:r>
            <a:r>
              <a:rPr lang="en-US" dirty="0">
                <a:solidFill>
                  <a:srgbClr val="777777"/>
                </a:solidFill>
              </a:rPr>
              <a:t>AND</a:t>
            </a:r>
            <a:r>
              <a:rPr lang="en-US" dirty="0"/>
              <a:t> R1.A=R2.A </a:t>
            </a:r>
            <a:r>
              <a:rPr lang="en-US" dirty="0">
                <a:solidFill>
                  <a:srgbClr val="777777"/>
                </a:solidFill>
              </a:rPr>
              <a:t>AND</a:t>
            </a:r>
            <a:r>
              <a:rPr lang="en-US" dirty="0"/>
              <a:t> R1.B=R2.B </a:t>
            </a:r>
            <a:r>
              <a:rPr lang="en-US" dirty="0">
                <a:solidFill>
                  <a:srgbClr val="777777"/>
                </a:solidFill>
              </a:rPr>
              <a:t>AND</a:t>
            </a:r>
            <a:r>
              <a:rPr lang="en-US" dirty="0"/>
              <a:t> R1.C=R2.C ))</a:t>
            </a:r>
          </a:p>
        </p:txBody>
      </p:sp>
    </p:spTree>
    <p:extLst>
      <p:ext uri="{BB962C8B-B14F-4D97-AF65-F5344CB8AC3E}">
        <p14:creationId xmlns:p14="http://schemas.microsoft.com/office/powerpoint/2010/main" val="1759007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61" grpId="0" build="p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228600" y="152400"/>
            <a:ext cx="8458200" cy="685800"/>
          </a:xfrm>
        </p:spPr>
        <p:txBody>
          <a:bodyPr>
            <a:normAutofit/>
          </a:bodyPr>
          <a:lstStyle/>
          <a:p>
            <a:r>
              <a:rPr lang="en-US" altLang="en-US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alt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chia</a:t>
            </a:r>
            <a:endParaRPr lang="en-US" altLang="en-US" sz="3600" b="1" dirty="0">
              <a:solidFill>
                <a:schemeClr val="tx1"/>
              </a:solidFill>
            </a:endParaRPr>
          </a:p>
        </p:txBody>
      </p:sp>
      <p:graphicFrame>
        <p:nvGraphicFramePr>
          <p:cNvPr id="176370" name="Group 242"/>
          <p:cNvGraphicFramePr>
            <a:graphicFrameLocks noGrp="1"/>
          </p:cNvGraphicFramePr>
          <p:nvPr>
            <p:ph sz="quarter" idx="1"/>
          </p:nvPr>
        </p:nvGraphicFramePr>
        <p:xfrm>
          <a:off x="533400" y="1447800"/>
          <a:ext cx="1952625" cy="2663826"/>
        </p:xfrm>
        <a:graphic>
          <a:graphicData uri="http://schemas.openxmlformats.org/drawingml/2006/table">
            <a:tbl>
              <a:tblPr/>
              <a:tblGrid>
                <a:gridCol w="976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6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189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5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MADA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MANV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5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DA01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NV01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9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DA01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NV02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9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DA02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NV01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75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DA03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NV01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76398" name="Group 270"/>
          <p:cNvGraphicFramePr>
            <a:graphicFrameLocks noGrp="1"/>
          </p:cNvGraphicFramePr>
          <p:nvPr>
            <p:ph sz="quarter" idx="2"/>
          </p:nvPr>
        </p:nvGraphicFramePr>
        <p:xfrm>
          <a:off x="7010400" y="4724400"/>
          <a:ext cx="1066800" cy="1371600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MANV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NV01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6421" name="Group 293"/>
          <p:cNvGraphicFramePr>
            <a:graphicFrameLocks noGrp="1"/>
          </p:cNvGraphicFramePr>
          <p:nvPr>
            <p:ph sz="quarter" idx="3"/>
          </p:nvPr>
        </p:nvGraphicFramePr>
        <p:xfrm>
          <a:off x="2743200" y="1676400"/>
          <a:ext cx="976313" cy="2041910"/>
        </p:xfrm>
        <a:graphic>
          <a:graphicData uri="http://schemas.openxmlformats.org/drawingml/2006/table">
            <a:tbl>
              <a:tblPr/>
              <a:tblGrid>
                <a:gridCol w="976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0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</a:p>
                  </a:txBody>
                  <a:tcPr marT="45695" marB="45695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11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MADA</a:t>
                      </a:r>
                    </a:p>
                  </a:txBody>
                  <a:tcPr marT="45695" marB="456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11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DA01</a:t>
                      </a:r>
                    </a:p>
                  </a:txBody>
                  <a:tcPr marT="45695" marB="456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11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DA02</a:t>
                      </a:r>
                    </a:p>
                  </a:txBody>
                  <a:tcPr marT="45695" marB="456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11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DA03</a:t>
                      </a:r>
                    </a:p>
                  </a:txBody>
                  <a:tcPr marT="45695" marB="456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76430" name="Group 302"/>
          <p:cNvGraphicFramePr>
            <a:graphicFrameLocks noGrp="1"/>
          </p:cNvGraphicFramePr>
          <p:nvPr>
            <p:ph sz="quarter" idx="4"/>
          </p:nvPr>
        </p:nvGraphicFramePr>
        <p:xfrm>
          <a:off x="3962400" y="2971800"/>
          <a:ext cx="2108200" cy="3230752"/>
        </p:xfrm>
        <a:graphic>
          <a:graphicData uri="http://schemas.openxmlformats.org/drawingml/2006/table">
            <a:tbl>
              <a:tblPr/>
              <a:tblGrid>
                <a:gridCol w="976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1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15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Q2=Q1xS</a:t>
                      </a:r>
                    </a:p>
                  </a:txBody>
                  <a:tcPr marT="45712" marB="45712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MADA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MANV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DA01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NV01 *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DA01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NV02 *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DA02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NV01 *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DA02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NV02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DA03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NV01 *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DA03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NV02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76418" name="Group 290"/>
          <p:cNvGraphicFramePr>
            <a:graphicFrameLocks noGrp="1"/>
          </p:cNvGraphicFramePr>
          <p:nvPr/>
        </p:nvGraphicFramePr>
        <p:xfrm>
          <a:off x="2362200" y="4648200"/>
          <a:ext cx="976313" cy="1554352"/>
        </p:xfrm>
        <a:graphic>
          <a:graphicData uri="http://schemas.openxmlformats.org/drawingml/2006/table">
            <a:tbl>
              <a:tblPr/>
              <a:tblGrid>
                <a:gridCol w="976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6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Q1=R</a:t>
                      </a:r>
                      <a:r>
                        <a:rPr kumimoji="0" lang="en-US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Y</a:t>
                      </a:r>
                    </a:p>
                  </a:txBody>
                  <a:tcPr marT="45704" marB="45704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1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MANV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1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NV01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1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NV02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6457" name="Group 329"/>
          <p:cNvGraphicFramePr>
            <a:graphicFrameLocks noGrp="1"/>
          </p:cNvGraphicFramePr>
          <p:nvPr/>
        </p:nvGraphicFramePr>
        <p:xfrm>
          <a:off x="6400800" y="3048000"/>
          <a:ext cx="2260600" cy="1249554"/>
        </p:xfrm>
        <a:graphic>
          <a:graphicData uri="http://schemas.openxmlformats.org/drawingml/2006/table">
            <a:tbl>
              <a:tblPr/>
              <a:tblGrid>
                <a:gridCol w="226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0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Q3= 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sym typeface="Symbol" pitchFamily="18" charset="2"/>
                        </a:rPr>
                        <a:t></a:t>
                      </a:r>
                      <a:r>
                        <a:rPr kumimoji="0" lang="en-US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sym typeface="Symbol" pitchFamily="18" charset="2"/>
                        </a:rPr>
                        <a:t>Y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sym typeface="Symbol" pitchFamily="18" charset="2"/>
                        </a:rPr>
                        <a:t>(Q2  R)</a:t>
                      </a:r>
                    </a:p>
                  </a:txBody>
                  <a:tcPr marT="45699" marB="45699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MANV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NV02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89EFAA-F580-4F8F-AD20-FA068DB63452}" type="slidenum">
              <a:rPr lang="en-US" smtClean="0"/>
              <a:pPr>
                <a:defRPr/>
              </a:pPr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26513"/>
      </p:ext>
    </p:extLst>
  </p:cSld>
  <p:clrMapOvr>
    <a:masterClrMapping/>
  </p:clrMapOvr>
  <p:transition spd="med">
    <p:fade thruBlk="1"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>
            <a:normAutofit/>
          </a:bodyPr>
          <a:lstStyle/>
          <a:p>
            <a:r>
              <a:rPr lang="en-US" b="1" dirty="0" err="1"/>
              <a:t>Ví</a:t>
            </a:r>
            <a:r>
              <a:rPr lang="en-US" b="1" dirty="0"/>
              <a:t> </a:t>
            </a:r>
            <a:r>
              <a:rPr lang="en-US" b="1" dirty="0" err="1"/>
              <a:t>dụ</a:t>
            </a:r>
            <a:r>
              <a:rPr lang="en-US" b="1" dirty="0"/>
              <a:t> 12</a:t>
            </a:r>
          </a:p>
        </p:txBody>
      </p:sp>
      <p:sp>
        <p:nvSpPr>
          <p:cNvPr id="71680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76400"/>
            <a:ext cx="8229600" cy="4648200"/>
          </a:xfrm>
        </p:spPr>
        <p:txBody>
          <a:bodyPr/>
          <a:lstStyle/>
          <a:p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u="sng" dirty="0" err="1"/>
              <a:t>tất</a:t>
            </a:r>
            <a:r>
              <a:rPr lang="en-US" u="sng" dirty="0"/>
              <a:t> </a:t>
            </a:r>
            <a:r>
              <a:rPr lang="en-US" u="sng" dirty="0" err="1"/>
              <a:t>cả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án</a:t>
            </a:r>
            <a:endParaRPr lang="en-US" dirty="0"/>
          </a:p>
          <a:p>
            <a:endParaRPr lang="en-US" dirty="0"/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Tìm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tên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các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nhân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viên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mà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u="sng" dirty="0" err="1">
                <a:solidFill>
                  <a:schemeClr val="tx1"/>
                </a:solidFill>
              </a:rPr>
              <a:t>không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có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đề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án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nào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là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u="sng" dirty="0" err="1">
                <a:solidFill>
                  <a:schemeClr val="tx1"/>
                </a:solidFill>
              </a:rPr>
              <a:t>không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được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phân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công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làm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Tập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bị</a:t>
            </a:r>
            <a:r>
              <a:rPr lang="en-US" dirty="0">
                <a:solidFill>
                  <a:schemeClr val="tx1"/>
                </a:solidFill>
              </a:rPr>
              <a:t> chia: PHANCONG(MA_NVIEN, SODA)</a:t>
            </a:r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Tập</a:t>
            </a:r>
            <a:r>
              <a:rPr lang="en-US" dirty="0">
                <a:solidFill>
                  <a:schemeClr val="tx1"/>
                </a:solidFill>
              </a:rPr>
              <a:t> chia: DEAN(MADA)</a:t>
            </a:r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Tập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kết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quả</a:t>
            </a:r>
            <a:r>
              <a:rPr lang="en-US" dirty="0">
                <a:solidFill>
                  <a:schemeClr val="tx1"/>
                </a:solidFill>
              </a:rPr>
              <a:t>: KQ(MA_NVIEN)</a:t>
            </a:r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Kết</a:t>
            </a:r>
            <a:r>
              <a:rPr lang="en-US" dirty="0">
                <a:solidFill>
                  <a:schemeClr val="tx1"/>
                </a:solidFill>
              </a:rPr>
              <a:t> KQ </a:t>
            </a:r>
            <a:r>
              <a:rPr lang="en-US" dirty="0" err="1">
                <a:solidFill>
                  <a:schemeClr val="tx1"/>
                </a:solidFill>
              </a:rPr>
              <a:t>với</a:t>
            </a:r>
            <a:r>
              <a:rPr lang="en-US" dirty="0">
                <a:solidFill>
                  <a:schemeClr val="tx1"/>
                </a:solidFill>
              </a:rPr>
              <a:t> NHANVIEN </a:t>
            </a:r>
            <a:r>
              <a:rPr lang="en-US" dirty="0" err="1">
                <a:solidFill>
                  <a:schemeClr val="tx1"/>
                </a:solidFill>
              </a:rPr>
              <a:t>để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lấy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ra</a:t>
            </a:r>
            <a:r>
              <a:rPr lang="en-US" dirty="0">
                <a:solidFill>
                  <a:schemeClr val="tx1"/>
                </a:solidFill>
              </a:rPr>
              <a:t> TENNV</a:t>
            </a:r>
          </a:p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94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085693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8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12</a:t>
            </a:r>
          </a:p>
        </p:txBody>
      </p:sp>
      <p:sp>
        <p:nvSpPr>
          <p:cNvPr id="718853" name="Text Box 5"/>
          <p:cNvSpPr txBox="1">
            <a:spLocks noChangeArrowheads="1"/>
          </p:cNvSpPr>
          <p:nvPr/>
        </p:nvSpPr>
        <p:spPr bwMode="auto">
          <a:xfrm>
            <a:off x="990600" y="1600200"/>
            <a:ext cx="6934200" cy="44942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dirty="0">
                <a:solidFill>
                  <a:srgbClr val="0000CC"/>
                </a:solidFill>
              </a:rPr>
              <a:t>SELECT</a:t>
            </a:r>
            <a:r>
              <a:rPr lang="en-US" dirty="0"/>
              <a:t> NV.TENNV</a:t>
            </a:r>
          </a:p>
          <a:p>
            <a:pPr algn="l"/>
            <a:r>
              <a:rPr lang="en-US" dirty="0">
                <a:solidFill>
                  <a:srgbClr val="0000CC"/>
                </a:solidFill>
              </a:rPr>
              <a:t>FROM</a:t>
            </a:r>
            <a:r>
              <a:rPr lang="en-US" dirty="0"/>
              <a:t> NHANVIEN NV, PHANCONG PC1</a:t>
            </a:r>
          </a:p>
          <a:p>
            <a:pPr algn="l"/>
            <a:r>
              <a:rPr lang="en-US" dirty="0">
                <a:solidFill>
                  <a:srgbClr val="0000CC"/>
                </a:solidFill>
              </a:rPr>
              <a:t>WHERE</a:t>
            </a:r>
            <a:r>
              <a:rPr lang="en-US" dirty="0"/>
              <a:t> NV.MANV=PC1.MA_NVIEN</a:t>
            </a:r>
          </a:p>
          <a:p>
            <a:pPr algn="l"/>
            <a:r>
              <a:rPr lang="en-US" dirty="0">
                <a:solidFill>
                  <a:srgbClr val="777777"/>
                </a:solidFill>
              </a:rPr>
              <a:t>AND</a:t>
            </a:r>
            <a:r>
              <a:rPr lang="en-US" dirty="0"/>
              <a:t> </a:t>
            </a:r>
            <a:r>
              <a:rPr lang="en-US" dirty="0">
                <a:solidFill>
                  <a:srgbClr val="777777"/>
                </a:solidFill>
              </a:rPr>
              <a:t>NOT EXISTS</a:t>
            </a:r>
            <a:r>
              <a:rPr lang="en-US" dirty="0"/>
              <a:t> (</a:t>
            </a:r>
          </a:p>
          <a:p>
            <a:pPr algn="l"/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SELECT</a:t>
            </a:r>
            <a:r>
              <a:rPr lang="en-US" dirty="0"/>
              <a:t> *</a:t>
            </a:r>
          </a:p>
          <a:p>
            <a:pPr algn="l"/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FROM</a:t>
            </a:r>
            <a:r>
              <a:rPr lang="en-US" dirty="0"/>
              <a:t> DEAN DA</a:t>
            </a:r>
          </a:p>
          <a:p>
            <a:pPr algn="l"/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WHERE</a:t>
            </a:r>
            <a:r>
              <a:rPr lang="en-US" dirty="0"/>
              <a:t> </a:t>
            </a:r>
            <a:r>
              <a:rPr lang="en-US" dirty="0">
                <a:solidFill>
                  <a:srgbClr val="777777"/>
                </a:solidFill>
              </a:rPr>
              <a:t>NOT EXISTS</a:t>
            </a:r>
            <a:r>
              <a:rPr lang="en-US" dirty="0"/>
              <a:t> (</a:t>
            </a:r>
          </a:p>
          <a:p>
            <a:pPr algn="l"/>
            <a:r>
              <a:rPr lang="en-US" dirty="0"/>
              <a:t>		</a:t>
            </a:r>
            <a:r>
              <a:rPr lang="en-US" dirty="0">
                <a:solidFill>
                  <a:srgbClr val="0000CC"/>
                </a:solidFill>
              </a:rPr>
              <a:t>SELECT</a:t>
            </a:r>
            <a:r>
              <a:rPr lang="en-US" dirty="0"/>
              <a:t> * </a:t>
            </a:r>
          </a:p>
          <a:p>
            <a:pPr algn="l"/>
            <a:r>
              <a:rPr lang="en-US" dirty="0"/>
              <a:t>		</a:t>
            </a:r>
            <a:r>
              <a:rPr lang="en-US" dirty="0">
                <a:solidFill>
                  <a:srgbClr val="0000CC"/>
                </a:solidFill>
              </a:rPr>
              <a:t>FROM</a:t>
            </a:r>
            <a:r>
              <a:rPr lang="en-US" dirty="0"/>
              <a:t> PHANCONG PC2</a:t>
            </a:r>
          </a:p>
          <a:p>
            <a:pPr algn="l"/>
            <a:r>
              <a:rPr lang="en-US" dirty="0"/>
              <a:t>		</a:t>
            </a:r>
            <a:r>
              <a:rPr lang="en-US" dirty="0">
                <a:solidFill>
                  <a:srgbClr val="0000CC"/>
                </a:solidFill>
              </a:rPr>
              <a:t>WHERE</a:t>
            </a:r>
            <a:r>
              <a:rPr lang="en-US" dirty="0"/>
              <a:t> PC2.SODA=DA.MADA</a:t>
            </a:r>
          </a:p>
          <a:p>
            <a:pPr algn="l"/>
            <a:r>
              <a:rPr lang="en-US" dirty="0"/>
              <a:t>		</a:t>
            </a:r>
            <a:r>
              <a:rPr lang="en-US" dirty="0">
                <a:solidFill>
                  <a:srgbClr val="777777"/>
                </a:solidFill>
              </a:rPr>
              <a:t>AND</a:t>
            </a:r>
            <a:r>
              <a:rPr lang="en-US" dirty="0"/>
              <a:t> PC1.MA_NVIEN=PC2.MA_NVIEN ))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95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66712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8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/>
              <a:t>c) </a:t>
            </a:r>
            <a:r>
              <a:rPr lang="en-US" sz="3500" b="1" dirty="0" err="1"/>
              <a:t>Hàm</a:t>
            </a:r>
            <a:r>
              <a:rPr lang="en-US" sz="3500" b="1" dirty="0"/>
              <a:t> </a:t>
            </a:r>
            <a:r>
              <a:rPr lang="en-US" sz="3500" b="1" dirty="0" err="1"/>
              <a:t>kết</a:t>
            </a:r>
            <a:r>
              <a:rPr lang="en-US" sz="3500" b="1" dirty="0"/>
              <a:t> </a:t>
            </a:r>
            <a:r>
              <a:rPr lang="en-US" sz="3500" b="1" dirty="0" err="1"/>
              <a:t>hợp</a:t>
            </a:r>
            <a:endParaRPr lang="en-US" sz="3500" b="1" dirty="0"/>
          </a:p>
        </p:txBody>
      </p:sp>
      <p:sp>
        <p:nvSpPr>
          <p:cNvPr id="72089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524000"/>
            <a:ext cx="8229600" cy="4800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COUNT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COUNT(*)  </a:t>
            </a:r>
            <a:r>
              <a:rPr lang="en-US" dirty="0" err="1">
                <a:solidFill>
                  <a:schemeClr val="tx1"/>
                </a:solidFill>
              </a:rPr>
              <a:t>đếm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số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dòng</a:t>
            </a:r>
            <a:endParaRPr lang="en-US" dirty="0">
              <a:solidFill>
                <a:schemeClr val="tx1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COUNT(&lt;</a:t>
            </a:r>
            <a:r>
              <a:rPr lang="en-US" dirty="0" err="1">
                <a:solidFill>
                  <a:schemeClr val="tx1"/>
                </a:solidFill>
              </a:rPr>
              <a:t>tên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thuộc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tính</a:t>
            </a:r>
            <a:r>
              <a:rPr lang="en-US" dirty="0">
                <a:solidFill>
                  <a:schemeClr val="tx1"/>
                </a:solidFill>
              </a:rPr>
              <a:t>&gt;) </a:t>
            </a:r>
            <a:r>
              <a:rPr lang="en-US" dirty="0" err="1">
                <a:solidFill>
                  <a:schemeClr val="tx1"/>
                </a:solidFill>
              </a:rPr>
              <a:t>đếm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số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giá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trị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khác</a:t>
            </a:r>
            <a:r>
              <a:rPr lang="en-US" dirty="0">
                <a:solidFill>
                  <a:schemeClr val="tx1"/>
                </a:solidFill>
              </a:rPr>
              <a:t> NULL </a:t>
            </a:r>
            <a:r>
              <a:rPr lang="en-US" dirty="0" err="1">
                <a:solidFill>
                  <a:schemeClr val="tx1"/>
                </a:solidFill>
              </a:rPr>
              <a:t>của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thuộc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tính</a:t>
            </a:r>
            <a:endParaRPr lang="en-US" dirty="0">
              <a:solidFill>
                <a:schemeClr val="tx1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COUNT(DISTINCT &lt;</a:t>
            </a:r>
            <a:r>
              <a:rPr lang="en-US" dirty="0" err="1">
                <a:solidFill>
                  <a:schemeClr val="tx1"/>
                </a:solidFill>
              </a:rPr>
              <a:t>tên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thuộc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tính</a:t>
            </a:r>
            <a:r>
              <a:rPr lang="en-US" dirty="0">
                <a:solidFill>
                  <a:schemeClr val="tx1"/>
                </a:solidFill>
              </a:rPr>
              <a:t>&gt;) </a:t>
            </a:r>
            <a:r>
              <a:rPr lang="en-US" dirty="0" err="1">
                <a:solidFill>
                  <a:schemeClr val="tx1"/>
                </a:solidFill>
              </a:rPr>
              <a:t>đếm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số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giá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trị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khác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nhau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và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khác</a:t>
            </a:r>
            <a:r>
              <a:rPr lang="en-US" dirty="0">
                <a:solidFill>
                  <a:schemeClr val="tx1"/>
                </a:solidFill>
              </a:rPr>
              <a:t> NULL </a:t>
            </a:r>
            <a:r>
              <a:rPr lang="en-US" dirty="0" err="1">
                <a:solidFill>
                  <a:schemeClr val="tx1"/>
                </a:solidFill>
              </a:rPr>
              <a:t>của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thuộc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tính</a:t>
            </a:r>
            <a:endParaRPr lang="en-US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 dirty="0"/>
              <a:t>MIN</a:t>
            </a:r>
          </a:p>
          <a:p>
            <a:pPr>
              <a:lnSpc>
                <a:spcPct val="90000"/>
              </a:lnSpc>
            </a:pPr>
            <a:r>
              <a:rPr lang="en-US" dirty="0"/>
              <a:t>MAX</a:t>
            </a:r>
          </a:p>
          <a:p>
            <a:pPr>
              <a:lnSpc>
                <a:spcPct val="90000"/>
              </a:lnSpc>
            </a:pPr>
            <a:r>
              <a:rPr lang="en-US" dirty="0"/>
              <a:t>SUM</a:t>
            </a:r>
          </a:p>
          <a:p>
            <a:pPr>
              <a:lnSpc>
                <a:spcPct val="90000"/>
              </a:lnSpc>
            </a:pPr>
            <a:r>
              <a:rPr lang="en-US" dirty="0"/>
              <a:t>AVG</a:t>
            </a:r>
          </a:p>
          <a:p>
            <a:pPr>
              <a:lnSpc>
                <a:spcPct val="90000"/>
              </a:lnSpc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ở </a:t>
            </a:r>
            <a:r>
              <a:rPr lang="en-US" dirty="0" err="1"/>
              <a:t>mệnh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SELECT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96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706149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9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13</a:t>
            </a:r>
          </a:p>
        </p:txBody>
      </p:sp>
      <p:sp>
        <p:nvSpPr>
          <p:cNvPr id="72294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229600" cy="4724400"/>
          </a:xfrm>
        </p:spPr>
        <p:txBody>
          <a:bodyPr/>
          <a:lstStyle/>
          <a:p>
            <a:pPr algn="just"/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lương</a:t>
            </a:r>
            <a:r>
              <a:rPr lang="en-US" dirty="0"/>
              <a:t>, </a:t>
            </a:r>
            <a:r>
              <a:rPr lang="en-US" dirty="0" err="1"/>
              <a:t>lương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, </a:t>
            </a:r>
            <a:r>
              <a:rPr lang="en-US" dirty="0" err="1"/>
              <a:t>lương</a:t>
            </a:r>
            <a:r>
              <a:rPr lang="en-US" dirty="0"/>
              <a:t> </a:t>
            </a:r>
            <a:r>
              <a:rPr lang="en-US" dirty="0" err="1"/>
              <a:t>thấp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lương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bình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endParaRPr lang="en-US" dirty="0"/>
          </a:p>
          <a:p>
            <a:pPr algn="just"/>
            <a:endParaRPr lang="en-US" dirty="0"/>
          </a:p>
        </p:txBody>
      </p:sp>
      <p:sp>
        <p:nvSpPr>
          <p:cNvPr id="722948" name="Text Box 4"/>
          <p:cNvSpPr txBox="1">
            <a:spLocks noChangeArrowheads="1"/>
          </p:cNvSpPr>
          <p:nvPr/>
        </p:nvSpPr>
        <p:spPr bwMode="auto">
          <a:xfrm>
            <a:off x="1219200" y="2819400"/>
            <a:ext cx="6934200" cy="77946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>
                <a:solidFill>
                  <a:srgbClr val="0000CC"/>
                </a:solidFill>
              </a:rPr>
              <a:t>SELECT</a:t>
            </a:r>
            <a:r>
              <a:rPr lang="en-US"/>
              <a:t> </a:t>
            </a:r>
            <a:r>
              <a:rPr lang="en-US">
                <a:solidFill>
                  <a:srgbClr val="FF3399"/>
                </a:solidFill>
              </a:rPr>
              <a:t>SUM</a:t>
            </a:r>
            <a:r>
              <a:rPr lang="en-US"/>
              <a:t>(LUONG), </a:t>
            </a:r>
            <a:r>
              <a:rPr lang="en-US">
                <a:solidFill>
                  <a:srgbClr val="FF3399"/>
                </a:solidFill>
              </a:rPr>
              <a:t>MAX</a:t>
            </a:r>
            <a:r>
              <a:rPr lang="en-US"/>
              <a:t>(LUONG), </a:t>
            </a:r>
            <a:r>
              <a:rPr lang="en-US">
                <a:solidFill>
                  <a:srgbClr val="FF3399"/>
                </a:solidFill>
              </a:rPr>
              <a:t>MIN</a:t>
            </a:r>
            <a:r>
              <a:rPr lang="en-US"/>
              <a:t>(LUONG), </a:t>
            </a:r>
            <a:r>
              <a:rPr lang="en-US">
                <a:solidFill>
                  <a:srgbClr val="FF3399"/>
                </a:solidFill>
              </a:rPr>
              <a:t>AVG</a:t>
            </a:r>
            <a:r>
              <a:rPr lang="en-US"/>
              <a:t>(LUONG)</a:t>
            </a:r>
          </a:p>
          <a:p>
            <a:pPr algn="l"/>
            <a:r>
              <a:rPr lang="en-US">
                <a:solidFill>
                  <a:srgbClr val="0000CC"/>
                </a:solidFill>
              </a:rPr>
              <a:t>FROM</a:t>
            </a:r>
            <a:r>
              <a:rPr lang="en-US"/>
              <a:t> NHANVIEN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97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7625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29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29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2948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14</a:t>
            </a:r>
          </a:p>
        </p:txBody>
      </p:sp>
      <p:sp>
        <p:nvSpPr>
          <p:cNvPr id="7249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76400"/>
            <a:ext cx="8229600" cy="4648200"/>
          </a:xfrm>
        </p:spPr>
        <p:txBody>
          <a:bodyPr/>
          <a:lstStyle/>
          <a:p>
            <a:r>
              <a:rPr lang="en-US" dirty="0"/>
              <a:t>Cho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phòng</a:t>
            </a:r>
            <a:r>
              <a:rPr lang="en-US" dirty="0"/>
              <a:t> ‘</a:t>
            </a:r>
            <a:r>
              <a:rPr lang="en-US" dirty="0" err="1"/>
              <a:t>Nghien</a:t>
            </a:r>
            <a:r>
              <a:rPr lang="en-US" dirty="0"/>
              <a:t> </a:t>
            </a:r>
            <a:r>
              <a:rPr lang="en-US" dirty="0" err="1"/>
              <a:t>cuu</a:t>
            </a:r>
            <a:r>
              <a:rPr lang="en-US" dirty="0"/>
              <a:t>’ </a:t>
            </a:r>
          </a:p>
          <a:p>
            <a:endParaRPr lang="en-US" dirty="0"/>
          </a:p>
        </p:txBody>
      </p:sp>
      <p:sp>
        <p:nvSpPr>
          <p:cNvPr id="724996" name="Text Box 4"/>
          <p:cNvSpPr txBox="1">
            <a:spLocks noChangeArrowheads="1"/>
          </p:cNvSpPr>
          <p:nvPr/>
        </p:nvSpPr>
        <p:spPr bwMode="auto">
          <a:xfrm>
            <a:off x="1524000" y="2819400"/>
            <a:ext cx="5715000" cy="11922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dirty="0">
                <a:solidFill>
                  <a:srgbClr val="0000CC"/>
                </a:solidFill>
              </a:rPr>
              <a:t>SELECT</a:t>
            </a:r>
            <a:r>
              <a:rPr lang="en-US" dirty="0"/>
              <a:t> </a:t>
            </a:r>
            <a:r>
              <a:rPr lang="en-US" dirty="0">
                <a:solidFill>
                  <a:srgbClr val="FF3399"/>
                </a:solidFill>
              </a:rPr>
              <a:t>COUNT</a:t>
            </a:r>
            <a:r>
              <a:rPr lang="en-US" dirty="0"/>
              <a:t>(*) </a:t>
            </a:r>
            <a:r>
              <a:rPr lang="en-US" dirty="0">
                <a:solidFill>
                  <a:srgbClr val="0000CC"/>
                </a:solidFill>
              </a:rPr>
              <a:t>AS</a:t>
            </a:r>
            <a:r>
              <a:rPr lang="en-US" dirty="0"/>
              <a:t> SL_NV</a:t>
            </a:r>
          </a:p>
          <a:p>
            <a:pPr algn="l"/>
            <a:r>
              <a:rPr lang="en-US" dirty="0">
                <a:solidFill>
                  <a:srgbClr val="0000CC"/>
                </a:solidFill>
              </a:rPr>
              <a:t>FROM</a:t>
            </a:r>
            <a:r>
              <a:rPr lang="en-US" dirty="0"/>
              <a:t> NHANVIEN, PHONGBAN</a:t>
            </a:r>
          </a:p>
          <a:p>
            <a:pPr algn="l"/>
            <a:r>
              <a:rPr lang="en-US" dirty="0">
                <a:solidFill>
                  <a:srgbClr val="0000CC"/>
                </a:solidFill>
              </a:rPr>
              <a:t>WHERE</a:t>
            </a:r>
            <a:r>
              <a:rPr lang="en-US" dirty="0"/>
              <a:t> PHG=MAPHG </a:t>
            </a:r>
            <a:r>
              <a:rPr lang="en-US" dirty="0">
                <a:solidFill>
                  <a:srgbClr val="777777"/>
                </a:solidFill>
              </a:rPr>
              <a:t>AND</a:t>
            </a:r>
            <a:r>
              <a:rPr lang="en-US" dirty="0"/>
              <a:t> TENPHG=</a:t>
            </a:r>
            <a:r>
              <a:rPr lang="en-US" dirty="0">
                <a:solidFill>
                  <a:srgbClr val="CC0000"/>
                </a:solidFill>
              </a:rPr>
              <a:t>‘</a:t>
            </a:r>
            <a:r>
              <a:rPr lang="en-US" dirty="0" err="1">
                <a:solidFill>
                  <a:srgbClr val="CC0000"/>
                </a:solidFill>
              </a:rPr>
              <a:t>Nghien</a:t>
            </a:r>
            <a:r>
              <a:rPr lang="en-US" dirty="0">
                <a:solidFill>
                  <a:srgbClr val="CC0000"/>
                </a:solidFill>
              </a:rPr>
              <a:t> </a:t>
            </a:r>
            <a:r>
              <a:rPr lang="en-US" dirty="0" err="1">
                <a:solidFill>
                  <a:srgbClr val="CC0000"/>
                </a:solidFill>
              </a:rPr>
              <a:t>cuu</a:t>
            </a:r>
            <a:r>
              <a:rPr lang="en-US" dirty="0">
                <a:solidFill>
                  <a:srgbClr val="CC0000"/>
                </a:solidFill>
              </a:rPr>
              <a:t>’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98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0738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4996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1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15</a:t>
            </a:r>
          </a:p>
        </p:txBody>
      </p:sp>
      <p:sp>
        <p:nvSpPr>
          <p:cNvPr id="73113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229600" cy="4724400"/>
          </a:xfrm>
        </p:spPr>
        <p:txBody>
          <a:bodyPr/>
          <a:lstStyle/>
          <a:p>
            <a:r>
              <a:rPr lang="en-US" dirty="0"/>
              <a:t>Cho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phòng</a:t>
            </a:r>
            <a:r>
              <a:rPr lang="en-US" dirty="0"/>
              <a:t> ban</a:t>
            </a:r>
          </a:p>
          <a:p>
            <a:endParaRPr lang="en-US" dirty="0"/>
          </a:p>
        </p:txBody>
      </p:sp>
      <p:sp>
        <p:nvSpPr>
          <p:cNvPr id="731246" name="Rectangle 110"/>
          <p:cNvSpPr>
            <a:spLocks noChangeArrowheads="1"/>
          </p:cNvSpPr>
          <p:nvPr/>
        </p:nvSpPr>
        <p:spPr bwMode="auto">
          <a:xfrm>
            <a:off x="76200" y="5867400"/>
            <a:ext cx="8915400" cy="304800"/>
          </a:xfrm>
          <a:prstGeom prst="rect">
            <a:avLst/>
          </a:prstGeom>
          <a:solidFill>
            <a:srgbClr val="CC99FF">
              <a:alpha val="80000"/>
            </a:srgbClr>
          </a:solidFill>
          <a:ln w="12700" algn="ctr">
            <a:solidFill>
              <a:srgbClr val="CC99FF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31247" name="Rectangle 111"/>
          <p:cNvSpPr>
            <a:spLocks noChangeArrowheads="1"/>
          </p:cNvSpPr>
          <p:nvPr/>
        </p:nvSpPr>
        <p:spPr bwMode="auto">
          <a:xfrm>
            <a:off x="76200" y="4953000"/>
            <a:ext cx="8915400" cy="838200"/>
          </a:xfrm>
          <a:prstGeom prst="rect">
            <a:avLst/>
          </a:prstGeom>
          <a:solidFill>
            <a:srgbClr val="FF99CC">
              <a:alpha val="80000"/>
            </a:srgbClr>
          </a:solidFill>
          <a:ln w="12700" algn="ctr">
            <a:solidFill>
              <a:srgbClr val="FF99CC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31248" name="Rectangle 112"/>
          <p:cNvSpPr>
            <a:spLocks noChangeArrowheads="1"/>
          </p:cNvSpPr>
          <p:nvPr/>
        </p:nvSpPr>
        <p:spPr bwMode="auto">
          <a:xfrm>
            <a:off x="76200" y="4038600"/>
            <a:ext cx="8915400" cy="838200"/>
          </a:xfrm>
          <a:prstGeom prst="rect">
            <a:avLst/>
          </a:prstGeom>
          <a:solidFill>
            <a:srgbClr val="99CCFF">
              <a:alpha val="80000"/>
            </a:srgbClr>
          </a:solidFill>
          <a:ln w="12700" algn="ctr">
            <a:solidFill>
              <a:srgbClr val="99CCFF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pSp>
        <p:nvGrpSpPr>
          <p:cNvPr id="731140" name="Group 4"/>
          <p:cNvGrpSpPr>
            <a:grpSpLocks/>
          </p:cNvGrpSpPr>
          <p:nvPr/>
        </p:nvGrpSpPr>
        <p:grpSpPr bwMode="auto">
          <a:xfrm>
            <a:off x="2590800" y="2057400"/>
            <a:ext cx="2535238" cy="1295400"/>
            <a:chOff x="1296" y="1488"/>
            <a:chExt cx="1597" cy="816"/>
          </a:xfrm>
        </p:grpSpPr>
        <p:sp>
          <p:nvSpPr>
            <p:cNvPr id="731141" name="Line 5"/>
            <p:cNvSpPr>
              <a:spLocks noChangeShapeType="1"/>
            </p:cNvSpPr>
            <p:nvPr/>
          </p:nvSpPr>
          <p:spPr bwMode="auto">
            <a:xfrm>
              <a:off x="1344" y="1680"/>
              <a:ext cx="15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731142" name="Text Box 6"/>
            <p:cNvSpPr txBox="1">
              <a:spLocks noChangeArrowheads="1"/>
            </p:cNvSpPr>
            <p:nvPr/>
          </p:nvSpPr>
          <p:spPr bwMode="auto">
            <a:xfrm>
              <a:off x="2208" y="1488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SL_NV</a:t>
              </a:r>
            </a:p>
          </p:txBody>
        </p:sp>
        <p:sp>
          <p:nvSpPr>
            <p:cNvPr id="731143" name="Text Box 7"/>
            <p:cNvSpPr txBox="1">
              <a:spLocks noChangeArrowheads="1"/>
            </p:cNvSpPr>
            <p:nvPr/>
          </p:nvSpPr>
          <p:spPr bwMode="auto">
            <a:xfrm>
              <a:off x="1308" y="1728"/>
              <a:ext cx="90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5</a:t>
              </a:r>
            </a:p>
          </p:txBody>
        </p:sp>
        <p:sp>
          <p:nvSpPr>
            <p:cNvPr id="731144" name="Text Box 8"/>
            <p:cNvSpPr txBox="1">
              <a:spLocks noChangeArrowheads="1"/>
            </p:cNvSpPr>
            <p:nvPr/>
          </p:nvSpPr>
          <p:spPr bwMode="auto">
            <a:xfrm>
              <a:off x="1308" y="1920"/>
              <a:ext cx="90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4</a:t>
              </a:r>
            </a:p>
          </p:txBody>
        </p:sp>
        <p:sp>
          <p:nvSpPr>
            <p:cNvPr id="731145" name="Text Box 9"/>
            <p:cNvSpPr txBox="1">
              <a:spLocks noChangeArrowheads="1"/>
            </p:cNvSpPr>
            <p:nvPr/>
          </p:nvSpPr>
          <p:spPr bwMode="auto">
            <a:xfrm>
              <a:off x="2208" y="1728"/>
              <a:ext cx="685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3</a:t>
              </a:r>
            </a:p>
          </p:txBody>
        </p:sp>
        <p:sp>
          <p:nvSpPr>
            <p:cNvPr id="731146" name="Text Box 10"/>
            <p:cNvSpPr txBox="1">
              <a:spLocks noChangeArrowheads="1"/>
            </p:cNvSpPr>
            <p:nvPr/>
          </p:nvSpPr>
          <p:spPr bwMode="auto">
            <a:xfrm>
              <a:off x="2208" y="1920"/>
              <a:ext cx="685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3</a:t>
              </a:r>
            </a:p>
          </p:txBody>
        </p:sp>
        <p:sp>
          <p:nvSpPr>
            <p:cNvPr id="731147" name="Text Box 11"/>
            <p:cNvSpPr txBox="1">
              <a:spLocks noChangeArrowheads="1"/>
            </p:cNvSpPr>
            <p:nvPr/>
          </p:nvSpPr>
          <p:spPr bwMode="auto">
            <a:xfrm>
              <a:off x="1296" y="1488"/>
              <a:ext cx="864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PHG</a:t>
              </a:r>
            </a:p>
          </p:txBody>
        </p:sp>
        <p:sp>
          <p:nvSpPr>
            <p:cNvPr id="731148" name="Line 12"/>
            <p:cNvSpPr>
              <a:spLocks noChangeShapeType="1"/>
            </p:cNvSpPr>
            <p:nvPr/>
          </p:nvSpPr>
          <p:spPr bwMode="auto">
            <a:xfrm>
              <a:off x="2208" y="1488"/>
              <a:ext cx="0" cy="8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731149" name="Text Box 13"/>
            <p:cNvSpPr txBox="1">
              <a:spLocks noChangeArrowheads="1"/>
            </p:cNvSpPr>
            <p:nvPr/>
          </p:nvSpPr>
          <p:spPr bwMode="auto">
            <a:xfrm>
              <a:off x="1308" y="2112"/>
              <a:ext cx="90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1</a:t>
              </a:r>
            </a:p>
          </p:txBody>
        </p:sp>
        <p:sp>
          <p:nvSpPr>
            <p:cNvPr id="731150" name="Text Box 14"/>
            <p:cNvSpPr txBox="1">
              <a:spLocks noChangeArrowheads="1"/>
            </p:cNvSpPr>
            <p:nvPr/>
          </p:nvSpPr>
          <p:spPr bwMode="auto">
            <a:xfrm>
              <a:off x="2208" y="2112"/>
              <a:ext cx="685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1</a:t>
              </a:r>
            </a:p>
          </p:txBody>
        </p:sp>
      </p:grpSp>
      <p:grpSp>
        <p:nvGrpSpPr>
          <p:cNvPr id="731245" name="Group 109"/>
          <p:cNvGrpSpPr>
            <a:grpSpLocks/>
          </p:cNvGrpSpPr>
          <p:nvPr/>
        </p:nvGrpSpPr>
        <p:grpSpPr bwMode="auto">
          <a:xfrm>
            <a:off x="76200" y="3657600"/>
            <a:ext cx="8991600" cy="2590800"/>
            <a:chOff x="48" y="2304"/>
            <a:chExt cx="5664" cy="1632"/>
          </a:xfrm>
        </p:grpSpPr>
        <p:sp>
          <p:nvSpPr>
            <p:cNvPr id="731154" name="Line 18"/>
            <p:cNvSpPr>
              <a:spLocks noChangeShapeType="1"/>
            </p:cNvSpPr>
            <p:nvPr/>
          </p:nvSpPr>
          <p:spPr bwMode="auto">
            <a:xfrm>
              <a:off x="48" y="2496"/>
              <a:ext cx="56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731155" name="Text Box 19"/>
            <p:cNvSpPr txBox="1">
              <a:spLocks noChangeArrowheads="1"/>
            </p:cNvSpPr>
            <p:nvPr/>
          </p:nvSpPr>
          <p:spPr bwMode="auto">
            <a:xfrm>
              <a:off x="1728" y="2304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TENNV</a:t>
              </a:r>
            </a:p>
          </p:txBody>
        </p:sp>
        <p:sp>
          <p:nvSpPr>
            <p:cNvPr id="731156" name="Text Box 20"/>
            <p:cNvSpPr txBox="1">
              <a:spLocks noChangeArrowheads="1"/>
            </p:cNvSpPr>
            <p:nvPr/>
          </p:nvSpPr>
          <p:spPr bwMode="auto">
            <a:xfrm>
              <a:off x="672" y="2304"/>
              <a:ext cx="576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HONV</a:t>
              </a:r>
            </a:p>
          </p:txBody>
        </p:sp>
        <p:sp>
          <p:nvSpPr>
            <p:cNvPr id="731157" name="Text Box 21"/>
            <p:cNvSpPr txBox="1">
              <a:spLocks noChangeArrowheads="1"/>
            </p:cNvSpPr>
            <p:nvPr/>
          </p:nvSpPr>
          <p:spPr bwMode="auto">
            <a:xfrm>
              <a:off x="2256" y="2304"/>
              <a:ext cx="72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NGSINH</a:t>
              </a:r>
            </a:p>
          </p:txBody>
        </p:sp>
        <p:sp>
          <p:nvSpPr>
            <p:cNvPr id="731158" name="Text Box 22"/>
            <p:cNvSpPr txBox="1">
              <a:spLocks noChangeArrowheads="1"/>
            </p:cNvSpPr>
            <p:nvPr/>
          </p:nvSpPr>
          <p:spPr bwMode="auto">
            <a:xfrm>
              <a:off x="2976" y="2304"/>
              <a:ext cx="72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DCHI</a:t>
              </a:r>
            </a:p>
          </p:txBody>
        </p:sp>
        <p:sp>
          <p:nvSpPr>
            <p:cNvPr id="731159" name="Text Box 23"/>
            <p:cNvSpPr txBox="1">
              <a:spLocks noChangeArrowheads="1"/>
            </p:cNvSpPr>
            <p:nvPr/>
          </p:nvSpPr>
          <p:spPr bwMode="auto">
            <a:xfrm>
              <a:off x="3696" y="2304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PHAI</a:t>
              </a:r>
            </a:p>
          </p:txBody>
        </p:sp>
        <p:sp>
          <p:nvSpPr>
            <p:cNvPr id="731160" name="Text Box 24"/>
            <p:cNvSpPr txBox="1">
              <a:spLocks noChangeArrowheads="1"/>
            </p:cNvSpPr>
            <p:nvPr/>
          </p:nvSpPr>
          <p:spPr bwMode="auto">
            <a:xfrm>
              <a:off x="4128" y="2304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LUONG</a:t>
              </a:r>
            </a:p>
          </p:txBody>
        </p:sp>
        <p:sp>
          <p:nvSpPr>
            <p:cNvPr id="731161" name="Text Box 25"/>
            <p:cNvSpPr txBox="1">
              <a:spLocks noChangeArrowheads="1"/>
            </p:cNvSpPr>
            <p:nvPr/>
          </p:nvSpPr>
          <p:spPr bwMode="auto">
            <a:xfrm>
              <a:off x="5328" y="2304"/>
              <a:ext cx="384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PHG</a:t>
              </a:r>
            </a:p>
          </p:txBody>
        </p:sp>
        <p:sp>
          <p:nvSpPr>
            <p:cNvPr id="731162" name="Text Box 26"/>
            <p:cNvSpPr txBox="1">
              <a:spLocks noChangeArrowheads="1"/>
            </p:cNvSpPr>
            <p:nvPr/>
          </p:nvSpPr>
          <p:spPr bwMode="auto">
            <a:xfrm>
              <a:off x="1728" y="2544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Tung</a:t>
              </a:r>
            </a:p>
          </p:txBody>
        </p:sp>
        <p:sp>
          <p:nvSpPr>
            <p:cNvPr id="731163" name="Text Box 27"/>
            <p:cNvSpPr txBox="1">
              <a:spLocks noChangeArrowheads="1"/>
            </p:cNvSpPr>
            <p:nvPr/>
          </p:nvSpPr>
          <p:spPr bwMode="auto">
            <a:xfrm>
              <a:off x="672" y="2544"/>
              <a:ext cx="576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Nguyen</a:t>
              </a:r>
            </a:p>
          </p:txBody>
        </p:sp>
        <p:sp>
          <p:nvSpPr>
            <p:cNvPr id="731164" name="Text Box 28"/>
            <p:cNvSpPr txBox="1">
              <a:spLocks noChangeArrowheads="1"/>
            </p:cNvSpPr>
            <p:nvPr/>
          </p:nvSpPr>
          <p:spPr bwMode="auto">
            <a:xfrm>
              <a:off x="2256" y="2544"/>
              <a:ext cx="72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12/08/1955</a:t>
              </a:r>
            </a:p>
          </p:txBody>
        </p:sp>
        <p:sp>
          <p:nvSpPr>
            <p:cNvPr id="731165" name="Text Box 29"/>
            <p:cNvSpPr txBox="1">
              <a:spLocks noChangeArrowheads="1"/>
            </p:cNvSpPr>
            <p:nvPr/>
          </p:nvSpPr>
          <p:spPr bwMode="auto">
            <a:xfrm>
              <a:off x="2976" y="2544"/>
              <a:ext cx="72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638 NVC Q5</a:t>
              </a:r>
            </a:p>
          </p:txBody>
        </p:sp>
        <p:sp>
          <p:nvSpPr>
            <p:cNvPr id="731166" name="Text Box 30"/>
            <p:cNvSpPr txBox="1">
              <a:spLocks noChangeArrowheads="1"/>
            </p:cNvSpPr>
            <p:nvPr/>
          </p:nvSpPr>
          <p:spPr bwMode="auto">
            <a:xfrm>
              <a:off x="3696" y="2544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Nam</a:t>
              </a:r>
            </a:p>
          </p:txBody>
        </p:sp>
        <p:sp>
          <p:nvSpPr>
            <p:cNvPr id="731167" name="Text Box 31"/>
            <p:cNvSpPr txBox="1">
              <a:spLocks noChangeArrowheads="1"/>
            </p:cNvSpPr>
            <p:nvPr/>
          </p:nvSpPr>
          <p:spPr bwMode="auto">
            <a:xfrm>
              <a:off x="4128" y="2544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40000</a:t>
              </a:r>
            </a:p>
          </p:txBody>
        </p:sp>
        <p:sp>
          <p:nvSpPr>
            <p:cNvPr id="731168" name="Text Box 32"/>
            <p:cNvSpPr txBox="1">
              <a:spLocks noChangeArrowheads="1"/>
            </p:cNvSpPr>
            <p:nvPr/>
          </p:nvSpPr>
          <p:spPr bwMode="auto">
            <a:xfrm>
              <a:off x="5328" y="2544"/>
              <a:ext cx="384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5</a:t>
              </a:r>
            </a:p>
          </p:txBody>
        </p:sp>
        <p:sp>
          <p:nvSpPr>
            <p:cNvPr id="731169" name="Text Box 33"/>
            <p:cNvSpPr txBox="1">
              <a:spLocks noChangeArrowheads="1"/>
            </p:cNvSpPr>
            <p:nvPr/>
          </p:nvSpPr>
          <p:spPr bwMode="auto">
            <a:xfrm>
              <a:off x="1728" y="2736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Hung</a:t>
              </a:r>
            </a:p>
          </p:txBody>
        </p:sp>
        <p:sp>
          <p:nvSpPr>
            <p:cNvPr id="731170" name="Text Box 34"/>
            <p:cNvSpPr txBox="1">
              <a:spLocks noChangeArrowheads="1"/>
            </p:cNvSpPr>
            <p:nvPr/>
          </p:nvSpPr>
          <p:spPr bwMode="auto">
            <a:xfrm>
              <a:off x="672" y="2736"/>
              <a:ext cx="576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Nguyen</a:t>
              </a:r>
            </a:p>
          </p:txBody>
        </p:sp>
        <p:sp>
          <p:nvSpPr>
            <p:cNvPr id="731171" name="Text Box 35"/>
            <p:cNvSpPr txBox="1">
              <a:spLocks noChangeArrowheads="1"/>
            </p:cNvSpPr>
            <p:nvPr/>
          </p:nvSpPr>
          <p:spPr bwMode="auto">
            <a:xfrm>
              <a:off x="2256" y="2736"/>
              <a:ext cx="72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09/15/1962</a:t>
              </a:r>
            </a:p>
          </p:txBody>
        </p:sp>
        <p:sp>
          <p:nvSpPr>
            <p:cNvPr id="731172" name="Text Box 36"/>
            <p:cNvSpPr txBox="1">
              <a:spLocks noChangeArrowheads="1"/>
            </p:cNvSpPr>
            <p:nvPr/>
          </p:nvSpPr>
          <p:spPr bwMode="auto">
            <a:xfrm>
              <a:off x="2976" y="2736"/>
              <a:ext cx="72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Ba Ria VT</a:t>
              </a:r>
            </a:p>
          </p:txBody>
        </p:sp>
        <p:sp>
          <p:nvSpPr>
            <p:cNvPr id="731173" name="Text Box 37"/>
            <p:cNvSpPr txBox="1">
              <a:spLocks noChangeArrowheads="1"/>
            </p:cNvSpPr>
            <p:nvPr/>
          </p:nvSpPr>
          <p:spPr bwMode="auto">
            <a:xfrm>
              <a:off x="3696" y="2736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Nam</a:t>
              </a:r>
            </a:p>
          </p:txBody>
        </p:sp>
        <p:sp>
          <p:nvSpPr>
            <p:cNvPr id="731174" name="Text Box 38"/>
            <p:cNvSpPr txBox="1">
              <a:spLocks noChangeArrowheads="1"/>
            </p:cNvSpPr>
            <p:nvPr/>
          </p:nvSpPr>
          <p:spPr bwMode="auto">
            <a:xfrm>
              <a:off x="4128" y="2736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38000</a:t>
              </a:r>
            </a:p>
          </p:txBody>
        </p:sp>
        <p:sp>
          <p:nvSpPr>
            <p:cNvPr id="731175" name="Text Box 39"/>
            <p:cNvSpPr txBox="1">
              <a:spLocks noChangeArrowheads="1"/>
            </p:cNvSpPr>
            <p:nvPr/>
          </p:nvSpPr>
          <p:spPr bwMode="auto">
            <a:xfrm>
              <a:off x="5328" y="2736"/>
              <a:ext cx="384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5</a:t>
              </a:r>
            </a:p>
          </p:txBody>
        </p:sp>
        <p:sp>
          <p:nvSpPr>
            <p:cNvPr id="731176" name="Text Box 40"/>
            <p:cNvSpPr txBox="1">
              <a:spLocks noChangeArrowheads="1"/>
            </p:cNvSpPr>
            <p:nvPr/>
          </p:nvSpPr>
          <p:spPr bwMode="auto">
            <a:xfrm>
              <a:off x="48" y="2544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 dirty="0"/>
                <a:t>333445555</a:t>
              </a:r>
            </a:p>
          </p:txBody>
        </p:sp>
        <p:sp>
          <p:nvSpPr>
            <p:cNvPr id="731177" name="Text Box 41"/>
            <p:cNvSpPr txBox="1">
              <a:spLocks noChangeArrowheads="1"/>
            </p:cNvSpPr>
            <p:nvPr/>
          </p:nvSpPr>
          <p:spPr bwMode="auto">
            <a:xfrm>
              <a:off x="48" y="2736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987987987</a:t>
              </a:r>
            </a:p>
          </p:txBody>
        </p:sp>
        <p:sp>
          <p:nvSpPr>
            <p:cNvPr id="731178" name="Text Box 42"/>
            <p:cNvSpPr txBox="1">
              <a:spLocks noChangeArrowheads="1"/>
            </p:cNvSpPr>
            <p:nvPr/>
          </p:nvSpPr>
          <p:spPr bwMode="auto">
            <a:xfrm>
              <a:off x="48" y="2304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MANV</a:t>
              </a:r>
            </a:p>
          </p:txBody>
        </p:sp>
        <p:sp>
          <p:nvSpPr>
            <p:cNvPr id="731179" name="Text Box 43"/>
            <p:cNvSpPr txBox="1">
              <a:spLocks noChangeArrowheads="1"/>
            </p:cNvSpPr>
            <p:nvPr/>
          </p:nvSpPr>
          <p:spPr bwMode="auto">
            <a:xfrm>
              <a:off x="4656" y="2304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MA_NQL</a:t>
              </a:r>
            </a:p>
          </p:txBody>
        </p:sp>
        <p:sp>
          <p:nvSpPr>
            <p:cNvPr id="731180" name="Text Box 44"/>
            <p:cNvSpPr txBox="1">
              <a:spLocks noChangeArrowheads="1"/>
            </p:cNvSpPr>
            <p:nvPr/>
          </p:nvSpPr>
          <p:spPr bwMode="auto">
            <a:xfrm>
              <a:off x="4656" y="2544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888665555</a:t>
              </a:r>
            </a:p>
          </p:txBody>
        </p:sp>
        <p:sp>
          <p:nvSpPr>
            <p:cNvPr id="731181" name="Text Box 45"/>
            <p:cNvSpPr txBox="1">
              <a:spLocks noChangeArrowheads="1"/>
            </p:cNvSpPr>
            <p:nvPr/>
          </p:nvSpPr>
          <p:spPr bwMode="auto">
            <a:xfrm>
              <a:off x="4656" y="2736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333445555</a:t>
              </a:r>
            </a:p>
          </p:txBody>
        </p:sp>
        <p:grpSp>
          <p:nvGrpSpPr>
            <p:cNvPr id="731182" name="Group 46"/>
            <p:cNvGrpSpPr>
              <a:grpSpLocks/>
            </p:cNvGrpSpPr>
            <p:nvPr/>
          </p:nvGrpSpPr>
          <p:grpSpPr bwMode="auto">
            <a:xfrm>
              <a:off x="720" y="2304"/>
              <a:ext cx="4608" cy="1632"/>
              <a:chOff x="720" y="2784"/>
              <a:chExt cx="4608" cy="1008"/>
            </a:xfrm>
          </p:grpSpPr>
          <p:sp>
            <p:nvSpPr>
              <p:cNvPr id="731183" name="Line 47"/>
              <p:cNvSpPr>
                <a:spLocks noChangeShapeType="1"/>
              </p:cNvSpPr>
              <p:nvPr/>
            </p:nvSpPr>
            <p:spPr bwMode="auto">
              <a:xfrm>
                <a:off x="1728" y="2784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31184" name="Line 48"/>
              <p:cNvSpPr>
                <a:spLocks noChangeShapeType="1"/>
              </p:cNvSpPr>
              <p:nvPr/>
            </p:nvSpPr>
            <p:spPr bwMode="auto">
              <a:xfrm>
                <a:off x="2256" y="2784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31185" name="Line 49"/>
              <p:cNvSpPr>
                <a:spLocks noChangeShapeType="1"/>
              </p:cNvSpPr>
              <p:nvPr/>
            </p:nvSpPr>
            <p:spPr bwMode="auto">
              <a:xfrm>
                <a:off x="2976" y="2784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31186" name="Line 50"/>
              <p:cNvSpPr>
                <a:spLocks noChangeShapeType="1"/>
              </p:cNvSpPr>
              <p:nvPr/>
            </p:nvSpPr>
            <p:spPr bwMode="auto">
              <a:xfrm>
                <a:off x="3696" y="2784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31187" name="Line 51"/>
              <p:cNvSpPr>
                <a:spLocks noChangeShapeType="1"/>
              </p:cNvSpPr>
              <p:nvPr/>
            </p:nvSpPr>
            <p:spPr bwMode="auto">
              <a:xfrm>
                <a:off x="4128" y="2784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31188" name="Line 52"/>
              <p:cNvSpPr>
                <a:spLocks noChangeShapeType="1"/>
              </p:cNvSpPr>
              <p:nvPr/>
            </p:nvSpPr>
            <p:spPr bwMode="auto">
              <a:xfrm>
                <a:off x="4656" y="2784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31189" name="Line 53"/>
              <p:cNvSpPr>
                <a:spLocks noChangeShapeType="1"/>
              </p:cNvSpPr>
              <p:nvPr/>
            </p:nvSpPr>
            <p:spPr bwMode="auto">
              <a:xfrm>
                <a:off x="1200" y="2784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31190" name="Line 54"/>
              <p:cNvSpPr>
                <a:spLocks noChangeShapeType="1"/>
              </p:cNvSpPr>
              <p:nvPr/>
            </p:nvSpPr>
            <p:spPr bwMode="auto">
              <a:xfrm>
                <a:off x="5328" y="2784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31191" name="Line 55"/>
              <p:cNvSpPr>
                <a:spLocks noChangeShapeType="1"/>
              </p:cNvSpPr>
              <p:nvPr/>
            </p:nvSpPr>
            <p:spPr bwMode="auto">
              <a:xfrm>
                <a:off x="720" y="2784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731192" name="Text Box 56"/>
            <p:cNvSpPr txBox="1">
              <a:spLocks noChangeArrowheads="1"/>
            </p:cNvSpPr>
            <p:nvPr/>
          </p:nvSpPr>
          <p:spPr bwMode="auto">
            <a:xfrm>
              <a:off x="1200" y="2304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TENLOT</a:t>
              </a:r>
            </a:p>
          </p:txBody>
        </p:sp>
        <p:sp>
          <p:nvSpPr>
            <p:cNvPr id="731193" name="Text Box 57"/>
            <p:cNvSpPr txBox="1">
              <a:spLocks noChangeArrowheads="1"/>
            </p:cNvSpPr>
            <p:nvPr/>
          </p:nvSpPr>
          <p:spPr bwMode="auto">
            <a:xfrm>
              <a:off x="1200" y="2544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Thanh</a:t>
              </a:r>
            </a:p>
          </p:txBody>
        </p:sp>
        <p:sp>
          <p:nvSpPr>
            <p:cNvPr id="731194" name="Text Box 58"/>
            <p:cNvSpPr txBox="1">
              <a:spLocks noChangeArrowheads="1"/>
            </p:cNvSpPr>
            <p:nvPr/>
          </p:nvSpPr>
          <p:spPr bwMode="auto">
            <a:xfrm>
              <a:off x="1200" y="2736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Manh</a:t>
              </a:r>
            </a:p>
          </p:txBody>
        </p:sp>
        <p:sp>
          <p:nvSpPr>
            <p:cNvPr id="731195" name="Text Box 59"/>
            <p:cNvSpPr txBox="1">
              <a:spLocks noChangeArrowheads="1"/>
            </p:cNvSpPr>
            <p:nvPr/>
          </p:nvSpPr>
          <p:spPr bwMode="auto">
            <a:xfrm>
              <a:off x="1728" y="2928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Tam</a:t>
              </a:r>
            </a:p>
          </p:txBody>
        </p:sp>
        <p:sp>
          <p:nvSpPr>
            <p:cNvPr id="731196" name="Text Box 60"/>
            <p:cNvSpPr txBox="1">
              <a:spLocks noChangeArrowheads="1"/>
            </p:cNvSpPr>
            <p:nvPr/>
          </p:nvSpPr>
          <p:spPr bwMode="auto">
            <a:xfrm>
              <a:off x="672" y="2928"/>
              <a:ext cx="576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Tran</a:t>
              </a:r>
            </a:p>
          </p:txBody>
        </p:sp>
        <p:sp>
          <p:nvSpPr>
            <p:cNvPr id="731197" name="Text Box 61"/>
            <p:cNvSpPr txBox="1">
              <a:spLocks noChangeArrowheads="1"/>
            </p:cNvSpPr>
            <p:nvPr/>
          </p:nvSpPr>
          <p:spPr bwMode="auto">
            <a:xfrm>
              <a:off x="2256" y="2928"/>
              <a:ext cx="72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07/31/1972</a:t>
              </a:r>
            </a:p>
          </p:txBody>
        </p:sp>
        <p:sp>
          <p:nvSpPr>
            <p:cNvPr id="731198" name="Text Box 62"/>
            <p:cNvSpPr txBox="1">
              <a:spLocks noChangeArrowheads="1"/>
            </p:cNvSpPr>
            <p:nvPr/>
          </p:nvSpPr>
          <p:spPr bwMode="auto">
            <a:xfrm>
              <a:off x="2976" y="2928"/>
              <a:ext cx="72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543 MTL Q1</a:t>
              </a:r>
            </a:p>
          </p:txBody>
        </p:sp>
        <p:sp>
          <p:nvSpPr>
            <p:cNvPr id="731199" name="Text Box 63"/>
            <p:cNvSpPr txBox="1">
              <a:spLocks noChangeArrowheads="1"/>
            </p:cNvSpPr>
            <p:nvPr/>
          </p:nvSpPr>
          <p:spPr bwMode="auto">
            <a:xfrm>
              <a:off x="3696" y="2928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Nu</a:t>
              </a:r>
            </a:p>
          </p:txBody>
        </p:sp>
        <p:sp>
          <p:nvSpPr>
            <p:cNvPr id="731200" name="Text Box 64"/>
            <p:cNvSpPr txBox="1">
              <a:spLocks noChangeArrowheads="1"/>
            </p:cNvSpPr>
            <p:nvPr/>
          </p:nvSpPr>
          <p:spPr bwMode="auto">
            <a:xfrm>
              <a:off x="4128" y="2928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25000</a:t>
              </a:r>
            </a:p>
          </p:txBody>
        </p:sp>
        <p:sp>
          <p:nvSpPr>
            <p:cNvPr id="731201" name="Text Box 65"/>
            <p:cNvSpPr txBox="1">
              <a:spLocks noChangeArrowheads="1"/>
            </p:cNvSpPr>
            <p:nvPr/>
          </p:nvSpPr>
          <p:spPr bwMode="auto">
            <a:xfrm>
              <a:off x="5328" y="2928"/>
              <a:ext cx="384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5</a:t>
              </a:r>
            </a:p>
          </p:txBody>
        </p:sp>
        <p:sp>
          <p:nvSpPr>
            <p:cNvPr id="731202" name="Text Box 66"/>
            <p:cNvSpPr txBox="1">
              <a:spLocks noChangeArrowheads="1"/>
            </p:cNvSpPr>
            <p:nvPr/>
          </p:nvSpPr>
          <p:spPr bwMode="auto">
            <a:xfrm>
              <a:off x="1728" y="3120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Hang</a:t>
              </a:r>
            </a:p>
          </p:txBody>
        </p:sp>
        <p:sp>
          <p:nvSpPr>
            <p:cNvPr id="731203" name="Text Box 67"/>
            <p:cNvSpPr txBox="1">
              <a:spLocks noChangeArrowheads="1"/>
            </p:cNvSpPr>
            <p:nvPr/>
          </p:nvSpPr>
          <p:spPr bwMode="auto">
            <a:xfrm>
              <a:off x="672" y="3120"/>
              <a:ext cx="576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Bui</a:t>
              </a:r>
            </a:p>
          </p:txBody>
        </p:sp>
        <p:sp>
          <p:nvSpPr>
            <p:cNvPr id="731204" name="Text Box 68"/>
            <p:cNvSpPr txBox="1">
              <a:spLocks noChangeArrowheads="1"/>
            </p:cNvSpPr>
            <p:nvPr/>
          </p:nvSpPr>
          <p:spPr bwMode="auto">
            <a:xfrm>
              <a:off x="2256" y="3120"/>
              <a:ext cx="72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07/19/1968</a:t>
              </a:r>
            </a:p>
          </p:txBody>
        </p:sp>
        <p:sp>
          <p:nvSpPr>
            <p:cNvPr id="731205" name="Text Box 69"/>
            <p:cNvSpPr txBox="1">
              <a:spLocks noChangeArrowheads="1"/>
            </p:cNvSpPr>
            <p:nvPr/>
          </p:nvSpPr>
          <p:spPr bwMode="auto">
            <a:xfrm>
              <a:off x="2976" y="3120"/>
              <a:ext cx="72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33 NTH Q1</a:t>
              </a:r>
            </a:p>
          </p:txBody>
        </p:sp>
        <p:sp>
          <p:nvSpPr>
            <p:cNvPr id="731206" name="Text Box 70"/>
            <p:cNvSpPr txBox="1">
              <a:spLocks noChangeArrowheads="1"/>
            </p:cNvSpPr>
            <p:nvPr/>
          </p:nvSpPr>
          <p:spPr bwMode="auto">
            <a:xfrm>
              <a:off x="3696" y="3120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Nu</a:t>
              </a:r>
            </a:p>
          </p:txBody>
        </p:sp>
        <p:sp>
          <p:nvSpPr>
            <p:cNvPr id="731207" name="Text Box 71"/>
            <p:cNvSpPr txBox="1">
              <a:spLocks noChangeArrowheads="1"/>
            </p:cNvSpPr>
            <p:nvPr/>
          </p:nvSpPr>
          <p:spPr bwMode="auto">
            <a:xfrm>
              <a:off x="4128" y="3120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38000</a:t>
              </a:r>
            </a:p>
          </p:txBody>
        </p:sp>
        <p:sp>
          <p:nvSpPr>
            <p:cNvPr id="731208" name="Text Box 72"/>
            <p:cNvSpPr txBox="1">
              <a:spLocks noChangeArrowheads="1"/>
            </p:cNvSpPr>
            <p:nvPr/>
          </p:nvSpPr>
          <p:spPr bwMode="auto">
            <a:xfrm>
              <a:off x="5328" y="3120"/>
              <a:ext cx="384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4</a:t>
              </a:r>
            </a:p>
          </p:txBody>
        </p:sp>
        <p:sp>
          <p:nvSpPr>
            <p:cNvPr id="731209" name="Text Box 73"/>
            <p:cNvSpPr txBox="1">
              <a:spLocks noChangeArrowheads="1"/>
            </p:cNvSpPr>
            <p:nvPr/>
          </p:nvSpPr>
          <p:spPr bwMode="auto">
            <a:xfrm>
              <a:off x="48" y="2928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 dirty="0"/>
                <a:t>453453453</a:t>
              </a:r>
            </a:p>
          </p:txBody>
        </p:sp>
        <p:sp>
          <p:nvSpPr>
            <p:cNvPr id="731210" name="Text Box 74"/>
            <p:cNvSpPr txBox="1">
              <a:spLocks noChangeArrowheads="1"/>
            </p:cNvSpPr>
            <p:nvPr/>
          </p:nvSpPr>
          <p:spPr bwMode="auto">
            <a:xfrm>
              <a:off x="48" y="3120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999887777</a:t>
              </a:r>
            </a:p>
          </p:txBody>
        </p:sp>
        <p:sp>
          <p:nvSpPr>
            <p:cNvPr id="731211" name="Text Box 75"/>
            <p:cNvSpPr txBox="1">
              <a:spLocks noChangeArrowheads="1"/>
            </p:cNvSpPr>
            <p:nvPr/>
          </p:nvSpPr>
          <p:spPr bwMode="auto">
            <a:xfrm>
              <a:off x="4656" y="2928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333445555</a:t>
              </a:r>
            </a:p>
          </p:txBody>
        </p:sp>
        <p:sp>
          <p:nvSpPr>
            <p:cNvPr id="731212" name="Text Box 76"/>
            <p:cNvSpPr txBox="1">
              <a:spLocks noChangeArrowheads="1"/>
            </p:cNvSpPr>
            <p:nvPr/>
          </p:nvSpPr>
          <p:spPr bwMode="auto">
            <a:xfrm>
              <a:off x="4656" y="3120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987654321</a:t>
              </a:r>
            </a:p>
          </p:txBody>
        </p:sp>
        <p:sp>
          <p:nvSpPr>
            <p:cNvPr id="731213" name="Text Box 77"/>
            <p:cNvSpPr txBox="1">
              <a:spLocks noChangeArrowheads="1"/>
            </p:cNvSpPr>
            <p:nvPr/>
          </p:nvSpPr>
          <p:spPr bwMode="auto">
            <a:xfrm>
              <a:off x="1200" y="2928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Thanh</a:t>
              </a:r>
            </a:p>
          </p:txBody>
        </p:sp>
        <p:sp>
          <p:nvSpPr>
            <p:cNvPr id="731214" name="Text Box 78"/>
            <p:cNvSpPr txBox="1">
              <a:spLocks noChangeArrowheads="1"/>
            </p:cNvSpPr>
            <p:nvPr/>
          </p:nvSpPr>
          <p:spPr bwMode="auto">
            <a:xfrm>
              <a:off x="1200" y="3120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Ngoc</a:t>
              </a:r>
            </a:p>
          </p:txBody>
        </p:sp>
        <p:sp>
          <p:nvSpPr>
            <p:cNvPr id="731215" name="Text Box 79"/>
            <p:cNvSpPr txBox="1">
              <a:spLocks noChangeArrowheads="1"/>
            </p:cNvSpPr>
            <p:nvPr/>
          </p:nvSpPr>
          <p:spPr bwMode="auto">
            <a:xfrm>
              <a:off x="1728" y="3312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Nhu</a:t>
              </a:r>
            </a:p>
          </p:txBody>
        </p:sp>
        <p:sp>
          <p:nvSpPr>
            <p:cNvPr id="731216" name="Text Box 80"/>
            <p:cNvSpPr txBox="1">
              <a:spLocks noChangeArrowheads="1"/>
            </p:cNvSpPr>
            <p:nvPr/>
          </p:nvSpPr>
          <p:spPr bwMode="auto">
            <a:xfrm>
              <a:off x="672" y="3312"/>
              <a:ext cx="576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Le</a:t>
              </a:r>
            </a:p>
          </p:txBody>
        </p:sp>
        <p:sp>
          <p:nvSpPr>
            <p:cNvPr id="731217" name="Text Box 81"/>
            <p:cNvSpPr txBox="1">
              <a:spLocks noChangeArrowheads="1"/>
            </p:cNvSpPr>
            <p:nvPr/>
          </p:nvSpPr>
          <p:spPr bwMode="auto">
            <a:xfrm>
              <a:off x="2256" y="3312"/>
              <a:ext cx="72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07620/1951</a:t>
              </a:r>
            </a:p>
          </p:txBody>
        </p:sp>
        <p:sp>
          <p:nvSpPr>
            <p:cNvPr id="731218" name="Text Box 82"/>
            <p:cNvSpPr txBox="1">
              <a:spLocks noChangeArrowheads="1"/>
            </p:cNvSpPr>
            <p:nvPr/>
          </p:nvSpPr>
          <p:spPr bwMode="auto">
            <a:xfrm>
              <a:off x="2976" y="3312"/>
              <a:ext cx="72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219 TD Q3</a:t>
              </a:r>
            </a:p>
          </p:txBody>
        </p:sp>
        <p:sp>
          <p:nvSpPr>
            <p:cNvPr id="731219" name="Text Box 83"/>
            <p:cNvSpPr txBox="1">
              <a:spLocks noChangeArrowheads="1"/>
            </p:cNvSpPr>
            <p:nvPr/>
          </p:nvSpPr>
          <p:spPr bwMode="auto">
            <a:xfrm>
              <a:off x="3696" y="3312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Nu</a:t>
              </a:r>
            </a:p>
          </p:txBody>
        </p:sp>
        <p:sp>
          <p:nvSpPr>
            <p:cNvPr id="731220" name="Text Box 84"/>
            <p:cNvSpPr txBox="1">
              <a:spLocks noChangeArrowheads="1"/>
            </p:cNvSpPr>
            <p:nvPr/>
          </p:nvSpPr>
          <p:spPr bwMode="auto">
            <a:xfrm>
              <a:off x="4128" y="3312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43000</a:t>
              </a:r>
            </a:p>
          </p:txBody>
        </p:sp>
        <p:sp>
          <p:nvSpPr>
            <p:cNvPr id="731221" name="Text Box 85"/>
            <p:cNvSpPr txBox="1">
              <a:spLocks noChangeArrowheads="1"/>
            </p:cNvSpPr>
            <p:nvPr/>
          </p:nvSpPr>
          <p:spPr bwMode="auto">
            <a:xfrm>
              <a:off x="5328" y="3312"/>
              <a:ext cx="384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4</a:t>
              </a:r>
            </a:p>
          </p:txBody>
        </p:sp>
        <p:sp>
          <p:nvSpPr>
            <p:cNvPr id="731222" name="Text Box 86"/>
            <p:cNvSpPr txBox="1">
              <a:spLocks noChangeArrowheads="1"/>
            </p:cNvSpPr>
            <p:nvPr/>
          </p:nvSpPr>
          <p:spPr bwMode="auto">
            <a:xfrm>
              <a:off x="48" y="3312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987654321</a:t>
              </a:r>
            </a:p>
          </p:txBody>
        </p:sp>
        <p:sp>
          <p:nvSpPr>
            <p:cNvPr id="731223" name="Text Box 87"/>
            <p:cNvSpPr txBox="1">
              <a:spLocks noChangeArrowheads="1"/>
            </p:cNvSpPr>
            <p:nvPr/>
          </p:nvSpPr>
          <p:spPr bwMode="auto">
            <a:xfrm>
              <a:off x="4656" y="3312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888665555</a:t>
              </a:r>
            </a:p>
          </p:txBody>
        </p:sp>
        <p:sp>
          <p:nvSpPr>
            <p:cNvPr id="731224" name="Text Box 88"/>
            <p:cNvSpPr txBox="1">
              <a:spLocks noChangeArrowheads="1"/>
            </p:cNvSpPr>
            <p:nvPr/>
          </p:nvSpPr>
          <p:spPr bwMode="auto">
            <a:xfrm>
              <a:off x="1200" y="3312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Quynh</a:t>
              </a:r>
            </a:p>
          </p:txBody>
        </p:sp>
        <p:sp>
          <p:nvSpPr>
            <p:cNvPr id="731225" name="Text Box 89"/>
            <p:cNvSpPr txBox="1">
              <a:spLocks noChangeArrowheads="1"/>
            </p:cNvSpPr>
            <p:nvPr/>
          </p:nvSpPr>
          <p:spPr bwMode="auto">
            <a:xfrm>
              <a:off x="1728" y="3504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Quang</a:t>
              </a:r>
            </a:p>
          </p:txBody>
        </p:sp>
        <p:sp>
          <p:nvSpPr>
            <p:cNvPr id="731226" name="Text Box 90"/>
            <p:cNvSpPr txBox="1">
              <a:spLocks noChangeArrowheads="1"/>
            </p:cNvSpPr>
            <p:nvPr/>
          </p:nvSpPr>
          <p:spPr bwMode="auto">
            <a:xfrm>
              <a:off x="672" y="3504"/>
              <a:ext cx="576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Tran</a:t>
              </a:r>
            </a:p>
          </p:txBody>
        </p:sp>
        <p:sp>
          <p:nvSpPr>
            <p:cNvPr id="731227" name="Text Box 91"/>
            <p:cNvSpPr txBox="1">
              <a:spLocks noChangeArrowheads="1"/>
            </p:cNvSpPr>
            <p:nvPr/>
          </p:nvSpPr>
          <p:spPr bwMode="auto">
            <a:xfrm>
              <a:off x="2256" y="3504"/>
              <a:ext cx="72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04/08/1969</a:t>
              </a:r>
            </a:p>
          </p:txBody>
        </p:sp>
        <p:sp>
          <p:nvSpPr>
            <p:cNvPr id="731228" name="Text Box 92"/>
            <p:cNvSpPr txBox="1">
              <a:spLocks noChangeArrowheads="1"/>
            </p:cNvSpPr>
            <p:nvPr/>
          </p:nvSpPr>
          <p:spPr bwMode="auto">
            <a:xfrm>
              <a:off x="2976" y="3504"/>
              <a:ext cx="72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980 LHP Q5</a:t>
              </a:r>
            </a:p>
          </p:txBody>
        </p:sp>
        <p:sp>
          <p:nvSpPr>
            <p:cNvPr id="731229" name="Text Box 93"/>
            <p:cNvSpPr txBox="1">
              <a:spLocks noChangeArrowheads="1"/>
            </p:cNvSpPr>
            <p:nvPr/>
          </p:nvSpPr>
          <p:spPr bwMode="auto">
            <a:xfrm>
              <a:off x="3696" y="3504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Nam</a:t>
              </a:r>
            </a:p>
          </p:txBody>
        </p:sp>
        <p:sp>
          <p:nvSpPr>
            <p:cNvPr id="731230" name="Text Box 94"/>
            <p:cNvSpPr txBox="1">
              <a:spLocks noChangeArrowheads="1"/>
            </p:cNvSpPr>
            <p:nvPr/>
          </p:nvSpPr>
          <p:spPr bwMode="auto">
            <a:xfrm>
              <a:off x="4128" y="3504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25000</a:t>
              </a:r>
            </a:p>
          </p:txBody>
        </p:sp>
        <p:sp>
          <p:nvSpPr>
            <p:cNvPr id="731231" name="Text Box 95"/>
            <p:cNvSpPr txBox="1">
              <a:spLocks noChangeArrowheads="1"/>
            </p:cNvSpPr>
            <p:nvPr/>
          </p:nvSpPr>
          <p:spPr bwMode="auto">
            <a:xfrm>
              <a:off x="5328" y="3504"/>
              <a:ext cx="384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4</a:t>
              </a:r>
            </a:p>
          </p:txBody>
        </p:sp>
        <p:sp>
          <p:nvSpPr>
            <p:cNvPr id="731232" name="Text Box 96"/>
            <p:cNvSpPr txBox="1">
              <a:spLocks noChangeArrowheads="1"/>
            </p:cNvSpPr>
            <p:nvPr/>
          </p:nvSpPr>
          <p:spPr bwMode="auto">
            <a:xfrm>
              <a:off x="1728" y="3696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Vinh</a:t>
              </a:r>
            </a:p>
          </p:txBody>
        </p:sp>
        <p:sp>
          <p:nvSpPr>
            <p:cNvPr id="731233" name="Text Box 97"/>
            <p:cNvSpPr txBox="1">
              <a:spLocks noChangeArrowheads="1"/>
            </p:cNvSpPr>
            <p:nvPr/>
          </p:nvSpPr>
          <p:spPr bwMode="auto">
            <a:xfrm>
              <a:off x="672" y="3696"/>
              <a:ext cx="576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Pham</a:t>
              </a:r>
            </a:p>
          </p:txBody>
        </p:sp>
        <p:sp>
          <p:nvSpPr>
            <p:cNvPr id="731234" name="Text Box 98"/>
            <p:cNvSpPr txBox="1">
              <a:spLocks noChangeArrowheads="1"/>
            </p:cNvSpPr>
            <p:nvPr/>
          </p:nvSpPr>
          <p:spPr bwMode="auto">
            <a:xfrm>
              <a:off x="2256" y="3696"/>
              <a:ext cx="72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11/10/1945</a:t>
              </a:r>
            </a:p>
          </p:txBody>
        </p:sp>
        <p:sp>
          <p:nvSpPr>
            <p:cNvPr id="731235" name="Text Box 99"/>
            <p:cNvSpPr txBox="1">
              <a:spLocks noChangeArrowheads="1"/>
            </p:cNvSpPr>
            <p:nvPr/>
          </p:nvSpPr>
          <p:spPr bwMode="auto">
            <a:xfrm>
              <a:off x="2976" y="3696"/>
              <a:ext cx="72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450 TV HN</a:t>
              </a:r>
            </a:p>
          </p:txBody>
        </p:sp>
        <p:sp>
          <p:nvSpPr>
            <p:cNvPr id="731236" name="Text Box 100"/>
            <p:cNvSpPr txBox="1">
              <a:spLocks noChangeArrowheads="1"/>
            </p:cNvSpPr>
            <p:nvPr/>
          </p:nvSpPr>
          <p:spPr bwMode="auto">
            <a:xfrm>
              <a:off x="3696" y="3696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Nam</a:t>
              </a:r>
            </a:p>
          </p:txBody>
        </p:sp>
        <p:sp>
          <p:nvSpPr>
            <p:cNvPr id="731237" name="Text Box 101"/>
            <p:cNvSpPr txBox="1">
              <a:spLocks noChangeArrowheads="1"/>
            </p:cNvSpPr>
            <p:nvPr/>
          </p:nvSpPr>
          <p:spPr bwMode="auto">
            <a:xfrm>
              <a:off x="4128" y="3696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55000</a:t>
              </a:r>
            </a:p>
          </p:txBody>
        </p:sp>
        <p:sp>
          <p:nvSpPr>
            <p:cNvPr id="731238" name="Text Box 102"/>
            <p:cNvSpPr txBox="1">
              <a:spLocks noChangeArrowheads="1"/>
            </p:cNvSpPr>
            <p:nvPr/>
          </p:nvSpPr>
          <p:spPr bwMode="auto">
            <a:xfrm>
              <a:off x="5328" y="3696"/>
              <a:ext cx="384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1</a:t>
              </a:r>
            </a:p>
          </p:txBody>
        </p:sp>
        <p:sp>
          <p:nvSpPr>
            <p:cNvPr id="731239" name="Text Box 103"/>
            <p:cNvSpPr txBox="1">
              <a:spLocks noChangeArrowheads="1"/>
            </p:cNvSpPr>
            <p:nvPr/>
          </p:nvSpPr>
          <p:spPr bwMode="auto">
            <a:xfrm>
              <a:off x="48" y="3504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987987987</a:t>
              </a:r>
            </a:p>
          </p:txBody>
        </p:sp>
        <p:sp>
          <p:nvSpPr>
            <p:cNvPr id="731240" name="Text Box 104"/>
            <p:cNvSpPr txBox="1">
              <a:spLocks noChangeArrowheads="1"/>
            </p:cNvSpPr>
            <p:nvPr/>
          </p:nvSpPr>
          <p:spPr bwMode="auto">
            <a:xfrm>
              <a:off x="48" y="3696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888665555</a:t>
              </a:r>
            </a:p>
          </p:txBody>
        </p:sp>
        <p:sp>
          <p:nvSpPr>
            <p:cNvPr id="731241" name="Text Box 105"/>
            <p:cNvSpPr txBox="1">
              <a:spLocks noChangeArrowheads="1"/>
            </p:cNvSpPr>
            <p:nvPr/>
          </p:nvSpPr>
          <p:spPr bwMode="auto">
            <a:xfrm>
              <a:off x="4656" y="3504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987654321</a:t>
              </a:r>
            </a:p>
          </p:txBody>
        </p:sp>
        <p:sp>
          <p:nvSpPr>
            <p:cNvPr id="731242" name="Text Box 106"/>
            <p:cNvSpPr txBox="1">
              <a:spLocks noChangeArrowheads="1"/>
            </p:cNvSpPr>
            <p:nvPr/>
          </p:nvSpPr>
          <p:spPr bwMode="auto">
            <a:xfrm>
              <a:off x="4656" y="3696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NULL</a:t>
              </a:r>
            </a:p>
          </p:txBody>
        </p:sp>
        <p:sp>
          <p:nvSpPr>
            <p:cNvPr id="731243" name="Text Box 107"/>
            <p:cNvSpPr txBox="1">
              <a:spLocks noChangeArrowheads="1"/>
            </p:cNvSpPr>
            <p:nvPr/>
          </p:nvSpPr>
          <p:spPr bwMode="auto">
            <a:xfrm>
              <a:off x="1200" y="3504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Hong</a:t>
              </a:r>
            </a:p>
          </p:txBody>
        </p:sp>
        <p:sp>
          <p:nvSpPr>
            <p:cNvPr id="731244" name="Text Box 108"/>
            <p:cNvSpPr txBox="1">
              <a:spLocks noChangeArrowheads="1"/>
            </p:cNvSpPr>
            <p:nvPr/>
          </p:nvSpPr>
          <p:spPr bwMode="auto">
            <a:xfrm>
              <a:off x="1200" y="3696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Van</a:t>
              </a:r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99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0193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1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1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31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31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31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31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1246" grpId="0" animBg="1"/>
      <p:bldP spid="731247" grpId="0" animBg="1"/>
      <p:bldP spid="731248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/>
              <a:t>d) </a:t>
            </a:r>
            <a:r>
              <a:rPr lang="en-US" sz="3500" b="1" dirty="0" err="1"/>
              <a:t>Gom</a:t>
            </a:r>
            <a:r>
              <a:rPr lang="en-US" sz="3500" b="1" dirty="0"/>
              <a:t> </a:t>
            </a:r>
            <a:r>
              <a:rPr lang="en-US" sz="3500" b="1" dirty="0" err="1"/>
              <a:t>nhóm</a:t>
            </a:r>
            <a:endParaRPr lang="en-US" sz="3500" b="1" dirty="0"/>
          </a:p>
        </p:txBody>
      </p:sp>
      <p:sp>
        <p:nvSpPr>
          <p:cNvPr id="72909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r>
              <a:rPr lang="en-US" dirty="0" err="1"/>
              <a:t>Cú</a:t>
            </a:r>
            <a:r>
              <a:rPr lang="en-US" dirty="0"/>
              <a:t> </a:t>
            </a:r>
            <a:r>
              <a:rPr lang="en-US" dirty="0" err="1"/>
              <a:t>pháp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29092" name="Rectangle 4"/>
          <p:cNvSpPr>
            <a:spLocks noChangeArrowheads="1"/>
          </p:cNvSpPr>
          <p:nvPr/>
        </p:nvSpPr>
        <p:spPr bwMode="auto">
          <a:xfrm>
            <a:off x="1371600" y="2268537"/>
            <a:ext cx="4953000" cy="1617663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l"/>
            <a:r>
              <a:rPr lang="en-US" b="1"/>
              <a:t>SELECT</a:t>
            </a:r>
            <a:r>
              <a:rPr lang="en-US"/>
              <a:t> &lt;danh sách các cột&gt;</a:t>
            </a:r>
          </a:p>
          <a:p>
            <a:pPr algn="l"/>
            <a:r>
              <a:rPr lang="en-US" b="1"/>
              <a:t>FROM</a:t>
            </a:r>
            <a:r>
              <a:rPr lang="en-US"/>
              <a:t> &lt;danh sách các bảng&gt;</a:t>
            </a:r>
          </a:p>
          <a:p>
            <a:pPr algn="l"/>
            <a:r>
              <a:rPr lang="en-US" b="1"/>
              <a:t>WHERE</a:t>
            </a:r>
            <a:r>
              <a:rPr lang="en-US"/>
              <a:t> &lt;điều kiện&gt;</a:t>
            </a:r>
          </a:p>
          <a:p>
            <a:pPr algn="l"/>
            <a:r>
              <a:rPr lang="en-US" b="1"/>
              <a:t>GROUP BY</a:t>
            </a:r>
            <a:r>
              <a:rPr lang="en-US"/>
              <a:t> &lt;danh sách các cột gom nhóm&gt;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100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78646831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101</a:t>
            </a:fld>
            <a:endParaRPr lang="en-US" altLang="en-US"/>
          </a:p>
        </p:txBody>
      </p:sp>
      <p:pic>
        <p:nvPicPr>
          <p:cNvPr id="9" name="Picture 8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408" y="609600"/>
            <a:ext cx="7562192" cy="5534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893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>
            <a:normAutofit/>
          </a:bodyPr>
          <a:lstStyle/>
          <a:p>
            <a:r>
              <a:rPr lang="en-US" sz="3200" b="1" dirty="0" err="1"/>
              <a:t>Ví</a:t>
            </a:r>
            <a:r>
              <a:rPr lang="en-US" sz="3200" b="1" dirty="0"/>
              <a:t> </a:t>
            </a:r>
            <a:r>
              <a:rPr lang="en-US" sz="3200" b="1" dirty="0" err="1"/>
              <a:t>dụ</a:t>
            </a:r>
            <a:r>
              <a:rPr lang="en-US" sz="3200" b="1" dirty="0"/>
              <a:t> 16 </a:t>
            </a:r>
          </a:p>
        </p:txBody>
      </p:sp>
      <p:sp>
        <p:nvSpPr>
          <p:cNvPr id="73318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76400"/>
            <a:ext cx="8382000" cy="4648200"/>
          </a:xfrm>
        </p:spPr>
        <p:txBody>
          <a:bodyPr/>
          <a:lstStyle/>
          <a:p>
            <a:r>
              <a:rPr lang="en-US" sz="2800" dirty="0"/>
              <a:t>Cho </a:t>
            </a:r>
            <a:r>
              <a:rPr lang="en-US" sz="2800" dirty="0" err="1"/>
              <a:t>biết</a:t>
            </a:r>
            <a:r>
              <a:rPr lang="en-US" sz="2800" dirty="0"/>
              <a:t> </a:t>
            </a:r>
            <a:r>
              <a:rPr lang="en-US" sz="2800" dirty="0" err="1"/>
              <a:t>số</a:t>
            </a:r>
            <a:r>
              <a:rPr lang="en-US" sz="2800" dirty="0"/>
              <a:t> </a:t>
            </a:r>
            <a:r>
              <a:rPr lang="en-US" sz="2800" dirty="0" err="1"/>
              <a:t>lượng</a:t>
            </a:r>
            <a:r>
              <a:rPr lang="en-US" sz="2800" dirty="0"/>
              <a:t> </a:t>
            </a:r>
            <a:r>
              <a:rPr lang="en-US" sz="2800" dirty="0" err="1"/>
              <a:t>nhân</a:t>
            </a:r>
            <a:r>
              <a:rPr lang="en-US" sz="2800" dirty="0"/>
              <a:t> </a:t>
            </a:r>
            <a:r>
              <a:rPr lang="en-US" sz="2800" dirty="0" err="1"/>
              <a:t>viên</a:t>
            </a:r>
            <a:r>
              <a:rPr lang="en-US" sz="2800" dirty="0"/>
              <a:t> </a:t>
            </a:r>
            <a:r>
              <a:rPr lang="en-US" sz="2800" dirty="0" err="1"/>
              <a:t>của</a:t>
            </a:r>
            <a:r>
              <a:rPr lang="en-US" sz="2800" dirty="0"/>
              <a:t> </a:t>
            </a:r>
            <a:r>
              <a:rPr lang="en-US" sz="2800" dirty="0" err="1"/>
              <a:t>từng</a:t>
            </a:r>
            <a:r>
              <a:rPr lang="en-US" sz="2800" dirty="0"/>
              <a:t> </a:t>
            </a:r>
            <a:r>
              <a:rPr lang="en-US" sz="2800" dirty="0" err="1"/>
              <a:t>phòng</a:t>
            </a:r>
            <a:r>
              <a:rPr lang="en-US" sz="2800" dirty="0"/>
              <a:t> ban</a:t>
            </a:r>
            <a:endParaRPr lang="en-US" dirty="0"/>
          </a:p>
        </p:txBody>
      </p:sp>
      <p:sp>
        <p:nvSpPr>
          <p:cNvPr id="733188" name="Text Box 4"/>
          <p:cNvSpPr txBox="1">
            <a:spLocks noChangeArrowheads="1"/>
          </p:cNvSpPr>
          <p:nvPr/>
        </p:nvSpPr>
        <p:spPr bwMode="auto">
          <a:xfrm>
            <a:off x="1905000" y="2362200"/>
            <a:ext cx="4419600" cy="11922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dirty="0">
                <a:solidFill>
                  <a:srgbClr val="0000CC"/>
                </a:solidFill>
              </a:rPr>
              <a:t>SELECT</a:t>
            </a:r>
            <a:r>
              <a:rPr lang="en-US" dirty="0"/>
              <a:t> PHONG, </a:t>
            </a:r>
            <a:r>
              <a:rPr lang="en-US" dirty="0">
                <a:solidFill>
                  <a:srgbClr val="FF3399"/>
                </a:solidFill>
              </a:rPr>
              <a:t>COUNT</a:t>
            </a:r>
            <a:r>
              <a:rPr lang="en-US" dirty="0"/>
              <a:t>(*) </a:t>
            </a:r>
            <a:r>
              <a:rPr lang="en-US" dirty="0">
                <a:solidFill>
                  <a:srgbClr val="0000CC"/>
                </a:solidFill>
              </a:rPr>
              <a:t>AS</a:t>
            </a:r>
            <a:r>
              <a:rPr lang="en-US" dirty="0"/>
              <a:t> SL_NV</a:t>
            </a:r>
          </a:p>
          <a:p>
            <a:pPr algn="l"/>
            <a:r>
              <a:rPr lang="en-US" dirty="0">
                <a:solidFill>
                  <a:srgbClr val="0000CC"/>
                </a:solidFill>
              </a:rPr>
              <a:t>FROM</a:t>
            </a:r>
            <a:r>
              <a:rPr lang="en-US" dirty="0"/>
              <a:t> NHANVIEN</a:t>
            </a:r>
          </a:p>
          <a:p>
            <a:pPr algn="l"/>
            <a:r>
              <a:rPr lang="en-US" dirty="0">
                <a:solidFill>
                  <a:srgbClr val="0000CC"/>
                </a:solidFill>
              </a:rPr>
              <a:t>GROUP BY</a:t>
            </a:r>
            <a:r>
              <a:rPr lang="en-US" dirty="0"/>
              <a:t> PHONG</a:t>
            </a:r>
            <a:endParaRPr lang="en-US" dirty="0">
              <a:solidFill>
                <a:srgbClr val="CC0000"/>
              </a:solidFill>
            </a:endParaRPr>
          </a:p>
        </p:txBody>
      </p:sp>
      <p:sp>
        <p:nvSpPr>
          <p:cNvPr id="733190" name="Text Box 6"/>
          <p:cNvSpPr txBox="1">
            <a:spLocks noChangeArrowheads="1"/>
          </p:cNvSpPr>
          <p:nvPr/>
        </p:nvSpPr>
        <p:spPr bwMode="auto">
          <a:xfrm>
            <a:off x="1905000" y="4267200"/>
            <a:ext cx="4419600" cy="160496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dirty="0">
                <a:solidFill>
                  <a:srgbClr val="0000CC"/>
                </a:solidFill>
              </a:rPr>
              <a:t>SELECT</a:t>
            </a:r>
            <a:r>
              <a:rPr lang="en-US" dirty="0"/>
              <a:t> TENPHG, </a:t>
            </a:r>
            <a:r>
              <a:rPr lang="en-US" dirty="0">
                <a:solidFill>
                  <a:srgbClr val="FF3399"/>
                </a:solidFill>
              </a:rPr>
              <a:t>COUNT</a:t>
            </a:r>
            <a:r>
              <a:rPr lang="en-US" dirty="0"/>
              <a:t>(*) </a:t>
            </a:r>
            <a:r>
              <a:rPr lang="en-US" dirty="0">
                <a:solidFill>
                  <a:srgbClr val="0000CC"/>
                </a:solidFill>
              </a:rPr>
              <a:t>AS</a:t>
            </a:r>
            <a:r>
              <a:rPr lang="en-US" dirty="0"/>
              <a:t> SL_NV</a:t>
            </a:r>
          </a:p>
          <a:p>
            <a:pPr algn="l"/>
            <a:r>
              <a:rPr lang="en-US" dirty="0">
                <a:solidFill>
                  <a:srgbClr val="0000CC"/>
                </a:solidFill>
              </a:rPr>
              <a:t>FROM</a:t>
            </a:r>
            <a:r>
              <a:rPr lang="en-US" dirty="0"/>
              <a:t> NHANVIEN, PHONGBAN</a:t>
            </a:r>
          </a:p>
          <a:p>
            <a:pPr algn="l"/>
            <a:r>
              <a:rPr lang="en-US" dirty="0">
                <a:solidFill>
                  <a:srgbClr val="0000CC"/>
                </a:solidFill>
              </a:rPr>
              <a:t>WHERE</a:t>
            </a:r>
            <a:r>
              <a:rPr lang="en-US" dirty="0"/>
              <a:t> PHONG=MAPHG</a:t>
            </a:r>
          </a:p>
          <a:p>
            <a:pPr algn="l"/>
            <a:r>
              <a:rPr lang="en-US" dirty="0">
                <a:solidFill>
                  <a:srgbClr val="0000CC"/>
                </a:solidFill>
              </a:rPr>
              <a:t>GROUP BY</a:t>
            </a:r>
            <a:r>
              <a:rPr lang="en-US" dirty="0"/>
              <a:t> TENPHG</a:t>
            </a:r>
            <a:endParaRPr lang="en-US" dirty="0">
              <a:solidFill>
                <a:srgbClr val="CC0000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102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4501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3188" grpId="0"/>
      <p:bldP spid="733190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3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>
            <a:normAutofit/>
          </a:bodyPr>
          <a:lstStyle/>
          <a:p>
            <a:r>
              <a:rPr lang="en-US" sz="3200" b="1" dirty="0" err="1"/>
              <a:t>Ví</a:t>
            </a:r>
            <a:r>
              <a:rPr lang="en-US" sz="3200" b="1" dirty="0"/>
              <a:t> </a:t>
            </a:r>
            <a:r>
              <a:rPr lang="en-US" sz="3200" b="1" dirty="0" err="1"/>
              <a:t>dụ</a:t>
            </a:r>
            <a:r>
              <a:rPr lang="en-US" sz="3200" b="1" dirty="0"/>
              <a:t> 17</a:t>
            </a:r>
          </a:p>
        </p:txBody>
      </p:sp>
      <p:sp>
        <p:nvSpPr>
          <p:cNvPr id="73933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447800"/>
            <a:ext cx="8229600" cy="4876800"/>
          </a:xfrm>
        </p:spPr>
        <p:txBody>
          <a:bodyPr/>
          <a:lstStyle/>
          <a:p>
            <a:pPr algn="just"/>
            <a:r>
              <a:rPr lang="en-US" sz="2800" dirty="0" err="1"/>
              <a:t>Với</a:t>
            </a:r>
            <a:r>
              <a:rPr lang="en-US" sz="2800" dirty="0"/>
              <a:t> </a:t>
            </a:r>
            <a:r>
              <a:rPr lang="en-US" sz="2800" dirty="0" err="1"/>
              <a:t>mỗi</a:t>
            </a:r>
            <a:r>
              <a:rPr lang="en-US" sz="2800" dirty="0"/>
              <a:t> </a:t>
            </a:r>
            <a:r>
              <a:rPr lang="en-US" sz="2800" dirty="0" err="1"/>
              <a:t>nhân</a:t>
            </a:r>
            <a:r>
              <a:rPr lang="en-US" sz="2800" dirty="0"/>
              <a:t> </a:t>
            </a:r>
            <a:r>
              <a:rPr lang="en-US" sz="2800" dirty="0" err="1"/>
              <a:t>viên</a:t>
            </a:r>
            <a:r>
              <a:rPr lang="en-US" sz="2800" dirty="0"/>
              <a:t> </a:t>
            </a:r>
            <a:r>
              <a:rPr lang="en-US" sz="2800" dirty="0" err="1"/>
              <a:t>cho</a:t>
            </a:r>
            <a:r>
              <a:rPr lang="en-US" sz="2800" dirty="0"/>
              <a:t> </a:t>
            </a:r>
            <a:r>
              <a:rPr lang="en-US" sz="2800" dirty="0" err="1"/>
              <a:t>biết</a:t>
            </a:r>
            <a:r>
              <a:rPr lang="en-US" sz="2800" dirty="0"/>
              <a:t> </a:t>
            </a:r>
            <a:r>
              <a:rPr lang="en-US" sz="2800" dirty="0" err="1"/>
              <a:t>mã</a:t>
            </a:r>
            <a:r>
              <a:rPr lang="en-US" sz="2800" dirty="0"/>
              <a:t> </a:t>
            </a:r>
            <a:r>
              <a:rPr lang="en-US" sz="2800" dirty="0" err="1"/>
              <a:t>số</a:t>
            </a:r>
            <a:r>
              <a:rPr lang="en-US" sz="2800" dirty="0"/>
              <a:t>, </a:t>
            </a:r>
            <a:r>
              <a:rPr lang="en-US" sz="2800" dirty="0" err="1"/>
              <a:t>họ</a:t>
            </a:r>
            <a:r>
              <a:rPr lang="en-US" sz="2800" dirty="0"/>
              <a:t> </a:t>
            </a:r>
            <a:r>
              <a:rPr lang="en-US" sz="2800" dirty="0" err="1"/>
              <a:t>tên</a:t>
            </a:r>
            <a:r>
              <a:rPr lang="en-US" sz="2800" dirty="0"/>
              <a:t>, </a:t>
            </a:r>
            <a:r>
              <a:rPr lang="en-US" sz="2800" dirty="0" err="1"/>
              <a:t>số</a:t>
            </a:r>
            <a:r>
              <a:rPr lang="en-US" sz="2800" dirty="0"/>
              <a:t> </a:t>
            </a:r>
            <a:r>
              <a:rPr lang="en-US" sz="2800" dirty="0" err="1"/>
              <a:t>lượng</a:t>
            </a:r>
            <a:r>
              <a:rPr lang="en-US" sz="2800" dirty="0"/>
              <a:t> </a:t>
            </a:r>
            <a:r>
              <a:rPr lang="en-US" sz="2800" dirty="0" err="1"/>
              <a:t>đề</a:t>
            </a:r>
            <a:r>
              <a:rPr lang="en-US" sz="2800" dirty="0"/>
              <a:t> </a:t>
            </a:r>
            <a:r>
              <a:rPr lang="en-US" sz="2800" dirty="0" err="1"/>
              <a:t>án</a:t>
            </a:r>
            <a:r>
              <a:rPr lang="en-US" sz="2800" dirty="0"/>
              <a:t> </a:t>
            </a:r>
            <a:r>
              <a:rPr lang="en-US" sz="2800" dirty="0" err="1"/>
              <a:t>và</a:t>
            </a:r>
            <a:r>
              <a:rPr lang="en-US" sz="2800" dirty="0"/>
              <a:t> </a:t>
            </a:r>
            <a:r>
              <a:rPr lang="en-US" sz="2800" dirty="0" err="1"/>
              <a:t>tổng</a:t>
            </a:r>
            <a:r>
              <a:rPr lang="en-US" sz="2800" dirty="0"/>
              <a:t> </a:t>
            </a:r>
            <a:r>
              <a:rPr lang="en-US" sz="2800" dirty="0" err="1"/>
              <a:t>thời</a:t>
            </a:r>
            <a:r>
              <a:rPr lang="en-US" sz="2800" dirty="0"/>
              <a:t> </a:t>
            </a:r>
            <a:r>
              <a:rPr lang="en-US" sz="2800" dirty="0" err="1"/>
              <a:t>gian</a:t>
            </a:r>
            <a:r>
              <a:rPr lang="en-US" sz="2800" dirty="0"/>
              <a:t> </a:t>
            </a:r>
            <a:r>
              <a:rPr lang="en-US" sz="2800" dirty="0" err="1"/>
              <a:t>mà</a:t>
            </a:r>
            <a:r>
              <a:rPr lang="en-US" sz="2800" dirty="0"/>
              <a:t> </a:t>
            </a:r>
            <a:r>
              <a:rPr lang="en-US" sz="2800" dirty="0" err="1"/>
              <a:t>họ</a:t>
            </a:r>
            <a:r>
              <a:rPr lang="en-US" sz="2800" dirty="0"/>
              <a:t> </a:t>
            </a:r>
            <a:r>
              <a:rPr lang="en-US" sz="2800" dirty="0" err="1"/>
              <a:t>tham</a:t>
            </a:r>
            <a:r>
              <a:rPr lang="en-US" sz="2800" dirty="0"/>
              <a:t> </a:t>
            </a:r>
            <a:r>
              <a:rPr lang="en-US" sz="2800" dirty="0" err="1"/>
              <a:t>gia</a:t>
            </a:r>
            <a:endParaRPr lang="en-US" dirty="0"/>
          </a:p>
        </p:txBody>
      </p:sp>
      <p:sp>
        <p:nvSpPr>
          <p:cNvPr id="739380" name="Rectangle 52"/>
          <p:cNvSpPr>
            <a:spLocks noChangeArrowheads="1"/>
          </p:cNvSpPr>
          <p:nvPr/>
        </p:nvSpPr>
        <p:spPr bwMode="auto">
          <a:xfrm>
            <a:off x="2438400" y="5791200"/>
            <a:ext cx="3048000" cy="457200"/>
          </a:xfrm>
          <a:prstGeom prst="rect">
            <a:avLst/>
          </a:prstGeom>
          <a:solidFill>
            <a:srgbClr val="FF99CC">
              <a:alpha val="80000"/>
            </a:srgbClr>
          </a:solidFill>
          <a:ln w="12700" algn="ctr">
            <a:solidFill>
              <a:srgbClr val="FF99CC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39379" name="Rectangle 51"/>
          <p:cNvSpPr>
            <a:spLocks noChangeArrowheads="1"/>
          </p:cNvSpPr>
          <p:nvPr/>
        </p:nvSpPr>
        <p:spPr bwMode="auto">
          <a:xfrm>
            <a:off x="2438400" y="4572000"/>
            <a:ext cx="3048000" cy="457200"/>
          </a:xfrm>
          <a:prstGeom prst="rect">
            <a:avLst/>
          </a:prstGeom>
          <a:solidFill>
            <a:srgbClr val="FF99CC">
              <a:alpha val="80000"/>
            </a:srgbClr>
          </a:solidFill>
          <a:ln w="12700" algn="ctr">
            <a:solidFill>
              <a:srgbClr val="FF99CC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39377" name="Rectangle 49"/>
          <p:cNvSpPr>
            <a:spLocks noChangeArrowheads="1"/>
          </p:cNvSpPr>
          <p:nvPr/>
        </p:nvSpPr>
        <p:spPr bwMode="auto">
          <a:xfrm>
            <a:off x="2438400" y="5181600"/>
            <a:ext cx="3048000" cy="457200"/>
          </a:xfrm>
          <a:prstGeom prst="rect">
            <a:avLst/>
          </a:prstGeom>
          <a:solidFill>
            <a:srgbClr val="99CCFF">
              <a:alpha val="80000"/>
            </a:srgbClr>
          </a:solidFill>
          <a:ln w="12700" algn="ctr">
            <a:solidFill>
              <a:srgbClr val="99CCFF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39376" name="Rectangle 48"/>
          <p:cNvSpPr>
            <a:spLocks noChangeArrowheads="1"/>
          </p:cNvSpPr>
          <p:nvPr/>
        </p:nvSpPr>
        <p:spPr bwMode="auto">
          <a:xfrm>
            <a:off x="2438400" y="4191000"/>
            <a:ext cx="3048000" cy="304800"/>
          </a:xfrm>
          <a:prstGeom prst="rect">
            <a:avLst/>
          </a:prstGeom>
          <a:solidFill>
            <a:srgbClr val="99CCFF">
              <a:alpha val="80000"/>
            </a:srgbClr>
          </a:solidFill>
          <a:ln w="12700" algn="ctr">
            <a:solidFill>
              <a:srgbClr val="99CCFF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39378" name="Rectangle 50"/>
          <p:cNvSpPr>
            <a:spLocks noChangeArrowheads="1"/>
          </p:cNvSpPr>
          <p:nvPr/>
        </p:nvSpPr>
        <p:spPr bwMode="auto">
          <a:xfrm>
            <a:off x="2438400" y="3352800"/>
            <a:ext cx="3048000" cy="762000"/>
          </a:xfrm>
          <a:prstGeom prst="rect">
            <a:avLst/>
          </a:prstGeom>
          <a:solidFill>
            <a:srgbClr val="FF99CC">
              <a:alpha val="80000"/>
            </a:srgbClr>
          </a:solidFill>
          <a:ln w="12700" algn="ctr">
            <a:solidFill>
              <a:srgbClr val="FF99CC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39375" name="Rectangle 47"/>
          <p:cNvSpPr>
            <a:spLocks noChangeArrowheads="1"/>
          </p:cNvSpPr>
          <p:nvPr/>
        </p:nvSpPr>
        <p:spPr bwMode="auto">
          <a:xfrm>
            <a:off x="2438400" y="2743200"/>
            <a:ext cx="3048000" cy="457200"/>
          </a:xfrm>
          <a:prstGeom prst="rect">
            <a:avLst/>
          </a:prstGeom>
          <a:solidFill>
            <a:srgbClr val="99CCFF">
              <a:alpha val="80000"/>
            </a:srgbClr>
          </a:solidFill>
          <a:ln w="12700" algn="ctr">
            <a:solidFill>
              <a:srgbClr val="99CCFF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pSp>
        <p:nvGrpSpPr>
          <p:cNvPr id="739383" name="Group 55"/>
          <p:cNvGrpSpPr>
            <a:grpSpLocks/>
          </p:cNvGrpSpPr>
          <p:nvPr/>
        </p:nvGrpSpPr>
        <p:grpSpPr bwMode="auto">
          <a:xfrm>
            <a:off x="2438400" y="2286000"/>
            <a:ext cx="3048000" cy="4114800"/>
            <a:chOff x="288" y="1488"/>
            <a:chExt cx="1920" cy="2592"/>
          </a:xfrm>
        </p:grpSpPr>
        <p:sp>
          <p:nvSpPr>
            <p:cNvPr id="739332" name="Line 4"/>
            <p:cNvSpPr>
              <a:spLocks noChangeShapeType="1"/>
            </p:cNvSpPr>
            <p:nvPr/>
          </p:nvSpPr>
          <p:spPr bwMode="auto">
            <a:xfrm>
              <a:off x="288" y="1728"/>
              <a:ext cx="19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739333" name="Text Box 5"/>
            <p:cNvSpPr txBox="1">
              <a:spLocks noChangeArrowheads="1"/>
            </p:cNvSpPr>
            <p:nvPr/>
          </p:nvSpPr>
          <p:spPr bwMode="auto">
            <a:xfrm>
              <a:off x="1056" y="1488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SODA</a:t>
              </a:r>
            </a:p>
          </p:txBody>
        </p:sp>
        <p:sp>
          <p:nvSpPr>
            <p:cNvPr id="739334" name="Text Box 6"/>
            <p:cNvSpPr txBox="1">
              <a:spLocks noChangeArrowheads="1"/>
            </p:cNvSpPr>
            <p:nvPr/>
          </p:nvSpPr>
          <p:spPr bwMode="auto">
            <a:xfrm>
              <a:off x="1488" y="1488"/>
              <a:ext cx="72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THOIGIAN</a:t>
              </a:r>
            </a:p>
          </p:txBody>
        </p:sp>
        <p:sp>
          <p:nvSpPr>
            <p:cNvPr id="739335" name="Text Box 7"/>
            <p:cNvSpPr txBox="1">
              <a:spLocks noChangeArrowheads="1"/>
            </p:cNvSpPr>
            <p:nvPr/>
          </p:nvSpPr>
          <p:spPr bwMode="auto">
            <a:xfrm>
              <a:off x="1056" y="1728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1</a:t>
              </a:r>
            </a:p>
          </p:txBody>
        </p:sp>
        <p:sp>
          <p:nvSpPr>
            <p:cNvPr id="739336" name="Text Box 8"/>
            <p:cNvSpPr txBox="1">
              <a:spLocks noChangeArrowheads="1"/>
            </p:cNvSpPr>
            <p:nvPr/>
          </p:nvSpPr>
          <p:spPr bwMode="auto">
            <a:xfrm>
              <a:off x="1536" y="1728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32.5</a:t>
              </a:r>
            </a:p>
          </p:txBody>
        </p:sp>
        <p:sp>
          <p:nvSpPr>
            <p:cNvPr id="739337" name="Text Box 9"/>
            <p:cNvSpPr txBox="1">
              <a:spLocks noChangeArrowheads="1"/>
            </p:cNvSpPr>
            <p:nvPr/>
          </p:nvSpPr>
          <p:spPr bwMode="auto">
            <a:xfrm>
              <a:off x="1056" y="1920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2</a:t>
              </a:r>
            </a:p>
          </p:txBody>
        </p:sp>
        <p:sp>
          <p:nvSpPr>
            <p:cNvPr id="739338" name="Text Box 10"/>
            <p:cNvSpPr txBox="1">
              <a:spLocks noChangeArrowheads="1"/>
            </p:cNvSpPr>
            <p:nvPr/>
          </p:nvSpPr>
          <p:spPr bwMode="auto">
            <a:xfrm>
              <a:off x="1536" y="1920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7.5</a:t>
              </a:r>
            </a:p>
          </p:txBody>
        </p:sp>
        <p:sp>
          <p:nvSpPr>
            <p:cNvPr id="739339" name="Text Box 11"/>
            <p:cNvSpPr txBox="1">
              <a:spLocks noChangeArrowheads="1"/>
            </p:cNvSpPr>
            <p:nvPr/>
          </p:nvSpPr>
          <p:spPr bwMode="auto">
            <a:xfrm>
              <a:off x="384" y="1728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123456789</a:t>
              </a:r>
            </a:p>
          </p:txBody>
        </p:sp>
        <p:sp>
          <p:nvSpPr>
            <p:cNvPr id="739340" name="Text Box 12"/>
            <p:cNvSpPr txBox="1">
              <a:spLocks noChangeArrowheads="1"/>
            </p:cNvSpPr>
            <p:nvPr/>
          </p:nvSpPr>
          <p:spPr bwMode="auto">
            <a:xfrm>
              <a:off x="384" y="1920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123456789</a:t>
              </a:r>
            </a:p>
          </p:txBody>
        </p:sp>
        <p:sp>
          <p:nvSpPr>
            <p:cNvPr id="739341" name="Text Box 13"/>
            <p:cNvSpPr txBox="1">
              <a:spLocks noChangeArrowheads="1"/>
            </p:cNvSpPr>
            <p:nvPr/>
          </p:nvSpPr>
          <p:spPr bwMode="auto">
            <a:xfrm>
              <a:off x="384" y="1488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MA_NVIEN</a:t>
              </a:r>
            </a:p>
          </p:txBody>
        </p:sp>
        <p:grpSp>
          <p:nvGrpSpPr>
            <p:cNvPr id="739342" name="Group 14"/>
            <p:cNvGrpSpPr>
              <a:grpSpLocks/>
            </p:cNvGrpSpPr>
            <p:nvPr/>
          </p:nvGrpSpPr>
          <p:grpSpPr bwMode="auto">
            <a:xfrm>
              <a:off x="1056" y="1488"/>
              <a:ext cx="432" cy="2592"/>
              <a:chOff x="1200" y="1632"/>
              <a:chExt cx="432" cy="1632"/>
            </a:xfrm>
          </p:grpSpPr>
          <p:sp>
            <p:nvSpPr>
              <p:cNvPr id="739343" name="Line 15"/>
              <p:cNvSpPr>
                <a:spLocks noChangeShapeType="1"/>
              </p:cNvSpPr>
              <p:nvPr/>
            </p:nvSpPr>
            <p:spPr bwMode="auto">
              <a:xfrm>
                <a:off x="1632" y="1632"/>
                <a:ext cx="0" cy="16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39344" name="Line 16"/>
              <p:cNvSpPr>
                <a:spLocks noChangeShapeType="1"/>
              </p:cNvSpPr>
              <p:nvPr/>
            </p:nvSpPr>
            <p:spPr bwMode="auto">
              <a:xfrm>
                <a:off x="1200" y="1632"/>
                <a:ext cx="0" cy="16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739345" name="Text Box 17"/>
            <p:cNvSpPr txBox="1">
              <a:spLocks noChangeArrowheads="1"/>
            </p:cNvSpPr>
            <p:nvPr/>
          </p:nvSpPr>
          <p:spPr bwMode="auto">
            <a:xfrm>
              <a:off x="1056" y="2112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2</a:t>
              </a:r>
            </a:p>
          </p:txBody>
        </p:sp>
        <p:sp>
          <p:nvSpPr>
            <p:cNvPr id="739346" name="Text Box 18"/>
            <p:cNvSpPr txBox="1">
              <a:spLocks noChangeArrowheads="1"/>
            </p:cNvSpPr>
            <p:nvPr/>
          </p:nvSpPr>
          <p:spPr bwMode="auto">
            <a:xfrm>
              <a:off x="1536" y="2112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10.0</a:t>
              </a:r>
            </a:p>
          </p:txBody>
        </p:sp>
        <p:sp>
          <p:nvSpPr>
            <p:cNvPr id="739347" name="Text Box 19"/>
            <p:cNvSpPr txBox="1">
              <a:spLocks noChangeArrowheads="1"/>
            </p:cNvSpPr>
            <p:nvPr/>
          </p:nvSpPr>
          <p:spPr bwMode="auto">
            <a:xfrm>
              <a:off x="1056" y="2304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3</a:t>
              </a:r>
            </a:p>
          </p:txBody>
        </p:sp>
        <p:sp>
          <p:nvSpPr>
            <p:cNvPr id="739348" name="Text Box 20"/>
            <p:cNvSpPr txBox="1">
              <a:spLocks noChangeArrowheads="1"/>
            </p:cNvSpPr>
            <p:nvPr/>
          </p:nvSpPr>
          <p:spPr bwMode="auto">
            <a:xfrm>
              <a:off x="1536" y="2304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10.0</a:t>
              </a:r>
            </a:p>
          </p:txBody>
        </p:sp>
        <p:sp>
          <p:nvSpPr>
            <p:cNvPr id="739349" name="Text Box 21"/>
            <p:cNvSpPr txBox="1">
              <a:spLocks noChangeArrowheads="1"/>
            </p:cNvSpPr>
            <p:nvPr/>
          </p:nvSpPr>
          <p:spPr bwMode="auto">
            <a:xfrm>
              <a:off x="384" y="2112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333445555</a:t>
              </a:r>
            </a:p>
          </p:txBody>
        </p:sp>
        <p:sp>
          <p:nvSpPr>
            <p:cNvPr id="739350" name="Text Box 22"/>
            <p:cNvSpPr txBox="1">
              <a:spLocks noChangeArrowheads="1"/>
            </p:cNvSpPr>
            <p:nvPr/>
          </p:nvSpPr>
          <p:spPr bwMode="auto">
            <a:xfrm>
              <a:off x="384" y="2304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333445555</a:t>
              </a:r>
            </a:p>
          </p:txBody>
        </p:sp>
        <p:sp>
          <p:nvSpPr>
            <p:cNvPr id="739351" name="Text Box 23"/>
            <p:cNvSpPr txBox="1">
              <a:spLocks noChangeArrowheads="1"/>
            </p:cNvSpPr>
            <p:nvPr/>
          </p:nvSpPr>
          <p:spPr bwMode="auto">
            <a:xfrm>
              <a:off x="1056" y="2496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10</a:t>
              </a:r>
            </a:p>
          </p:txBody>
        </p:sp>
        <p:sp>
          <p:nvSpPr>
            <p:cNvPr id="739352" name="Text Box 24"/>
            <p:cNvSpPr txBox="1">
              <a:spLocks noChangeArrowheads="1"/>
            </p:cNvSpPr>
            <p:nvPr/>
          </p:nvSpPr>
          <p:spPr bwMode="auto">
            <a:xfrm>
              <a:off x="1536" y="2496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10.0</a:t>
              </a:r>
            </a:p>
          </p:txBody>
        </p:sp>
        <p:sp>
          <p:nvSpPr>
            <p:cNvPr id="739353" name="Text Box 25"/>
            <p:cNvSpPr txBox="1">
              <a:spLocks noChangeArrowheads="1"/>
            </p:cNvSpPr>
            <p:nvPr/>
          </p:nvSpPr>
          <p:spPr bwMode="auto">
            <a:xfrm>
              <a:off x="384" y="2496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333445555</a:t>
              </a:r>
            </a:p>
          </p:txBody>
        </p:sp>
        <p:sp>
          <p:nvSpPr>
            <p:cNvPr id="739354" name="Text Box 26"/>
            <p:cNvSpPr txBox="1">
              <a:spLocks noChangeArrowheads="1"/>
            </p:cNvSpPr>
            <p:nvPr/>
          </p:nvSpPr>
          <p:spPr bwMode="auto">
            <a:xfrm>
              <a:off x="1056" y="2688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20</a:t>
              </a:r>
            </a:p>
          </p:txBody>
        </p:sp>
        <p:sp>
          <p:nvSpPr>
            <p:cNvPr id="739355" name="Text Box 27"/>
            <p:cNvSpPr txBox="1">
              <a:spLocks noChangeArrowheads="1"/>
            </p:cNvSpPr>
            <p:nvPr/>
          </p:nvSpPr>
          <p:spPr bwMode="auto">
            <a:xfrm>
              <a:off x="1536" y="2688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20.0</a:t>
              </a:r>
            </a:p>
          </p:txBody>
        </p:sp>
        <p:sp>
          <p:nvSpPr>
            <p:cNvPr id="739356" name="Text Box 28"/>
            <p:cNvSpPr txBox="1">
              <a:spLocks noChangeArrowheads="1"/>
            </p:cNvSpPr>
            <p:nvPr/>
          </p:nvSpPr>
          <p:spPr bwMode="auto">
            <a:xfrm>
              <a:off x="1056" y="2880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10</a:t>
              </a:r>
            </a:p>
          </p:txBody>
        </p:sp>
        <p:sp>
          <p:nvSpPr>
            <p:cNvPr id="739357" name="Text Box 29"/>
            <p:cNvSpPr txBox="1">
              <a:spLocks noChangeArrowheads="1"/>
            </p:cNvSpPr>
            <p:nvPr/>
          </p:nvSpPr>
          <p:spPr bwMode="auto">
            <a:xfrm>
              <a:off x="1536" y="2880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35.0</a:t>
              </a:r>
            </a:p>
          </p:txBody>
        </p:sp>
        <p:sp>
          <p:nvSpPr>
            <p:cNvPr id="739358" name="Text Box 30"/>
            <p:cNvSpPr txBox="1">
              <a:spLocks noChangeArrowheads="1"/>
            </p:cNvSpPr>
            <p:nvPr/>
          </p:nvSpPr>
          <p:spPr bwMode="auto">
            <a:xfrm>
              <a:off x="384" y="2688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888665555</a:t>
              </a:r>
            </a:p>
          </p:txBody>
        </p:sp>
        <p:sp>
          <p:nvSpPr>
            <p:cNvPr id="739359" name="Text Box 31"/>
            <p:cNvSpPr txBox="1">
              <a:spLocks noChangeArrowheads="1"/>
            </p:cNvSpPr>
            <p:nvPr/>
          </p:nvSpPr>
          <p:spPr bwMode="auto">
            <a:xfrm>
              <a:off x="384" y="2880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987987987</a:t>
              </a:r>
            </a:p>
          </p:txBody>
        </p:sp>
        <p:sp>
          <p:nvSpPr>
            <p:cNvPr id="739360" name="Text Box 32"/>
            <p:cNvSpPr txBox="1">
              <a:spLocks noChangeArrowheads="1"/>
            </p:cNvSpPr>
            <p:nvPr/>
          </p:nvSpPr>
          <p:spPr bwMode="auto">
            <a:xfrm>
              <a:off x="1056" y="3072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30</a:t>
              </a:r>
            </a:p>
          </p:txBody>
        </p:sp>
        <p:sp>
          <p:nvSpPr>
            <p:cNvPr id="739361" name="Text Box 33"/>
            <p:cNvSpPr txBox="1">
              <a:spLocks noChangeArrowheads="1"/>
            </p:cNvSpPr>
            <p:nvPr/>
          </p:nvSpPr>
          <p:spPr bwMode="auto">
            <a:xfrm>
              <a:off x="1536" y="3072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5.0</a:t>
              </a:r>
            </a:p>
          </p:txBody>
        </p:sp>
        <p:sp>
          <p:nvSpPr>
            <p:cNvPr id="739362" name="Text Box 34"/>
            <p:cNvSpPr txBox="1">
              <a:spLocks noChangeArrowheads="1"/>
            </p:cNvSpPr>
            <p:nvPr/>
          </p:nvSpPr>
          <p:spPr bwMode="auto">
            <a:xfrm>
              <a:off x="384" y="3072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987987987</a:t>
              </a:r>
            </a:p>
          </p:txBody>
        </p:sp>
        <p:sp>
          <p:nvSpPr>
            <p:cNvPr id="739363" name="Text Box 35"/>
            <p:cNvSpPr txBox="1">
              <a:spLocks noChangeArrowheads="1"/>
            </p:cNvSpPr>
            <p:nvPr/>
          </p:nvSpPr>
          <p:spPr bwMode="auto">
            <a:xfrm>
              <a:off x="1056" y="3264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30</a:t>
              </a:r>
            </a:p>
          </p:txBody>
        </p:sp>
        <p:sp>
          <p:nvSpPr>
            <p:cNvPr id="739364" name="Text Box 36"/>
            <p:cNvSpPr txBox="1">
              <a:spLocks noChangeArrowheads="1"/>
            </p:cNvSpPr>
            <p:nvPr/>
          </p:nvSpPr>
          <p:spPr bwMode="auto">
            <a:xfrm>
              <a:off x="1536" y="3264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20.0</a:t>
              </a:r>
            </a:p>
          </p:txBody>
        </p:sp>
        <p:sp>
          <p:nvSpPr>
            <p:cNvPr id="739365" name="Text Box 37"/>
            <p:cNvSpPr txBox="1">
              <a:spLocks noChangeArrowheads="1"/>
            </p:cNvSpPr>
            <p:nvPr/>
          </p:nvSpPr>
          <p:spPr bwMode="auto">
            <a:xfrm>
              <a:off x="384" y="3264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987654321</a:t>
              </a:r>
            </a:p>
          </p:txBody>
        </p:sp>
        <p:sp>
          <p:nvSpPr>
            <p:cNvPr id="739366" name="Text Box 38"/>
            <p:cNvSpPr txBox="1">
              <a:spLocks noChangeArrowheads="1"/>
            </p:cNvSpPr>
            <p:nvPr/>
          </p:nvSpPr>
          <p:spPr bwMode="auto">
            <a:xfrm>
              <a:off x="1056" y="3456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20</a:t>
              </a:r>
            </a:p>
          </p:txBody>
        </p:sp>
        <p:sp>
          <p:nvSpPr>
            <p:cNvPr id="739367" name="Text Box 39"/>
            <p:cNvSpPr txBox="1">
              <a:spLocks noChangeArrowheads="1"/>
            </p:cNvSpPr>
            <p:nvPr/>
          </p:nvSpPr>
          <p:spPr bwMode="auto">
            <a:xfrm>
              <a:off x="1536" y="3456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15.0</a:t>
              </a:r>
            </a:p>
          </p:txBody>
        </p:sp>
        <p:sp>
          <p:nvSpPr>
            <p:cNvPr id="739368" name="Text Box 40"/>
            <p:cNvSpPr txBox="1">
              <a:spLocks noChangeArrowheads="1"/>
            </p:cNvSpPr>
            <p:nvPr/>
          </p:nvSpPr>
          <p:spPr bwMode="auto">
            <a:xfrm>
              <a:off x="384" y="3456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987654321</a:t>
              </a:r>
            </a:p>
          </p:txBody>
        </p:sp>
        <p:sp>
          <p:nvSpPr>
            <p:cNvPr id="739369" name="Text Box 41"/>
            <p:cNvSpPr txBox="1">
              <a:spLocks noChangeArrowheads="1"/>
            </p:cNvSpPr>
            <p:nvPr/>
          </p:nvSpPr>
          <p:spPr bwMode="auto">
            <a:xfrm>
              <a:off x="1056" y="3648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1</a:t>
              </a:r>
            </a:p>
          </p:txBody>
        </p:sp>
        <p:sp>
          <p:nvSpPr>
            <p:cNvPr id="739370" name="Text Box 42"/>
            <p:cNvSpPr txBox="1">
              <a:spLocks noChangeArrowheads="1"/>
            </p:cNvSpPr>
            <p:nvPr/>
          </p:nvSpPr>
          <p:spPr bwMode="auto">
            <a:xfrm>
              <a:off x="1536" y="3648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20.0</a:t>
              </a:r>
            </a:p>
          </p:txBody>
        </p:sp>
        <p:sp>
          <p:nvSpPr>
            <p:cNvPr id="739371" name="Text Box 43"/>
            <p:cNvSpPr txBox="1">
              <a:spLocks noChangeArrowheads="1"/>
            </p:cNvSpPr>
            <p:nvPr/>
          </p:nvSpPr>
          <p:spPr bwMode="auto">
            <a:xfrm>
              <a:off x="384" y="3648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453453453</a:t>
              </a:r>
            </a:p>
          </p:txBody>
        </p:sp>
        <p:sp>
          <p:nvSpPr>
            <p:cNvPr id="739372" name="Text Box 44"/>
            <p:cNvSpPr txBox="1">
              <a:spLocks noChangeArrowheads="1"/>
            </p:cNvSpPr>
            <p:nvPr/>
          </p:nvSpPr>
          <p:spPr bwMode="auto">
            <a:xfrm>
              <a:off x="1056" y="3840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2</a:t>
              </a:r>
            </a:p>
          </p:txBody>
        </p:sp>
        <p:sp>
          <p:nvSpPr>
            <p:cNvPr id="739373" name="Text Box 45"/>
            <p:cNvSpPr txBox="1">
              <a:spLocks noChangeArrowheads="1"/>
            </p:cNvSpPr>
            <p:nvPr/>
          </p:nvSpPr>
          <p:spPr bwMode="auto">
            <a:xfrm>
              <a:off x="1536" y="3840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20.0</a:t>
              </a:r>
            </a:p>
          </p:txBody>
        </p:sp>
        <p:sp>
          <p:nvSpPr>
            <p:cNvPr id="739374" name="Text Box 46"/>
            <p:cNvSpPr txBox="1">
              <a:spLocks noChangeArrowheads="1"/>
            </p:cNvSpPr>
            <p:nvPr/>
          </p:nvSpPr>
          <p:spPr bwMode="auto">
            <a:xfrm>
              <a:off x="384" y="3840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453453453</a:t>
              </a:r>
            </a:p>
          </p:txBody>
        </p:sp>
      </p:grpSp>
      <p:sp>
        <p:nvSpPr>
          <p:cNvPr id="739384" name="Text Box 56"/>
          <p:cNvSpPr txBox="1">
            <a:spLocks noChangeArrowheads="1"/>
          </p:cNvSpPr>
          <p:nvPr/>
        </p:nvSpPr>
        <p:spPr bwMode="auto">
          <a:xfrm>
            <a:off x="1828800" y="2390775"/>
            <a:ext cx="5181600" cy="14668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dirty="0">
                <a:solidFill>
                  <a:srgbClr val="0000CC"/>
                </a:solidFill>
              </a:rPr>
              <a:t>SELECT</a:t>
            </a:r>
            <a:r>
              <a:rPr lang="en-US" dirty="0"/>
              <a:t> MA_NVIEN, </a:t>
            </a:r>
            <a:r>
              <a:rPr lang="en-US" dirty="0">
                <a:solidFill>
                  <a:srgbClr val="FF3399"/>
                </a:solidFill>
              </a:rPr>
              <a:t>COUNT</a:t>
            </a:r>
            <a:r>
              <a:rPr lang="en-US" dirty="0"/>
              <a:t>(*) </a:t>
            </a:r>
            <a:r>
              <a:rPr lang="en-US" dirty="0">
                <a:solidFill>
                  <a:srgbClr val="0000CC"/>
                </a:solidFill>
              </a:rPr>
              <a:t>AS</a:t>
            </a:r>
            <a:r>
              <a:rPr lang="en-US" dirty="0"/>
              <a:t> SL_DA, 	</a:t>
            </a:r>
            <a:r>
              <a:rPr lang="en-US" dirty="0">
                <a:solidFill>
                  <a:srgbClr val="FF3399"/>
                </a:solidFill>
              </a:rPr>
              <a:t>SUM</a:t>
            </a:r>
            <a:r>
              <a:rPr lang="en-US" dirty="0"/>
              <a:t>(THOIGIAN) </a:t>
            </a:r>
            <a:r>
              <a:rPr lang="en-US" dirty="0">
                <a:solidFill>
                  <a:srgbClr val="0000CC"/>
                </a:solidFill>
              </a:rPr>
              <a:t>AS</a:t>
            </a:r>
            <a:r>
              <a:rPr lang="en-US" dirty="0"/>
              <a:t> TONG_TG</a:t>
            </a:r>
          </a:p>
          <a:p>
            <a:pPr algn="l"/>
            <a:r>
              <a:rPr lang="en-US" dirty="0">
                <a:solidFill>
                  <a:srgbClr val="0000CC"/>
                </a:solidFill>
              </a:rPr>
              <a:t>FROM</a:t>
            </a:r>
            <a:r>
              <a:rPr lang="en-US" dirty="0"/>
              <a:t> PHANCONG</a:t>
            </a:r>
          </a:p>
          <a:p>
            <a:pPr algn="l"/>
            <a:r>
              <a:rPr lang="en-US" dirty="0">
                <a:solidFill>
                  <a:srgbClr val="0000CC"/>
                </a:solidFill>
              </a:rPr>
              <a:t>GROUP BY</a:t>
            </a:r>
            <a:r>
              <a:rPr lang="en-US" dirty="0"/>
              <a:t> MA_NVIEN</a:t>
            </a:r>
            <a:endParaRPr lang="en-US" dirty="0">
              <a:solidFill>
                <a:srgbClr val="CC0000"/>
              </a:solidFill>
            </a:endParaRPr>
          </a:p>
        </p:txBody>
      </p:sp>
      <p:sp>
        <p:nvSpPr>
          <p:cNvPr id="739385" name="Text Box 57"/>
          <p:cNvSpPr txBox="1">
            <a:spLocks noChangeArrowheads="1"/>
          </p:cNvSpPr>
          <p:nvPr/>
        </p:nvSpPr>
        <p:spPr bwMode="auto">
          <a:xfrm>
            <a:off x="1828800" y="4572000"/>
            <a:ext cx="5715000" cy="18796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dirty="0">
                <a:solidFill>
                  <a:srgbClr val="0000CC"/>
                </a:solidFill>
              </a:rPr>
              <a:t>SELECT</a:t>
            </a:r>
            <a:r>
              <a:rPr lang="en-US" dirty="0"/>
              <a:t> HONV, TENNV, </a:t>
            </a:r>
            <a:r>
              <a:rPr lang="en-US" dirty="0">
                <a:solidFill>
                  <a:srgbClr val="FF3399"/>
                </a:solidFill>
              </a:rPr>
              <a:t>COUNT</a:t>
            </a:r>
            <a:r>
              <a:rPr lang="en-US" dirty="0"/>
              <a:t>(*) </a:t>
            </a:r>
            <a:r>
              <a:rPr lang="en-US" dirty="0">
                <a:solidFill>
                  <a:srgbClr val="0000CC"/>
                </a:solidFill>
              </a:rPr>
              <a:t>AS</a:t>
            </a:r>
            <a:r>
              <a:rPr lang="en-US" dirty="0"/>
              <a:t> SL_DA, 		</a:t>
            </a:r>
            <a:r>
              <a:rPr lang="en-US" dirty="0">
                <a:solidFill>
                  <a:srgbClr val="FF3399"/>
                </a:solidFill>
              </a:rPr>
              <a:t>SUM</a:t>
            </a:r>
            <a:r>
              <a:rPr lang="en-US" dirty="0"/>
              <a:t>(THOIGIAN) </a:t>
            </a:r>
            <a:r>
              <a:rPr lang="en-US" dirty="0">
                <a:solidFill>
                  <a:srgbClr val="0000CC"/>
                </a:solidFill>
              </a:rPr>
              <a:t>AS</a:t>
            </a:r>
            <a:r>
              <a:rPr lang="en-US" dirty="0"/>
              <a:t> TONG_TG</a:t>
            </a:r>
          </a:p>
          <a:p>
            <a:pPr algn="l"/>
            <a:r>
              <a:rPr lang="en-US" dirty="0">
                <a:solidFill>
                  <a:srgbClr val="0000CC"/>
                </a:solidFill>
              </a:rPr>
              <a:t>FROM</a:t>
            </a:r>
            <a:r>
              <a:rPr lang="en-US" dirty="0"/>
              <a:t> PHANCONG, NHANVIEN</a:t>
            </a:r>
          </a:p>
          <a:p>
            <a:pPr algn="l"/>
            <a:r>
              <a:rPr lang="en-US" dirty="0">
                <a:solidFill>
                  <a:srgbClr val="0000CC"/>
                </a:solidFill>
              </a:rPr>
              <a:t>WHERE</a:t>
            </a:r>
            <a:r>
              <a:rPr lang="en-US" dirty="0"/>
              <a:t> MA_NVIEN=MANV</a:t>
            </a:r>
          </a:p>
          <a:p>
            <a:pPr algn="l"/>
            <a:r>
              <a:rPr lang="en-US" dirty="0">
                <a:solidFill>
                  <a:srgbClr val="0000CC"/>
                </a:solidFill>
              </a:rPr>
              <a:t>GROUP BY</a:t>
            </a:r>
            <a:r>
              <a:rPr lang="en-US" dirty="0"/>
              <a:t> MA_NVIEN, HONV, TENNV</a:t>
            </a:r>
            <a:endParaRPr lang="en-US" dirty="0">
              <a:solidFill>
                <a:srgbClr val="CC0000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103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0496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39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39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393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393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9380" grpId="0" animBg="1"/>
      <p:bldP spid="739380" grpId="1" animBg="1"/>
      <p:bldP spid="739379" grpId="0" animBg="1"/>
      <p:bldP spid="739379" grpId="1" animBg="1"/>
      <p:bldP spid="739377" grpId="0" animBg="1"/>
      <p:bldP spid="739377" grpId="1" animBg="1"/>
      <p:bldP spid="739376" grpId="0" animBg="1"/>
      <p:bldP spid="739376" grpId="1" animBg="1"/>
      <p:bldP spid="739378" grpId="0" animBg="1"/>
      <p:bldP spid="739378" grpId="1" animBg="1"/>
      <p:bldP spid="739375" grpId="0" animBg="1"/>
      <p:bldP spid="739375" grpId="1" animBg="1"/>
      <p:bldP spid="739384" grpId="0"/>
      <p:bldP spid="739385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3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>
            <a:normAutofit/>
          </a:bodyPr>
          <a:lstStyle/>
          <a:p>
            <a:r>
              <a:rPr lang="en-US" sz="3200" b="1" dirty="0" err="1"/>
              <a:t>Ví</a:t>
            </a:r>
            <a:r>
              <a:rPr lang="en-US" sz="3200" b="1" dirty="0"/>
              <a:t> </a:t>
            </a:r>
            <a:r>
              <a:rPr lang="en-US" sz="3200" b="1" dirty="0" err="1"/>
              <a:t>dụ</a:t>
            </a:r>
            <a:r>
              <a:rPr lang="en-US" sz="3200" b="1" dirty="0"/>
              <a:t> 18</a:t>
            </a:r>
          </a:p>
        </p:txBody>
      </p:sp>
      <p:sp>
        <p:nvSpPr>
          <p:cNvPr id="74137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524000"/>
            <a:ext cx="8229600" cy="4800600"/>
          </a:xfrm>
        </p:spPr>
        <p:txBody>
          <a:bodyPr/>
          <a:lstStyle/>
          <a:p>
            <a:r>
              <a:rPr lang="en-US" sz="2800" dirty="0"/>
              <a:t>Cho </a:t>
            </a:r>
            <a:r>
              <a:rPr lang="en-US" sz="2800" dirty="0" err="1"/>
              <a:t>biết</a:t>
            </a:r>
            <a:r>
              <a:rPr lang="en-US" sz="2800" dirty="0"/>
              <a:t> </a:t>
            </a:r>
            <a:r>
              <a:rPr lang="en-US" sz="2800" dirty="0" err="1"/>
              <a:t>những</a:t>
            </a:r>
            <a:r>
              <a:rPr lang="en-US" sz="2800" dirty="0"/>
              <a:t> </a:t>
            </a:r>
            <a:r>
              <a:rPr lang="en-US" sz="2800" dirty="0" err="1"/>
              <a:t>nhân</a:t>
            </a:r>
            <a:r>
              <a:rPr lang="en-US" sz="2800" dirty="0"/>
              <a:t> </a:t>
            </a:r>
            <a:r>
              <a:rPr lang="en-US" sz="2800" dirty="0" err="1"/>
              <a:t>viên</a:t>
            </a:r>
            <a:r>
              <a:rPr lang="en-US" sz="2800" dirty="0"/>
              <a:t> </a:t>
            </a:r>
            <a:r>
              <a:rPr lang="en-US" sz="2800" dirty="0" err="1"/>
              <a:t>tham</a:t>
            </a:r>
            <a:r>
              <a:rPr lang="en-US" sz="2800" dirty="0"/>
              <a:t> </a:t>
            </a:r>
            <a:r>
              <a:rPr lang="en-US" sz="2800" dirty="0" err="1"/>
              <a:t>gia</a:t>
            </a:r>
            <a:r>
              <a:rPr lang="en-US" sz="2800" dirty="0"/>
              <a:t> </a:t>
            </a:r>
            <a:r>
              <a:rPr lang="en-US" sz="2800" dirty="0" err="1"/>
              <a:t>từ</a:t>
            </a:r>
            <a:r>
              <a:rPr lang="en-US" sz="2800" dirty="0"/>
              <a:t> 2 </a:t>
            </a:r>
            <a:r>
              <a:rPr lang="en-US" sz="2800" dirty="0" err="1"/>
              <a:t>đề</a:t>
            </a:r>
            <a:r>
              <a:rPr lang="en-US" sz="2800" dirty="0"/>
              <a:t> </a:t>
            </a:r>
            <a:r>
              <a:rPr lang="en-US" sz="2800" dirty="0" err="1"/>
              <a:t>án</a:t>
            </a:r>
            <a:r>
              <a:rPr lang="en-US" sz="2800" dirty="0"/>
              <a:t> </a:t>
            </a:r>
            <a:r>
              <a:rPr lang="en-US" sz="2800" dirty="0" err="1"/>
              <a:t>trở</a:t>
            </a:r>
            <a:r>
              <a:rPr lang="en-US" sz="2800" dirty="0"/>
              <a:t> </a:t>
            </a:r>
            <a:r>
              <a:rPr lang="en-US" sz="2800" dirty="0" err="1"/>
              <a:t>lên</a:t>
            </a:r>
            <a:endParaRPr lang="en-US" dirty="0"/>
          </a:p>
        </p:txBody>
      </p:sp>
      <p:sp>
        <p:nvSpPr>
          <p:cNvPr id="741432" name="Rectangle 56"/>
          <p:cNvSpPr>
            <a:spLocks noChangeArrowheads="1"/>
          </p:cNvSpPr>
          <p:nvPr/>
        </p:nvSpPr>
        <p:spPr bwMode="auto">
          <a:xfrm>
            <a:off x="2971800" y="5638800"/>
            <a:ext cx="3048000" cy="457200"/>
          </a:xfrm>
          <a:prstGeom prst="rect">
            <a:avLst/>
          </a:prstGeom>
          <a:solidFill>
            <a:srgbClr val="FF99CC">
              <a:alpha val="80000"/>
            </a:srgbClr>
          </a:solidFill>
          <a:ln w="12700" algn="ctr">
            <a:solidFill>
              <a:srgbClr val="FF99CC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1433" name="Rectangle 57"/>
          <p:cNvSpPr>
            <a:spLocks noChangeArrowheads="1"/>
          </p:cNvSpPr>
          <p:nvPr/>
        </p:nvSpPr>
        <p:spPr bwMode="auto">
          <a:xfrm>
            <a:off x="2971800" y="4419600"/>
            <a:ext cx="3048000" cy="457200"/>
          </a:xfrm>
          <a:prstGeom prst="rect">
            <a:avLst/>
          </a:prstGeom>
          <a:solidFill>
            <a:srgbClr val="FF99CC">
              <a:alpha val="80000"/>
            </a:srgbClr>
          </a:solidFill>
          <a:ln w="12700" algn="ctr">
            <a:solidFill>
              <a:srgbClr val="FF99CC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1434" name="Rectangle 58"/>
          <p:cNvSpPr>
            <a:spLocks noChangeArrowheads="1"/>
          </p:cNvSpPr>
          <p:nvPr/>
        </p:nvSpPr>
        <p:spPr bwMode="auto">
          <a:xfrm>
            <a:off x="2971800" y="5029200"/>
            <a:ext cx="3048000" cy="457200"/>
          </a:xfrm>
          <a:prstGeom prst="rect">
            <a:avLst/>
          </a:prstGeom>
          <a:solidFill>
            <a:srgbClr val="99CCFF">
              <a:alpha val="80000"/>
            </a:srgbClr>
          </a:solidFill>
          <a:ln w="12700" algn="ctr">
            <a:solidFill>
              <a:srgbClr val="99CCFF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1435" name="Rectangle 59"/>
          <p:cNvSpPr>
            <a:spLocks noChangeArrowheads="1"/>
          </p:cNvSpPr>
          <p:nvPr/>
        </p:nvSpPr>
        <p:spPr bwMode="auto">
          <a:xfrm>
            <a:off x="2971800" y="4038600"/>
            <a:ext cx="3048000" cy="304800"/>
          </a:xfrm>
          <a:prstGeom prst="rect">
            <a:avLst/>
          </a:prstGeom>
          <a:solidFill>
            <a:srgbClr val="99CCFF">
              <a:alpha val="80000"/>
            </a:srgbClr>
          </a:solidFill>
          <a:ln w="12700" algn="ctr">
            <a:solidFill>
              <a:srgbClr val="99CCFF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1436" name="Rectangle 60"/>
          <p:cNvSpPr>
            <a:spLocks noChangeArrowheads="1"/>
          </p:cNvSpPr>
          <p:nvPr/>
        </p:nvSpPr>
        <p:spPr bwMode="auto">
          <a:xfrm>
            <a:off x="2971800" y="3200400"/>
            <a:ext cx="3048000" cy="762000"/>
          </a:xfrm>
          <a:prstGeom prst="rect">
            <a:avLst/>
          </a:prstGeom>
          <a:solidFill>
            <a:srgbClr val="FF99CC">
              <a:alpha val="80000"/>
            </a:srgbClr>
          </a:solidFill>
          <a:ln w="12700" algn="ctr">
            <a:solidFill>
              <a:srgbClr val="FF99CC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1437" name="Rectangle 61"/>
          <p:cNvSpPr>
            <a:spLocks noChangeArrowheads="1"/>
          </p:cNvSpPr>
          <p:nvPr/>
        </p:nvSpPr>
        <p:spPr bwMode="auto">
          <a:xfrm>
            <a:off x="2971800" y="2590800"/>
            <a:ext cx="3048000" cy="457200"/>
          </a:xfrm>
          <a:prstGeom prst="rect">
            <a:avLst/>
          </a:prstGeom>
          <a:solidFill>
            <a:srgbClr val="99CCFF">
              <a:alpha val="80000"/>
            </a:srgbClr>
          </a:solidFill>
          <a:ln w="12700" algn="ctr">
            <a:solidFill>
              <a:srgbClr val="99CCFF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pSp>
        <p:nvGrpSpPr>
          <p:cNvPr id="741431" name="Group 55"/>
          <p:cNvGrpSpPr>
            <a:grpSpLocks/>
          </p:cNvGrpSpPr>
          <p:nvPr/>
        </p:nvGrpSpPr>
        <p:grpSpPr bwMode="auto">
          <a:xfrm>
            <a:off x="2971800" y="2133600"/>
            <a:ext cx="3048000" cy="4114800"/>
            <a:chOff x="528" y="1488"/>
            <a:chExt cx="1920" cy="2592"/>
          </a:xfrm>
        </p:grpSpPr>
        <p:sp>
          <p:nvSpPr>
            <p:cNvPr id="741387" name="Line 11"/>
            <p:cNvSpPr>
              <a:spLocks noChangeShapeType="1"/>
            </p:cNvSpPr>
            <p:nvPr/>
          </p:nvSpPr>
          <p:spPr bwMode="auto">
            <a:xfrm>
              <a:off x="528" y="1728"/>
              <a:ext cx="19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741388" name="Text Box 12"/>
            <p:cNvSpPr txBox="1">
              <a:spLocks noChangeArrowheads="1"/>
            </p:cNvSpPr>
            <p:nvPr/>
          </p:nvSpPr>
          <p:spPr bwMode="auto">
            <a:xfrm>
              <a:off x="1296" y="1488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SODA</a:t>
              </a:r>
            </a:p>
          </p:txBody>
        </p:sp>
        <p:sp>
          <p:nvSpPr>
            <p:cNvPr id="741389" name="Text Box 13"/>
            <p:cNvSpPr txBox="1">
              <a:spLocks noChangeArrowheads="1"/>
            </p:cNvSpPr>
            <p:nvPr/>
          </p:nvSpPr>
          <p:spPr bwMode="auto">
            <a:xfrm>
              <a:off x="1728" y="1488"/>
              <a:ext cx="72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THOIGIAN</a:t>
              </a:r>
            </a:p>
          </p:txBody>
        </p:sp>
        <p:sp>
          <p:nvSpPr>
            <p:cNvPr id="741390" name="Text Box 14"/>
            <p:cNvSpPr txBox="1">
              <a:spLocks noChangeArrowheads="1"/>
            </p:cNvSpPr>
            <p:nvPr/>
          </p:nvSpPr>
          <p:spPr bwMode="auto">
            <a:xfrm>
              <a:off x="1296" y="1728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1</a:t>
              </a:r>
            </a:p>
          </p:txBody>
        </p:sp>
        <p:sp>
          <p:nvSpPr>
            <p:cNvPr id="741391" name="Text Box 15"/>
            <p:cNvSpPr txBox="1">
              <a:spLocks noChangeArrowheads="1"/>
            </p:cNvSpPr>
            <p:nvPr/>
          </p:nvSpPr>
          <p:spPr bwMode="auto">
            <a:xfrm>
              <a:off x="1776" y="1728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32.5</a:t>
              </a:r>
            </a:p>
          </p:txBody>
        </p:sp>
        <p:sp>
          <p:nvSpPr>
            <p:cNvPr id="741392" name="Text Box 16"/>
            <p:cNvSpPr txBox="1">
              <a:spLocks noChangeArrowheads="1"/>
            </p:cNvSpPr>
            <p:nvPr/>
          </p:nvSpPr>
          <p:spPr bwMode="auto">
            <a:xfrm>
              <a:off x="1296" y="1920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2</a:t>
              </a:r>
            </a:p>
          </p:txBody>
        </p:sp>
        <p:sp>
          <p:nvSpPr>
            <p:cNvPr id="741393" name="Text Box 17"/>
            <p:cNvSpPr txBox="1">
              <a:spLocks noChangeArrowheads="1"/>
            </p:cNvSpPr>
            <p:nvPr/>
          </p:nvSpPr>
          <p:spPr bwMode="auto">
            <a:xfrm>
              <a:off x="1776" y="1920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7.5</a:t>
              </a:r>
            </a:p>
          </p:txBody>
        </p:sp>
        <p:sp>
          <p:nvSpPr>
            <p:cNvPr id="741394" name="Text Box 18"/>
            <p:cNvSpPr txBox="1">
              <a:spLocks noChangeArrowheads="1"/>
            </p:cNvSpPr>
            <p:nvPr/>
          </p:nvSpPr>
          <p:spPr bwMode="auto">
            <a:xfrm>
              <a:off x="624" y="1728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123456789</a:t>
              </a:r>
            </a:p>
          </p:txBody>
        </p:sp>
        <p:sp>
          <p:nvSpPr>
            <p:cNvPr id="741395" name="Text Box 19"/>
            <p:cNvSpPr txBox="1">
              <a:spLocks noChangeArrowheads="1"/>
            </p:cNvSpPr>
            <p:nvPr/>
          </p:nvSpPr>
          <p:spPr bwMode="auto">
            <a:xfrm>
              <a:off x="624" y="1920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123456789</a:t>
              </a:r>
            </a:p>
          </p:txBody>
        </p:sp>
        <p:sp>
          <p:nvSpPr>
            <p:cNvPr id="741396" name="Text Box 20"/>
            <p:cNvSpPr txBox="1">
              <a:spLocks noChangeArrowheads="1"/>
            </p:cNvSpPr>
            <p:nvPr/>
          </p:nvSpPr>
          <p:spPr bwMode="auto">
            <a:xfrm>
              <a:off x="624" y="1488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MA_NVIEN</a:t>
              </a:r>
            </a:p>
          </p:txBody>
        </p:sp>
        <p:grpSp>
          <p:nvGrpSpPr>
            <p:cNvPr id="741397" name="Group 21"/>
            <p:cNvGrpSpPr>
              <a:grpSpLocks/>
            </p:cNvGrpSpPr>
            <p:nvPr/>
          </p:nvGrpSpPr>
          <p:grpSpPr bwMode="auto">
            <a:xfrm>
              <a:off x="1296" y="1488"/>
              <a:ext cx="432" cy="2592"/>
              <a:chOff x="1200" y="1632"/>
              <a:chExt cx="432" cy="1632"/>
            </a:xfrm>
          </p:grpSpPr>
          <p:sp>
            <p:nvSpPr>
              <p:cNvPr id="741398" name="Line 22"/>
              <p:cNvSpPr>
                <a:spLocks noChangeShapeType="1"/>
              </p:cNvSpPr>
              <p:nvPr/>
            </p:nvSpPr>
            <p:spPr bwMode="auto">
              <a:xfrm>
                <a:off x="1632" y="1632"/>
                <a:ext cx="0" cy="16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41399" name="Line 23"/>
              <p:cNvSpPr>
                <a:spLocks noChangeShapeType="1"/>
              </p:cNvSpPr>
              <p:nvPr/>
            </p:nvSpPr>
            <p:spPr bwMode="auto">
              <a:xfrm>
                <a:off x="1200" y="1632"/>
                <a:ext cx="0" cy="16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741400" name="Text Box 24"/>
            <p:cNvSpPr txBox="1">
              <a:spLocks noChangeArrowheads="1"/>
            </p:cNvSpPr>
            <p:nvPr/>
          </p:nvSpPr>
          <p:spPr bwMode="auto">
            <a:xfrm>
              <a:off x="1296" y="2112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2</a:t>
              </a:r>
            </a:p>
          </p:txBody>
        </p:sp>
        <p:sp>
          <p:nvSpPr>
            <p:cNvPr id="741401" name="Text Box 25"/>
            <p:cNvSpPr txBox="1">
              <a:spLocks noChangeArrowheads="1"/>
            </p:cNvSpPr>
            <p:nvPr/>
          </p:nvSpPr>
          <p:spPr bwMode="auto">
            <a:xfrm>
              <a:off x="1776" y="2112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10.0</a:t>
              </a:r>
            </a:p>
          </p:txBody>
        </p:sp>
        <p:sp>
          <p:nvSpPr>
            <p:cNvPr id="741402" name="Text Box 26"/>
            <p:cNvSpPr txBox="1">
              <a:spLocks noChangeArrowheads="1"/>
            </p:cNvSpPr>
            <p:nvPr/>
          </p:nvSpPr>
          <p:spPr bwMode="auto">
            <a:xfrm>
              <a:off x="1296" y="2304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3</a:t>
              </a:r>
            </a:p>
          </p:txBody>
        </p:sp>
        <p:sp>
          <p:nvSpPr>
            <p:cNvPr id="741403" name="Text Box 27"/>
            <p:cNvSpPr txBox="1">
              <a:spLocks noChangeArrowheads="1"/>
            </p:cNvSpPr>
            <p:nvPr/>
          </p:nvSpPr>
          <p:spPr bwMode="auto">
            <a:xfrm>
              <a:off x="1776" y="2304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10.0</a:t>
              </a:r>
            </a:p>
          </p:txBody>
        </p:sp>
        <p:sp>
          <p:nvSpPr>
            <p:cNvPr id="741404" name="Text Box 28"/>
            <p:cNvSpPr txBox="1">
              <a:spLocks noChangeArrowheads="1"/>
            </p:cNvSpPr>
            <p:nvPr/>
          </p:nvSpPr>
          <p:spPr bwMode="auto">
            <a:xfrm>
              <a:off x="624" y="2112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333445555</a:t>
              </a:r>
            </a:p>
          </p:txBody>
        </p:sp>
        <p:sp>
          <p:nvSpPr>
            <p:cNvPr id="741405" name="Text Box 29"/>
            <p:cNvSpPr txBox="1">
              <a:spLocks noChangeArrowheads="1"/>
            </p:cNvSpPr>
            <p:nvPr/>
          </p:nvSpPr>
          <p:spPr bwMode="auto">
            <a:xfrm>
              <a:off x="624" y="2304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333445555</a:t>
              </a:r>
            </a:p>
          </p:txBody>
        </p:sp>
        <p:sp>
          <p:nvSpPr>
            <p:cNvPr id="741406" name="Text Box 30"/>
            <p:cNvSpPr txBox="1">
              <a:spLocks noChangeArrowheads="1"/>
            </p:cNvSpPr>
            <p:nvPr/>
          </p:nvSpPr>
          <p:spPr bwMode="auto">
            <a:xfrm>
              <a:off x="1296" y="2496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10</a:t>
              </a:r>
            </a:p>
          </p:txBody>
        </p:sp>
        <p:sp>
          <p:nvSpPr>
            <p:cNvPr id="741407" name="Text Box 31"/>
            <p:cNvSpPr txBox="1">
              <a:spLocks noChangeArrowheads="1"/>
            </p:cNvSpPr>
            <p:nvPr/>
          </p:nvSpPr>
          <p:spPr bwMode="auto">
            <a:xfrm>
              <a:off x="1776" y="2496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10.0</a:t>
              </a:r>
            </a:p>
          </p:txBody>
        </p:sp>
        <p:sp>
          <p:nvSpPr>
            <p:cNvPr id="741408" name="Text Box 32"/>
            <p:cNvSpPr txBox="1">
              <a:spLocks noChangeArrowheads="1"/>
            </p:cNvSpPr>
            <p:nvPr/>
          </p:nvSpPr>
          <p:spPr bwMode="auto">
            <a:xfrm>
              <a:off x="624" y="2496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333445555</a:t>
              </a:r>
            </a:p>
          </p:txBody>
        </p:sp>
        <p:sp>
          <p:nvSpPr>
            <p:cNvPr id="741409" name="Text Box 33"/>
            <p:cNvSpPr txBox="1">
              <a:spLocks noChangeArrowheads="1"/>
            </p:cNvSpPr>
            <p:nvPr/>
          </p:nvSpPr>
          <p:spPr bwMode="auto">
            <a:xfrm>
              <a:off x="1296" y="2688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20</a:t>
              </a:r>
            </a:p>
          </p:txBody>
        </p:sp>
        <p:sp>
          <p:nvSpPr>
            <p:cNvPr id="741410" name="Text Box 34"/>
            <p:cNvSpPr txBox="1">
              <a:spLocks noChangeArrowheads="1"/>
            </p:cNvSpPr>
            <p:nvPr/>
          </p:nvSpPr>
          <p:spPr bwMode="auto">
            <a:xfrm>
              <a:off x="1776" y="2688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20.0</a:t>
              </a:r>
            </a:p>
          </p:txBody>
        </p:sp>
        <p:sp>
          <p:nvSpPr>
            <p:cNvPr id="741411" name="Text Box 35"/>
            <p:cNvSpPr txBox="1">
              <a:spLocks noChangeArrowheads="1"/>
            </p:cNvSpPr>
            <p:nvPr/>
          </p:nvSpPr>
          <p:spPr bwMode="auto">
            <a:xfrm>
              <a:off x="1296" y="2880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10</a:t>
              </a:r>
            </a:p>
          </p:txBody>
        </p:sp>
        <p:sp>
          <p:nvSpPr>
            <p:cNvPr id="741412" name="Text Box 36"/>
            <p:cNvSpPr txBox="1">
              <a:spLocks noChangeArrowheads="1"/>
            </p:cNvSpPr>
            <p:nvPr/>
          </p:nvSpPr>
          <p:spPr bwMode="auto">
            <a:xfrm>
              <a:off x="1776" y="2880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35.0</a:t>
              </a:r>
            </a:p>
          </p:txBody>
        </p:sp>
        <p:sp>
          <p:nvSpPr>
            <p:cNvPr id="741413" name="Text Box 37"/>
            <p:cNvSpPr txBox="1">
              <a:spLocks noChangeArrowheads="1"/>
            </p:cNvSpPr>
            <p:nvPr/>
          </p:nvSpPr>
          <p:spPr bwMode="auto">
            <a:xfrm>
              <a:off x="624" y="2688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888665555</a:t>
              </a:r>
            </a:p>
          </p:txBody>
        </p:sp>
        <p:sp>
          <p:nvSpPr>
            <p:cNvPr id="741414" name="Text Box 38"/>
            <p:cNvSpPr txBox="1">
              <a:spLocks noChangeArrowheads="1"/>
            </p:cNvSpPr>
            <p:nvPr/>
          </p:nvSpPr>
          <p:spPr bwMode="auto">
            <a:xfrm>
              <a:off x="624" y="2880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987987987</a:t>
              </a:r>
            </a:p>
          </p:txBody>
        </p:sp>
        <p:sp>
          <p:nvSpPr>
            <p:cNvPr id="741415" name="Text Box 39"/>
            <p:cNvSpPr txBox="1">
              <a:spLocks noChangeArrowheads="1"/>
            </p:cNvSpPr>
            <p:nvPr/>
          </p:nvSpPr>
          <p:spPr bwMode="auto">
            <a:xfrm>
              <a:off x="1296" y="3072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30</a:t>
              </a:r>
            </a:p>
          </p:txBody>
        </p:sp>
        <p:sp>
          <p:nvSpPr>
            <p:cNvPr id="741416" name="Text Box 40"/>
            <p:cNvSpPr txBox="1">
              <a:spLocks noChangeArrowheads="1"/>
            </p:cNvSpPr>
            <p:nvPr/>
          </p:nvSpPr>
          <p:spPr bwMode="auto">
            <a:xfrm>
              <a:off x="1776" y="3072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5.0</a:t>
              </a:r>
            </a:p>
          </p:txBody>
        </p:sp>
        <p:sp>
          <p:nvSpPr>
            <p:cNvPr id="741417" name="Text Box 41"/>
            <p:cNvSpPr txBox="1">
              <a:spLocks noChangeArrowheads="1"/>
            </p:cNvSpPr>
            <p:nvPr/>
          </p:nvSpPr>
          <p:spPr bwMode="auto">
            <a:xfrm>
              <a:off x="624" y="3072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987987987</a:t>
              </a:r>
            </a:p>
          </p:txBody>
        </p:sp>
        <p:sp>
          <p:nvSpPr>
            <p:cNvPr id="741418" name="Text Box 42"/>
            <p:cNvSpPr txBox="1">
              <a:spLocks noChangeArrowheads="1"/>
            </p:cNvSpPr>
            <p:nvPr/>
          </p:nvSpPr>
          <p:spPr bwMode="auto">
            <a:xfrm>
              <a:off x="1296" y="3264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30</a:t>
              </a:r>
            </a:p>
          </p:txBody>
        </p:sp>
        <p:sp>
          <p:nvSpPr>
            <p:cNvPr id="741419" name="Text Box 43"/>
            <p:cNvSpPr txBox="1">
              <a:spLocks noChangeArrowheads="1"/>
            </p:cNvSpPr>
            <p:nvPr/>
          </p:nvSpPr>
          <p:spPr bwMode="auto">
            <a:xfrm>
              <a:off x="1776" y="3264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20.0</a:t>
              </a:r>
            </a:p>
          </p:txBody>
        </p:sp>
        <p:sp>
          <p:nvSpPr>
            <p:cNvPr id="741420" name="Text Box 44"/>
            <p:cNvSpPr txBox="1">
              <a:spLocks noChangeArrowheads="1"/>
            </p:cNvSpPr>
            <p:nvPr/>
          </p:nvSpPr>
          <p:spPr bwMode="auto">
            <a:xfrm>
              <a:off x="624" y="3264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987654321</a:t>
              </a:r>
            </a:p>
          </p:txBody>
        </p:sp>
        <p:sp>
          <p:nvSpPr>
            <p:cNvPr id="741421" name="Text Box 45"/>
            <p:cNvSpPr txBox="1">
              <a:spLocks noChangeArrowheads="1"/>
            </p:cNvSpPr>
            <p:nvPr/>
          </p:nvSpPr>
          <p:spPr bwMode="auto">
            <a:xfrm>
              <a:off x="1296" y="3456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20</a:t>
              </a:r>
            </a:p>
          </p:txBody>
        </p:sp>
        <p:sp>
          <p:nvSpPr>
            <p:cNvPr id="741422" name="Text Box 46"/>
            <p:cNvSpPr txBox="1">
              <a:spLocks noChangeArrowheads="1"/>
            </p:cNvSpPr>
            <p:nvPr/>
          </p:nvSpPr>
          <p:spPr bwMode="auto">
            <a:xfrm>
              <a:off x="1776" y="3456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15.0</a:t>
              </a:r>
            </a:p>
          </p:txBody>
        </p:sp>
        <p:sp>
          <p:nvSpPr>
            <p:cNvPr id="741423" name="Text Box 47"/>
            <p:cNvSpPr txBox="1">
              <a:spLocks noChangeArrowheads="1"/>
            </p:cNvSpPr>
            <p:nvPr/>
          </p:nvSpPr>
          <p:spPr bwMode="auto">
            <a:xfrm>
              <a:off x="624" y="3456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987654321</a:t>
              </a:r>
            </a:p>
          </p:txBody>
        </p:sp>
        <p:sp>
          <p:nvSpPr>
            <p:cNvPr id="741424" name="Text Box 48"/>
            <p:cNvSpPr txBox="1">
              <a:spLocks noChangeArrowheads="1"/>
            </p:cNvSpPr>
            <p:nvPr/>
          </p:nvSpPr>
          <p:spPr bwMode="auto">
            <a:xfrm>
              <a:off x="1296" y="3648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1</a:t>
              </a:r>
            </a:p>
          </p:txBody>
        </p:sp>
        <p:sp>
          <p:nvSpPr>
            <p:cNvPr id="741425" name="Text Box 49"/>
            <p:cNvSpPr txBox="1">
              <a:spLocks noChangeArrowheads="1"/>
            </p:cNvSpPr>
            <p:nvPr/>
          </p:nvSpPr>
          <p:spPr bwMode="auto">
            <a:xfrm>
              <a:off x="1776" y="3648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20.0</a:t>
              </a:r>
            </a:p>
          </p:txBody>
        </p:sp>
        <p:sp>
          <p:nvSpPr>
            <p:cNvPr id="741426" name="Text Box 50"/>
            <p:cNvSpPr txBox="1">
              <a:spLocks noChangeArrowheads="1"/>
            </p:cNvSpPr>
            <p:nvPr/>
          </p:nvSpPr>
          <p:spPr bwMode="auto">
            <a:xfrm>
              <a:off x="624" y="3648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453453453</a:t>
              </a:r>
            </a:p>
          </p:txBody>
        </p:sp>
        <p:sp>
          <p:nvSpPr>
            <p:cNvPr id="741427" name="Text Box 51"/>
            <p:cNvSpPr txBox="1">
              <a:spLocks noChangeArrowheads="1"/>
            </p:cNvSpPr>
            <p:nvPr/>
          </p:nvSpPr>
          <p:spPr bwMode="auto">
            <a:xfrm>
              <a:off x="1296" y="3840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2</a:t>
              </a:r>
            </a:p>
          </p:txBody>
        </p:sp>
        <p:sp>
          <p:nvSpPr>
            <p:cNvPr id="741428" name="Text Box 52"/>
            <p:cNvSpPr txBox="1">
              <a:spLocks noChangeArrowheads="1"/>
            </p:cNvSpPr>
            <p:nvPr/>
          </p:nvSpPr>
          <p:spPr bwMode="auto">
            <a:xfrm>
              <a:off x="1776" y="3840"/>
              <a:ext cx="52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20.0</a:t>
              </a:r>
            </a:p>
          </p:txBody>
        </p:sp>
        <p:sp>
          <p:nvSpPr>
            <p:cNvPr id="741429" name="Text Box 53"/>
            <p:cNvSpPr txBox="1">
              <a:spLocks noChangeArrowheads="1"/>
            </p:cNvSpPr>
            <p:nvPr/>
          </p:nvSpPr>
          <p:spPr bwMode="auto">
            <a:xfrm>
              <a:off x="624" y="3840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453453453</a:t>
              </a:r>
            </a:p>
          </p:txBody>
        </p:sp>
      </p:grpSp>
      <p:sp>
        <p:nvSpPr>
          <p:cNvPr id="741438" name="Text Box 62"/>
          <p:cNvSpPr txBox="1">
            <a:spLocks noChangeArrowheads="1"/>
          </p:cNvSpPr>
          <p:nvPr/>
        </p:nvSpPr>
        <p:spPr bwMode="auto">
          <a:xfrm>
            <a:off x="6553200" y="4114800"/>
            <a:ext cx="1066800" cy="3048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400"/>
              <a:t>bị loại ra</a:t>
            </a:r>
          </a:p>
        </p:txBody>
      </p:sp>
      <p:sp>
        <p:nvSpPr>
          <p:cNvPr id="741439" name="Line 63"/>
          <p:cNvSpPr>
            <a:spLocks noChangeShapeType="1"/>
          </p:cNvSpPr>
          <p:nvPr/>
        </p:nvSpPr>
        <p:spPr bwMode="auto">
          <a:xfrm>
            <a:off x="5791200" y="4191000"/>
            <a:ext cx="914400" cy="76200"/>
          </a:xfrm>
          <a:prstGeom prst="line">
            <a:avLst/>
          </a:prstGeom>
          <a:noFill/>
          <a:ln w="12700">
            <a:solidFill>
              <a:srgbClr val="777777"/>
            </a:solidFill>
            <a:prstDash val="dash"/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104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4888243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4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/>
              <a:t>e) </a:t>
            </a:r>
            <a:r>
              <a:rPr lang="en-US" sz="3500" b="1" dirty="0" err="1"/>
              <a:t>Điều</a:t>
            </a:r>
            <a:r>
              <a:rPr lang="en-US" sz="3500" b="1" dirty="0"/>
              <a:t> </a:t>
            </a:r>
            <a:r>
              <a:rPr lang="en-US" sz="3500" b="1" dirty="0" err="1"/>
              <a:t>kiện</a:t>
            </a:r>
            <a:r>
              <a:rPr lang="en-US" sz="3500" b="1" dirty="0"/>
              <a:t> </a:t>
            </a:r>
            <a:r>
              <a:rPr lang="en-US" sz="3500" b="1" dirty="0" err="1"/>
              <a:t>trên</a:t>
            </a:r>
            <a:r>
              <a:rPr lang="en-US" sz="3500" b="1" dirty="0"/>
              <a:t> </a:t>
            </a:r>
            <a:r>
              <a:rPr lang="en-US" sz="3500" b="1" dirty="0" err="1"/>
              <a:t>nhóm</a:t>
            </a:r>
            <a:endParaRPr lang="en-US" sz="3500" b="1" dirty="0"/>
          </a:p>
        </p:txBody>
      </p:sp>
      <p:sp>
        <p:nvSpPr>
          <p:cNvPr id="74342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229600" cy="4724400"/>
          </a:xfrm>
        </p:spPr>
        <p:txBody>
          <a:bodyPr/>
          <a:lstStyle/>
          <a:p>
            <a:r>
              <a:rPr lang="en-US" dirty="0" err="1"/>
              <a:t>Cú</a:t>
            </a:r>
            <a:r>
              <a:rPr lang="en-US" dirty="0"/>
              <a:t> </a:t>
            </a:r>
            <a:r>
              <a:rPr lang="en-US" dirty="0" err="1"/>
              <a:t>pháp</a:t>
            </a:r>
            <a:endParaRPr lang="en-US" dirty="0"/>
          </a:p>
        </p:txBody>
      </p:sp>
      <p:sp>
        <p:nvSpPr>
          <p:cNvPr id="743428" name="Rectangle 4"/>
          <p:cNvSpPr>
            <a:spLocks noChangeArrowheads="1"/>
          </p:cNvSpPr>
          <p:nvPr/>
        </p:nvSpPr>
        <p:spPr bwMode="auto">
          <a:xfrm>
            <a:off x="762000" y="2514600"/>
            <a:ext cx="4876800" cy="2030413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l"/>
            <a:r>
              <a:rPr lang="en-US" b="1" dirty="0"/>
              <a:t>SELECT</a:t>
            </a:r>
            <a:r>
              <a:rPr lang="en-US" dirty="0"/>
              <a:t> &lt;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cột</a:t>
            </a:r>
            <a:r>
              <a:rPr lang="en-US" dirty="0"/>
              <a:t>&gt;</a:t>
            </a:r>
          </a:p>
          <a:p>
            <a:pPr algn="l"/>
            <a:r>
              <a:rPr lang="en-US" b="1" dirty="0"/>
              <a:t>FROM</a:t>
            </a:r>
            <a:r>
              <a:rPr lang="en-US" dirty="0"/>
              <a:t> &lt;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&gt;</a:t>
            </a:r>
          </a:p>
          <a:p>
            <a:pPr algn="l"/>
            <a:r>
              <a:rPr lang="en-US" b="1" dirty="0"/>
              <a:t>WHERE</a:t>
            </a:r>
            <a:r>
              <a:rPr lang="en-US" dirty="0"/>
              <a:t> &lt;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&gt;</a:t>
            </a:r>
          </a:p>
          <a:p>
            <a:pPr algn="l"/>
            <a:r>
              <a:rPr lang="en-US" b="1" dirty="0"/>
              <a:t>GROUP BY</a:t>
            </a:r>
            <a:r>
              <a:rPr lang="en-US" dirty="0"/>
              <a:t> &lt;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cột</a:t>
            </a:r>
            <a:r>
              <a:rPr lang="en-US" dirty="0"/>
              <a:t> </a:t>
            </a:r>
            <a:r>
              <a:rPr lang="en-US" dirty="0" err="1"/>
              <a:t>gom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&gt;</a:t>
            </a:r>
          </a:p>
          <a:p>
            <a:pPr algn="l"/>
            <a:r>
              <a:rPr lang="en-US" b="1" dirty="0"/>
              <a:t>HAVING </a:t>
            </a:r>
            <a:r>
              <a:rPr lang="en-US" dirty="0"/>
              <a:t>&lt;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&gt;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105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3359964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480" name="Rectangle 8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18</a:t>
            </a:r>
          </a:p>
        </p:txBody>
      </p:sp>
      <p:sp>
        <p:nvSpPr>
          <p:cNvPr id="745481" name="Rectangle 9"/>
          <p:cNvSpPr>
            <a:spLocks noGrp="1" noChangeArrowheads="1"/>
          </p:cNvSpPr>
          <p:nvPr>
            <p:ph sz="quarter" idx="1"/>
          </p:nvPr>
        </p:nvSpPr>
        <p:spPr>
          <a:xfrm>
            <a:off x="457200" y="1752600"/>
            <a:ext cx="8305800" cy="4572000"/>
          </a:xfrm>
        </p:spPr>
        <p:txBody>
          <a:bodyPr/>
          <a:lstStyle/>
          <a:p>
            <a:r>
              <a:rPr lang="en-US" dirty="0"/>
              <a:t>Cho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gia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2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</a:t>
            </a:r>
            <a:r>
              <a:rPr lang="en-US" dirty="0" err="1"/>
              <a:t>trở</a:t>
            </a:r>
            <a:r>
              <a:rPr lang="en-US" dirty="0"/>
              <a:t> </a:t>
            </a:r>
            <a:r>
              <a:rPr lang="en-US" dirty="0" err="1"/>
              <a:t>lên</a:t>
            </a:r>
            <a:endParaRPr lang="en-US" dirty="0"/>
          </a:p>
        </p:txBody>
      </p:sp>
      <p:sp>
        <p:nvSpPr>
          <p:cNvPr id="745526" name="Text Box 54"/>
          <p:cNvSpPr txBox="1">
            <a:spLocks noChangeArrowheads="1"/>
          </p:cNvSpPr>
          <p:nvPr/>
        </p:nvSpPr>
        <p:spPr bwMode="auto">
          <a:xfrm>
            <a:off x="2057400" y="2590800"/>
            <a:ext cx="4724400" cy="160496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>
                <a:solidFill>
                  <a:srgbClr val="0000CC"/>
                </a:solidFill>
              </a:rPr>
              <a:t>SELECT</a:t>
            </a:r>
            <a:r>
              <a:rPr lang="en-US"/>
              <a:t> MA_NVIEN</a:t>
            </a:r>
          </a:p>
          <a:p>
            <a:pPr algn="l"/>
            <a:r>
              <a:rPr lang="en-US">
                <a:solidFill>
                  <a:srgbClr val="0000CC"/>
                </a:solidFill>
              </a:rPr>
              <a:t>FROM</a:t>
            </a:r>
            <a:r>
              <a:rPr lang="en-US"/>
              <a:t> PHANCONG</a:t>
            </a:r>
          </a:p>
          <a:p>
            <a:pPr algn="l"/>
            <a:r>
              <a:rPr lang="en-US">
                <a:solidFill>
                  <a:srgbClr val="0000CC"/>
                </a:solidFill>
              </a:rPr>
              <a:t>GROUP BY</a:t>
            </a:r>
            <a:r>
              <a:rPr lang="en-US"/>
              <a:t> MA_NVIEN</a:t>
            </a:r>
          </a:p>
          <a:p>
            <a:pPr algn="l"/>
            <a:r>
              <a:rPr lang="en-US">
                <a:solidFill>
                  <a:srgbClr val="0000CC"/>
                </a:solidFill>
              </a:rPr>
              <a:t>HAVING</a:t>
            </a:r>
            <a:r>
              <a:rPr lang="en-US"/>
              <a:t> </a:t>
            </a:r>
            <a:r>
              <a:rPr lang="en-US">
                <a:solidFill>
                  <a:srgbClr val="FF3399"/>
                </a:solidFill>
              </a:rPr>
              <a:t>COUNT</a:t>
            </a:r>
            <a:r>
              <a:rPr lang="en-US"/>
              <a:t>(*) &gt;= 2</a:t>
            </a:r>
            <a:endParaRPr lang="en-US">
              <a:solidFill>
                <a:srgbClr val="CC0000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106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8848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55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55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5526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>
            <a:normAutofit/>
          </a:bodyPr>
          <a:lstStyle/>
          <a:p>
            <a:r>
              <a:rPr lang="en-US" sz="3200" b="1" dirty="0" err="1"/>
              <a:t>Ví</a:t>
            </a:r>
            <a:r>
              <a:rPr lang="en-US" sz="3200" b="1" dirty="0"/>
              <a:t> </a:t>
            </a:r>
            <a:r>
              <a:rPr lang="en-US" sz="3200" b="1" dirty="0" err="1"/>
              <a:t>dụ</a:t>
            </a:r>
            <a:r>
              <a:rPr lang="en-US" sz="3200" b="1" dirty="0"/>
              <a:t> 19</a:t>
            </a:r>
          </a:p>
        </p:txBody>
      </p:sp>
      <p:sp>
        <p:nvSpPr>
          <p:cNvPr id="74752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524000"/>
            <a:ext cx="8458200" cy="4800600"/>
          </a:xfrm>
        </p:spPr>
        <p:txBody>
          <a:bodyPr/>
          <a:lstStyle/>
          <a:p>
            <a:pPr algn="just"/>
            <a:r>
              <a:rPr lang="en-US" sz="2800" dirty="0"/>
              <a:t>Cho </a:t>
            </a:r>
            <a:r>
              <a:rPr lang="en-US" sz="2800" dirty="0" err="1"/>
              <a:t>biết</a:t>
            </a:r>
            <a:r>
              <a:rPr lang="en-US" sz="2800" dirty="0"/>
              <a:t> </a:t>
            </a:r>
            <a:r>
              <a:rPr lang="en-US" sz="2800" dirty="0" err="1"/>
              <a:t>những</a:t>
            </a:r>
            <a:r>
              <a:rPr lang="en-US" sz="2800" dirty="0"/>
              <a:t> </a:t>
            </a:r>
            <a:r>
              <a:rPr lang="en-US" sz="2800" dirty="0" err="1"/>
              <a:t>phòng</a:t>
            </a:r>
            <a:r>
              <a:rPr lang="en-US" sz="2800" dirty="0"/>
              <a:t> ban (TENPHG) </a:t>
            </a:r>
            <a:r>
              <a:rPr lang="en-US" sz="2800" dirty="0" err="1"/>
              <a:t>có</a:t>
            </a:r>
            <a:r>
              <a:rPr lang="en-US" sz="2800" dirty="0"/>
              <a:t> </a:t>
            </a:r>
            <a:r>
              <a:rPr lang="en-US" sz="2800" dirty="0" err="1"/>
              <a:t>lương</a:t>
            </a:r>
            <a:r>
              <a:rPr lang="en-US" sz="2800" dirty="0"/>
              <a:t> </a:t>
            </a:r>
            <a:r>
              <a:rPr lang="en-US" sz="2800" dirty="0" err="1"/>
              <a:t>trung</a:t>
            </a:r>
            <a:r>
              <a:rPr lang="en-US" sz="2800" dirty="0"/>
              <a:t> </a:t>
            </a:r>
            <a:r>
              <a:rPr lang="en-US" sz="2800" dirty="0" err="1"/>
              <a:t>bình</a:t>
            </a:r>
            <a:r>
              <a:rPr lang="en-US" sz="2800" dirty="0"/>
              <a:t> </a:t>
            </a:r>
            <a:r>
              <a:rPr lang="en-US" sz="2800" dirty="0" err="1"/>
              <a:t>của</a:t>
            </a:r>
            <a:r>
              <a:rPr lang="en-US" sz="2800" dirty="0"/>
              <a:t> </a:t>
            </a:r>
            <a:r>
              <a:rPr lang="en-US" sz="2800" dirty="0" err="1"/>
              <a:t>các</a:t>
            </a:r>
            <a:r>
              <a:rPr lang="en-US" sz="2800" dirty="0"/>
              <a:t> </a:t>
            </a:r>
            <a:r>
              <a:rPr lang="en-US" sz="2800" dirty="0" err="1"/>
              <a:t>nhân</a:t>
            </a:r>
            <a:r>
              <a:rPr lang="en-US" sz="2800" dirty="0"/>
              <a:t> </a:t>
            </a:r>
            <a:r>
              <a:rPr lang="en-US" sz="2800" dirty="0" err="1"/>
              <a:t>viên</a:t>
            </a:r>
            <a:r>
              <a:rPr lang="en-US" sz="2800" dirty="0"/>
              <a:t> </a:t>
            </a:r>
            <a:r>
              <a:rPr lang="en-US" sz="2800" dirty="0" err="1"/>
              <a:t>lớn</a:t>
            </a:r>
            <a:r>
              <a:rPr lang="en-US" sz="2800" dirty="0"/>
              <a:t> </a:t>
            </a:r>
            <a:r>
              <a:rPr lang="en-US" sz="2800" dirty="0" err="1"/>
              <a:t>lơn</a:t>
            </a:r>
            <a:r>
              <a:rPr lang="en-US" sz="2800" dirty="0"/>
              <a:t> 20000</a:t>
            </a:r>
            <a:endParaRPr lang="en-US" dirty="0"/>
          </a:p>
        </p:txBody>
      </p:sp>
      <p:sp>
        <p:nvSpPr>
          <p:cNvPr id="747524" name="Text Box 4"/>
          <p:cNvSpPr txBox="1">
            <a:spLocks noChangeArrowheads="1"/>
          </p:cNvSpPr>
          <p:nvPr/>
        </p:nvSpPr>
        <p:spPr bwMode="auto">
          <a:xfrm>
            <a:off x="1524000" y="2438400"/>
            <a:ext cx="5257800" cy="161582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dirty="0">
                <a:solidFill>
                  <a:srgbClr val="0000CC"/>
                </a:solidFill>
              </a:rPr>
              <a:t>SELECT</a:t>
            </a:r>
            <a:r>
              <a:rPr lang="en-US" dirty="0"/>
              <a:t> PHONG, </a:t>
            </a:r>
            <a:r>
              <a:rPr lang="en-US" dirty="0">
                <a:solidFill>
                  <a:srgbClr val="FF3399"/>
                </a:solidFill>
              </a:rPr>
              <a:t>AVG</a:t>
            </a:r>
            <a:r>
              <a:rPr lang="en-US" dirty="0"/>
              <a:t>(LUONG) </a:t>
            </a:r>
            <a:r>
              <a:rPr lang="en-US" dirty="0">
                <a:solidFill>
                  <a:srgbClr val="0000CC"/>
                </a:solidFill>
              </a:rPr>
              <a:t>AS</a:t>
            </a:r>
            <a:r>
              <a:rPr lang="en-US" dirty="0"/>
              <a:t> LUONG_TB</a:t>
            </a:r>
          </a:p>
          <a:p>
            <a:pPr algn="l"/>
            <a:r>
              <a:rPr lang="en-US" dirty="0">
                <a:solidFill>
                  <a:srgbClr val="0000CC"/>
                </a:solidFill>
              </a:rPr>
              <a:t>FROM</a:t>
            </a:r>
            <a:r>
              <a:rPr lang="en-US" dirty="0"/>
              <a:t> NHANVIEN</a:t>
            </a:r>
          </a:p>
          <a:p>
            <a:pPr algn="l"/>
            <a:r>
              <a:rPr lang="en-US" dirty="0">
                <a:solidFill>
                  <a:srgbClr val="0000CC"/>
                </a:solidFill>
              </a:rPr>
              <a:t>GROUP BY</a:t>
            </a:r>
            <a:r>
              <a:rPr lang="en-US" dirty="0"/>
              <a:t> PHONG</a:t>
            </a:r>
          </a:p>
          <a:p>
            <a:pPr algn="l"/>
            <a:r>
              <a:rPr lang="en-US" dirty="0">
                <a:solidFill>
                  <a:srgbClr val="0000CC"/>
                </a:solidFill>
              </a:rPr>
              <a:t>HAVING</a:t>
            </a:r>
            <a:r>
              <a:rPr lang="en-US" dirty="0"/>
              <a:t> </a:t>
            </a:r>
            <a:r>
              <a:rPr lang="en-US" dirty="0">
                <a:solidFill>
                  <a:srgbClr val="FF3399"/>
                </a:solidFill>
              </a:rPr>
              <a:t>AVG</a:t>
            </a:r>
            <a:r>
              <a:rPr lang="en-US" dirty="0"/>
              <a:t>(LUONG) &gt; 20000</a:t>
            </a:r>
            <a:endParaRPr lang="en-US" dirty="0">
              <a:solidFill>
                <a:srgbClr val="CC0000"/>
              </a:solidFill>
            </a:endParaRPr>
          </a:p>
        </p:txBody>
      </p:sp>
      <p:sp>
        <p:nvSpPr>
          <p:cNvPr id="747525" name="Text Box 5"/>
          <p:cNvSpPr txBox="1">
            <a:spLocks noChangeArrowheads="1"/>
          </p:cNvSpPr>
          <p:nvPr/>
        </p:nvSpPr>
        <p:spPr bwMode="auto">
          <a:xfrm>
            <a:off x="1524000" y="4419600"/>
            <a:ext cx="5791200" cy="20177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dirty="0">
                <a:solidFill>
                  <a:srgbClr val="0000CC"/>
                </a:solidFill>
              </a:rPr>
              <a:t>SELECT</a:t>
            </a:r>
            <a:r>
              <a:rPr lang="en-US" dirty="0"/>
              <a:t> TENPHG, </a:t>
            </a:r>
            <a:r>
              <a:rPr lang="en-US" dirty="0">
                <a:solidFill>
                  <a:srgbClr val="FF3399"/>
                </a:solidFill>
              </a:rPr>
              <a:t>AVG</a:t>
            </a:r>
            <a:r>
              <a:rPr lang="en-US" dirty="0"/>
              <a:t>(LUONG) </a:t>
            </a:r>
            <a:r>
              <a:rPr lang="en-US" dirty="0">
                <a:solidFill>
                  <a:srgbClr val="0000CC"/>
                </a:solidFill>
              </a:rPr>
              <a:t>AS</a:t>
            </a:r>
            <a:r>
              <a:rPr lang="en-US" dirty="0"/>
              <a:t> LUONG_TB</a:t>
            </a:r>
          </a:p>
          <a:p>
            <a:pPr algn="l"/>
            <a:r>
              <a:rPr lang="en-US" dirty="0">
                <a:solidFill>
                  <a:srgbClr val="0000CC"/>
                </a:solidFill>
              </a:rPr>
              <a:t>FROM</a:t>
            </a:r>
            <a:r>
              <a:rPr lang="en-US" dirty="0"/>
              <a:t> NHANVIEN, PHONGBAN</a:t>
            </a:r>
          </a:p>
          <a:p>
            <a:pPr algn="l"/>
            <a:r>
              <a:rPr lang="en-US" dirty="0">
                <a:solidFill>
                  <a:srgbClr val="0000CC"/>
                </a:solidFill>
              </a:rPr>
              <a:t>WHERE</a:t>
            </a:r>
            <a:r>
              <a:rPr lang="en-US" dirty="0"/>
              <a:t> PHONG=MAPHG</a:t>
            </a:r>
          </a:p>
          <a:p>
            <a:pPr algn="l"/>
            <a:r>
              <a:rPr lang="en-US" dirty="0">
                <a:solidFill>
                  <a:srgbClr val="0000CC"/>
                </a:solidFill>
              </a:rPr>
              <a:t>GROUP BY</a:t>
            </a:r>
            <a:r>
              <a:rPr lang="en-US" dirty="0"/>
              <a:t> TENPHG</a:t>
            </a:r>
          </a:p>
          <a:p>
            <a:pPr algn="l"/>
            <a:r>
              <a:rPr lang="en-US" dirty="0">
                <a:solidFill>
                  <a:srgbClr val="0000CC"/>
                </a:solidFill>
              </a:rPr>
              <a:t>HAVING</a:t>
            </a:r>
            <a:r>
              <a:rPr lang="en-US" dirty="0"/>
              <a:t> </a:t>
            </a:r>
            <a:r>
              <a:rPr lang="en-US" dirty="0">
                <a:solidFill>
                  <a:srgbClr val="FF3399"/>
                </a:solidFill>
              </a:rPr>
              <a:t>AVG</a:t>
            </a:r>
            <a:r>
              <a:rPr lang="en-US" dirty="0"/>
              <a:t>(LUONG) &gt; 20000</a:t>
            </a:r>
            <a:endParaRPr lang="en-US" dirty="0">
              <a:solidFill>
                <a:srgbClr val="CC0000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107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3742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75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75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475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475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24" grpId="0"/>
      <p:bldP spid="747525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6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Nhận</a:t>
            </a:r>
            <a:r>
              <a:rPr lang="en-US" sz="3500" b="1" dirty="0"/>
              <a:t> </a:t>
            </a:r>
            <a:r>
              <a:rPr lang="en-US" sz="3500" b="1" dirty="0" err="1"/>
              <a:t>xét</a:t>
            </a:r>
            <a:endParaRPr lang="en-US" sz="3500" b="1" dirty="0"/>
          </a:p>
        </p:txBody>
      </p:sp>
      <p:sp>
        <p:nvSpPr>
          <p:cNvPr id="75366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229600" cy="4724400"/>
          </a:xfrm>
        </p:spPr>
        <p:txBody>
          <a:bodyPr/>
          <a:lstStyle/>
          <a:p>
            <a:r>
              <a:rPr lang="en-US" dirty="0" err="1"/>
              <a:t>Mệnh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GROUP BY </a:t>
            </a:r>
          </a:p>
          <a:p>
            <a:pPr lvl="1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mệnh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SELECT (</a:t>
            </a:r>
            <a:r>
              <a:rPr lang="en-US" dirty="0" err="1"/>
              <a:t>trừ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)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mệnh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GROUP BY</a:t>
            </a:r>
          </a:p>
          <a:p>
            <a:r>
              <a:rPr lang="en-US" dirty="0" err="1"/>
              <a:t>Mệnh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HAVING</a:t>
            </a:r>
          </a:p>
          <a:p>
            <a:pPr lvl="1"/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mệnh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SELECT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đó</a:t>
            </a:r>
            <a:endParaRPr lang="en-US" dirty="0"/>
          </a:p>
          <a:p>
            <a:pPr lvl="1"/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,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bộ</a:t>
            </a:r>
            <a:endParaRPr lang="en-US" dirty="0"/>
          </a:p>
          <a:p>
            <a:pPr lvl="1"/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gom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108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020419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7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Nhận</a:t>
            </a:r>
            <a:r>
              <a:rPr lang="en-US" sz="3500" b="1" dirty="0"/>
              <a:t> </a:t>
            </a:r>
            <a:r>
              <a:rPr lang="en-US" sz="3500" b="1" dirty="0" err="1"/>
              <a:t>xét</a:t>
            </a:r>
            <a:endParaRPr lang="en-US" sz="3500" b="1" dirty="0"/>
          </a:p>
        </p:txBody>
      </p:sp>
      <p:sp>
        <p:nvSpPr>
          <p:cNvPr id="75571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1676400"/>
            <a:ext cx="8534400" cy="4648200"/>
          </a:xfrm>
        </p:spPr>
        <p:txBody>
          <a:bodyPr/>
          <a:lstStyle/>
          <a:p>
            <a:pPr algn="just"/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mệnh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GROUP BY </a:t>
            </a:r>
            <a:r>
              <a:rPr lang="en-US" dirty="0" err="1"/>
              <a:t>và</a:t>
            </a:r>
            <a:r>
              <a:rPr lang="en-US" dirty="0"/>
              <a:t> HAVING </a:t>
            </a:r>
          </a:p>
          <a:p>
            <a:pPr lvl="1" algn="just"/>
            <a:r>
              <a:rPr lang="en-US" dirty="0">
                <a:solidFill>
                  <a:schemeClr val="tx1"/>
                </a:solidFill>
              </a:rPr>
              <a:t>(1) </a:t>
            </a:r>
            <a:r>
              <a:rPr lang="en-US" dirty="0" err="1">
                <a:solidFill>
                  <a:schemeClr val="tx1"/>
                </a:solidFill>
              </a:rPr>
              <a:t>Chọn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ra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những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dòng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thỏa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điều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kiện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trong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mệnh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đề</a:t>
            </a:r>
            <a:r>
              <a:rPr lang="en-US" dirty="0">
                <a:solidFill>
                  <a:schemeClr val="tx1"/>
                </a:solidFill>
              </a:rPr>
              <a:t> WHERE</a:t>
            </a:r>
          </a:p>
          <a:p>
            <a:pPr lvl="1" algn="just"/>
            <a:r>
              <a:rPr lang="en-US" dirty="0">
                <a:solidFill>
                  <a:schemeClr val="tx1"/>
                </a:solidFill>
              </a:rPr>
              <a:t>(2) </a:t>
            </a:r>
            <a:r>
              <a:rPr lang="en-US" dirty="0" err="1">
                <a:solidFill>
                  <a:schemeClr val="tx1"/>
                </a:solidFill>
              </a:rPr>
              <a:t>Những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dòng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này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sẽ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được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gom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thành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nhiều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nhóm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tương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ứng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với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mệnh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đề</a:t>
            </a:r>
            <a:r>
              <a:rPr lang="en-US" dirty="0">
                <a:solidFill>
                  <a:schemeClr val="tx1"/>
                </a:solidFill>
              </a:rPr>
              <a:t> GROUP BY</a:t>
            </a:r>
          </a:p>
          <a:p>
            <a:pPr lvl="1" algn="just"/>
            <a:r>
              <a:rPr lang="en-US" dirty="0">
                <a:solidFill>
                  <a:schemeClr val="tx1"/>
                </a:solidFill>
              </a:rPr>
              <a:t>(3) </a:t>
            </a:r>
            <a:r>
              <a:rPr lang="en-US" dirty="0" err="1">
                <a:solidFill>
                  <a:schemeClr val="tx1"/>
                </a:solidFill>
              </a:rPr>
              <a:t>Áp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dụng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các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hàm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kết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hợp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cho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mỗi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nhóm</a:t>
            </a:r>
            <a:endParaRPr lang="en-US" dirty="0">
              <a:solidFill>
                <a:schemeClr val="tx1"/>
              </a:solidFill>
            </a:endParaRPr>
          </a:p>
          <a:p>
            <a:pPr lvl="1" algn="just"/>
            <a:r>
              <a:rPr lang="en-US" dirty="0">
                <a:solidFill>
                  <a:schemeClr val="tx1"/>
                </a:solidFill>
              </a:rPr>
              <a:t>(4) </a:t>
            </a:r>
            <a:r>
              <a:rPr lang="en-US" dirty="0" err="1">
                <a:solidFill>
                  <a:schemeClr val="tx1"/>
                </a:solidFill>
              </a:rPr>
              <a:t>Bỏ</a:t>
            </a:r>
            <a:r>
              <a:rPr lang="en-US" dirty="0">
                <a:solidFill>
                  <a:schemeClr val="tx1"/>
                </a:solidFill>
              </a:rPr>
              <a:t> qua </a:t>
            </a:r>
            <a:r>
              <a:rPr lang="en-US" dirty="0" err="1">
                <a:solidFill>
                  <a:schemeClr val="tx1"/>
                </a:solidFill>
              </a:rPr>
              <a:t>những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nhóm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không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thỏa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điều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kiện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trong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mệnh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đề</a:t>
            </a:r>
            <a:r>
              <a:rPr lang="en-US" dirty="0">
                <a:solidFill>
                  <a:schemeClr val="tx1"/>
                </a:solidFill>
              </a:rPr>
              <a:t> HAVING</a:t>
            </a:r>
          </a:p>
          <a:p>
            <a:pPr lvl="1" algn="just"/>
            <a:r>
              <a:rPr lang="en-US" dirty="0">
                <a:solidFill>
                  <a:schemeClr val="tx1"/>
                </a:solidFill>
              </a:rPr>
              <a:t>(5) </a:t>
            </a:r>
            <a:r>
              <a:rPr lang="en-US" dirty="0" err="1">
                <a:solidFill>
                  <a:schemeClr val="tx1"/>
                </a:solidFill>
              </a:rPr>
              <a:t>Rút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trích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các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giá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trị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của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các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cột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và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hàm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kết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hợp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trong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mệnh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đề</a:t>
            </a:r>
            <a:r>
              <a:rPr lang="en-US" dirty="0">
                <a:solidFill>
                  <a:schemeClr val="tx1"/>
                </a:solidFill>
              </a:rPr>
              <a:t> SELECT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109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944651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Ví</a:t>
            </a:r>
            <a:r>
              <a:rPr lang="en-US" b="1" dirty="0"/>
              <a:t> </a:t>
            </a:r>
            <a:r>
              <a:rPr lang="en-US" b="1" dirty="0" err="1"/>
              <a:t>dụ</a:t>
            </a:r>
            <a:r>
              <a:rPr lang="en-US" b="1" dirty="0"/>
              <a:t> 20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0A33-8893-432C-8DF5-8668727E3DA8}" type="slidenum">
              <a:rPr lang="en-US" smtClean="0"/>
              <a:t>110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304800" y="1371600"/>
            <a:ext cx="8503920" cy="4572000"/>
          </a:xfrm>
        </p:spPr>
        <p:txBody>
          <a:bodyPr/>
          <a:lstStyle/>
          <a:p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phòng</a:t>
            </a:r>
            <a:r>
              <a:rPr lang="en-US" dirty="0"/>
              <a:t> ban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lương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bình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nhất</a:t>
            </a:r>
            <a:endParaRPr lang="en-US" dirty="0"/>
          </a:p>
          <a:p>
            <a:endParaRPr lang="en-US" dirty="0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371600" y="1752600"/>
            <a:ext cx="4724400" cy="211852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>
                <a:solidFill>
                  <a:srgbClr val="0000CC"/>
                </a:solidFill>
              </a:rPr>
              <a:t>SELECT</a:t>
            </a:r>
            <a:r>
              <a:rPr lang="en-US"/>
              <a:t> PHG, </a:t>
            </a:r>
            <a:r>
              <a:rPr lang="en-US">
                <a:solidFill>
                  <a:srgbClr val="FF3399"/>
                </a:solidFill>
              </a:rPr>
              <a:t>AVG</a:t>
            </a:r>
            <a:r>
              <a:rPr lang="en-US"/>
              <a:t>(LUONG) </a:t>
            </a:r>
            <a:r>
              <a:rPr lang="en-US">
                <a:solidFill>
                  <a:srgbClr val="0000CC"/>
                </a:solidFill>
              </a:rPr>
              <a:t>AS</a:t>
            </a:r>
            <a:r>
              <a:rPr lang="en-US"/>
              <a:t> LUONG_TB</a:t>
            </a:r>
          </a:p>
          <a:p>
            <a:pPr algn="l">
              <a:lnSpc>
                <a:spcPct val="150000"/>
              </a:lnSpc>
            </a:pPr>
            <a:r>
              <a:rPr lang="en-US">
                <a:solidFill>
                  <a:srgbClr val="0000CC"/>
                </a:solidFill>
              </a:rPr>
              <a:t>FROM</a:t>
            </a:r>
            <a:r>
              <a:rPr lang="en-US"/>
              <a:t> NHANVIEN</a:t>
            </a:r>
          </a:p>
          <a:p>
            <a:pPr algn="l">
              <a:lnSpc>
                <a:spcPct val="150000"/>
              </a:lnSpc>
            </a:pPr>
            <a:r>
              <a:rPr lang="en-US">
                <a:solidFill>
                  <a:srgbClr val="0000CC"/>
                </a:solidFill>
              </a:rPr>
              <a:t>GROUP BY</a:t>
            </a:r>
            <a:r>
              <a:rPr lang="en-US"/>
              <a:t> PHG</a:t>
            </a:r>
          </a:p>
          <a:p>
            <a:pPr algn="l">
              <a:lnSpc>
                <a:spcPct val="150000"/>
              </a:lnSpc>
            </a:pPr>
            <a:r>
              <a:rPr lang="en-US">
                <a:solidFill>
                  <a:srgbClr val="0000CC"/>
                </a:solidFill>
              </a:rPr>
              <a:t>HAVING</a:t>
            </a:r>
            <a:r>
              <a:rPr lang="en-US"/>
              <a:t> </a:t>
            </a:r>
            <a:r>
              <a:rPr lang="en-US">
                <a:solidFill>
                  <a:srgbClr val="FF3399"/>
                </a:solidFill>
              </a:rPr>
              <a:t>MAX</a:t>
            </a:r>
            <a:r>
              <a:rPr lang="en-US"/>
              <a:t>(</a:t>
            </a:r>
            <a:r>
              <a:rPr lang="en-US">
                <a:solidFill>
                  <a:srgbClr val="FF3399"/>
                </a:solidFill>
              </a:rPr>
              <a:t>AVG</a:t>
            </a:r>
            <a:r>
              <a:rPr lang="en-US"/>
              <a:t>(LUONG))</a:t>
            </a:r>
            <a:endParaRPr lang="en-US">
              <a:solidFill>
                <a:srgbClr val="CC0000"/>
              </a:solidFill>
            </a:endParaRPr>
          </a:p>
        </p:txBody>
      </p:sp>
      <p:grpSp>
        <p:nvGrpSpPr>
          <p:cNvPr id="8" name="Group 6"/>
          <p:cNvGrpSpPr>
            <a:grpSpLocks/>
          </p:cNvGrpSpPr>
          <p:nvPr/>
        </p:nvGrpSpPr>
        <p:grpSpPr bwMode="auto">
          <a:xfrm>
            <a:off x="2667000" y="3048000"/>
            <a:ext cx="762000" cy="381000"/>
            <a:chOff x="1753" y="2000"/>
            <a:chExt cx="1359" cy="938"/>
          </a:xfrm>
        </p:grpSpPr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1753" y="2000"/>
              <a:ext cx="1359" cy="851"/>
            </a:xfrm>
            <a:custGeom>
              <a:avLst/>
              <a:gdLst>
                <a:gd name="T0" fmla="*/ 0 w 1359"/>
                <a:gd name="T1" fmla="*/ 851 h 851"/>
                <a:gd name="T2" fmla="*/ 421 w 1359"/>
                <a:gd name="T3" fmla="*/ 509 h 851"/>
                <a:gd name="T4" fmla="*/ 574 w 1359"/>
                <a:gd name="T5" fmla="*/ 444 h 851"/>
                <a:gd name="T6" fmla="*/ 916 w 1359"/>
                <a:gd name="T7" fmla="*/ 262 h 851"/>
                <a:gd name="T8" fmla="*/ 1221 w 1359"/>
                <a:gd name="T9" fmla="*/ 80 h 851"/>
                <a:gd name="T10" fmla="*/ 1308 w 1359"/>
                <a:gd name="T11" fmla="*/ 29 h 851"/>
                <a:gd name="T12" fmla="*/ 1359 w 1359"/>
                <a:gd name="T13" fmla="*/ 0 h 8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359"/>
                <a:gd name="T22" fmla="*/ 0 h 851"/>
                <a:gd name="T23" fmla="*/ 1359 w 1359"/>
                <a:gd name="T24" fmla="*/ 851 h 85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359" h="851">
                  <a:moveTo>
                    <a:pt x="0" y="851"/>
                  </a:moveTo>
                  <a:cubicBezTo>
                    <a:pt x="91" y="708"/>
                    <a:pt x="273" y="585"/>
                    <a:pt x="421" y="509"/>
                  </a:cubicBezTo>
                  <a:cubicBezTo>
                    <a:pt x="467" y="485"/>
                    <a:pt x="530" y="471"/>
                    <a:pt x="574" y="444"/>
                  </a:cubicBezTo>
                  <a:cubicBezTo>
                    <a:pt x="684" y="377"/>
                    <a:pt x="802" y="323"/>
                    <a:pt x="916" y="262"/>
                  </a:cubicBezTo>
                  <a:cubicBezTo>
                    <a:pt x="1021" y="206"/>
                    <a:pt x="1117" y="137"/>
                    <a:pt x="1221" y="80"/>
                  </a:cubicBezTo>
                  <a:cubicBezTo>
                    <a:pt x="1250" y="64"/>
                    <a:pt x="1279" y="46"/>
                    <a:pt x="1308" y="29"/>
                  </a:cubicBezTo>
                  <a:cubicBezTo>
                    <a:pt x="1325" y="19"/>
                    <a:pt x="1359" y="0"/>
                    <a:pt x="1359" y="0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150000"/>
                </a:lnSpc>
              </a:pPr>
              <a:endParaRPr lang="en-US"/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auto">
            <a:xfrm>
              <a:off x="2022" y="2146"/>
              <a:ext cx="1018" cy="792"/>
            </a:xfrm>
            <a:custGeom>
              <a:avLst/>
              <a:gdLst>
                <a:gd name="T0" fmla="*/ 0 w 1018"/>
                <a:gd name="T1" fmla="*/ 0 h 792"/>
                <a:gd name="T2" fmla="*/ 167 w 1018"/>
                <a:gd name="T3" fmla="*/ 87 h 792"/>
                <a:gd name="T4" fmla="*/ 312 w 1018"/>
                <a:gd name="T5" fmla="*/ 174 h 792"/>
                <a:gd name="T6" fmla="*/ 363 w 1018"/>
                <a:gd name="T7" fmla="*/ 218 h 792"/>
                <a:gd name="T8" fmla="*/ 654 w 1018"/>
                <a:gd name="T9" fmla="*/ 458 h 792"/>
                <a:gd name="T10" fmla="*/ 749 w 1018"/>
                <a:gd name="T11" fmla="*/ 552 h 792"/>
                <a:gd name="T12" fmla="*/ 858 w 1018"/>
                <a:gd name="T13" fmla="*/ 632 h 792"/>
                <a:gd name="T14" fmla="*/ 909 w 1018"/>
                <a:gd name="T15" fmla="*/ 691 h 792"/>
                <a:gd name="T16" fmla="*/ 960 w 1018"/>
                <a:gd name="T17" fmla="*/ 727 h 792"/>
                <a:gd name="T18" fmla="*/ 1018 w 1018"/>
                <a:gd name="T19" fmla="*/ 792 h 79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018"/>
                <a:gd name="T31" fmla="*/ 0 h 792"/>
                <a:gd name="T32" fmla="*/ 1018 w 1018"/>
                <a:gd name="T33" fmla="*/ 792 h 79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018" h="792">
                  <a:moveTo>
                    <a:pt x="0" y="0"/>
                  </a:moveTo>
                  <a:cubicBezTo>
                    <a:pt x="103" y="28"/>
                    <a:pt x="87" y="33"/>
                    <a:pt x="167" y="87"/>
                  </a:cubicBezTo>
                  <a:cubicBezTo>
                    <a:pt x="213" y="118"/>
                    <a:pt x="265" y="145"/>
                    <a:pt x="312" y="174"/>
                  </a:cubicBezTo>
                  <a:cubicBezTo>
                    <a:pt x="412" y="236"/>
                    <a:pt x="278" y="158"/>
                    <a:pt x="363" y="218"/>
                  </a:cubicBezTo>
                  <a:cubicBezTo>
                    <a:pt x="466" y="291"/>
                    <a:pt x="560" y="373"/>
                    <a:pt x="654" y="458"/>
                  </a:cubicBezTo>
                  <a:cubicBezTo>
                    <a:pt x="687" y="488"/>
                    <a:pt x="713" y="526"/>
                    <a:pt x="749" y="552"/>
                  </a:cubicBezTo>
                  <a:cubicBezTo>
                    <a:pt x="785" y="579"/>
                    <a:pt x="829" y="598"/>
                    <a:pt x="858" y="632"/>
                  </a:cubicBezTo>
                  <a:cubicBezTo>
                    <a:pt x="875" y="652"/>
                    <a:pt x="890" y="673"/>
                    <a:pt x="909" y="691"/>
                  </a:cubicBezTo>
                  <a:cubicBezTo>
                    <a:pt x="924" y="705"/>
                    <a:pt x="945" y="713"/>
                    <a:pt x="960" y="727"/>
                  </a:cubicBezTo>
                  <a:cubicBezTo>
                    <a:pt x="981" y="746"/>
                    <a:pt x="997" y="772"/>
                    <a:pt x="1018" y="792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150000"/>
                </a:lnSpc>
              </a:pPr>
              <a:endParaRPr lang="en-US"/>
            </a:p>
          </p:txBody>
        </p:sp>
      </p:grp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1371600" y="1752600"/>
            <a:ext cx="7086600" cy="3000821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dirty="0">
                <a:solidFill>
                  <a:srgbClr val="0000CC"/>
                </a:solidFill>
              </a:rPr>
              <a:t>SELECT</a:t>
            </a:r>
            <a:r>
              <a:rPr lang="en-US" dirty="0"/>
              <a:t> PHG, </a:t>
            </a:r>
            <a:r>
              <a:rPr lang="en-US" dirty="0">
                <a:solidFill>
                  <a:srgbClr val="FF3399"/>
                </a:solidFill>
              </a:rPr>
              <a:t>AVG</a:t>
            </a:r>
            <a:r>
              <a:rPr lang="en-US" dirty="0"/>
              <a:t>(LUONG) </a:t>
            </a:r>
            <a:r>
              <a:rPr lang="en-US" dirty="0">
                <a:solidFill>
                  <a:srgbClr val="0000CC"/>
                </a:solidFill>
              </a:rPr>
              <a:t>AS</a:t>
            </a:r>
            <a:r>
              <a:rPr lang="en-US" dirty="0"/>
              <a:t> LUONG_TB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rgbClr val="0000CC"/>
                </a:solidFill>
              </a:rPr>
              <a:t>FROM</a:t>
            </a:r>
            <a:r>
              <a:rPr lang="en-US" dirty="0"/>
              <a:t> NHANVIEN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rgbClr val="0000CC"/>
                </a:solidFill>
              </a:rPr>
              <a:t>GROUP BY</a:t>
            </a:r>
            <a:r>
              <a:rPr lang="en-US" dirty="0"/>
              <a:t> PHG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rgbClr val="0000CC"/>
                </a:solidFill>
              </a:rPr>
              <a:t>HAVING</a:t>
            </a:r>
            <a:r>
              <a:rPr lang="en-US" dirty="0"/>
              <a:t> </a:t>
            </a:r>
            <a:r>
              <a:rPr lang="en-US" dirty="0">
                <a:solidFill>
                  <a:srgbClr val="FF3399"/>
                </a:solidFill>
              </a:rPr>
              <a:t>AVG</a:t>
            </a:r>
            <a:r>
              <a:rPr lang="en-US" dirty="0"/>
              <a:t>(LUONG) &gt;= </a:t>
            </a:r>
            <a:r>
              <a:rPr lang="en-US" dirty="0">
                <a:solidFill>
                  <a:srgbClr val="777777"/>
                </a:solidFill>
              </a:rPr>
              <a:t>ALL</a:t>
            </a:r>
            <a:r>
              <a:rPr lang="en-US" dirty="0"/>
              <a:t> (</a:t>
            </a:r>
          </a:p>
          <a:p>
            <a:pPr algn="l">
              <a:lnSpc>
                <a:spcPct val="150000"/>
              </a:lnSpc>
            </a:pPr>
            <a:r>
              <a:rPr lang="en-US" dirty="0"/>
              <a:t>		</a:t>
            </a:r>
            <a:r>
              <a:rPr lang="en-US" dirty="0">
                <a:solidFill>
                  <a:srgbClr val="0000CC"/>
                </a:solidFill>
              </a:rPr>
              <a:t>SELECT</a:t>
            </a:r>
            <a:r>
              <a:rPr lang="en-US" dirty="0"/>
              <a:t> </a:t>
            </a:r>
            <a:r>
              <a:rPr lang="en-US" dirty="0">
                <a:solidFill>
                  <a:srgbClr val="FF3399"/>
                </a:solidFill>
              </a:rPr>
              <a:t>AVG</a:t>
            </a:r>
            <a:r>
              <a:rPr lang="en-US" dirty="0"/>
              <a:t>(LUONG)</a:t>
            </a:r>
          </a:p>
          <a:p>
            <a:pPr algn="l">
              <a:lnSpc>
                <a:spcPct val="150000"/>
              </a:lnSpc>
            </a:pPr>
            <a:r>
              <a:rPr lang="en-US" dirty="0"/>
              <a:t>		</a:t>
            </a:r>
            <a:r>
              <a:rPr lang="en-US" dirty="0">
                <a:solidFill>
                  <a:srgbClr val="0000CC"/>
                </a:solidFill>
              </a:rPr>
              <a:t>FROM</a:t>
            </a:r>
            <a:r>
              <a:rPr lang="en-US" dirty="0"/>
              <a:t> NHANVIEN</a:t>
            </a:r>
          </a:p>
          <a:p>
            <a:pPr algn="l">
              <a:lnSpc>
                <a:spcPct val="150000"/>
              </a:lnSpc>
            </a:pPr>
            <a:r>
              <a:rPr lang="en-US" dirty="0"/>
              <a:t>		</a:t>
            </a:r>
            <a:r>
              <a:rPr lang="en-US" dirty="0">
                <a:solidFill>
                  <a:srgbClr val="0000CC"/>
                </a:solidFill>
              </a:rPr>
              <a:t>GROUP BY</a:t>
            </a:r>
            <a:r>
              <a:rPr lang="en-US" dirty="0"/>
              <a:t> PHG)</a:t>
            </a:r>
            <a:endParaRPr lang="en-US" dirty="0">
              <a:solidFill>
                <a:srgbClr val="CC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2992233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Ví</a:t>
            </a:r>
            <a:r>
              <a:rPr lang="en-US" b="1" dirty="0"/>
              <a:t> </a:t>
            </a:r>
            <a:r>
              <a:rPr lang="en-US" b="1" dirty="0" err="1"/>
              <a:t>dụ</a:t>
            </a:r>
            <a:r>
              <a:rPr lang="en-US" b="1" dirty="0"/>
              <a:t> 20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0A33-8893-432C-8DF5-8668727E3DA8}" type="slidenum">
              <a:rPr lang="en-US" smtClean="0"/>
              <a:t>111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304800" y="1371600"/>
            <a:ext cx="8503920" cy="4572000"/>
          </a:xfrm>
        </p:spPr>
        <p:txBody>
          <a:bodyPr/>
          <a:lstStyle/>
          <a:p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phòng</a:t>
            </a:r>
            <a:r>
              <a:rPr lang="en-US" dirty="0"/>
              <a:t> ban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lương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bình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nhất</a:t>
            </a:r>
            <a:endParaRPr lang="en-US" dirty="0"/>
          </a:p>
          <a:p>
            <a:endParaRPr lang="en-US" dirty="0"/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1275588" y="2157189"/>
            <a:ext cx="7086600" cy="3000821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dirty="0">
                <a:solidFill>
                  <a:srgbClr val="0000CC"/>
                </a:solidFill>
              </a:rPr>
              <a:t>SELECT</a:t>
            </a:r>
            <a:r>
              <a:rPr lang="en-US" dirty="0"/>
              <a:t> PHG, </a:t>
            </a:r>
            <a:r>
              <a:rPr lang="en-US" dirty="0">
                <a:solidFill>
                  <a:srgbClr val="FF3399"/>
                </a:solidFill>
              </a:rPr>
              <a:t>AVG</a:t>
            </a:r>
            <a:r>
              <a:rPr lang="en-US" dirty="0"/>
              <a:t>(LUONG) </a:t>
            </a:r>
            <a:r>
              <a:rPr lang="en-US" dirty="0">
                <a:solidFill>
                  <a:srgbClr val="0000CC"/>
                </a:solidFill>
              </a:rPr>
              <a:t>AS</a:t>
            </a:r>
            <a:r>
              <a:rPr lang="en-US" dirty="0"/>
              <a:t> LUONG_TB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rgbClr val="0000CC"/>
                </a:solidFill>
              </a:rPr>
              <a:t>FROM</a:t>
            </a:r>
            <a:r>
              <a:rPr lang="en-US" dirty="0"/>
              <a:t> NHANVIEN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rgbClr val="0000CC"/>
                </a:solidFill>
              </a:rPr>
              <a:t>GROUP BY</a:t>
            </a:r>
            <a:r>
              <a:rPr lang="en-US" dirty="0"/>
              <a:t> PHG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rgbClr val="0000CC"/>
                </a:solidFill>
              </a:rPr>
              <a:t>HAVING</a:t>
            </a:r>
            <a:r>
              <a:rPr lang="en-US" dirty="0"/>
              <a:t> </a:t>
            </a:r>
            <a:r>
              <a:rPr lang="en-US" dirty="0">
                <a:solidFill>
                  <a:srgbClr val="FF3399"/>
                </a:solidFill>
              </a:rPr>
              <a:t>AVG</a:t>
            </a:r>
            <a:r>
              <a:rPr lang="en-US" dirty="0"/>
              <a:t>(LUONG) &gt;= </a:t>
            </a:r>
            <a:r>
              <a:rPr lang="en-US" dirty="0">
                <a:solidFill>
                  <a:srgbClr val="777777"/>
                </a:solidFill>
              </a:rPr>
              <a:t>ALL</a:t>
            </a:r>
            <a:r>
              <a:rPr lang="en-US" dirty="0"/>
              <a:t> (</a:t>
            </a:r>
          </a:p>
          <a:p>
            <a:pPr algn="l">
              <a:lnSpc>
                <a:spcPct val="150000"/>
              </a:lnSpc>
            </a:pPr>
            <a:r>
              <a:rPr lang="en-US" dirty="0"/>
              <a:t>		</a:t>
            </a:r>
            <a:r>
              <a:rPr lang="en-US" dirty="0">
                <a:solidFill>
                  <a:srgbClr val="0000CC"/>
                </a:solidFill>
              </a:rPr>
              <a:t>SELECT</a:t>
            </a:r>
            <a:r>
              <a:rPr lang="en-US" dirty="0"/>
              <a:t> </a:t>
            </a:r>
            <a:r>
              <a:rPr lang="en-US" dirty="0">
                <a:solidFill>
                  <a:srgbClr val="FF3399"/>
                </a:solidFill>
              </a:rPr>
              <a:t>AVG</a:t>
            </a:r>
            <a:r>
              <a:rPr lang="en-US" dirty="0"/>
              <a:t>(LUONG)</a:t>
            </a:r>
          </a:p>
          <a:p>
            <a:pPr algn="l">
              <a:lnSpc>
                <a:spcPct val="150000"/>
              </a:lnSpc>
            </a:pPr>
            <a:r>
              <a:rPr lang="en-US" dirty="0"/>
              <a:t>		</a:t>
            </a:r>
            <a:r>
              <a:rPr lang="en-US" dirty="0">
                <a:solidFill>
                  <a:srgbClr val="0000CC"/>
                </a:solidFill>
              </a:rPr>
              <a:t>FROM</a:t>
            </a:r>
            <a:r>
              <a:rPr lang="en-US" dirty="0"/>
              <a:t> NHANVIEN</a:t>
            </a:r>
          </a:p>
          <a:p>
            <a:pPr algn="l">
              <a:lnSpc>
                <a:spcPct val="150000"/>
              </a:lnSpc>
            </a:pPr>
            <a:r>
              <a:rPr lang="en-US" dirty="0"/>
              <a:t>		</a:t>
            </a:r>
            <a:r>
              <a:rPr lang="en-US" dirty="0">
                <a:solidFill>
                  <a:srgbClr val="0000CC"/>
                </a:solidFill>
              </a:rPr>
              <a:t>GROUP BY</a:t>
            </a:r>
            <a:r>
              <a:rPr lang="en-US" dirty="0"/>
              <a:t> PHG)</a:t>
            </a:r>
            <a:endParaRPr lang="en-US" dirty="0">
              <a:solidFill>
                <a:srgbClr val="CC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9740671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0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54013"/>
            <a:ext cx="8839200" cy="620712"/>
          </a:xfrm>
        </p:spPr>
        <p:txBody>
          <a:bodyPr>
            <a:normAutofit/>
          </a:bodyPr>
          <a:lstStyle/>
          <a:p>
            <a:r>
              <a:rPr lang="en-US" sz="3200" b="1" dirty="0" err="1"/>
              <a:t>Ví</a:t>
            </a:r>
            <a:r>
              <a:rPr lang="en-US" sz="3200" b="1" dirty="0"/>
              <a:t> </a:t>
            </a:r>
            <a:r>
              <a:rPr lang="en-US" sz="3200" b="1" dirty="0" err="1"/>
              <a:t>dụ</a:t>
            </a:r>
            <a:r>
              <a:rPr lang="en-US" sz="3200" b="1" dirty="0"/>
              <a:t> 21</a:t>
            </a:r>
          </a:p>
        </p:txBody>
      </p:sp>
      <p:sp>
        <p:nvSpPr>
          <p:cNvPr id="76800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524000"/>
            <a:ext cx="8229600" cy="4800600"/>
          </a:xfrm>
        </p:spPr>
        <p:txBody>
          <a:bodyPr/>
          <a:lstStyle/>
          <a:p>
            <a:pPr algn="just"/>
            <a:r>
              <a:rPr lang="en-US" sz="2800" dirty="0" err="1"/>
              <a:t>Tìm</a:t>
            </a:r>
            <a:r>
              <a:rPr lang="en-US" sz="2800" dirty="0"/>
              <a:t> </a:t>
            </a:r>
            <a:r>
              <a:rPr lang="en-US" sz="2800" dirty="0" err="1"/>
              <a:t>tên</a:t>
            </a:r>
            <a:r>
              <a:rPr lang="en-US" sz="2800" dirty="0"/>
              <a:t> </a:t>
            </a:r>
            <a:r>
              <a:rPr lang="en-US" sz="2800" dirty="0" err="1"/>
              <a:t>các</a:t>
            </a:r>
            <a:r>
              <a:rPr lang="en-US" sz="2800" dirty="0"/>
              <a:t> </a:t>
            </a:r>
            <a:r>
              <a:rPr lang="en-US" sz="2800" dirty="0" err="1"/>
              <a:t>nhân</a:t>
            </a:r>
            <a:r>
              <a:rPr lang="en-US" sz="2800" dirty="0"/>
              <a:t> </a:t>
            </a:r>
            <a:r>
              <a:rPr lang="en-US" sz="2800" dirty="0" err="1"/>
              <a:t>viên</a:t>
            </a:r>
            <a:r>
              <a:rPr lang="en-US" sz="2800" dirty="0"/>
              <a:t> </a:t>
            </a:r>
            <a:r>
              <a:rPr lang="en-US" sz="2800" dirty="0" err="1"/>
              <a:t>được</a:t>
            </a:r>
            <a:r>
              <a:rPr lang="en-US" sz="2800" dirty="0"/>
              <a:t> </a:t>
            </a:r>
            <a:r>
              <a:rPr lang="en-US" sz="2800" dirty="0" err="1"/>
              <a:t>phân</a:t>
            </a:r>
            <a:r>
              <a:rPr lang="en-US" sz="2800" dirty="0"/>
              <a:t> </a:t>
            </a:r>
            <a:r>
              <a:rPr lang="en-US" sz="2800" dirty="0" err="1"/>
              <a:t>công</a:t>
            </a:r>
            <a:r>
              <a:rPr lang="en-US" sz="2800" dirty="0"/>
              <a:t> </a:t>
            </a:r>
            <a:r>
              <a:rPr lang="en-US" sz="2800" dirty="0" err="1"/>
              <a:t>làm</a:t>
            </a:r>
            <a:r>
              <a:rPr lang="en-US" sz="2800" dirty="0"/>
              <a:t> </a:t>
            </a:r>
            <a:r>
              <a:rPr lang="en-US" sz="2800" u="sng" dirty="0" err="1"/>
              <a:t>tất</a:t>
            </a:r>
            <a:r>
              <a:rPr lang="en-US" sz="2800" u="sng" dirty="0"/>
              <a:t> </a:t>
            </a:r>
            <a:r>
              <a:rPr lang="en-US" sz="2800" u="sng" dirty="0" err="1"/>
              <a:t>cả</a:t>
            </a:r>
            <a:r>
              <a:rPr lang="en-US" sz="2800" dirty="0"/>
              <a:t> </a:t>
            </a:r>
            <a:r>
              <a:rPr lang="en-US" sz="2800" dirty="0" err="1"/>
              <a:t>các</a:t>
            </a:r>
            <a:r>
              <a:rPr lang="en-US" sz="2800" dirty="0"/>
              <a:t> </a:t>
            </a:r>
            <a:r>
              <a:rPr lang="en-US" sz="2800" dirty="0" err="1"/>
              <a:t>đồ</a:t>
            </a:r>
            <a:r>
              <a:rPr lang="en-US" sz="2800" dirty="0"/>
              <a:t> </a:t>
            </a:r>
            <a:r>
              <a:rPr lang="en-US" sz="2800" dirty="0" err="1"/>
              <a:t>án</a:t>
            </a:r>
            <a:endParaRPr lang="en-US" dirty="0"/>
          </a:p>
        </p:txBody>
      </p:sp>
      <p:sp>
        <p:nvSpPr>
          <p:cNvPr id="768004" name="Text Box 4"/>
          <p:cNvSpPr txBox="1">
            <a:spLocks noChangeArrowheads="1"/>
          </p:cNvSpPr>
          <p:nvPr/>
        </p:nvSpPr>
        <p:spPr bwMode="auto">
          <a:xfrm>
            <a:off x="2209800" y="2590800"/>
            <a:ext cx="4724400" cy="28432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>
                <a:solidFill>
                  <a:srgbClr val="0000CC"/>
                </a:solidFill>
              </a:rPr>
              <a:t>SELECT</a:t>
            </a:r>
            <a:r>
              <a:rPr lang="en-US"/>
              <a:t> MANV, TENVN</a:t>
            </a:r>
          </a:p>
          <a:p>
            <a:pPr algn="l"/>
            <a:r>
              <a:rPr lang="en-US">
                <a:solidFill>
                  <a:srgbClr val="0000CC"/>
                </a:solidFill>
              </a:rPr>
              <a:t>FROM</a:t>
            </a:r>
            <a:r>
              <a:rPr lang="en-US"/>
              <a:t> NHANVIEN, PHANCONG</a:t>
            </a:r>
          </a:p>
          <a:p>
            <a:pPr algn="l"/>
            <a:r>
              <a:rPr lang="en-US">
                <a:solidFill>
                  <a:srgbClr val="0000CC"/>
                </a:solidFill>
              </a:rPr>
              <a:t>WHERE</a:t>
            </a:r>
            <a:r>
              <a:rPr lang="en-US"/>
              <a:t> MANV=MA_NVIEN</a:t>
            </a:r>
          </a:p>
          <a:p>
            <a:pPr algn="l"/>
            <a:r>
              <a:rPr lang="en-US">
                <a:solidFill>
                  <a:srgbClr val="0000CC"/>
                </a:solidFill>
              </a:rPr>
              <a:t>GROUP BY</a:t>
            </a:r>
            <a:r>
              <a:rPr lang="en-US"/>
              <a:t> MANV, TENNV</a:t>
            </a:r>
          </a:p>
          <a:p>
            <a:pPr algn="l"/>
            <a:r>
              <a:rPr lang="en-US">
                <a:solidFill>
                  <a:srgbClr val="0000CC"/>
                </a:solidFill>
              </a:rPr>
              <a:t>HAVING</a:t>
            </a:r>
            <a:r>
              <a:rPr lang="en-US"/>
              <a:t> </a:t>
            </a:r>
            <a:r>
              <a:rPr lang="en-US">
                <a:solidFill>
                  <a:srgbClr val="FF3399"/>
                </a:solidFill>
              </a:rPr>
              <a:t>COUNT</a:t>
            </a:r>
            <a:r>
              <a:rPr lang="en-US"/>
              <a:t>(*) = (</a:t>
            </a:r>
          </a:p>
          <a:p>
            <a:pPr algn="l"/>
            <a:r>
              <a:rPr lang="en-US"/>
              <a:t>		</a:t>
            </a:r>
            <a:r>
              <a:rPr lang="en-US">
                <a:solidFill>
                  <a:srgbClr val="0000CC"/>
                </a:solidFill>
              </a:rPr>
              <a:t>SELECT</a:t>
            </a:r>
            <a:r>
              <a:rPr lang="en-US"/>
              <a:t> </a:t>
            </a:r>
            <a:r>
              <a:rPr lang="en-US">
                <a:solidFill>
                  <a:srgbClr val="FF3399"/>
                </a:solidFill>
              </a:rPr>
              <a:t>COUNT</a:t>
            </a:r>
            <a:r>
              <a:rPr lang="en-US"/>
              <a:t>(*)</a:t>
            </a:r>
          </a:p>
          <a:p>
            <a:pPr algn="l"/>
            <a:r>
              <a:rPr lang="en-US"/>
              <a:t>		</a:t>
            </a:r>
            <a:r>
              <a:rPr lang="en-US">
                <a:solidFill>
                  <a:srgbClr val="0000CC"/>
                </a:solidFill>
              </a:rPr>
              <a:t>FROM</a:t>
            </a:r>
            <a:r>
              <a:rPr lang="en-US"/>
              <a:t> DEAN )</a:t>
            </a:r>
            <a:endParaRPr lang="en-US">
              <a:solidFill>
                <a:srgbClr val="CC0000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1602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680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680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04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8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/>
              <a:t>f) </a:t>
            </a:r>
            <a:r>
              <a:rPr lang="en-US" sz="3500" b="1" dirty="0" err="1"/>
              <a:t>Một</a:t>
            </a:r>
            <a:r>
              <a:rPr lang="en-US" sz="3500" b="1" dirty="0"/>
              <a:t> </a:t>
            </a:r>
            <a:r>
              <a:rPr lang="en-US" sz="3500" b="1" dirty="0" err="1"/>
              <a:t>số</a:t>
            </a:r>
            <a:r>
              <a:rPr lang="en-US" sz="3500" b="1" dirty="0"/>
              <a:t> </a:t>
            </a:r>
            <a:r>
              <a:rPr lang="en-US" sz="3500" b="1" dirty="0" err="1"/>
              <a:t>dạng</a:t>
            </a:r>
            <a:r>
              <a:rPr lang="en-US" sz="3500" b="1" dirty="0"/>
              <a:t> </a:t>
            </a:r>
            <a:r>
              <a:rPr lang="en-US" sz="3500" b="1" dirty="0" err="1"/>
              <a:t>truy</a:t>
            </a:r>
            <a:r>
              <a:rPr lang="en-US" sz="3500" b="1" dirty="0"/>
              <a:t> </a:t>
            </a:r>
            <a:r>
              <a:rPr lang="en-US" sz="3500" b="1" dirty="0" err="1"/>
              <a:t>vấn</a:t>
            </a:r>
            <a:r>
              <a:rPr lang="en-US" sz="3500" b="1" dirty="0"/>
              <a:t> </a:t>
            </a:r>
            <a:r>
              <a:rPr lang="en-US" sz="3500" b="1" dirty="0" err="1"/>
              <a:t>khác</a:t>
            </a:r>
            <a:endParaRPr lang="en-US" sz="3500" b="1" dirty="0"/>
          </a:p>
        </p:txBody>
      </p:sp>
      <p:sp>
        <p:nvSpPr>
          <p:cNvPr id="75981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1676400"/>
            <a:ext cx="8458200" cy="4648200"/>
          </a:xfrm>
        </p:spPr>
        <p:txBody>
          <a:bodyPr/>
          <a:lstStyle/>
          <a:p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con ở </a:t>
            </a:r>
            <a:r>
              <a:rPr lang="en-US" dirty="0" err="1"/>
              <a:t>mệnh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FROM </a:t>
            </a:r>
          </a:p>
          <a:p>
            <a:endParaRPr lang="en-US" dirty="0"/>
          </a:p>
          <a:p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ở </a:t>
            </a:r>
            <a:r>
              <a:rPr lang="en-US" dirty="0" err="1"/>
              <a:t>mệnh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FROM</a:t>
            </a:r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Phép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kết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tự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nhiên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Phép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kết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ngoài</a:t>
            </a:r>
            <a:endParaRPr lang="en-US" dirty="0">
              <a:solidFill>
                <a:schemeClr val="tx1"/>
              </a:solidFill>
            </a:endParaRP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CASE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6898997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0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Truy</a:t>
            </a:r>
            <a:r>
              <a:rPr lang="en-US" sz="3500" b="1" dirty="0"/>
              <a:t> </a:t>
            </a:r>
            <a:r>
              <a:rPr lang="en-US" sz="3500" b="1" dirty="0" err="1"/>
              <a:t>vấn</a:t>
            </a:r>
            <a:r>
              <a:rPr lang="en-US" sz="3500" b="1" dirty="0"/>
              <a:t> con ở </a:t>
            </a:r>
            <a:r>
              <a:rPr lang="en-US" sz="3500" b="1" dirty="0" err="1"/>
              <a:t>mệnh</a:t>
            </a:r>
            <a:r>
              <a:rPr lang="en-US" sz="3500" b="1" dirty="0"/>
              <a:t> </a:t>
            </a:r>
            <a:r>
              <a:rPr lang="en-US" sz="3500" b="1" dirty="0" err="1"/>
              <a:t>đề</a:t>
            </a:r>
            <a:r>
              <a:rPr lang="en-US" sz="3500" b="1" dirty="0"/>
              <a:t> FROM</a:t>
            </a:r>
          </a:p>
        </p:txBody>
      </p:sp>
      <p:sp>
        <p:nvSpPr>
          <p:cNvPr id="77005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229600" cy="4724400"/>
          </a:xfrm>
        </p:spPr>
        <p:txBody>
          <a:bodyPr/>
          <a:lstStyle/>
          <a:p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u="sng" dirty="0" err="1"/>
              <a:t>bảng</a:t>
            </a:r>
            <a:endParaRPr lang="en-US" u="sng" dirty="0"/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Bảng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trung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gian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trong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quá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trình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truy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vấn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Không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có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lưu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trữ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thật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sự</a:t>
            </a:r>
            <a:endParaRPr lang="en-US" dirty="0">
              <a:solidFill>
                <a:schemeClr val="tx1"/>
              </a:solidFill>
            </a:endParaRP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r>
              <a:rPr lang="en-US" dirty="0" err="1"/>
              <a:t>Cú</a:t>
            </a:r>
            <a:r>
              <a:rPr lang="en-US" dirty="0"/>
              <a:t> </a:t>
            </a:r>
            <a:r>
              <a:rPr lang="en-US" dirty="0" err="1"/>
              <a:t>pháp</a:t>
            </a:r>
            <a:endParaRPr lang="en-US" dirty="0"/>
          </a:p>
        </p:txBody>
      </p:sp>
      <p:sp>
        <p:nvSpPr>
          <p:cNvPr id="770052" name="Rectangle 4"/>
          <p:cNvSpPr>
            <a:spLocks noChangeArrowheads="1"/>
          </p:cNvSpPr>
          <p:nvPr/>
        </p:nvSpPr>
        <p:spPr bwMode="auto">
          <a:xfrm>
            <a:off x="1828800" y="4191000"/>
            <a:ext cx="5105400" cy="1204913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l"/>
            <a:r>
              <a:rPr lang="en-US" b="1"/>
              <a:t>SELECT</a:t>
            </a:r>
            <a:r>
              <a:rPr lang="en-US"/>
              <a:t> &lt;danh sách các cột&gt;</a:t>
            </a:r>
          </a:p>
          <a:p>
            <a:pPr algn="l"/>
            <a:r>
              <a:rPr lang="en-US" b="1"/>
              <a:t>FROM</a:t>
            </a:r>
            <a:r>
              <a:rPr lang="en-US"/>
              <a:t> R1, R2, </a:t>
            </a:r>
            <a:r>
              <a:rPr lang="en-US" b="1"/>
              <a:t>(</a:t>
            </a:r>
            <a:r>
              <a:rPr lang="en-US"/>
              <a:t>&lt;truy vấn con&gt;</a:t>
            </a:r>
            <a:r>
              <a:rPr lang="en-US" b="1"/>
              <a:t>) AS</a:t>
            </a:r>
            <a:r>
              <a:rPr lang="en-US"/>
              <a:t> tên_bảng</a:t>
            </a:r>
          </a:p>
          <a:p>
            <a:pPr algn="l"/>
            <a:r>
              <a:rPr lang="en-US" b="1"/>
              <a:t>WHERE</a:t>
            </a:r>
            <a:r>
              <a:rPr lang="en-US"/>
              <a:t> &lt;điều kiện&gt;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2577813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b="1" dirty="0" err="1"/>
              <a:t>Ví</a:t>
            </a:r>
            <a:r>
              <a:rPr lang="en-US" b="1" dirty="0"/>
              <a:t> </a:t>
            </a:r>
            <a:r>
              <a:rPr lang="en-US" b="1" dirty="0" err="1"/>
              <a:t>dụ</a:t>
            </a:r>
            <a:r>
              <a:rPr lang="en-US" b="1" dirty="0"/>
              <a:t> 22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fld id="{3E940A33-8893-432C-8DF5-8668727E3DA8}" type="slidenum">
              <a:rPr lang="en-US" smtClean="0"/>
              <a:pPr>
                <a:spcBef>
                  <a:spcPts val="0"/>
                </a:spcBef>
                <a:spcAft>
                  <a:spcPts val="0"/>
                </a:spcAft>
              </a:pPr>
              <a:t>115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301752" y="1371600"/>
            <a:ext cx="8503920" cy="4572000"/>
          </a:xfrm>
        </p:spPr>
        <p:txBody>
          <a:bodyPr/>
          <a:lstStyle/>
          <a:p>
            <a:pPr algn="just">
              <a:spcBef>
                <a:spcPts val="0"/>
              </a:spcBef>
            </a:pPr>
            <a:r>
              <a:rPr lang="en-US" dirty="0"/>
              <a:t>Cho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phòng</a:t>
            </a:r>
            <a:r>
              <a:rPr lang="en-US" dirty="0"/>
              <a:t> ban (TENPHG)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lương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bình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20000</a:t>
            </a:r>
          </a:p>
          <a:p>
            <a:pPr>
              <a:spcBef>
                <a:spcPts val="0"/>
              </a:spcBef>
            </a:pPr>
            <a:endParaRPr lang="en-US" dirty="0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524000" y="2114173"/>
            <a:ext cx="4724400" cy="1754326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CC"/>
                </a:solidFill>
              </a:rPr>
              <a:t>SELECT</a:t>
            </a:r>
            <a:r>
              <a:rPr lang="en-US" dirty="0"/>
              <a:t> PHG, </a:t>
            </a:r>
            <a:r>
              <a:rPr lang="en-US" dirty="0">
                <a:solidFill>
                  <a:srgbClr val="FF3399"/>
                </a:solidFill>
              </a:rPr>
              <a:t>AVG</a:t>
            </a:r>
            <a:r>
              <a:rPr lang="en-US" dirty="0"/>
              <a:t>(LUONG) </a:t>
            </a:r>
            <a:r>
              <a:rPr lang="en-US" dirty="0">
                <a:solidFill>
                  <a:srgbClr val="0000CC"/>
                </a:solidFill>
              </a:rPr>
              <a:t>AS</a:t>
            </a:r>
            <a:r>
              <a:rPr lang="en-US" dirty="0"/>
              <a:t> LUONG_TB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CC"/>
                </a:solidFill>
              </a:rPr>
              <a:t>FROM</a:t>
            </a:r>
            <a:r>
              <a:rPr lang="en-US" dirty="0"/>
              <a:t> NHANVIEN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CC"/>
                </a:solidFill>
              </a:rPr>
              <a:t>GROUP BY</a:t>
            </a:r>
            <a:r>
              <a:rPr lang="en-US" dirty="0"/>
              <a:t> PHG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CC"/>
                </a:solidFill>
              </a:rPr>
              <a:t>HAVING</a:t>
            </a:r>
            <a:r>
              <a:rPr lang="en-US" dirty="0"/>
              <a:t> </a:t>
            </a:r>
            <a:r>
              <a:rPr lang="en-US" dirty="0">
                <a:solidFill>
                  <a:srgbClr val="FF3399"/>
                </a:solidFill>
              </a:rPr>
              <a:t>AVG</a:t>
            </a:r>
            <a:r>
              <a:rPr lang="en-US" dirty="0"/>
              <a:t>(LUONG) &gt; 20000</a:t>
            </a:r>
            <a:endParaRPr lang="en-US" dirty="0">
              <a:solidFill>
                <a:srgbClr val="CC0000"/>
              </a:solidFill>
            </a:endParaRP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1524000" y="4095373"/>
            <a:ext cx="5791200" cy="216982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CC"/>
                </a:solidFill>
              </a:rPr>
              <a:t>SELECT</a:t>
            </a:r>
            <a:r>
              <a:rPr lang="en-US" dirty="0"/>
              <a:t> PHG, TENPHG, </a:t>
            </a:r>
            <a:r>
              <a:rPr lang="en-US" dirty="0">
                <a:solidFill>
                  <a:srgbClr val="FF3399"/>
                </a:solidFill>
              </a:rPr>
              <a:t>AVG</a:t>
            </a:r>
            <a:r>
              <a:rPr lang="en-US" dirty="0"/>
              <a:t>(LUONG) </a:t>
            </a:r>
            <a:r>
              <a:rPr lang="en-US" dirty="0">
                <a:solidFill>
                  <a:srgbClr val="0000CC"/>
                </a:solidFill>
              </a:rPr>
              <a:t>AS</a:t>
            </a:r>
            <a:r>
              <a:rPr lang="en-US" dirty="0"/>
              <a:t> LUONG_TB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CC"/>
                </a:solidFill>
              </a:rPr>
              <a:t>FROM</a:t>
            </a:r>
            <a:r>
              <a:rPr lang="en-US" dirty="0"/>
              <a:t> NHANVIEN, PHONGBAN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CC"/>
                </a:solidFill>
              </a:rPr>
              <a:t>WHERE</a:t>
            </a:r>
            <a:r>
              <a:rPr lang="en-US" dirty="0"/>
              <a:t> PHG=MAPHG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CC"/>
                </a:solidFill>
              </a:rPr>
              <a:t>GROUP BY</a:t>
            </a:r>
            <a:r>
              <a:rPr lang="en-US" dirty="0"/>
              <a:t> PHG, TENPHG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CC"/>
                </a:solidFill>
              </a:rPr>
              <a:t>HAVING</a:t>
            </a:r>
            <a:r>
              <a:rPr lang="en-US" dirty="0"/>
              <a:t> </a:t>
            </a:r>
            <a:r>
              <a:rPr lang="en-US" dirty="0">
                <a:solidFill>
                  <a:srgbClr val="FF3399"/>
                </a:solidFill>
              </a:rPr>
              <a:t>AVG</a:t>
            </a:r>
            <a:r>
              <a:rPr lang="en-US" dirty="0"/>
              <a:t>(LUONG) &gt; 20000</a:t>
            </a:r>
            <a:endParaRPr lang="en-US" dirty="0">
              <a:solidFill>
                <a:srgbClr val="CC0000"/>
              </a:solidFill>
            </a:endParaRP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1524000" y="2495173"/>
            <a:ext cx="6705600" cy="258532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CC"/>
                </a:solidFill>
              </a:rPr>
              <a:t>SELECT</a:t>
            </a:r>
            <a:r>
              <a:rPr lang="en-US" dirty="0"/>
              <a:t> TENPHG, TEMP.LUONG_TB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CC"/>
                </a:solidFill>
              </a:rPr>
              <a:t>FROM</a:t>
            </a:r>
            <a:r>
              <a:rPr lang="en-US" dirty="0"/>
              <a:t> PHONGBAN, (</a:t>
            </a:r>
            <a:r>
              <a:rPr lang="en-US" dirty="0">
                <a:solidFill>
                  <a:srgbClr val="0000CC"/>
                </a:solidFill>
              </a:rPr>
              <a:t>SELECT</a:t>
            </a:r>
            <a:r>
              <a:rPr lang="en-US" dirty="0"/>
              <a:t> PHG, </a:t>
            </a:r>
            <a:r>
              <a:rPr lang="en-US" dirty="0">
                <a:solidFill>
                  <a:srgbClr val="FF3399"/>
                </a:solidFill>
              </a:rPr>
              <a:t>AVG</a:t>
            </a:r>
            <a:r>
              <a:rPr lang="en-US" dirty="0"/>
              <a:t>(LUONG) </a:t>
            </a:r>
            <a:r>
              <a:rPr lang="en-US" dirty="0">
                <a:solidFill>
                  <a:srgbClr val="0000CC"/>
                </a:solidFill>
              </a:rPr>
              <a:t>AS</a:t>
            </a:r>
            <a:r>
              <a:rPr lang="en-US" dirty="0"/>
              <a:t> LUONG_TB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		   </a:t>
            </a:r>
            <a:r>
              <a:rPr lang="en-US" dirty="0">
                <a:solidFill>
                  <a:srgbClr val="0000CC"/>
                </a:solidFill>
              </a:rPr>
              <a:t>FROM</a:t>
            </a:r>
            <a:r>
              <a:rPr lang="en-US" dirty="0"/>
              <a:t> NHANVIEN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		   </a:t>
            </a:r>
            <a:r>
              <a:rPr lang="en-US" dirty="0">
                <a:solidFill>
                  <a:srgbClr val="0000CC"/>
                </a:solidFill>
              </a:rPr>
              <a:t>GROUP BY</a:t>
            </a:r>
            <a:r>
              <a:rPr lang="en-US" dirty="0"/>
              <a:t> PHG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		  </a:t>
            </a:r>
            <a:r>
              <a:rPr lang="en-US" dirty="0">
                <a:solidFill>
                  <a:srgbClr val="0000CC"/>
                </a:solidFill>
              </a:rPr>
              <a:t> HAVING</a:t>
            </a:r>
            <a:r>
              <a:rPr lang="en-US" dirty="0"/>
              <a:t> </a:t>
            </a:r>
            <a:r>
              <a:rPr lang="en-US" dirty="0">
                <a:solidFill>
                  <a:srgbClr val="FF3399"/>
                </a:solidFill>
              </a:rPr>
              <a:t>AVG</a:t>
            </a:r>
            <a:r>
              <a:rPr lang="en-US" dirty="0"/>
              <a:t>(LUONG)&gt; 20000 ) </a:t>
            </a:r>
            <a:r>
              <a:rPr lang="en-US" dirty="0">
                <a:solidFill>
                  <a:srgbClr val="0000CC"/>
                </a:solidFill>
              </a:rPr>
              <a:t>AS</a:t>
            </a:r>
            <a:r>
              <a:rPr lang="en-US" dirty="0"/>
              <a:t> TEMP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CC"/>
                </a:solidFill>
              </a:rPr>
              <a:t>WHERE</a:t>
            </a:r>
            <a:r>
              <a:rPr lang="en-US" dirty="0"/>
              <a:t> MAPHG=TEMP.PHG</a:t>
            </a:r>
          </a:p>
        </p:txBody>
      </p:sp>
    </p:spTree>
    <p:extLst>
      <p:ext uri="{BB962C8B-B14F-4D97-AF65-F5344CB8AC3E}">
        <p14:creationId xmlns:p14="http://schemas.microsoft.com/office/powerpoint/2010/main" val="1232544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Điều</a:t>
            </a:r>
            <a:r>
              <a:rPr lang="en-US" sz="3500" b="1" dirty="0"/>
              <a:t> </a:t>
            </a:r>
            <a:r>
              <a:rPr lang="en-US" sz="3500" b="1" dirty="0" err="1"/>
              <a:t>kiện</a:t>
            </a:r>
            <a:r>
              <a:rPr lang="en-US" sz="3500" b="1" dirty="0"/>
              <a:t> </a:t>
            </a:r>
            <a:r>
              <a:rPr lang="en-US" sz="3500" b="1" dirty="0" err="1"/>
              <a:t>kết</a:t>
            </a:r>
            <a:r>
              <a:rPr lang="en-US" sz="3500" b="1" dirty="0"/>
              <a:t> ở </a:t>
            </a:r>
            <a:r>
              <a:rPr lang="en-US" sz="3500" b="1" dirty="0" err="1"/>
              <a:t>mệnh</a:t>
            </a:r>
            <a:r>
              <a:rPr lang="en-US" sz="3500" b="1" dirty="0"/>
              <a:t> </a:t>
            </a:r>
            <a:r>
              <a:rPr lang="en-US" sz="3500" b="1" dirty="0" err="1"/>
              <a:t>đề</a:t>
            </a:r>
            <a:r>
              <a:rPr lang="en-US" sz="3500" b="1" dirty="0"/>
              <a:t> FROM</a:t>
            </a:r>
          </a:p>
        </p:txBody>
      </p:sp>
      <p:sp>
        <p:nvSpPr>
          <p:cNvPr id="78233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447800"/>
            <a:ext cx="8229600" cy="4876800"/>
          </a:xfrm>
        </p:spPr>
        <p:txBody>
          <a:bodyPr/>
          <a:lstStyle/>
          <a:p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bằng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ngoài</a:t>
            </a:r>
            <a:endParaRPr lang="en-US" dirty="0"/>
          </a:p>
        </p:txBody>
      </p:sp>
      <p:sp>
        <p:nvSpPr>
          <p:cNvPr id="782341" name="Rectangle 5"/>
          <p:cNvSpPr>
            <a:spLocks noChangeArrowheads="1"/>
          </p:cNvSpPr>
          <p:nvPr/>
        </p:nvSpPr>
        <p:spPr bwMode="auto">
          <a:xfrm>
            <a:off x="1066800" y="2300287"/>
            <a:ext cx="5105400" cy="1204913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l"/>
            <a:r>
              <a:rPr lang="en-US" b="1"/>
              <a:t>SELECT</a:t>
            </a:r>
            <a:r>
              <a:rPr lang="en-US"/>
              <a:t> &lt;danh sách các cột&gt;</a:t>
            </a:r>
          </a:p>
          <a:p>
            <a:pPr algn="l"/>
            <a:r>
              <a:rPr lang="en-US" b="1"/>
              <a:t>FROM</a:t>
            </a:r>
            <a:r>
              <a:rPr lang="en-US"/>
              <a:t> R1 [</a:t>
            </a:r>
            <a:r>
              <a:rPr lang="en-US" b="1"/>
              <a:t>INNER</a:t>
            </a:r>
            <a:r>
              <a:rPr lang="en-US"/>
              <a:t>]</a:t>
            </a:r>
            <a:r>
              <a:rPr lang="en-US" b="1"/>
              <a:t> JOIN</a:t>
            </a:r>
            <a:r>
              <a:rPr lang="en-US"/>
              <a:t> R2 </a:t>
            </a:r>
            <a:r>
              <a:rPr lang="en-US" b="1"/>
              <a:t>ON</a:t>
            </a:r>
            <a:r>
              <a:rPr lang="en-US"/>
              <a:t>  &lt;biểu thức&gt;</a:t>
            </a:r>
          </a:p>
          <a:p>
            <a:pPr algn="l"/>
            <a:r>
              <a:rPr lang="en-US" b="1"/>
              <a:t>WHERE</a:t>
            </a:r>
            <a:r>
              <a:rPr lang="en-US"/>
              <a:t> &lt;điều kiện&gt;</a:t>
            </a:r>
          </a:p>
        </p:txBody>
      </p:sp>
      <p:sp>
        <p:nvSpPr>
          <p:cNvPr id="782342" name="Rectangle 6"/>
          <p:cNvSpPr>
            <a:spLocks noChangeArrowheads="1"/>
          </p:cNvSpPr>
          <p:nvPr/>
        </p:nvSpPr>
        <p:spPr bwMode="auto">
          <a:xfrm>
            <a:off x="1066800" y="4662487"/>
            <a:ext cx="6705600" cy="1204913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l"/>
            <a:r>
              <a:rPr lang="en-US" b="1"/>
              <a:t>SELECT</a:t>
            </a:r>
            <a:r>
              <a:rPr lang="en-US"/>
              <a:t> &lt;danh sách các cột&gt;</a:t>
            </a:r>
          </a:p>
          <a:p>
            <a:pPr algn="l"/>
            <a:r>
              <a:rPr lang="en-US" b="1"/>
              <a:t>FROM</a:t>
            </a:r>
            <a:r>
              <a:rPr lang="en-US"/>
              <a:t> R1 </a:t>
            </a:r>
            <a:r>
              <a:rPr lang="en-US" b="1"/>
              <a:t>LEFT|RIGHT</a:t>
            </a:r>
            <a:r>
              <a:rPr lang="en-US"/>
              <a:t> [</a:t>
            </a:r>
            <a:r>
              <a:rPr lang="en-US" b="1"/>
              <a:t>OUTER</a:t>
            </a:r>
            <a:r>
              <a:rPr lang="en-US"/>
              <a:t>]</a:t>
            </a:r>
            <a:r>
              <a:rPr lang="en-US" b="1"/>
              <a:t> JOIN</a:t>
            </a:r>
            <a:r>
              <a:rPr lang="en-US"/>
              <a:t> R2 </a:t>
            </a:r>
            <a:r>
              <a:rPr lang="en-US" b="1"/>
              <a:t>ON</a:t>
            </a:r>
            <a:r>
              <a:rPr lang="en-US"/>
              <a:t>  &lt;biểu thức&gt;</a:t>
            </a:r>
          </a:p>
          <a:p>
            <a:pPr algn="l"/>
            <a:r>
              <a:rPr lang="en-US" b="1"/>
              <a:t>WHERE</a:t>
            </a:r>
            <a:r>
              <a:rPr lang="en-US"/>
              <a:t> &lt;điều kiện&gt;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5764356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38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54013"/>
            <a:ext cx="8915400" cy="620712"/>
          </a:xfrm>
        </p:spPr>
        <p:txBody>
          <a:bodyPr>
            <a:normAutofit/>
          </a:bodyPr>
          <a:lstStyle/>
          <a:p>
            <a:r>
              <a:rPr lang="en-US" sz="2800" b="1" dirty="0" err="1"/>
              <a:t>Ví</a:t>
            </a:r>
            <a:r>
              <a:rPr lang="en-US" sz="2800" b="1" dirty="0"/>
              <a:t> </a:t>
            </a:r>
            <a:r>
              <a:rPr lang="en-US" sz="2800" b="1" dirty="0" err="1"/>
              <a:t>dụ</a:t>
            </a:r>
            <a:r>
              <a:rPr lang="en-US" sz="2800" b="1" dirty="0"/>
              <a:t> 23</a:t>
            </a:r>
          </a:p>
        </p:txBody>
      </p:sp>
      <p:sp>
        <p:nvSpPr>
          <p:cNvPr id="784388" name="Text Box 4"/>
          <p:cNvSpPr txBox="1">
            <a:spLocks noChangeArrowheads="1"/>
          </p:cNvSpPr>
          <p:nvPr/>
        </p:nvSpPr>
        <p:spPr bwMode="auto">
          <a:xfrm>
            <a:off x="1524000" y="2644775"/>
            <a:ext cx="5562600" cy="11922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dirty="0">
                <a:solidFill>
                  <a:srgbClr val="0000CC"/>
                </a:solidFill>
              </a:rPr>
              <a:t>SELECT</a:t>
            </a:r>
            <a:r>
              <a:rPr lang="en-US" dirty="0"/>
              <a:t> MANV, TENNV </a:t>
            </a:r>
          </a:p>
          <a:p>
            <a:pPr algn="l"/>
            <a:r>
              <a:rPr lang="en-US" dirty="0">
                <a:solidFill>
                  <a:srgbClr val="0000CC"/>
                </a:solidFill>
              </a:rPr>
              <a:t>FROM </a:t>
            </a:r>
            <a:r>
              <a:rPr lang="en-US" dirty="0"/>
              <a:t>NHANVIEN, PHONGBAN</a:t>
            </a:r>
            <a:endParaRPr lang="en-US" dirty="0">
              <a:solidFill>
                <a:srgbClr val="0000CC"/>
              </a:solidFill>
            </a:endParaRPr>
          </a:p>
          <a:p>
            <a:pPr algn="l"/>
            <a:r>
              <a:rPr lang="en-US" dirty="0">
                <a:solidFill>
                  <a:srgbClr val="0000CC"/>
                </a:solidFill>
              </a:rPr>
              <a:t>WHERE </a:t>
            </a:r>
            <a:r>
              <a:rPr lang="en-US" dirty="0"/>
              <a:t>TENPHG=</a:t>
            </a:r>
            <a:r>
              <a:rPr lang="en-US" dirty="0">
                <a:solidFill>
                  <a:srgbClr val="CC0000"/>
                </a:solidFill>
              </a:rPr>
              <a:t>‘</a:t>
            </a:r>
            <a:r>
              <a:rPr lang="en-US" dirty="0" err="1">
                <a:solidFill>
                  <a:srgbClr val="CC0000"/>
                </a:solidFill>
              </a:rPr>
              <a:t>Nghien</a:t>
            </a:r>
            <a:r>
              <a:rPr lang="en-US" dirty="0">
                <a:solidFill>
                  <a:srgbClr val="CC0000"/>
                </a:solidFill>
              </a:rPr>
              <a:t> </a:t>
            </a:r>
            <a:r>
              <a:rPr lang="en-US" dirty="0" err="1">
                <a:solidFill>
                  <a:srgbClr val="CC0000"/>
                </a:solidFill>
              </a:rPr>
              <a:t>cuu</a:t>
            </a:r>
            <a:r>
              <a:rPr lang="en-US" dirty="0">
                <a:solidFill>
                  <a:srgbClr val="CC0000"/>
                </a:solidFill>
              </a:rPr>
              <a:t>’</a:t>
            </a:r>
            <a:r>
              <a:rPr lang="en-US" dirty="0"/>
              <a:t> </a:t>
            </a:r>
            <a:r>
              <a:rPr lang="en-US" dirty="0">
                <a:solidFill>
                  <a:srgbClr val="777777"/>
                </a:solidFill>
              </a:rPr>
              <a:t>AND </a:t>
            </a:r>
            <a:r>
              <a:rPr lang="en-US" dirty="0"/>
              <a:t>PHONG=MAPHG</a:t>
            </a:r>
            <a:endParaRPr lang="en-US" dirty="0">
              <a:solidFill>
                <a:srgbClr val="777777"/>
              </a:solidFill>
            </a:endParaRPr>
          </a:p>
        </p:txBody>
      </p:sp>
      <p:sp>
        <p:nvSpPr>
          <p:cNvPr id="784390" name="Text Box 6"/>
          <p:cNvSpPr txBox="1">
            <a:spLocks noChangeArrowheads="1"/>
          </p:cNvSpPr>
          <p:nvPr/>
        </p:nvSpPr>
        <p:spPr bwMode="auto">
          <a:xfrm>
            <a:off x="1524000" y="4294188"/>
            <a:ext cx="6858000" cy="120032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dirty="0">
                <a:solidFill>
                  <a:srgbClr val="0000CC"/>
                </a:solidFill>
              </a:rPr>
              <a:t>SELECT</a:t>
            </a:r>
            <a:r>
              <a:rPr lang="en-US" dirty="0"/>
              <a:t> MANV, TENNV </a:t>
            </a:r>
          </a:p>
          <a:p>
            <a:pPr algn="l"/>
            <a:r>
              <a:rPr lang="en-US" dirty="0">
                <a:solidFill>
                  <a:srgbClr val="0000CC"/>
                </a:solidFill>
              </a:rPr>
              <a:t>FROM </a:t>
            </a:r>
            <a:r>
              <a:rPr lang="en-US" dirty="0"/>
              <a:t>NHANVIEN </a:t>
            </a:r>
            <a:r>
              <a:rPr lang="en-US" dirty="0">
                <a:solidFill>
                  <a:srgbClr val="0000CC"/>
                </a:solidFill>
              </a:rPr>
              <a:t>INNER</a:t>
            </a:r>
            <a:r>
              <a:rPr lang="en-US" dirty="0"/>
              <a:t> </a:t>
            </a:r>
            <a:r>
              <a:rPr lang="en-US" dirty="0">
                <a:solidFill>
                  <a:srgbClr val="777777"/>
                </a:solidFill>
              </a:rPr>
              <a:t>JOIN</a:t>
            </a:r>
            <a:r>
              <a:rPr lang="en-US" dirty="0"/>
              <a:t> PHONGBAN </a:t>
            </a:r>
            <a:r>
              <a:rPr lang="en-US" dirty="0">
                <a:solidFill>
                  <a:srgbClr val="0000CC"/>
                </a:solidFill>
              </a:rPr>
              <a:t>ON</a:t>
            </a:r>
            <a:r>
              <a:rPr lang="en-US" dirty="0"/>
              <a:t> PHONG=MAPHG</a:t>
            </a:r>
            <a:endParaRPr lang="en-US" dirty="0">
              <a:solidFill>
                <a:srgbClr val="0000CC"/>
              </a:solidFill>
            </a:endParaRPr>
          </a:p>
          <a:p>
            <a:pPr algn="l"/>
            <a:r>
              <a:rPr lang="en-US" dirty="0">
                <a:solidFill>
                  <a:srgbClr val="0000CC"/>
                </a:solidFill>
              </a:rPr>
              <a:t>WHERE </a:t>
            </a:r>
            <a:r>
              <a:rPr lang="en-US" dirty="0"/>
              <a:t>TENPHG=</a:t>
            </a:r>
            <a:r>
              <a:rPr lang="en-US" dirty="0">
                <a:solidFill>
                  <a:srgbClr val="CC0000"/>
                </a:solidFill>
              </a:rPr>
              <a:t>‘</a:t>
            </a:r>
            <a:r>
              <a:rPr lang="en-US" dirty="0" err="1">
                <a:solidFill>
                  <a:srgbClr val="CC0000"/>
                </a:solidFill>
              </a:rPr>
              <a:t>Nghien</a:t>
            </a:r>
            <a:r>
              <a:rPr lang="en-US" dirty="0">
                <a:solidFill>
                  <a:srgbClr val="CC0000"/>
                </a:solidFill>
              </a:rPr>
              <a:t> </a:t>
            </a:r>
            <a:r>
              <a:rPr lang="en-US" dirty="0" err="1">
                <a:solidFill>
                  <a:srgbClr val="CC0000"/>
                </a:solidFill>
              </a:rPr>
              <a:t>cuu</a:t>
            </a:r>
            <a:r>
              <a:rPr lang="en-US" dirty="0">
                <a:solidFill>
                  <a:srgbClr val="CC0000"/>
                </a:solidFill>
              </a:rPr>
              <a:t>’</a:t>
            </a:r>
            <a:endParaRPr lang="en-US" dirty="0">
              <a:solidFill>
                <a:srgbClr val="777777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117</a:t>
            </a:fld>
            <a:endParaRPr lang="en-US" altLang="en-US"/>
          </a:p>
        </p:txBody>
      </p:sp>
      <p:sp>
        <p:nvSpPr>
          <p:cNvPr id="4" name="Rectangle 3"/>
          <p:cNvSpPr/>
          <p:nvPr/>
        </p:nvSpPr>
        <p:spPr>
          <a:xfrm>
            <a:off x="373038" y="1600200"/>
            <a:ext cx="84661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400" dirty="0" err="1">
                <a:latin typeface="+mn-lt"/>
              </a:rPr>
              <a:t>Tìm</a:t>
            </a:r>
            <a:r>
              <a:rPr lang="en-US" sz="2400" dirty="0">
                <a:latin typeface="+mn-lt"/>
              </a:rPr>
              <a:t> </a:t>
            </a:r>
            <a:r>
              <a:rPr lang="en-US" sz="2400" dirty="0" err="1">
                <a:latin typeface="+mn-lt"/>
              </a:rPr>
              <a:t>mã</a:t>
            </a:r>
            <a:r>
              <a:rPr lang="en-US" sz="2400" dirty="0">
                <a:latin typeface="+mn-lt"/>
              </a:rPr>
              <a:t> </a:t>
            </a:r>
            <a:r>
              <a:rPr lang="en-US" sz="2400" dirty="0" err="1">
                <a:latin typeface="+mn-lt"/>
              </a:rPr>
              <a:t>và</a:t>
            </a:r>
            <a:r>
              <a:rPr lang="en-US" sz="2400" dirty="0">
                <a:latin typeface="+mn-lt"/>
              </a:rPr>
              <a:t> </a:t>
            </a:r>
            <a:r>
              <a:rPr lang="en-US" sz="2400" dirty="0" err="1">
                <a:latin typeface="+mn-lt"/>
              </a:rPr>
              <a:t>tên</a:t>
            </a:r>
            <a:r>
              <a:rPr lang="en-US" sz="2400" dirty="0">
                <a:latin typeface="+mn-lt"/>
              </a:rPr>
              <a:t> </a:t>
            </a:r>
            <a:r>
              <a:rPr lang="en-US" sz="2400" dirty="0" err="1">
                <a:latin typeface="+mn-lt"/>
              </a:rPr>
              <a:t>các</a:t>
            </a:r>
            <a:r>
              <a:rPr lang="en-US" sz="2400" dirty="0">
                <a:latin typeface="+mn-lt"/>
              </a:rPr>
              <a:t> </a:t>
            </a:r>
            <a:r>
              <a:rPr lang="en-US" sz="2400" dirty="0" err="1">
                <a:latin typeface="+mn-lt"/>
              </a:rPr>
              <a:t>nhân</a:t>
            </a:r>
            <a:r>
              <a:rPr lang="en-US" sz="2400" dirty="0">
                <a:latin typeface="+mn-lt"/>
              </a:rPr>
              <a:t> </a:t>
            </a:r>
            <a:r>
              <a:rPr lang="en-US" sz="2400" dirty="0" err="1">
                <a:latin typeface="+mn-lt"/>
              </a:rPr>
              <a:t>viên</a:t>
            </a:r>
            <a:r>
              <a:rPr lang="en-US" sz="2400" dirty="0">
                <a:latin typeface="+mn-lt"/>
              </a:rPr>
              <a:t> </a:t>
            </a:r>
            <a:r>
              <a:rPr lang="en-US" sz="2400" dirty="0" err="1">
                <a:latin typeface="+mn-lt"/>
              </a:rPr>
              <a:t>làm</a:t>
            </a:r>
            <a:r>
              <a:rPr lang="en-US" sz="2400" dirty="0">
                <a:latin typeface="+mn-lt"/>
              </a:rPr>
              <a:t> </a:t>
            </a:r>
            <a:r>
              <a:rPr lang="en-US" sz="2400" dirty="0" err="1">
                <a:latin typeface="+mn-lt"/>
              </a:rPr>
              <a:t>việc</a:t>
            </a:r>
            <a:r>
              <a:rPr lang="en-US" sz="2400" dirty="0">
                <a:latin typeface="+mn-lt"/>
              </a:rPr>
              <a:t> </a:t>
            </a:r>
            <a:r>
              <a:rPr lang="en-US" sz="2400" dirty="0" err="1">
                <a:latin typeface="+mn-lt"/>
              </a:rPr>
              <a:t>tại</a:t>
            </a:r>
            <a:r>
              <a:rPr lang="en-US" sz="2400" dirty="0">
                <a:latin typeface="+mn-lt"/>
              </a:rPr>
              <a:t> </a:t>
            </a:r>
            <a:r>
              <a:rPr lang="en-US" sz="2400" dirty="0" err="1">
                <a:latin typeface="+mn-lt"/>
              </a:rPr>
              <a:t>phòng</a:t>
            </a:r>
            <a:r>
              <a:rPr lang="en-US" sz="2400" dirty="0">
                <a:latin typeface="+mn-lt"/>
              </a:rPr>
              <a:t> ‘</a:t>
            </a:r>
            <a:r>
              <a:rPr lang="en-US" sz="2400" dirty="0" err="1">
                <a:latin typeface="+mn-lt"/>
              </a:rPr>
              <a:t>Nghien</a:t>
            </a:r>
            <a:r>
              <a:rPr lang="en-US" sz="2400" dirty="0">
                <a:latin typeface="+mn-lt"/>
              </a:rPr>
              <a:t> </a:t>
            </a:r>
            <a:r>
              <a:rPr lang="en-US" sz="2400" dirty="0" err="1">
                <a:latin typeface="+mn-lt"/>
              </a:rPr>
              <a:t>cuu</a:t>
            </a:r>
            <a:r>
              <a:rPr lang="en-US" sz="2400" dirty="0">
                <a:latin typeface="+mn-lt"/>
              </a:rPr>
              <a:t>’</a:t>
            </a:r>
          </a:p>
        </p:txBody>
      </p:sp>
    </p:spTree>
    <p:extLst>
      <p:ext uri="{BB962C8B-B14F-4D97-AF65-F5344CB8AC3E}">
        <p14:creationId xmlns:p14="http://schemas.microsoft.com/office/powerpoint/2010/main" val="2597717848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24</a:t>
            </a:r>
          </a:p>
        </p:txBody>
      </p:sp>
      <p:sp>
        <p:nvSpPr>
          <p:cNvPr id="786437" name="Rectangle 5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229600" cy="4724400"/>
          </a:xfrm>
          <a:noFill/>
          <a:ln/>
        </p:spPr>
        <p:txBody>
          <a:bodyPr/>
          <a:lstStyle/>
          <a:p>
            <a:pPr algn="just"/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họ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gia</a:t>
            </a:r>
            <a:r>
              <a:rPr lang="en-US" dirty="0"/>
              <a:t> </a:t>
            </a:r>
            <a:r>
              <a:rPr lang="en-US" u="sng" dirty="0" err="1"/>
              <a:t>nếu</a:t>
            </a:r>
            <a:r>
              <a:rPr lang="en-US" u="sng" dirty="0"/>
              <a:t> </a:t>
            </a:r>
            <a:r>
              <a:rPr lang="en-US" u="sng" dirty="0" err="1"/>
              <a:t>có</a:t>
            </a:r>
            <a:endParaRPr lang="en-US" u="sng" dirty="0"/>
          </a:p>
        </p:txBody>
      </p:sp>
      <p:sp>
        <p:nvSpPr>
          <p:cNvPr id="786436" name="Text Box 4"/>
          <p:cNvSpPr txBox="1">
            <a:spLocks noChangeArrowheads="1"/>
          </p:cNvSpPr>
          <p:nvPr/>
        </p:nvSpPr>
        <p:spPr bwMode="auto">
          <a:xfrm>
            <a:off x="1143000" y="2908300"/>
            <a:ext cx="6781800" cy="10541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>
                <a:solidFill>
                  <a:srgbClr val="0000CC"/>
                </a:solidFill>
              </a:rPr>
              <a:t>SELECT</a:t>
            </a:r>
            <a:r>
              <a:rPr lang="en-US"/>
              <a:t> NV.TENNV,  NV.TENDA</a:t>
            </a:r>
          </a:p>
          <a:p>
            <a:pPr algn="l"/>
            <a:r>
              <a:rPr lang="en-US">
                <a:solidFill>
                  <a:srgbClr val="0000CC"/>
                </a:solidFill>
              </a:rPr>
              <a:t>FROM </a:t>
            </a:r>
            <a:r>
              <a:rPr lang="en-US">
                <a:solidFill>
                  <a:srgbClr val="777777"/>
                </a:solidFill>
              </a:rPr>
              <a:t>(</a:t>
            </a:r>
            <a:r>
              <a:rPr lang="en-US"/>
              <a:t>PHANCONG PC</a:t>
            </a:r>
            <a:r>
              <a:rPr lang="en-US">
                <a:solidFill>
                  <a:srgbClr val="0000CC"/>
                </a:solidFill>
              </a:rPr>
              <a:t> JOIN </a:t>
            </a:r>
            <a:r>
              <a:rPr lang="en-US"/>
              <a:t>DEAN  DA</a:t>
            </a:r>
            <a:r>
              <a:rPr lang="en-US">
                <a:solidFill>
                  <a:srgbClr val="0000CC"/>
                </a:solidFill>
              </a:rPr>
              <a:t> ON </a:t>
            </a:r>
            <a:r>
              <a:rPr lang="en-US"/>
              <a:t>SODA=MADA</a:t>
            </a:r>
            <a:r>
              <a:rPr lang="en-US">
                <a:solidFill>
                  <a:srgbClr val="777777"/>
                </a:solidFill>
              </a:rPr>
              <a:t>)</a:t>
            </a:r>
            <a:r>
              <a:rPr lang="en-US">
                <a:solidFill>
                  <a:srgbClr val="0000CC"/>
                </a:solidFill>
              </a:rPr>
              <a:t> </a:t>
            </a:r>
            <a:r>
              <a:rPr lang="en-US"/>
              <a:t>	</a:t>
            </a:r>
            <a:r>
              <a:rPr lang="en-US">
                <a:solidFill>
                  <a:srgbClr val="FF3399"/>
                </a:solidFill>
              </a:rPr>
              <a:t>LEFT</a:t>
            </a:r>
            <a:r>
              <a:rPr lang="en-US">
                <a:solidFill>
                  <a:srgbClr val="0000CC"/>
                </a:solidFill>
              </a:rPr>
              <a:t> </a:t>
            </a:r>
            <a:r>
              <a:rPr lang="en-US">
                <a:solidFill>
                  <a:srgbClr val="777777"/>
                </a:solidFill>
              </a:rPr>
              <a:t>JOIN</a:t>
            </a:r>
            <a:r>
              <a:rPr lang="en-US"/>
              <a:t> NHANVIEN NV </a:t>
            </a:r>
            <a:r>
              <a:rPr lang="en-US">
                <a:solidFill>
                  <a:srgbClr val="0000CC"/>
                </a:solidFill>
              </a:rPr>
              <a:t>ON</a:t>
            </a:r>
            <a:r>
              <a:rPr lang="en-US"/>
              <a:t> PC.MA_NVIEN=NV.MANV</a:t>
            </a:r>
            <a:endParaRPr lang="en-US">
              <a:solidFill>
                <a:srgbClr val="0000CC"/>
              </a:solidFill>
            </a:endParaRPr>
          </a:p>
        </p:txBody>
      </p:sp>
      <p:grpSp>
        <p:nvGrpSpPr>
          <p:cNvPr id="786449" name="Group 17"/>
          <p:cNvGrpSpPr>
            <a:grpSpLocks/>
          </p:cNvGrpSpPr>
          <p:nvPr/>
        </p:nvGrpSpPr>
        <p:grpSpPr bwMode="auto">
          <a:xfrm>
            <a:off x="1981200" y="4724400"/>
            <a:ext cx="4495800" cy="1433513"/>
            <a:chOff x="1152" y="3033"/>
            <a:chExt cx="2832" cy="903"/>
          </a:xfrm>
        </p:grpSpPr>
        <p:sp>
          <p:nvSpPr>
            <p:cNvPr id="786441" name="Text Box 9"/>
            <p:cNvSpPr txBox="1">
              <a:spLocks noChangeArrowheads="1"/>
            </p:cNvSpPr>
            <p:nvPr/>
          </p:nvSpPr>
          <p:spPr bwMode="auto">
            <a:xfrm>
              <a:off x="3120" y="3033"/>
              <a:ext cx="864" cy="239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/>
                <a:t>NHANVIEN</a:t>
              </a:r>
            </a:p>
          </p:txBody>
        </p:sp>
        <p:grpSp>
          <p:nvGrpSpPr>
            <p:cNvPr id="786444" name="Group 12"/>
            <p:cNvGrpSpPr>
              <a:grpSpLocks/>
            </p:cNvGrpSpPr>
            <p:nvPr/>
          </p:nvGrpSpPr>
          <p:grpSpPr bwMode="auto">
            <a:xfrm>
              <a:off x="1152" y="3033"/>
              <a:ext cx="1584" cy="240"/>
              <a:chOff x="624" y="3216"/>
              <a:chExt cx="1584" cy="240"/>
            </a:xfrm>
          </p:grpSpPr>
          <p:sp>
            <p:nvSpPr>
              <p:cNvPr id="786440" name="Text Box 8"/>
              <p:cNvSpPr txBox="1">
                <a:spLocks noChangeArrowheads="1"/>
              </p:cNvSpPr>
              <p:nvPr/>
            </p:nvSpPr>
            <p:spPr bwMode="auto">
              <a:xfrm>
                <a:off x="624" y="3216"/>
                <a:ext cx="1584" cy="231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en-US"/>
                  <a:t>PHANCONG join DEAN</a:t>
                </a:r>
              </a:p>
            </p:txBody>
          </p:sp>
          <p:sp>
            <p:nvSpPr>
              <p:cNvPr id="786443" name="Rectangle 11"/>
              <p:cNvSpPr>
                <a:spLocks noChangeArrowheads="1"/>
              </p:cNvSpPr>
              <p:nvPr/>
            </p:nvSpPr>
            <p:spPr bwMode="auto">
              <a:xfrm>
                <a:off x="624" y="3216"/>
                <a:ext cx="1536" cy="240"/>
              </a:xfrm>
              <a:prstGeom prst="rect">
                <a:avLst/>
              </a:prstGeom>
              <a:noFill/>
              <a:ln w="127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786445" name="Text Box 13"/>
            <p:cNvSpPr txBox="1">
              <a:spLocks noChangeArrowheads="1"/>
            </p:cNvSpPr>
            <p:nvPr/>
          </p:nvSpPr>
          <p:spPr bwMode="auto">
            <a:xfrm>
              <a:off x="1920" y="3369"/>
              <a:ext cx="1632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/>
                <a:t>MA_NVIEN=MANV</a:t>
              </a:r>
            </a:p>
          </p:txBody>
        </p:sp>
        <p:sp>
          <p:nvSpPr>
            <p:cNvPr id="786447" name="Line 15"/>
            <p:cNvSpPr>
              <a:spLocks noChangeShapeType="1"/>
            </p:cNvSpPr>
            <p:nvPr/>
          </p:nvSpPr>
          <p:spPr bwMode="auto">
            <a:xfrm flipH="1">
              <a:off x="1920" y="3744"/>
              <a:ext cx="9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786448" name="Text Box 16"/>
            <p:cNvSpPr txBox="1">
              <a:spLocks noChangeArrowheads="1"/>
            </p:cNvSpPr>
            <p:nvPr/>
          </p:nvSpPr>
          <p:spPr bwMode="auto">
            <a:xfrm>
              <a:off x="1968" y="3744"/>
              <a:ext cx="91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mở rộng</a:t>
              </a:r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5255451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Cấu</a:t>
            </a:r>
            <a:r>
              <a:rPr lang="en-US" sz="3500" b="1" dirty="0"/>
              <a:t> </a:t>
            </a:r>
            <a:r>
              <a:rPr lang="en-US" sz="3500" b="1" dirty="0" err="1"/>
              <a:t>trúc</a:t>
            </a:r>
            <a:r>
              <a:rPr lang="en-US" sz="3500" b="1" dirty="0"/>
              <a:t> CASE</a:t>
            </a:r>
          </a:p>
        </p:txBody>
      </p:sp>
      <p:sp>
        <p:nvSpPr>
          <p:cNvPr id="77824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229600" cy="4724400"/>
          </a:xfrm>
        </p:spPr>
        <p:txBody>
          <a:bodyPr/>
          <a:lstStyle/>
          <a:p>
            <a:pPr algn="just"/>
            <a:r>
              <a:rPr lang="en-US" dirty="0"/>
              <a:t>Cho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hợp</a:t>
            </a:r>
            <a:endParaRPr lang="en-US" dirty="0"/>
          </a:p>
          <a:p>
            <a:r>
              <a:rPr lang="en-US" dirty="0" err="1"/>
              <a:t>Cú</a:t>
            </a:r>
            <a:r>
              <a:rPr lang="en-US" dirty="0"/>
              <a:t> </a:t>
            </a:r>
            <a:r>
              <a:rPr lang="en-US" dirty="0" err="1"/>
              <a:t>pháp</a:t>
            </a:r>
            <a:endParaRPr lang="en-US" dirty="0"/>
          </a:p>
        </p:txBody>
      </p:sp>
      <p:sp>
        <p:nvSpPr>
          <p:cNvPr id="778244" name="Rectangle 4"/>
          <p:cNvSpPr>
            <a:spLocks noChangeArrowheads="1"/>
          </p:cNvSpPr>
          <p:nvPr/>
        </p:nvSpPr>
        <p:spPr bwMode="auto">
          <a:xfrm>
            <a:off x="1219200" y="3352800"/>
            <a:ext cx="5029200" cy="2443163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l"/>
            <a:r>
              <a:rPr lang="en-US" b="1"/>
              <a:t>CASE </a:t>
            </a:r>
            <a:r>
              <a:rPr lang="en-US"/>
              <a:t>&lt;tên cột&gt;</a:t>
            </a:r>
          </a:p>
          <a:p>
            <a:pPr algn="l"/>
            <a:r>
              <a:rPr lang="en-US"/>
              <a:t>	</a:t>
            </a:r>
            <a:r>
              <a:rPr lang="en-US" b="1"/>
              <a:t>WHEN</a:t>
            </a:r>
            <a:r>
              <a:rPr lang="en-US"/>
              <a:t> &lt;giá trị&gt; </a:t>
            </a:r>
            <a:r>
              <a:rPr lang="en-US" b="1"/>
              <a:t>THEN</a:t>
            </a:r>
            <a:r>
              <a:rPr lang="en-US"/>
              <a:t> &lt;biểu thức&gt;</a:t>
            </a:r>
          </a:p>
          <a:p>
            <a:pPr algn="l"/>
            <a:r>
              <a:rPr lang="en-US"/>
              <a:t>	</a:t>
            </a:r>
            <a:r>
              <a:rPr lang="en-US" b="1"/>
              <a:t>WHEN</a:t>
            </a:r>
            <a:r>
              <a:rPr lang="en-US"/>
              <a:t> &lt;giá trị&gt; </a:t>
            </a:r>
            <a:r>
              <a:rPr lang="en-US" b="1"/>
              <a:t>THEN</a:t>
            </a:r>
            <a:r>
              <a:rPr lang="en-US"/>
              <a:t> &lt;biểu thức&gt;</a:t>
            </a:r>
          </a:p>
          <a:p>
            <a:pPr algn="l"/>
            <a:r>
              <a:rPr lang="en-US"/>
              <a:t>	…</a:t>
            </a:r>
          </a:p>
          <a:p>
            <a:pPr algn="l"/>
            <a:r>
              <a:rPr lang="en-US"/>
              <a:t>	[</a:t>
            </a:r>
            <a:r>
              <a:rPr lang="en-US" b="1"/>
              <a:t>ELSE </a:t>
            </a:r>
            <a:r>
              <a:rPr lang="en-US"/>
              <a:t>&lt;biểu thức&gt;]</a:t>
            </a:r>
          </a:p>
          <a:p>
            <a:pPr algn="l"/>
            <a:r>
              <a:rPr lang="en-US" b="1"/>
              <a:t>END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6781839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25</a:t>
            </a:r>
          </a:p>
        </p:txBody>
      </p:sp>
      <p:sp>
        <p:nvSpPr>
          <p:cNvPr id="78029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382000" cy="4724400"/>
          </a:xfrm>
        </p:spPr>
        <p:txBody>
          <a:bodyPr/>
          <a:lstStyle/>
          <a:p>
            <a:pPr algn="just"/>
            <a:r>
              <a:rPr lang="en-US" dirty="0"/>
              <a:t>Cho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họ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tuổi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hưu</a:t>
            </a:r>
            <a:r>
              <a:rPr lang="en-US" dirty="0"/>
              <a:t> (</a:t>
            </a:r>
            <a:r>
              <a:rPr lang="en-US" dirty="0" err="1"/>
              <a:t>nam</a:t>
            </a:r>
            <a:r>
              <a:rPr lang="en-US" dirty="0"/>
              <a:t> 60 </a:t>
            </a:r>
            <a:r>
              <a:rPr lang="en-US" dirty="0" err="1"/>
              <a:t>tuổi</a:t>
            </a:r>
            <a:r>
              <a:rPr lang="en-US" dirty="0"/>
              <a:t>, </a:t>
            </a:r>
            <a:r>
              <a:rPr lang="en-US" dirty="0" err="1"/>
              <a:t>nữ</a:t>
            </a:r>
            <a:r>
              <a:rPr lang="en-US" dirty="0"/>
              <a:t> 55 </a:t>
            </a:r>
            <a:r>
              <a:rPr lang="en-US" dirty="0" err="1"/>
              <a:t>tuổi</a:t>
            </a:r>
            <a:r>
              <a:rPr lang="en-US" dirty="0"/>
              <a:t>)</a:t>
            </a:r>
          </a:p>
        </p:txBody>
      </p:sp>
      <p:sp>
        <p:nvSpPr>
          <p:cNvPr id="780292" name="Text Box 4"/>
          <p:cNvSpPr txBox="1">
            <a:spLocks noChangeArrowheads="1"/>
          </p:cNvSpPr>
          <p:nvPr/>
        </p:nvSpPr>
        <p:spPr bwMode="auto">
          <a:xfrm>
            <a:off x="381000" y="2667000"/>
            <a:ext cx="7543800" cy="243046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dirty="0">
                <a:solidFill>
                  <a:srgbClr val="0000CC"/>
                </a:solidFill>
              </a:rPr>
              <a:t>SELECT</a:t>
            </a:r>
            <a:r>
              <a:rPr lang="en-US" dirty="0"/>
              <a:t> HONV, TENNV</a:t>
            </a:r>
          </a:p>
          <a:p>
            <a:pPr algn="l"/>
            <a:r>
              <a:rPr lang="en-US" dirty="0">
                <a:solidFill>
                  <a:srgbClr val="0000CC"/>
                </a:solidFill>
              </a:rPr>
              <a:t>FROM</a:t>
            </a:r>
            <a:r>
              <a:rPr lang="en-US" dirty="0"/>
              <a:t> NHANVIEN</a:t>
            </a:r>
          </a:p>
          <a:p>
            <a:pPr algn="l"/>
            <a:r>
              <a:rPr lang="en-US" dirty="0">
                <a:solidFill>
                  <a:srgbClr val="0000CC"/>
                </a:solidFill>
              </a:rPr>
              <a:t>WHERE</a:t>
            </a:r>
            <a:r>
              <a:rPr lang="en-US" dirty="0"/>
              <a:t> </a:t>
            </a:r>
            <a:r>
              <a:rPr lang="en-US" dirty="0">
                <a:solidFill>
                  <a:srgbClr val="FF3399"/>
                </a:solidFill>
              </a:rPr>
              <a:t>YEAR</a:t>
            </a:r>
            <a:r>
              <a:rPr lang="en-US" dirty="0"/>
              <a:t>(</a:t>
            </a:r>
            <a:r>
              <a:rPr lang="en-US" dirty="0">
                <a:solidFill>
                  <a:srgbClr val="FF3399"/>
                </a:solidFill>
              </a:rPr>
              <a:t>GETDATE</a:t>
            </a:r>
            <a:r>
              <a:rPr lang="en-US" dirty="0"/>
              <a:t>()) – </a:t>
            </a:r>
            <a:r>
              <a:rPr lang="en-US" dirty="0">
                <a:solidFill>
                  <a:srgbClr val="FF3399"/>
                </a:solidFill>
              </a:rPr>
              <a:t>YEAR</a:t>
            </a:r>
            <a:r>
              <a:rPr lang="en-US" dirty="0"/>
              <a:t>(NGSINH) &gt;= ( </a:t>
            </a:r>
            <a:r>
              <a:rPr lang="en-US" dirty="0">
                <a:solidFill>
                  <a:srgbClr val="FF3399"/>
                </a:solidFill>
              </a:rPr>
              <a:t>CASE</a:t>
            </a:r>
            <a:r>
              <a:rPr lang="en-US" dirty="0"/>
              <a:t> PHAI</a:t>
            </a:r>
          </a:p>
          <a:p>
            <a:pPr algn="l"/>
            <a:r>
              <a:rPr lang="en-US" dirty="0"/>
              <a:t>					</a:t>
            </a:r>
            <a:r>
              <a:rPr lang="en-US" dirty="0">
                <a:solidFill>
                  <a:srgbClr val="0000CC"/>
                </a:solidFill>
              </a:rPr>
              <a:t>WHEN</a:t>
            </a:r>
            <a:r>
              <a:rPr lang="en-US" dirty="0"/>
              <a:t> </a:t>
            </a:r>
            <a:r>
              <a:rPr lang="en-US" dirty="0">
                <a:solidFill>
                  <a:srgbClr val="CC0000"/>
                </a:solidFill>
              </a:rPr>
              <a:t>'Nam'</a:t>
            </a:r>
            <a:r>
              <a:rPr lang="en-US" dirty="0"/>
              <a:t> </a:t>
            </a:r>
            <a:r>
              <a:rPr lang="en-US" dirty="0">
                <a:solidFill>
                  <a:srgbClr val="0000CC"/>
                </a:solidFill>
              </a:rPr>
              <a:t>THEN</a:t>
            </a:r>
            <a:r>
              <a:rPr lang="en-US" dirty="0"/>
              <a:t> 60</a:t>
            </a:r>
          </a:p>
          <a:p>
            <a:pPr algn="l"/>
            <a:r>
              <a:rPr lang="en-US" dirty="0"/>
              <a:t>					</a:t>
            </a:r>
            <a:r>
              <a:rPr lang="en-US" dirty="0">
                <a:solidFill>
                  <a:srgbClr val="0000CC"/>
                </a:solidFill>
              </a:rPr>
              <a:t>WHEN</a:t>
            </a:r>
            <a:r>
              <a:rPr lang="en-US" dirty="0"/>
              <a:t> </a:t>
            </a:r>
            <a:r>
              <a:rPr lang="en-US" dirty="0">
                <a:solidFill>
                  <a:srgbClr val="CC0000"/>
                </a:solidFill>
              </a:rPr>
              <a:t>'Nu'</a:t>
            </a:r>
            <a:r>
              <a:rPr lang="en-US" dirty="0"/>
              <a:t> </a:t>
            </a:r>
            <a:r>
              <a:rPr lang="en-US" dirty="0">
                <a:solidFill>
                  <a:srgbClr val="0000CC"/>
                </a:solidFill>
              </a:rPr>
              <a:t>THEN</a:t>
            </a:r>
            <a:r>
              <a:rPr lang="en-US" dirty="0"/>
              <a:t> 55</a:t>
            </a:r>
          </a:p>
          <a:p>
            <a:pPr algn="l"/>
            <a:r>
              <a:rPr lang="en-US" dirty="0"/>
              <a:t>					</a:t>
            </a:r>
            <a:r>
              <a:rPr lang="en-US" dirty="0">
                <a:solidFill>
                  <a:srgbClr val="0000CC"/>
                </a:solidFill>
              </a:rPr>
              <a:t>END </a:t>
            </a:r>
            <a:r>
              <a:rPr lang="en-US" dirty="0"/>
              <a:t>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6782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80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80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0292" grpId="0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26</a:t>
            </a:r>
          </a:p>
        </p:txBody>
      </p:sp>
      <p:sp>
        <p:nvSpPr>
          <p:cNvPr id="78848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76400"/>
            <a:ext cx="8229600" cy="4648200"/>
          </a:xfrm>
        </p:spPr>
        <p:txBody>
          <a:bodyPr/>
          <a:lstStyle/>
          <a:p>
            <a:r>
              <a:rPr lang="en-US" dirty="0"/>
              <a:t>Cho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họ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hưu</a:t>
            </a:r>
            <a:endParaRPr lang="en-US" dirty="0"/>
          </a:p>
        </p:txBody>
      </p:sp>
      <p:sp>
        <p:nvSpPr>
          <p:cNvPr id="788484" name="Text Box 4"/>
          <p:cNvSpPr txBox="1">
            <a:spLocks noChangeArrowheads="1"/>
          </p:cNvSpPr>
          <p:nvPr/>
        </p:nvSpPr>
        <p:spPr bwMode="auto">
          <a:xfrm>
            <a:off x="1295400" y="2438400"/>
            <a:ext cx="5638800" cy="243046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>
                <a:solidFill>
                  <a:srgbClr val="0000CC"/>
                </a:solidFill>
              </a:rPr>
              <a:t>SELECT</a:t>
            </a:r>
            <a:r>
              <a:rPr lang="en-US"/>
              <a:t> HONV, TENNV</a:t>
            </a:r>
          </a:p>
          <a:p>
            <a:pPr algn="l"/>
            <a:r>
              <a:rPr lang="en-US"/>
              <a:t>(</a:t>
            </a:r>
            <a:r>
              <a:rPr lang="en-US">
                <a:solidFill>
                  <a:srgbClr val="FF3399"/>
                </a:solidFill>
              </a:rPr>
              <a:t>CASE</a:t>
            </a:r>
            <a:r>
              <a:rPr lang="en-US"/>
              <a:t> PHAI  </a:t>
            </a:r>
          </a:p>
          <a:p>
            <a:pPr algn="l"/>
            <a:r>
              <a:rPr lang="en-US"/>
              <a:t>	</a:t>
            </a:r>
            <a:r>
              <a:rPr lang="en-US">
                <a:solidFill>
                  <a:srgbClr val="0000CC"/>
                </a:solidFill>
              </a:rPr>
              <a:t>WHEN</a:t>
            </a:r>
            <a:r>
              <a:rPr lang="en-US"/>
              <a:t> 'Nam' </a:t>
            </a:r>
            <a:r>
              <a:rPr lang="en-US">
                <a:solidFill>
                  <a:srgbClr val="0000CC"/>
                </a:solidFill>
              </a:rPr>
              <a:t>THEN</a:t>
            </a:r>
            <a:r>
              <a:rPr lang="en-US"/>
              <a:t>  </a:t>
            </a:r>
            <a:r>
              <a:rPr lang="en-US">
                <a:solidFill>
                  <a:srgbClr val="FF3399"/>
                </a:solidFill>
              </a:rPr>
              <a:t>YEAR</a:t>
            </a:r>
            <a:r>
              <a:rPr lang="en-US"/>
              <a:t>(NGSINH) + 60</a:t>
            </a:r>
          </a:p>
          <a:p>
            <a:pPr algn="l"/>
            <a:r>
              <a:rPr lang="en-US"/>
              <a:t>	</a:t>
            </a:r>
            <a:r>
              <a:rPr lang="en-US">
                <a:solidFill>
                  <a:srgbClr val="0000CC"/>
                </a:solidFill>
              </a:rPr>
              <a:t>WHEN</a:t>
            </a:r>
            <a:r>
              <a:rPr lang="en-US"/>
              <a:t> 'Nu‘ </a:t>
            </a:r>
            <a:r>
              <a:rPr lang="en-US">
                <a:solidFill>
                  <a:srgbClr val="0000CC"/>
                </a:solidFill>
              </a:rPr>
              <a:t>THEN</a:t>
            </a:r>
            <a:r>
              <a:rPr lang="en-US"/>
              <a:t> </a:t>
            </a:r>
            <a:r>
              <a:rPr lang="en-US">
                <a:solidFill>
                  <a:srgbClr val="FF3399"/>
                </a:solidFill>
              </a:rPr>
              <a:t>YEAR</a:t>
            </a:r>
            <a:r>
              <a:rPr lang="en-US"/>
              <a:t>(NGSINH) + 55</a:t>
            </a:r>
          </a:p>
          <a:p>
            <a:pPr algn="l"/>
            <a:r>
              <a:rPr lang="en-US"/>
              <a:t>	</a:t>
            </a:r>
            <a:r>
              <a:rPr lang="en-US">
                <a:solidFill>
                  <a:srgbClr val="0000CC"/>
                </a:solidFill>
              </a:rPr>
              <a:t>END</a:t>
            </a:r>
            <a:r>
              <a:rPr lang="en-US"/>
              <a:t> ) </a:t>
            </a:r>
            <a:r>
              <a:rPr lang="en-US">
                <a:solidFill>
                  <a:srgbClr val="0000CC"/>
                </a:solidFill>
              </a:rPr>
              <a:t>AS</a:t>
            </a:r>
            <a:r>
              <a:rPr lang="en-US"/>
              <a:t> NAMVEHUU</a:t>
            </a:r>
          </a:p>
          <a:p>
            <a:pPr algn="l"/>
            <a:r>
              <a:rPr lang="en-US">
                <a:solidFill>
                  <a:srgbClr val="0000CC"/>
                </a:solidFill>
              </a:rPr>
              <a:t>FROM</a:t>
            </a:r>
            <a:r>
              <a:rPr lang="en-US"/>
              <a:t> NHANVIEN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320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88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88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484" grpId="0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Kết</a:t>
            </a:r>
            <a:r>
              <a:rPr lang="en-US" b="1" dirty="0"/>
              <a:t> </a:t>
            </a:r>
            <a:r>
              <a:rPr lang="en-US" b="1" dirty="0" err="1"/>
              <a:t>luận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0A33-8893-432C-8DF5-8668727E3DA8}" type="slidenum">
              <a:rPr lang="en-US" smtClean="0"/>
              <a:t>122</a:t>
            </a:fld>
            <a:endParaRPr 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81000" y="1983328"/>
            <a:ext cx="7391400" cy="327782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b="1" dirty="0">
                <a:solidFill>
                  <a:srgbClr val="0070C0"/>
                </a:solidFill>
              </a:rPr>
              <a:t>SELECT</a:t>
            </a:r>
            <a:r>
              <a:rPr lang="en-US" b="1" dirty="0"/>
              <a:t> </a:t>
            </a:r>
            <a:r>
              <a:rPr lang="en-US" dirty="0"/>
              <a:t>&lt;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cột</a:t>
            </a:r>
            <a:r>
              <a:rPr lang="en-US" dirty="0"/>
              <a:t>&gt;</a:t>
            </a:r>
          </a:p>
          <a:p>
            <a:pPr algn="l">
              <a:lnSpc>
                <a:spcPct val="150000"/>
              </a:lnSpc>
            </a:pPr>
            <a:r>
              <a:rPr lang="en-US" b="1" dirty="0">
                <a:solidFill>
                  <a:srgbClr val="0070C0"/>
                </a:solidFill>
              </a:rPr>
              <a:t>FROM</a:t>
            </a:r>
            <a:r>
              <a:rPr lang="en-US" b="1" dirty="0"/>
              <a:t> </a:t>
            </a:r>
            <a:r>
              <a:rPr lang="en-US" dirty="0"/>
              <a:t>&lt;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&gt;</a:t>
            </a:r>
          </a:p>
          <a:p>
            <a:pPr algn="l">
              <a:lnSpc>
                <a:spcPct val="150000"/>
              </a:lnSpc>
            </a:pPr>
            <a:r>
              <a:rPr lang="en-US" dirty="0"/>
              <a:t>[</a:t>
            </a:r>
            <a:r>
              <a:rPr lang="en-US" b="1" dirty="0">
                <a:solidFill>
                  <a:srgbClr val="0070C0"/>
                </a:solidFill>
              </a:rPr>
              <a:t>WHERE</a:t>
            </a:r>
            <a:r>
              <a:rPr lang="en-US" b="1" dirty="0"/>
              <a:t> </a:t>
            </a:r>
            <a:r>
              <a:rPr lang="en-US" dirty="0"/>
              <a:t>&lt;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&gt;]</a:t>
            </a:r>
          </a:p>
          <a:p>
            <a:pPr algn="l">
              <a:lnSpc>
                <a:spcPct val="150000"/>
              </a:lnSpc>
            </a:pPr>
            <a:r>
              <a:rPr lang="en-US" dirty="0"/>
              <a:t>[</a:t>
            </a:r>
            <a:r>
              <a:rPr lang="en-US" b="1" dirty="0">
                <a:solidFill>
                  <a:srgbClr val="0070C0"/>
                </a:solidFill>
              </a:rPr>
              <a:t>GROUP BY </a:t>
            </a:r>
            <a:r>
              <a:rPr lang="en-US" dirty="0"/>
              <a:t>&lt;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gom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&gt;]</a:t>
            </a:r>
          </a:p>
          <a:p>
            <a:pPr algn="l">
              <a:lnSpc>
                <a:spcPct val="150000"/>
              </a:lnSpc>
            </a:pPr>
            <a:r>
              <a:rPr lang="en-US" dirty="0"/>
              <a:t>[</a:t>
            </a:r>
            <a:r>
              <a:rPr lang="en-US" b="1" dirty="0">
                <a:solidFill>
                  <a:srgbClr val="0070C0"/>
                </a:solidFill>
              </a:rPr>
              <a:t>HAVING</a:t>
            </a:r>
            <a:r>
              <a:rPr lang="en-US" b="1" dirty="0"/>
              <a:t> </a:t>
            </a:r>
            <a:r>
              <a:rPr lang="en-US" dirty="0"/>
              <a:t>&lt;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&gt;]</a:t>
            </a:r>
          </a:p>
          <a:p>
            <a:pPr algn="l">
              <a:lnSpc>
                <a:spcPct val="150000"/>
              </a:lnSpc>
            </a:pPr>
            <a:r>
              <a:rPr lang="en-US" dirty="0"/>
              <a:t>[</a:t>
            </a:r>
            <a:r>
              <a:rPr lang="en-US" b="1" dirty="0">
                <a:solidFill>
                  <a:srgbClr val="0070C0"/>
                </a:solidFill>
              </a:rPr>
              <a:t>ORDER BY </a:t>
            </a:r>
            <a:r>
              <a:rPr lang="en-US" dirty="0"/>
              <a:t>&lt;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sắp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&gt;]</a:t>
            </a:r>
          </a:p>
        </p:txBody>
      </p:sp>
    </p:spTree>
    <p:extLst>
      <p:ext uri="{BB962C8B-B14F-4D97-AF65-F5344CB8AC3E}">
        <p14:creationId xmlns:p14="http://schemas.microsoft.com/office/powerpoint/2010/main" val="4135444660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8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/>
              <a:t>4. </a:t>
            </a:r>
            <a:r>
              <a:rPr lang="en-US" sz="3500" b="1" dirty="0" err="1"/>
              <a:t>Cập</a:t>
            </a:r>
            <a:r>
              <a:rPr lang="en-US" sz="3500" b="1" dirty="0"/>
              <a:t> </a:t>
            </a:r>
            <a:r>
              <a:rPr lang="en-US" sz="3500" b="1" dirty="0" err="1"/>
              <a:t>nhật</a:t>
            </a:r>
            <a:r>
              <a:rPr lang="en-US" sz="3500" b="1" dirty="0"/>
              <a:t> </a:t>
            </a:r>
            <a:r>
              <a:rPr lang="en-US" sz="3500" b="1" dirty="0" err="1"/>
              <a:t>dữ</a:t>
            </a:r>
            <a:r>
              <a:rPr lang="en-US" sz="3500" b="1" dirty="0"/>
              <a:t> </a:t>
            </a:r>
            <a:r>
              <a:rPr lang="en-US" sz="3500" b="1" dirty="0" err="1"/>
              <a:t>liệu</a:t>
            </a:r>
            <a:endParaRPr lang="en-US" sz="3500" b="1" dirty="0"/>
          </a:p>
        </p:txBody>
      </p:sp>
      <p:sp>
        <p:nvSpPr>
          <p:cNvPr id="76185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752600"/>
            <a:ext cx="8229600" cy="4572000"/>
          </a:xfrm>
        </p:spPr>
        <p:txBody>
          <a:bodyPr/>
          <a:lstStyle/>
          <a:p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nhật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gồm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: </a:t>
            </a:r>
            <a:r>
              <a:rPr lang="en-US" dirty="0">
                <a:solidFill>
                  <a:srgbClr val="777777"/>
                </a:solidFill>
              </a:rPr>
              <a:t> </a:t>
            </a:r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Thêm</a:t>
            </a:r>
            <a:r>
              <a:rPr lang="en-US" dirty="0">
                <a:solidFill>
                  <a:schemeClr val="tx1"/>
                </a:solidFill>
              </a:rPr>
              <a:t> (insert)</a:t>
            </a:r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Xóa</a:t>
            </a:r>
            <a:r>
              <a:rPr lang="en-US" dirty="0">
                <a:solidFill>
                  <a:schemeClr val="tx1"/>
                </a:solidFill>
              </a:rPr>
              <a:t> (delete)</a:t>
            </a:r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Sửa</a:t>
            </a:r>
            <a:r>
              <a:rPr lang="en-US" dirty="0">
                <a:solidFill>
                  <a:schemeClr val="tx1"/>
                </a:solidFill>
              </a:rPr>
              <a:t> (update)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9321471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/>
              <a:t>a) </a:t>
            </a:r>
            <a:r>
              <a:rPr lang="en-US" sz="3500" b="1" dirty="0" err="1"/>
              <a:t>Lệnh</a:t>
            </a:r>
            <a:r>
              <a:rPr lang="en-US" sz="3500" b="1" dirty="0"/>
              <a:t> INSERT</a:t>
            </a:r>
          </a:p>
        </p:txBody>
      </p:sp>
      <p:sp>
        <p:nvSpPr>
          <p:cNvPr id="79462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229600" cy="4724400"/>
          </a:xfrm>
        </p:spPr>
        <p:txBody>
          <a:bodyPr/>
          <a:lstStyle/>
          <a:p>
            <a:pPr algn="just"/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thêm</a:t>
            </a:r>
            <a:r>
              <a:rPr lang="en-US" dirty="0"/>
              <a:t> 1 hay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bảng</a:t>
            </a:r>
            <a:endParaRPr lang="en-US" dirty="0"/>
          </a:p>
          <a:p>
            <a:pPr algn="just"/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  <a:p>
            <a:pPr lvl="1" algn="just"/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hệ</a:t>
            </a:r>
            <a:endParaRPr lang="en-US" dirty="0"/>
          </a:p>
          <a:p>
            <a:pPr lvl="1" algn="just"/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  <a:p>
            <a:pPr lvl="1" algn="just"/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ứng</a:t>
            </a:r>
            <a:endParaRPr lang="en-US" dirty="0"/>
          </a:p>
          <a:p>
            <a:pPr marL="274320" lvl="1" algn="just">
              <a:buClr>
                <a:schemeClr val="accent1"/>
              </a:buClr>
              <a:buSzPct val="85000"/>
              <a:buFont typeface="Wingdings 2"/>
              <a:buChar char=""/>
            </a:pPr>
            <a:r>
              <a:rPr lang="en-US" sz="2700" dirty="0" err="1">
                <a:solidFill>
                  <a:schemeClr val="tx1"/>
                </a:solidFill>
              </a:rPr>
              <a:t>Cú</a:t>
            </a:r>
            <a:r>
              <a:rPr lang="en-US" sz="2700" dirty="0">
                <a:solidFill>
                  <a:schemeClr val="tx1"/>
                </a:solidFill>
              </a:rPr>
              <a:t> </a:t>
            </a:r>
            <a:r>
              <a:rPr lang="en-US" sz="2700" dirty="0" err="1">
                <a:solidFill>
                  <a:schemeClr val="tx1"/>
                </a:solidFill>
              </a:rPr>
              <a:t>pháp</a:t>
            </a:r>
            <a:r>
              <a:rPr lang="en-US" sz="2700" dirty="0">
                <a:solidFill>
                  <a:schemeClr val="tx1"/>
                </a:solidFill>
              </a:rPr>
              <a:t> (</a:t>
            </a:r>
            <a:r>
              <a:rPr lang="en-US" sz="2700" dirty="0" err="1">
                <a:solidFill>
                  <a:schemeClr val="tx1"/>
                </a:solidFill>
              </a:rPr>
              <a:t>thêm</a:t>
            </a:r>
            <a:r>
              <a:rPr lang="en-US" sz="2700" dirty="0">
                <a:solidFill>
                  <a:schemeClr val="tx1"/>
                </a:solidFill>
              </a:rPr>
              <a:t> 1 </a:t>
            </a:r>
            <a:r>
              <a:rPr lang="en-US" sz="2700" dirty="0" err="1">
                <a:solidFill>
                  <a:schemeClr val="tx1"/>
                </a:solidFill>
              </a:rPr>
              <a:t>dòng</a:t>
            </a:r>
            <a:r>
              <a:rPr lang="en-US" sz="2700" dirty="0">
                <a:solidFill>
                  <a:schemeClr val="tx1"/>
                </a:solidFill>
              </a:rPr>
              <a:t>)</a:t>
            </a:r>
          </a:p>
          <a:p>
            <a:pPr marL="274320" lvl="1" algn="just">
              <a:buClr>
                <a:schemeClr val="accent1"/>
              </a:buClr>
              <a:buSzPct val="85000"/>
              <a:buFont typeface="Wingdings 2"/>
              <a:buChar char=""/>
            </a:pPr>
            <a:endParaRPr lang="en-US" sz="2700" dirty="0">
              <a:solidFill>
                <a:schemeClr val="tx1"/>
              </a:solidFill>
            </a:endParaRPr>
          </a:p>
          <a:p>
            <a:pPr algn="just"/>
            <a:endParaRPr lang="en-US" dirty="0">
              <a:solidFill>
                <a:srgbClr val="777777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124</a:t>
            </a:fld>
            <a:endParaRPr lang="en-US" alt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447800" y="4648200"/>
            <a:ext cx="6400800" cy="792163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l"/>
            <a:r>
              <a:rPr lang="en-US" b="1" dirty="0"/>
              <a:t>INSERT INTO </a:t>
            </a:r>
            <a:r>
              <a:rPr lang="en-US" dirty="0"/>
              <a:t>&lt;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&gt;(&lt;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&gt;)</a:t>
            </a:r>
          </a:p>
          <a:p>
            <a:pPr algn="l"/>
            <a:r>
              <a:rPr lang="en-US" b="1" dirty="0"/>
              <a:t>VALUES </a:t>
            </a:r>
            <a:r>
              <a:rPr lang="en-US" dirty="0"/>
              <a:t>(&lt;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&gt;)</a:t>
            </a:r>
          </a:p>
        </p:txBody>
      </p:sp>
    </p:spTree>
    <p:extLst>
      <p:ext uri="{BB962C8B-B14F-4D97-AF65-F5344CB8AC3E}">
        <p14:creationId xmlns:p14="http://schemas.microsoft.com/office/powerpoint/2010/main" val="1999602909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endParaRPr lang="en-US" sz="3500" b="1" dirty="0"/>
          </a:p>
        </p:txBody>
      </p:sp>
      <p:sp>
        <p:nvSpPr>
          <p:cNvPr id="800777" name="Text Box 9"/>
          <p:cNvSpPr txBox="1">
            <a:spLocks noChangeArrowheads="1"/>
          </p:cNvSpPr>
          <p:nvPr/>
        </p:nvSpPr>
        <p:spPr bwMode="auto">
          <a:xfrm>
            <a:off x="304800" y="1735138"/>
            <a:ext cx="7848600" cy="77946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>
                <a:solidFill>
                  <a:srgbClr val="0000CC"/>
                </a:solidFill>
              </a:rPr>
              <a:t>INSERT INTO</a:t>
            </a:r>
            <a:r>
              <a:rPr lang="en-US"/>
              <a:t> NHANVIEN(HONV, TENLOT, TENNV, MANV)</a:t>
            </a:r>
          </a:p>
          <a:p>
            <a:pPr algn="l"/>
            <a:r>
              <a:rPr lang="en-US">
                <a:solidFill>
                  <a:srgbClr val="0000CC"/>
                </a:solidFill>
              </a:rPr>
              <a:t>VALUES</a:t>
            </a:r>
            <a:r>
              <a:rPr lang="en-US"/>
              <a:t> (</a:t>
            </a:r>
            <a:r>
              <a:rPr lang="en-US">
                <a:solidFill>
                  <a:srgbClr val="CC0000"/>
                </a:solidFill>
              </a:rPr>
              <a:t>‘Le’</a:t>
            </a:r>
            <a:r>
              <a:rPr lang="en-US"/>
              <a:t>, </a:t>
            </a:r>
            <a:r>
              <a:rPr lang="en-US">
                <a:solidFill>
                  <a:srgbClr val="CC0000"/>
                </a:solidFill>
              </a:rPr>
              <a:t>‘Van’</a:t>
            </a:r>
            <a:r>
              <a:rPr lang="en-US"/>
              <a:t>, </a:t>
            </a:r>
            <a:r>
              <a:rPr lang="en-US">
                <a:solidFill>
                  <a:srgbClr val="CC0000"/>
                </a:solidFill>
              </a:rPr>
              <a:t>‘Tuyen’</a:t>
            </a:r>
            <a:r>
              <a:rPr lang="en-US"/>
              <a:t>, </a:t>
            </a:r>
            <a:r>
              <a:rPr lang="en-US">
                <a:solidFill>
                  <a:srgbClr val="CC0000"/>
                </a:solidFill>
              </a:rPr>
              <a:t>‘635635635’</a:t>
            </a:r>
            <a:r>
              <a:rPr lang="en-US"/>
              <a:t>)</a:t>
            </a:r>
          </a:p>
        </p:txBody>
      </p:sp>
      <p:sp>
        <p:nvSpPr>
          <p:cNvPr id="800778" name="Text Box 10"/>
          <p:cNvSpPr txBox="1">
            <a:spLocks noChangeArrowheads="1"/>
          </p:cNvSpPr>
          <p:nvPr/>
        </p:nvSpPr>
        <p:spPr bwMode="auto">
          <a:xfrm>
            <a:off x="304800" y="4724400"/>
            <a:ext cx="8534400" cy="77946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>
                <a:solidFill>
                  <a:srgbClr val="0000CC"/>
                </a:solidFill>
              </a:rPr>
              <a:t>INSERT INTO</a:t>
            </a:r>
            <a:r>
              <a:rPr lang="en-US"/>
              <a:t> NHANVIEN</a:t>
            </a:r>
          </a:p>
          <a:p>
            <a:pPr algn="l"/>
            <a:r>
              <a:rPr lang="en-US">
                <a:solidFill>
                  <a:srgbClr val="0000CC"/>
                </a:solidFill>
              </a:rPr>
              <a:t>VALUES</a:t>
            </a:r>
            <a:r>
              <a:rPr lang="en-US"/>
              <a:t> (</a:t>
            </a:r>
            <a:r>
              <a:rPr lang="en-US">
                <a:solidFill>
                  <a:srgbClr val="CC0000"/>
                </a:solidFill>
              </a:rPr>
              <a:t>‘Le’</a:t>
            </a:r>
            <a:r>
              <a:rPr lang="en-US"/>
              <a:t>, </a:t>
            </a:r>
            <a:r>
              <a:rPr lang="en-US">
                <a:solidFill>
                  <a:srgbClr val="CC0000"/>
                </a:solidFill>
              </a:rPr>
              <a:t>‘Van’</a:t>
            </a:r>
            <a:r>
              <a:rPr lang="en-US"/>
              <a:t>, </a:t>
            </a:r>
            <a:r>
              <a:rPr lang="en-US">
                <a:solidFill>
                  <a:srgbClr val="CC0000"/>
                </a:solidFill>
              </a:rPr>
              <a:t>‘Tuyen’</a:t>
            </a:r>
            <a:r>
              <a:rPr lang="en-US"/>
              <a:t>, </a:t>
            </a:r>
            <a:r>
              <a:rPr lang="en-US">
                <a:solidFill>
                  <a:srgbClr val="CC0000"/>
                </a:solidFill>
              </a:rPr>
              <a:t>‘635635635’</a:t>
            </a:r>
            <a:r>
              <a:rPr lang="en-US"/>
              <a:t>, </a:t>
            </a:r>
            <a:r>
              <a:rPr lang="en-US">
                <a:solidFill>
                  <a:srgbClr val="CC0000"/>
                </a:solidFill>
              </a:rPr>
              <a:t>’12/30/1952’</a:t>
            </a:r>
            <a:r>
              <a:rPr lang="en-US"/>
              <a:t>,</a:t>
            </a:r>
            <a:r>
              <a:rPr lang="en-US">
                <a:solidFill>
                  <a:srgbClr val="CC0000"/>
                </a:solidFill>
              </a:rPr>
              <a:t> ’98 HV’</a:t>
            </a:r>
            <a:r>
              <a:rPr lang="en-US"/>
              <a:t>, </a:t>
            </a:r>
            <a:r>
              <a:rPr lang="en-US">
                <a:solidFill>
                  <a:srgbClr val="CC0000"/>
                </a:solidFill>
              </a:rPr>
              <a:t>‘Nam’</a:t>
            </a:r>
            <a:r>
              <a:rPr lang="en-US"/>
              <a:t>, </a:t>
            </a:r>
            <a:r>
              <a:rPr lang="en-US">
                <a:solidFill>
                  <a:srgbClr val="CC0000"/>
                </a:solidFill>
              </a:rPr>
              <a:t>‘37000’</a:t>
            </a:r>
            <a:r>
              <a:rPr lang="en-US"/>
              <a:t>, 4)</a:t>
            </a:r>
          </a:p>
        </p:txBody>
      </p:sp>
      <p:sp>
        <p:nvSpPr>
          <p:cNvPr id="800779" name="Text Box 11"/>
          <p:cNvSpPr txBox="1">
            <a:spLocks noChangeArrowheads="1"/>
          </p:cNvSpPr>
          <p:nvPr/>
        </p:nvSpPr>
        <p:spPr bwMode="auto">
          <a:xfrm>
            <a:off x="304800" y="3241675"/>
            <a:ext cx="7848600" cy="77946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>
                <a:solidFill>
                  <a:srgbClr val="0000CC"/>
                </a:solidFill>
              </a:rPr>
              <a:t>INSERT INTO</a:t>
            </a:r>
            <a:r>
              <a:rPr lang="en-US"/>
              <a:t> NHANVIEN(HONV, TENLOT, TENNV, MANV, DCHI)</a:t>
            </a:r>
          </a:p>
          <a:p>
            <a:pPr algn="l"/>
            <a:r>
              <a:rPr lang="en-US">
                <a:solidFill>
                  <a:srgbClr val="0000CC"/>
                </a:solidFill>
              </a:rPr>
              <a:t>VALUES</a:t>
            </a:r>
            <a:r>
              <a:rPr lang="en-US"/>
              <a:t> (</a:t>
            </a:r>
            <a:r>
              <a:rPr lang="en-US">
                <a:solidFill>
                  <a:srgbClr val="CC0000"/>
                </a:solidFill>
              </a:rPr>
              <a:t>‘Le’</a:t>
            </a:r>
            <a:r>
              <a:rPr lang="en-US"/>
              <a:t>, </a:t>
            </a:r>
            <a:r>
              <a:rPr lang="en-US">
                <a:solidFill>
                  <a:srgbClr val="CC0000"/>
                </a:solidFill>
              </a:rPr>
              <a:t>‘Van’</a:t>
            </a:r>
            <a:r>
              <a:rPr lang="en-US"/>
              <a:t>, </a:t>
            </a:r>
            <a:r>
              <a:rPr lang="en-US">
                <a:solidFill>
                  <a:srgbClr val="CC0000"/>
                </a:solidFill>
              </a:rPr>
              <a:t>‘Tuyen’</a:t>
            </a:r>
            <a:r>
              <a:rPr lang="en-US"/>
              <a:t>, </a:t>
            </a:r>
            <a:r>
              <a:rPr lang="en-US">
                <a:solidFill>
                  <a:srgbClr val="CC0000"/>
                </a:solidFill>
              </a:rPr>
              <a:t>‘635635635’</a:t>
            </a:r>
            <a:r>
              <a:rPr lang="en-US"/>
              <a:t>, </a:t>
            </a:r>
            <a:r>
              <a:rPr lang="en-US">
                <a:solidFill>
                  <a:srgbClr val="777777"/>
                </a:solidFill>
              </a:rPr>
              <a:t>NULL</a:t>
            </a:r>
            <a:r>
              <a:rPr lang="en-US"/>
              <a:t>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6653701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126</a:t>
            </a:fld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823284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/>
              <a:t>a) </a:t>
            </a:r>
            <a:r>
              <a:rPr lang="en-US" sz="3500" b="1" dirty="0" err="1"/>
              <a:t>Lệnh</a:t>
            </a:r>
            <a:r>
              <a:rPr lang="en-US" sz="3500" b="1" dirty="0"/>
              <a:t> INSERT </a:t>
            </a:r>
          </a:p>
        </p:txBody>
      </p:sp>
      <p:sp>
        <p:nvSpPr>
          <p:cNvPr id="79872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382000" cy="4724400"/>
          </a:xfrm>
        </p:spPr>
        <p:txBody>
          <a:bodyPr/>
          <a:lstStyle/>
          <a:p>
            <a:pPr algn="just"/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xét</a:t>
            </a:r>
            <a:endParaRPr lang="en-US" dirty="0"/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Thứ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tự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các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giá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trị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phải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trùng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với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thứ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tự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các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cột</a:t>
            </a:r>
            <a:endParaRPr lang="en-US" dirty="0">
              <a:solidFill>
                <a:schemeClr val="tx1"/>
              </a:solidFill>
            </a:endParaRPr>
          </a:p>
          <a:p>
            <a:pPr lvl="1" algn="just"/>
            <a:endParaRPr lang="en-US" dirty="0">
              <a:solidFill>
                <a:schemeClr val="tx1"/>
              </a:solidFill>
            </a:endParaRPr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Có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thể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thêm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giá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trị</a:t>
            </a:r>
            <a:r>
              <a:rPr lang="en-US" dirty="0">
                <a:solidFill>
                  <a:schemeClr val="tx1"/>
                </a:solidFill>
              </a:rPr>
              <a:t> NULL ở </a:t>
            </a:r>
            <a:r>
              <a:rPr lang="en-US" dirty="0" err="1">
                <a:solidFill>
                  <a:schemeClr val="tx1"/>
                </a:solidFill>
              </a:rPr>
              <a:t>những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thuộc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tính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không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là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khóa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chính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và</a:t>
            </a:r>
            <a:r>
              <a:rPr lang="en-US" dirty="0">
                <a:solidFill>
                  <a:schemeClr val="tx1"/>
                </a:solidFill>
              </a:rPr>
              <a:t> NOT NULL</a:t>
            </a:r>
          </a:p>
          <a:p>
            <a:pPr lvl="1" algn="just"/>
            <a:endParaRPr lang="en-US" dirty="0">
              <a:solidFill>
                <a:schemeClr val="tx1"/>
              </a:solidFill>
            </a:endParaRPr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Câu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lệnh</a:t>
            </a:r>
            <a:r>
              <a:rPr lang="en-US" dirty="0">
                <a:solidFill>
                  <a:schemeClr val="tx1"/>
                </a:solidFill>
              </a:rPr>
              <a:t> INSERT </a:t>
            </a:r>
            <a:r>
              <a:rPr lang="en-US" dirty="0" err="1">
                <a:solidFill>
                  <a:schemeClr val="tx1"/>
                </a:solidFill>
              </a:rPr>
              <a:t>sẽ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gặp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lỗi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nếu</a:t>
            </a:r>
            <a:r>
              <a:rPr lang="en-US" dirty="0">
                <a:solidFill>
                  <a:schemeClr val="tx1"/>
                </a:solidFill>
              </a:rPr>
              <a:t> vi </a:t>
            </a:r>
            <a:r>
              <a:rPr lang="en-US" dirty="0" err="1">
                <a:solidFill>
                  <a:schemeClr val="tx1"/>
                </a:solidFill>
              </a:rPr>
              <a:t>phạm</a:t>
            </a:r>
            <a:r>
              <a:rPr lang="en-US" dirty="0">
                <a:solidFill>
                  <a:schemeClr val="tx1"/>
                </a:solidFill>
              </a:rPr>
              <a:t> RBTV</a:t>
            </a:r>
          </a:p>
          <a:p>
            <a:pPr lvl="2" algn="just"/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chính</a:t>
            </a:r>
            <a:endParaRPr lang="en-US" dirty="0"/>
          </a:p>
          <a:p>
            <a:pPr lvl="2" algn="just"/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chiếu</a:t>
            </a:r>
            <a:endParaRPr lang="en-US" dirty="0"/>
          </a:p>
          <a:p>
            <a:pPr lvl="2" algn="just"/>
            <a:r>
              <a:rPr lang="en-US" dirty="0"/>
              <a:t>NOT NULL -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 NOT NULL </a:t>
            </a:r>
            <a:r>
              <a:rPr lang="en-US" dirty="0" err="1"/>
              <a:t>bắt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8630054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8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/>
              <a:t>a) </a:t>
            </a:r>
            <a:r>
              <a:rPr lang="en-US" sz="3500" b="1" dirty="0" err="1"/>
              <a:t>Lệnh</a:t>
            </a:r>
            <a:r>
              <a:rPr lang="en-US" sz="3500" b="1" dirty="0"/>
              <a:t> INSERT</a:t>
            </a:r>
          </a:p>
        </p:txBody>
      </p:sp>
      <p:sp>
        <p:nvSpPr>
          <p:cNvPr id="80486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524000"/>
            <a:ext cx="8229600" cy="4800600"/>
          </a:xfrm>
        </p:spPr>
        <p:txBody>
          <a:bodyPr/>
          <a:lstStyle/>
          <a:p>
            <a:r>
              <a:rPr lang="en-US" dirty="0" err="1"/>
              <a:t>Cú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(</a:t>
            </a: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)</a:t>
            </a:r>
            <a:endParaRPr lang="en-US" dirty="0">
              <a:solidFill>
                <a:srgbClr val="777777"/>
              </a:solidFill>
            </a:endParaRPr>
          </a:p>
        </p:txBody>
      </p:sp>
      <p:sp>
        <p:nvSpPr>
          <p:cNvPr id="804868" name="Rectangle 4"/>
          <p:cNvSpPr>
            <a:spLocks noChangeArrowheads="1"/>
          </p:cNvSpPr>
          <p:nvPr/>
        </p:nvSpPr>
        <p:spPr bwMode="auto">
          <a:xfrm>
            <a:off x="1066800" y="2484437"/>
            <a:ext cx="6400800" cy="792163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l"/>
            <a:r>
              <a:rPr lang="en-US" b="1" dirty="0"/>
              <a:t>INSERT INTO </a:t>
            </a:r>
            <a:r>
              <a:rPr lang="en-US" dirty="0"/>
              <a:t>&lt;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&gt;(&lt;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&gt;)</a:t>
            </a:r>
          </a:p>
          <a:p>
            <a:pPr algn="l"/>
            <a:r>
              <a:rPr lang="en-US" dirty="0"/>
              <a:t>	&lt;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con&gt;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4437088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8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endParaRPr lang="en-US" sz="3500" b="1" dirty="0"/>
          </a:p>
        </p:txBody>
      </p:sp>
      <p:sp>
        <p:nvSpPr>
          <p:cNvPr id="802819" name="Text Box 3"/>
          <p:cNvSpPr txBox="1">
            <a:spLocks noChangeArrowheads="1"/>
          </p:cNvSpPr>
          <p:nvPr/>
        </p:nvSpPr>
        <p:spPr bwMode="auto">
          <a:xfrm>
            <a:off x="457200" y="1600200"/>
            <a:ext cx="4038600" cy="20177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dirty="0">
                <a:solidFill>
                  <a:srgbClr val="0000CC"/>
                </a:solidFill>
              </a:rPr>
              <a:t>CREATE TABLE</a:t>
            </a:r>
            <a:r>
              <a:rPr lang="en-US" dirty="0"/>
              <a:t> THONGKE_PB (</a:t>
            </a:r>
          </a:p>
          <a:p>
            <a:pPr algn="l"/>
            <a:r>
              <a:rPr lang="en-US" dirty="0"/>
              <a:t>	TENPHG </a:t>
            </a:r>
            <a:r>
              <a:rPr lang="en-US" dirty="0">
                <a:solidFill>
                  <a:srgbClr val="0000CC"/>
                </a:solidFill>
              </a:rPr>
              <a:t>VARCHAR</a:t>
            </a:r>
            <a:r>
              <a:rPr lang="en-US" dirty="0"/>
              <a:t>(20),</a:t>
            </a:r>
          </a:p>
          <a:p>
            <a:pPr algn="l"/>
            <a:r>
              <a:rPr lang="en-US" dirty="0"/>
              <a:t>	SL_NV </a:t>
            </a:r>
            <a:r>
              <a:rPr lang="en-US" dirty="0">
                <a:solidFill>
                  <a:srgbClr val="0000CC"/>
                </a:solidFill>
              </a:rPr>
              <a:t>INT</a:t>
            </a:r>
            <a:r>
              <a:rPr lang="en-US" dirty="0"/>
              <a:t>,</a:t>
            </a:r>
          </a:p>
          <a:p>
            <a:pPr algn="l"/>
            <a:r>
              <a:rPr lang="en-US" dirty="0"/>
              <a:t>	LUONG_TC </a:t>
            </a:r>
            <a:r>
              <a:rPr lang="en-US" dirty="0">
                <a:solidFill>
                  <a:srgbClr val="0000CC"/>
                </a:solidFill>
              </a:rPr>
              <a:t>INT</a:t>
            </a:r>
          </a:p>
          <a:p>
            <a:pPr algn="l"/>
            <a:r>
              <a:rPr lang="en-US" dirty="0"/>
              <a:t>)</a:t>
            </a:r>
          </a:p>
        </p:txBody>
      </p:sp>
      <p:sp>
        <p:nvSpPr>
          <p:cNvPr id="802820" name="Text Box 4"/>
          <p:cNvSpPr txBox="1">
            <a:spLocks noChangeArrowheads="1"/>
          </p:cNvSpPr>
          <p:nvPr/>
        </p:nvSpPr>
        <p:spPr bwMode="auto">
          <a:xfrm>
            <a:off x="457200" y="3886200"/>
            <a:ext cx="6629400" cy="20177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dirty="0">
                <a:solidFill>
                  <a:srgbClr val="0000CC"/>
                </a:solidFill>
              </a:rPr>
              <a:t>INSERT INTO</a:t>
            </a:r>
            <a:r>
              <a:rPr lang="en-US" dirty="0"/>
              <a:t> THONGKE_PB(TENPHG, SL_NV, LUONG_TC)</a:t>
            </a:r>
          </a:p>
          <a:p>
            <a:pPr algn="l"/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SELECT</a:t>
            </a:r>
            <a:r>
              <a:rPr lang="en-US" dirty="0"/>
              <a:t> TENPHG, </a:t>
            </a:r>
            <a:r>
              <a:rPr lang="en-US" dirty="0">
                <a:solidFill>
                  <a:srgbClr val="FF3399"/>
                </a:solidFill>
              </a:rPr>
              <a:t>COUNT</a:t>
            </a:r>
            <a:r>
              <a:rPr lang="en-US" dirty="0"/>
              <a:t>(MANV), </a:t>
            </a:r>
            <a:r>
              <a:rPr lang="en-US" dirty="0">
                <a:solidFill>
                  <a:srgbClr val="FF3399"/>
                </a:solidFill>
              </a:rPr>
              <a:t>SUM</a:t>
            </a:r>
            <a:r>
              <a:rPr lang="en-US" dirty="0"/>
              <a:t>(LUONG)</a:t>
            </a:r>
          </a:p>
          <a:p>
            <a:pPr algn="l"/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FROM</a:t>
            </a:r>
            <a:r>
              <a:rPr lang="en-US" dirty="0"/>
              <a:t> NHANVIEN, PHONGBAN</a:t>
            </a:r>
          </a:p>
          <a:p>
            <a:pPr algn="l"/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WHERE</a:t>
            </a:r>
            <a:r>
              <a:rPr lang="en-US" dirty="0"/>
              <a:t> PHG=MAPHG</a:t>
            </a:r>
          </a:p>
          <a:p>
            <a:pPr algn="l"/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GROUP BY</a:t>
            </a:r>
            <a:r>
              <a:rPr lang="en-US" dirty="0"/>
              <a:t> TENPHG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1670979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9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/>
              <a:t>b) </a:t>
            </a:r>
            <a:r>
              <a:rPr lang="en-US" sz="3500" b="1" dirty="0" err="1"/>
              <a:t>Lệnh</a:t>
            </a:r>
            <a:r>
              <a:rPr lang="en-US" sz="3500" b="1" dirty="0"/>
              <a:t> DELETE </a:t>
            </a:r>
          </a:p>
        </p:txBody>
      </p:sp>
      <p:sp>
        <p:nvSpPr>
          <p:cNvPr id="80691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524000"/>
            <a:ext cx="8229600" cy="4800600"/>
          </a:xfrm>
        </p:spPr>
        <p:txBody>
          <a:bodyPr/>
          <a:lstStyle/>
          <a:p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xóa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bảng</a:t>
            </a:r>
            <a:endParaRPr lang="en-US" dirty="0"/>
          </a:p>
          <a:p>
            <a:r>
              <a:rPr lang="en-US" dirty="0" err="1"/>
              <a:t>Cú</a:t>
            </a:r>
            <a:r>
              <a:rPr lang="en-US" dirty="0"/>
              <a:t> </a:t>
            </a:r>
            <a:r>
              <a:rPr lang="en-US" dirty="0" err="1"/>
              <a:t>pháp</a:t>
            </a:r>
            <a:endParaRPr lang="en-US" dirty="0">
              <a:solidFill>
                <a:srgbClr val="777777"/>
              </a:solidFill>
            </a:endParaRPr>
          </a:p>
        </p:txBody>
      </p:sp>
      <p:sp>
        <p:nvSpPr>
          <p:cNvPr id="806916" name="Rectangle 4"/>
          <p:cNvSpPr>
            <a:spLocks noChangeArrowheads="1"/>
          </p:cNvSpPr>
          <p:nvPr/>
        </p:nvSpPr>
        <p:spPr bwMode="auto">
          <a:xfrm>
            <a:off x="2286000" y="2590800"/>
            <a:ext cx="3352800" cy="792163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l"/>
            <a:r>
              <a:rPr lang="en-US" b="1" dirty="0"/>
              <a:t>DELETE FROM </a:t>
            </a:r>
            <a:r>
              <a:rPr lang="en-US" dirty="0"/>
              <a:t>&lt;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&gt;</a:t>
            </a:r>
          </a:p>
          <a:p>
            <a:pPr algn="l"/>
            <a:r>
              <a:rPr lang="en-US" dirty="0"/>
              <a:t>[</a:t>
            </a:r>
            <a:r>
              <a:rPr lang="en-US" b="1" dirty="0"/>
              <a:t>WHERE</a:t>
            </a:r>
            <a:r>
              <a:rPr lang="en-US" dirty="0"/>
              <a:t> &lt;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&gt;]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717799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endParaRPr lang="en-US" sz="3500" b="1" dirty="0"/>
          </a:p>
        </p:txBody>
      </p:sp>
      <p:sp>
        <p:nvSpPr>
          <p:cNvPr id="811012" name="Text Box 4"/>
          <p:cNvSpPr txBox="1">
            <a:spLocks noChangeArrowheads="1"/>
          </p:cNvSpPr>
          <p:nvPr/>
        </p:nvSpPr>
        <p:spPr bwMode="auto">
          <a:xfrm>
            <a:off x="363921" y="1524000"/>
            <a:ext cx="3886200" cy="78483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dirty="0">
                <a:solidFill>
                  <a:srgbClr val="0000CC"/>
                </a:solidFill>
              </a:rPr>
              <a:t>DELETE FROM </a:t>
            </a:r>
            <a:r>
              <a:rPr lang="en-US" dirty="0"/>
              <a:t>NHANVIEN</a:t>
            </a:r>
          </a:p>
          <a:p>
            <a:pPr algn="l"/>
            <a:r>
              <a:rPr lang="en-US" dirty="0">
                <a:solidFill>
                  <a:srgbClr val="0000CC"/>
                </a:solidFill>
              </a:rPr>
              <a:t>WHERE</a:t>
            </a:r>
            <a:r>
              <a:rPr lang="en-US" dirty="0"/>
              <a:t> HONV=</a:t>
            </a:r>
            <a:r>
              <a:rPr lang="en-US" dirty="0">
                <a:solidFill>
                  <a:srgbClr val="CC0000"/>
                </a:solidFill>
              </a:rPr>
              <a:t>‘Tran’</a:t>
            </a:r>
          </a:p>
        </p:txBody>
      </p:sp>
      <p:sp>
        <p:nvSpPr>
          <p:cNvPr id="811015" name="Text Box 7"/>
          <p:cNvSpPr txBox="1">
            <a:spLocks noChangeArrowheads="1"/>
          </p:cNvSpPr>
          <p:nvPr/>
        </p:nvSpPr>
        <p:spPr bwMode="auto">
          <a:xfrm>
            <a:off x="3733800" y="1566402"/>
            <a:ext cx="3810000" cy="77946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dirty="0">
                <a:solidFill>
                  <a:srgbClr val="0000CC"/>
                </a:solidFill>
              </a:rPr>
              <a:t>DELETE FROM </a:t>
            </a:r>
            <a:r>
              <a:rPr lang="en-US" dirty="0"/>
              <a:t>NHANVIEN</a:t>
            </a:r>
          </a:p>
          <a:p>
            <a:pPr algn="l"/>
            <a:r>
              <a:rPr lang="en-US" dirty="0">
                <a:solidFill>
                  <a:srgbClr val="0000CC"/>
                </a:solidFill>
              </a:rPr>
              <a:t>WHERE</a:t>
            </a:r>
            <a:r>
              <a:rPr lang="en-US" dirty="0"/>
              <a:t> MANV=</a:t>
            </a:r>
            <a:r>
              <a:rPr lang="en-US" dirty="0">
                <a:solidFill>
                  <a:srgbClr val="CC0000"/>
                </a:solidFill>
              </a:rPr>
              <a:t>‘345345345’</a:t>
            </a:r>
          </a:p>
        </p:txBody>
      </p:sp>
      <p:sp>
        <p:nvSpPr>
          <p:cNvPr id="811016" name="Text Box 8"/>
          <p:cNvSpPr txBox="1">
            <a:spLocks noChangeArrowheads="1"/>
          </p:cNvSpPr>
          <p:nvPr/>
        </p:nvSpPr>
        <p:spPr bwMode="auto">
          <a:xfrm>
            <a:off x="381000" y="2590800"/>
            <a:ext cx="3810000" cy="36671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dirty="0">
                <a:solidFill>
                  <a:srgbClr val="0000CC"/>
                </a:solidFill>
              </a:rPr>
              <a:t>DELETE FROM </a:t>
            </a:r>
            <a:r>
              <a:rPr lang="en-US" dirty="0"/>
              <a:t>NHANVIEN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131</a:t>
            </a:fld>
            <a:endParaRPr lang="en-US" alt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sz="quarter" idx="1"/>
          </p:nvPr>
        </p:nvSpPr>
        <p:spPr>
          <a:xfrm>
            <a:off x="457200" y="2957512"/>
            <a:ext cx="8229600" cy="3367088"/>
          </a:xfrm>
          <a:noFill/>
          <a:ln/>
        </p:spPr>
        <p:txBody>
          <a:bodyPr/>
          <a:lstStyle/>
          <a:p>
            <a:r>
              <a:rPr lang="en-US" dirty="0" err="1"/>
              <a:t>Xóa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ở </a:t>
            </a:r>
            <a:r>
              <a:rPr lang="en-US" dirty="0" err="1"/>
              <a:t>phòng</a:t>
            </a:r>
            <a:r>
              <a:rPr lang="en-US" dirty="0"/>
              <a:t> ‘</a:t>
            </a:r>
            <a:r>
              <a:rPr lang="en-US" dirty="0" err="1"/>
              <a:t>Nghien</a:t>
            </a:r>
            <a:r>
              <a:rPr lang="en-US" dirty="0"/>
              <a:t> </a:t>
            </a:r>
            <a:r>
              <a:rPr lang="en-US" dirty="0" err="1"/>
              <a:t>cuu</a:t>
            </a:r>
            <a:r>
              <a:rPr lang="en-US" dirty="0"/>
              <a:t>’</a:t>
            </a: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381000" y="3733800"/>
            <a:ext cx="5334000" cy="20177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dirty="0">
                <a:solidFill>
                  <a:srgbClr val="0000CC"/>
                </a:solidFill>
              </a:rPr>
              <a:t>DELETE FROM </a:t>
            </a:r>
            <a:r>
              <a:rPr lang="en-US" dirty="0"/>
              <a:t>NHANVIEN</a:t>
            </a:r>
          </a:p>
          <a:p>
            <a:pPr algn="l"/>
            <a:r>
              <a:rPr lang="en-US" dirty="0">
                <a:solidFill>
                  <a:srgbClr val="0000CC"/>
                </a:solidFill>
              </a:rPr>
              <a:t>WHERE</a:t>
            </a:r>
            <a:r>
              <a:rPr lang="en-US" dirty="0"/>
              <a:t> PHG </a:t>
            </a:r>
            <a:r>
              <a:rPr lang="en-US" dirty="0">
                <a:solidFill>
                  <a:srgbClr val="777777"/>
                </a:solidFill>
              </a:rPr>
              <a:t>IN</a:t>
            </a:r>
            <a:r>
              <a:rPr lang="en-US" dirty="0"/>
              <a:t> (</a:t>
            </a:r>
          </a:p>
          <a:p>
            <a:pPr algn="l"/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SELECT</a:t>
            </a:r>
            <a:r>
              <a:rPr lang="en-US" dirty="0"/>
              <a:t> MAPHG</a:t>
            </a:r>
          </a:p>
          <a:p>
            <a:pPr algn="l"/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FROM</a:t>
            </a:r>
            <a:r>
              <a:rPr lang="en-US" dirty="0"/>
              <a:t> PHONGBAN</a:t>
            </a:r>
          </a:p>
          <a:p>
            <a:pPr algn="l"/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WHERE</a:t>
            </a:r>
            <a:r>
              <a:rPr lang="en-US" dirty="0"/>
              <a:t> TENPHG=</a:t>
            </a:r>
            <a:r>
              <a:rPr lang="en-US" dirty="0">
                <a:solidFill>
                  <a:srgbClr val="CC0000"/>
                </a:solidFill>
              </a:rPr>
              <a:t>‘</a:t>
            </a:r>
            <a:r>
              <a:rPr lang="en-US" dirty="0" err="1">
                <a:solidFill>
                  <a:srgbClr val="CC0000"/>
                </a:solidFill>
              </a:rPr>
              <a:t>Nghien</a:t>
            </a:r>
            <a:r>
              <a:rPr lang="en-US" dirty="0">
                <a:solidFill>
                  <a:srgbClr val="CC0000"/>
                </a:solidFill>
              </a:rPr>
              <a:t> </a:t>
            </a:r>
            <a:r>
              <a:rPr lang="en-US" dirty="0" err="1">
                <a:solidFill>
                  <a:srgbClr val="CC0000"/>
                </a:solidFill>
              </a:rPr>
              <a:t>cuu</a:t>
            </a:r>
            <a:r>
              <a:rPr lang="en-US" dirty="0">
                <a:solidFill>
                  <a:srgbClr val="CC0000"/>
                </a:solidFill>
              </a:rPr>
              <a:t>’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73622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/>
              <a:t>b) </a:t>
            </a:r>
            <a:r>
              <a:rPr lang="en-US" sz="3500" b="1" dirty="0" err="1"/>
              <a:t>Lệnh</a:t>
            </a:r>
            <a:r>
              <a:rPr lang="en-US" sz="3500" b="1" dirty="0"/>
              <a:t> DELETE</a:t>
            </a:r>
          </a:p>
        </p:txBody>
      </p:sp>
      <p:sp>
        <p:nvSpPr>
          <p:cNvPr id="80896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229600" cy="4800600"/>
          </a:xfrm>
        </p:spPr>
        <p:txBody>
          <a:bodyPr/>
          <a:lstStyle/>
          <a:p>
            <a:pPr algn="just"/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xét</a:t>
            </a:r>
            <a:endParaRPr lang="en-US" dirty="0"/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Số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lượng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số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dòng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bị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xóa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phụ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thuộc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vào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điều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kiện</a:t>
            </a:r>
            <a:r>
              <a:rPr lang="en-US" dirty="0">
                <a:solidFill>
                  <a:schemeClr val="tx1"/>
                </a:solidFill>
              </a:rPr>
              <a:t> ở </a:t>
            </a:r>
            <a:r>
              <a:rPr lang="en-US" dirty="0" err="1">
                <a:solidFill>
                  <a:schemeClr val="tx1"/>
                </a:solidFill>
              </a:rPr>
              <a:t>mệnh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đề</a:t>
            </a:r>
            <a:r>
              <a:rPr lang="en-US" dirty="0">
                <a:solidFill>
                  <a:schemeClr val="tx1"/>
                </a:solidFill>
              </a:rPr>
              <a:t> WHERE</a:t>
            </a:r>
          </a:p>
          <a:p>
            <a:pPr lvl="1" algn="just"/>
            <a:endParaRPr lang="en-US" dirty="0">
              <a:solidFill>
                <a:schemeClr val="tx1"/>
              </a:solidFill>
            </a:endParaRPr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Nếu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không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chỉ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định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điều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kiện</a:t>
            </a:r>
            <a:r>
              <a:rPr lang="en-US" dirty="0">
                <a:solidFill>
                  <a:schemeClr val="tx1"/>
                </a:solidFill>
              </a:rPr>
              <a:t> ở </a:t>
            </a:r>
            <a:r>
              <a:rPr lang="en-US" dirty="0" err="1">
                <a:solidFill>
                  <a:schemeClr val="tx1"/>
                </a:solidFill>
              </a:rPr>
              <a:t>mệnh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đề</a:t>
            </a:r>
            <a:r>
              <a:rPr lang="en-US" dirty="0">
                <a:solidFill>
                  <a:schemeClr val="tx1"/>
                </a:solidFill>
              </a:rPr>
              <a:t> WHERE, </a:t>
            </a:r>
            <a:r>
              <a:rPr lang="en-US" dirty="0" err="1">
                <a:solidFill>
                  <a:schemeClr val="tx1"/>
                </a:solidFill>
              </a:rPr>
              <a:t>tất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cả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các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dòng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trong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bảng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sẽ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bị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xóa</a:t>
            </a:r>
            <a:endParaRPr lang="en-US" dirty="0">
              <a:solidFill>
                <a:schemeClr val="tx1"/>
              </a:solidFill>
            </a:endParaRPr>
          </a:p>
          <a:p>
            <a:pPr lvl="1" algn="just"/>
            <a:endParaRPr lang="en-US" dirty="0">
              <a:solidFill>
                <a:schemeClr val="tx1"/>
              </a:solidFill>
            </a:endParaRPr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Lệnh</a:t>
            </a:r>
            <a:r>
              <a:rPr lang="en-US" dirty="0">
                <a:solidFill>
                  <a:schemeClr val="tx1"/>
                </a:solidFill>
              </a:rPr>
              <a:t> DELETE </a:t>
            </a:r>
            <a:r>
              <a:rPr lang="en-US" dirty="0" err="1">
                <a:solidFill>
                  <a:schemeClr val="tx1"/>
                </a:solidFill>
              </a:rPr>
              <a:t>có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thể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gây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ra</a:t>
            </a:r>
            <a:r>
              <a:rPr lang="en-US" dirty="0">
                <a:solidFill>
                  <a:schemeClr val="tx1"/>
                </a:solidFill>
              </a:rPr>
              <a:t> vi </a:t>
            </a:r>
            <a:r>
              <a:rPr lang="en-US" dirty="0" err="1">
                <a:solidFill>
                  <a:schemeClr val="tx1"/>
                </a:solidFill>
              </a:rPr>
              <a:t>phạm</a:t>
            </a:r>
            <a:r>
              <a:rPr lang="en-US" dirty="0">
                <a:solidFill>
                  <a:schemeClr val="tx1"/>
                </a:solidFill>
              </a:rPr>
              <a:t> RB </a:t>
            </a:r>
            <a:r>
              <a:rPr lang="en-US" dirty="0" err="1">
                <a:solidFill>
                  <a:schemeClr val="tx1"/>
                </a:solidFill>
              </a:rPr>
              <a:t>tham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chiếu</a:t>
            </a:r>
            <a:endParaRPr lang="en-US" dirty="0">
              <a:solidFill>
                <a:schemeClr val="tx1"/>
              </a:solidFill>
            </a:endParaRPr>
          </a:p>
          <a:p>
            <a:pPr lvl="2" algn="just"/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xóa</a:t>
            </a:r>
          </a:p>
          <a:p>
            <a:pPr lvl="2" algn="just"/>
            <a:r>
              <a:rPr lang="en-US" dirty="0" err="1"/>
              <a:t>Xóa</a:t>
            </a:r>
            <a:r>
              <a:rPr lang="en-US" dirty="0"/>
              <a:t> </a:t>
            </a:r>
            <a:r>
              <a:rPr lang="en-US" dirty="0" err="1"/>
              <a:t>luôn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chiếu</a:t>
            </a:r>
            <a:r>
              <a:rPr lang="en-US" dirty="0"/>
              <a:t> </a:t>
            </a:r>
            <a:r>
              <a:rPr lang="en-US" dirty="0" err="1"/>
              <a:t>đến</a:t>
            </a:r>
            <a:endParaRPr lang="en-US" dirty="0"/>
          </a:p>
          <a:p>
            <a:pPr lvl="2" algn="just"/>
            <a:r>
              <a:rPr lang="en-US" dirty="0" err="1"/>
              <a:t>Đặt</a:t>
            </a:r>
            <a:r>
              <a:rPr lang="en-US" dirty="0"/>
              <a:t> NULL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chiếu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7118388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2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/>
              <a:t>c) </a:t>
            </a:r>
            <a:r>
              <a:rPr lang="en-US" sz="3500" b="1" dirty="0" err="1"/>
              <a:t>Lệnh</a:t>
            </a:r>
            <a:r>
              <a:rPr lang="en-US" sz="3500" b="1" dirty="0"/>
              <a:t> UPDATE </a:t>
            </a:r>
          </a:p>
        </p:txBody>
      </p:sp>
      <p:sp>
        <p:nvSpPr>
          <p:cNvPr id="82125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752600"/>
            <a:ext cx="8229600" cy="4572000"/>
          </a:xfrm>
        </p:spPr>
        <p:txBody>
          <a:bodyPr/>
          <a:lstStyle/>
          <a:p>
            <a:pPr algn="just"/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bảng</a:t>
            </a:r>
            <a:endParaRPr lang="en-US" dirty="0"/>
          </a:p>
          <a:p>
            <a:pPr algn="just"/>
            <a:r>
              <a:rPr lang="en-US" dirty="0" err="1"/>
              <a:t>Cú</a:t>
            </a:r>
            <a:r>
              <a:rPr lang="en-US" dirty="0"/>
              <a:t> </a:t>
            </a:r>
            <a:r>
              <a:rPr lang="en-US" dirty="0" err="1"/>
              <a:t>pháp</a:t>
            </a:r>
            <a:endParaRPr lang="en-US" dirty="0">
              <a:solidFill>
                <a:srgbClr val="777777"/>
              </a:solidFill>
            </a:endParaRPr>
          </a:p>
        </p:txBody>
      </p:sp>
      <p:sp>
        <p:nvSpPr>
          <p:cNvPr id="821252" name="Rectangle 4"/>
          <p:cNvSpPr>
            <a:spLocks noChangeArrowheads="1"/>
          </p:cNvSpPr>
          <p:nvPr/>
        </p:nvSpPr>
        <p:spPr bwMode="auto">
          <a:xfrm>
            <a:off x="1066800" y="3352800"/>
            <a:ext cx="4495800" cy="2030413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l"/>
            <a:r>
              <a:rPr lang="en-US" b="1"/>
              <a:t>UPDATE </a:t>
            </a:r>
            <a:r>
              <a:rPr lang="en-US"/>
              <a:t>&lt;tên bảng&gt;</a:t>
            </a:r>
          </a:p>
          <a:p>
            <a:pPr algn="l"/>
            <a:r>
              <a:rPr lang="en-US" b="1"/>
              <a:t>SET</a:t>
            </a:r>
            <a:r>
              <a:rPr lang="en-US"/>
              <a:t> &lt;tên thuộc tính&gt;=&lt;giá trị mới&gt;,</a:t>
            </a:r>
          </a:p>
          <a:p>
            <a:pPr algn="l"/>
            <a:r>
              <a:rPr lang="en-US"/>
              <a:t>       &lt;tên thuộc tính&gt;=&lt;giá trị mới&gt;, </a:t>
            </a:r>
          </a:p>
          <a:p>
            <a:pPr algn="l"/>
            <a:r>
              <a:rPr lang="en-US"/>
              <a:t>        …</a:t>
            </a:r>
          </a:p>
          <a:p>
            <a:pPr algn="l"/>
            <a:r>
              <a:rPr lang="en-US"/>
              <a:t>[</a:t>
            </a:r>
            <a:r>
              <a:rPr lang="en-US" b="1"/>
              <a:t>WHERE</a:t>
            </a:r>
            <a:r>
              <a:rPr lang="en-US"/>
              <a:t> &lt;điều kiện&gt;]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2267151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endParaRPr lang="en-US" sz="3500" b="1" dirty="0"/>
          </a:p>
        </p:txBody>
      </p:sp>
      <p:sp>
        <p:nvSpPr>
          <p:cNvPr id="825347" name="Text Box 3"/>
          <p:cNvSpPr txBox="1">
            <a:spLocks noChangeArrowheads="1"/>
          </p:cNvSpPr>
          <p:nvPr/>
        </p:nvSpPr>
        <p:spPr bwMode="auto">
          <a:xfrm>
            <a:off x="533400" y="1752600"/>
            <a:ext cx="3810000" cy="11922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dirty="0">
                <a:solidFill>
                  <a:srgbClr val="0000CC"/>
                </a:solidFill>
              </a:rPr>
              <a:t>UPDATE </a:t>
            </a:r>
            <a:r>
              <a:rPr lang="en-US" dirty="0"/>
              <a:t>NHANVIEN</a:t>
            </a:r>
          </a:p>
          <a:p>
            <a:pPr algn="l"/>
            <a:r>
              <a:rPr lang="en-US" dirty="0">
                <a:solidFill>
                  <a:srgbClr val="0000CC"/>
                </a:solidFill>
              </a:rPr>
              <a:t>SET</a:t>
            </a:r>
            <a:r>
              <a:rPr lang="en-US" dirty="0"/>
              <a:t> NGSINH=</a:t>
            </a:r>
            <a:r>
              <a:rPr lang="en-US" dirty="0">
                <a:solidFill>
                  <a:srgbClr val="CC0000"/>
                </a:solidFill>
              </a:rPr>
              <a:t>’08/12/1965’</a:t>
            </a:r>
          </a:p>
          <a:p>
            <a:pPr algn="l"/>
            <a:r>
              <a:rPr lang="en-US" dirty="0">
                <a:solidFill>
                  <a:srgbClr val="0000CC"/>
                </a:solidFill>
              </a:rPr>
              <a:t>WHERE</a:t>
            </a:r>
            <a:r>
              <a:rPr lang="en-US" dirty="0"/>
              <a:t> MANV=</a:t>
            </a:r>
            <a:r>
              <a:rPr lang="en-US" dirty="0">
                <a:solidFill>
                  <a:srgbClr val="CC0000"/>
                </a:solidFill>
              </a:rPr>
              <a:t>‘333445555’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134</a:t>
            </a:fld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sz="quarter" idx="1"/>
          </p:nvPr>
        </p:nvSpPr>
        <p:spPr>
          <a:xfrm>
            <a:off x="457200" y="2944812"/>
            <a:ext cx="8229600" cy="3379787"/>
          </a:xfrm>
          <a:noFill/>
          <a:ln/>
        </p:spPr>
        <p:txBody>
          <a:bodyPr/>
          <a:lstStyle/>
          <a:p>
            <a:pPr algn="just"/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10, </a:t>
            </a:r>
            <a:r>
              <a:rPr lang="en-US" dirty="0" err="1"/>
              <a:t>hãy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nơi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‘</a:t>
            </a:r>
            <a:r>
              <a:rPr lang="en-US" dirty="0" err="1"/>
              <a:t>Vung</a:t>
            </a:r>
            <a:r>
              <a:rPr lang="en-US" dirty="0"/>
              <a:t> Tau’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phòng</a:t>
            </a:r>
            <a:r>
              <a:rPr lang="en-US" dirty="0"/>
              <a:t> ban </a:t>
            </a:r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trách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phòng</a:t>
            </a:r>
            <a:r>
              <a:rPr lang="en-US" dirty="0"/>
              <a:t> 5</a:t>
            </a: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533400" y="4038600"/>
            <a:ext cx="4800600" cy="11922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dirty="0">
                <a:solidFill>
                  <a:srgbClr val="0000CC"/>
                </a:solidFill>
              </a:rPr>
              <a:t>UPDATE </a:t>
            </a:r>
            <a:r>
              <a:rPr lang="en-US" dirty="0"/>
              <a:t>DEAN</a:t>
            </a:r>
          </a:p>
          <a:p>
            <a:pPr algn="l"/>
            <a:r>
              <a:rPr lang="en-US" dirty="0">
                <a:solidFill>
                  <a:srgbClr val="0000CC"/>
                </a:solidFill>
              </a:rPr>
              <a:t>SET</a:t>
            </a:r>
            <a:r>
              <a:rPr lang="en-US" dirty="0"/>
              <a:t> DIADIEM_DA=</a:t>
            </a:r>
            <a:r>
              <a:rPr lang="en-US" dirty="0">
                <a:solidFill>
                  <a:srgbClr val="CC0000"/>
                </a:solidFill>
              </a:rPr>
              <a:t>’</a:t>
            </a:r>
            <a:r>
              <a:rPr lang="en-US" dirty="0" err="1">
                <a:solidFill>
                  <a:srgbClr val="CC0000"/>
                </a:solidFill>
              </a:rPr>
              <a:t>Vung</a:t>
            </a:r>
            <a:r>
              <a:rPr lang="en-US" dirty="0">
                <a:solidFill>
                  <a:srgbClr val="CC0000"/>
                </a:solidFill>
              </a:rPr>
              <a:t> Tau’</a:t>
            </a:r>
            <a:r>
              <a:rPr lang="en-US" dirty="0"/>
              <a:t>, PHONG=5</a:t>
            </a:r>
          </a:p>
          <a:p>
            <a:pPr algn="l"/>
            <a:r>
              <a:rPr lang="en-US" dirty="0">
                <a:solidFill>
                  <a:srgbClr val="0000CC"/>
                </a:solidFill>
              </a:rPr>
              <a:t>WHERE</a:t>
            </a:r>
            <a:r>
              <a:rPr lang="en-US" dirty="0"/>
              <a:t> MADA=10</a:t>
            </a:r>
          </a:p>
        </p:txBody>
      </p:sp>
    </p:spTree>
    <p:extLst>
      <p:ext uri="{BB962C8B-B14F-4D97-AF65-F5344CB8AC3E}">
        <p14:creationId xmlns:p14="http://schemas.microsoft.com/office/powerpoint/2010/main" val="2988676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2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/>
              <a:t>c) </a:t>
            </a:r>
            <a:r>
              <a:rPr lang="en-US" sz="3500" b="1" dirty="0" err="1"/>
              <a:t>Lệnh</a:t>
            </a:r>
            <a:r>
              <a:rPr lang="en-US" sz="3500" b="1" dirty="0"/>
              <a:t> UPDATE </a:t>
            </a:r>
          </a:p>
        </p:txBody>
      </p:sp>
      <p:sp>
        <p:nvSpPr>
          <p:cNvPr id="82329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81000" y="1524000"/>
            <a:ext cx="8458200" cy="4800600"/>
          </a:xfrm>
        </p:spPr>
        <p:txBody>
          <a:bodyPr/>
          <a:lstStyle/>
          <a:p>
            <a:pPr algn="just"/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xét</a:t>
            </a:r>
            <a:endParaRPr lang="en-US" dirty="0"/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Những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dòng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thỏa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điều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kiện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tại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mệnh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đề</a:t>
            </a:r>
            <a:r>
              <a:rPr lang="en-US" dirty="0">
                <a:solidFill>
                  <a:schemeClr val="tx1"/>
                </a:solidFill>
              </a:rPr>
              <a:t> WHERE </a:t>
            </a:r>
            <a:r>
              <a:rPr lang="en-US" dirty="0" err="1">
                <a:solidFill>
                  <a:schemeClr val="tx1"/>
                </a:solidFill>
              </a:rPr>
              <a:t>sẽ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được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cập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nhật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giá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trị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mới</a:t>
            </a:r>
            <a:endParaRPr lang="en-US" dirty="0">
              <a:solidFill>
                <a:schemeClr val="tx1"/>
              </a:solidFill>
            </a:endParaRPr>
          </a:p>
          <a:p>
            <a:pPr lvl="1" algn="just"/>
            <a:endParaRPr lang="en-US" dirty="0">
              <a:solidFill>
                <a:schemeClr val="tx1"/>
              </a:solidFill>
            </a:endParaRPr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Nếu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không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chỉ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định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điều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kiện</a:t>
            </a:r>
            <a:r>
              <a:rPr lang="en-US" dirty="0">
                <a:solidFill>
                  <a:schemeClr val="tx1"/>
                </a:solidFill>
              </a:rPr>
              <a:t> ở </a:t>
            </a:r>
            <a:r>
              <a:rPr lang="en-US" dirty="0" err="1">
                <a:solidFill>
                  <a:schemeClr val="tx1"/>
                </a:solidFill>
              </a:rPr>
              <a:t>mệnh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đề</a:t>
            </a:r>
            <a:r>
              <a:rPr lang="en-US" dirty="0">
                <a:solidFill>
                  <a:schemeClr val="tx1"/>
                </a:solidFill>
              </a:rPr>
              <a:t> WHERE, </a:t>
            </a:r>
            <a:r>
              <a:rPr lang="en-US" dirty="0" err="1">
                <a:solidFill>
                  <a:schemeClr val="tx1"/>
                </a:solidFill>
              </a:rPr>
              <a:t>tất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cả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các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dòng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trong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bảng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sẽ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bị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cập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nhật</a:t>
            </a:r>
            <a:endParaRPr lang="en-US" dirty="0">
              <a:solidFill>
                <a:schemeClr val="tx1"/>
              </a:solidFill>
            </a:endParaRPr>
          </a:p>
          <a:p>
            <a:pPr lvl="1" algn="just"/>
            <a:endParaRPr lang="en-US" dirty="0">
              <a:solidFill>
                <a:schemeClr val="tx1"/>
              </a:solidFill>
            </a:endParaRPr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Lệnh</a:t>
            </a:r>
            <a:r>
              <a:rPr lang="en-US" dirty="0">
                <a:solidFill>
                  <a:schemeClr val="tx1"/>
                </a:solidFill>
              </a:rPr>
              <a:t> UPDATE </a:t>
            </a:r>
            <a:r>
              <a:rPr lang="en-US" dirty="0" err="1">
                <a:solidFill>
                  <a:schemeClr val="tx1"/>
                </a:solidFill>
              </a:rPr>
              <a:t>có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thể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gây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ra</a:t>
            </a:r>
            <a:r>
              <a:rPr lang="en-US" dirty="0">
                <a:solidFill>
                  <a:schemeClr val="tx1"/>
                </a:solidFill>
              </a:rPr>
              <a:t> vi </a:t>
            </a:r>
            <a:r>
              <a:rPr lang="en-US" dirty="0" err="1">
                <a:solidFill>
                  <a:schemeClr val="tx1"/>
                </a:solidFill>
              </a:rPr>
              <a:t>phạm</a:t>
            </a:r>
            <a:r>
              <a:rPr lang="en-US" dirty="0">
                <a:solidFill>
                  <a:schemeClr val="tx1"/>
                </a:solidFill>
              </a:rPr>
              <a:t> RB </a:t>
            </a:r>
            <a:r>
              <a:rPr lang="en-US" dirty="0" err="1">
                <a:solidFill>
                  <a:schemeClr val="tx1"/>
                </a:solidFill>
              </a:rPr>
              <a:t>tham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chiếu</a:t>
            </a:r>
            <a:endParaRPr lang="en-US" dirty="0">
              <a:solidFill>
                <a:schemeClr val="tx1"/>
              </a:solidFill>
            </a:endParaRPr>
          </a:p>
          <a:p>
            <a:pPr lvl="2" algn="just"/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sửa</a:t>
            </a:r>
            <a:endParaRPr lang="en-US" dirty="0"/>
          </a:p>
          <a:p>
            <a:pPr lvl="2" algn="just"/>
            <a:r>
              <a:rPr lang="en-US" dirty="0" err="1"/>
              <a:t>Sửa</a:t>
            </a:r>
            <a:r>
              <a:rPr lang="en-US" dirty="0"/>
              <a:t> </a:t>
            </a:r>
            <a:r>
              <a:rPr lang="en-US" dirty="0" err="1"/>
              <a:t>luôn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chiếu</a:t>
            </a:r>
            <a:r>
              <a:rPr lang="en-US" dirty="0"/>
              <a:t> </a:t>
            </a:r>
            <a:r>
              <a:rPr lang="en-US" dirty="0" err="1"/>
              <a:t>đến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3069507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4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/>
              <a:t>5. </a:t>
            </a:r>
            <a:r>
              <a:rPr lang="en-US" sz="3500" b="1" dirty="0" err="1"/>
              <a:t>Khung</a:t>
            </a:r>
            <a:r>
              <a:rPr lang="en-US" sz="3500" b="1" dirty="0"/>
              <a:t> </a:t>
            </a:r>
            <a:r>
              <a:rPr lang="en-US" sz="3500" b="1" dirty="0" err="1"/>
              <a:t>nhìn</a:t>
            </a:r>
            <a:endParaRPr lang="en-US" sz="3500" b="1" dirty="0"/>
          </a:p>
        </p:txBody>
      </p:sp>
      <p:sp>
        <p:nvSpPr>
          <p:cNvPr id="83149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752600"/>
            <a:ext cx="8229600" cy="4572000"/>
          </a:xfrm>
        </p:spPr>
        <p:txBody>
          <a:bodyPr/>
          <a:lstStyle/>
          <a:p>
            <a:pPr algn="just"/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u="sng" dirty="0" err="1"/>
              <a:t>tổ</a:t>
            </a:r>
            <a:r>
              <a:rPr lang="en-US" u="sng" dirty="0"/>
              <a:t> </a:t>
            </a:r>
            <a:r>
              <a:rPr lang="en-US" u="sng" dirty="0" err="1"/>
              <a:t>chức</a:t>
            </a:r>
            <a:r>
              <a:rPr lang="en-US" u="sng" dirty="0"/>
              <a:t> </a:t>
            </a:r>
            <a:r>
              <a:rPr lang="en-US" u="sng" dirty="0" err="1"/>
              <a:t>lưu</a:t>
            </a:r>
            <a:r>
              <a:rPr lang="en-US" u="sng" dirty="0"/>
              <a:t> </a:t>
            </a:r>
            <a:r>
              <a:rPr lang="en-US" u="sng" dirty="0" err="1"/>
              <a:t>trữ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CSDL</a:t>
            </a:r>
          </a:p>
          <a:p>
            <a:pPr algn="just"/>
            <a:endParaRPr lang="en-US" dirty="0"/>
          </a:p>
          <a:p>
            <a:pPr algn="just"/>
            <a:r>
              <a:rPr lang="en-US" dirty="0" err="1"/>
              <a:t>Khung</a:t>
            </a:r>
            <a:r>
              <a:rPr lang="en-US" dirty="0"/>
              <a:t> </a:t>
            </a:r>
            <a:r>
              <a:rPr lang="en-US" dirty="0" err="1"/>
              <a:t>nhìn</a:t>
            </a:r>
            <a:r>
              <a:rPr lang="en-US" dirty="0"/>
              <a:t> </a:t>
            </a:r>
            <a:r>
              <a:rPr lang="en-US" dirty="0" err="1"/>
              <a:t>cũng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hệ</a:t>
            </a:r>
            <a:endParaRPr lang="en-US" dirty="0"/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Không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được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lưu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trữ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vật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lý</a:t>
            </a:r>
            <a:r>
              <a:rPr lang="en-US" dirty="0">
                <a:solidFill>
                  <a:schemeClr val="tx1"/>
                </a:solidFill>
              </a:rPr>
              <a:t> (</a:t>
            </a:r>
            <a:r>
              <a:rPr lang="en-US" dirty="0" err="1">
                <a:solidFill>
                  <a:schemeClr val="tx1"/>
                </a:solidFill>
              </a:rPr>
              <a:t>bảng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ảo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Không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chứa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dữ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liệu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Được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định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nghĩa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từ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những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bảng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khác</a:t>
            </a:r>
            <a:endParaRPr lang="en-US" dirty="0">
              <a:solidFill>
                <a:schemeClr val="tx1"/>
              </a:solidFill>
            </a:endParaRPr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Có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thể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truy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vấn</a:t>
            </a:r>
            <a:r>
              <a:rPr lang="en-US" dirty="0">
                <a:solidFill>
                  <a:schemeClr val="tx1"/>
                </a:solidFill>
              </a:rPr>
              <a:t> hay </a:t>
            </a:r>
            <a:r>
              <a:rPr lang="en-US" dirty="0" err="1">
                <a:solidFill>
                  <a:schemeClr val="tx1"/>
                </a:solidFill>
              </a:rPr>
              <a:t>cập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nhật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thông</a:t>
            </a:r>
            <a:r>
              <a:rPr lang="en-US" dirty="0">
                <a:solidFill>
                  <a:schemeClr val="tx1"/>
                </a:solidFill>
              </a:rPr>
              <a:t> qua </a:t>
            </a:r>
            <a:r>
              <a:rPr lang="en-US" dirty="0" err="1">
                <a:solidFill>
                  <a:schemeClr val="tx1"/>
                </a:solidFill>
              </a:rPr>
              <a:t>khung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nhìn</a:t>
            </a:r>
            <a:endParaRPr lang="en-US" dirty="0">
              <a:solidFill>
                <a:schemeClr val="tx1"/>
              </a:solidFill>
            </a:endParaRPr>
          </a:p>
          <a:p>
            <a:pPr lvl="1" algn="just"/>
            <a:endParaRPr lang="en-US" dirty="0">
              <a:solidFill>
                <a:schemeClr val="tx1"/>
              </a:solidFill>
            </a:endParaRPr>
          </a:p>
          <a:p>
            <a:pPr lvl="1" algn="just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6253881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5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/>
              <a:t>5. </a:t>
            </a:r>
            <a:r>
              <a:rPr lang="en-US" sz="3500" b="1" dirty="0" err="1"/>
              <a:t>Khung</a:t>
            </a:r>
            <a:r>
              <a:rPr lang="en-US" sz="3500" b="1" dirty="0"/>
              <a:t> </a:t>
            </a:r>
            <a:r>
              <a:rPr lang="en-US" sz="3500" b="1" dirty="0" err="1"/>
              <a:t>nhìn</a:t>
            </a:r>
            <a:endParaRPr lang="en-US" sz="3500" b="1" dirty="0"/>
          </a:p>
        </p:txBody>
      </p:sp>
      <p:sp>
        <p:nvSpPr>
          <p:cNvPr id="83353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76400"/>
            <a:ext cx="8229600" cy="4648200"/>
          </a:xfrm>
        </p:spPr>
        <p:txBody>
          <a:bodyPr/>
          <a:lstStyle/>
          <a:p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sao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khung</a:t>
            </a:r>
            <a:r>
              <a:rPr lang="en-US" dirty="0"/>
              <a:t> </a:t>
            </a:r>
            <a:r>
              <a:rPr lang="en-US" dirty="0" err="1"/>
              <a:t>nhìn</a:t>
            </a:r>
            <a:r>
              <a:rPr lang="en-US" dirty="0"/>
              <a:t>?</a:t>
            </a:r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Che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dấu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tính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phức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tạp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của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dữ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liệu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Đơn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giản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hóa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các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câu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truy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vấn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Hiển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thị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dữ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liệu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dưới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dạng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tiện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dụng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nhất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An </a:t>
            </a:r>
            <a:r>
              <a:rPr lang="en-US" dirty="0" err="1">
                <a:solidFill>
                  <a:schemeClr val="tx1"/>
                </a:solidFill>
              </a:rPr>
              <a:t>toàn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dữ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liệu</a:t>
            </a:r>
            <a:endParaRPr lang="en-US" dirty="0">
              <a:solidFill>
                <a:schemeClr val="tx1"/>
              </a:solidFill>
            </a:endParaRPr>
          </a:p>
          <a:p>
            <a:pPr lvl="1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137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0317656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5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Định</a:t>
            </a:r>
            <a:r>
              <a:rPr lang="en-US" sz="3500" b="1" dirty="0"/>
              <a:t> </a:t>
            </a:r>
            <a:r>
              <a:rPr lang="en-US" sz="3500" b="1" dirty="0" err="1"/>
              <a:t>nghĩa</a:t>
            </a:r>
            <a:r>
              <a:rPr lang="en-US" sz="3500" b="1" dirty="0"/>
              <a:t> </a:t>
            </a:r>
            <a:r>
              <a:rPr lang="en-US" sz="3500" b="1" dirty="0" err="1"/>
              <a:t>khung</a:t>
            </a:r>
            <a:r>
              <a:rPr lang="en-US" sz="3500" b="1" dirty="0"/>
              <a:t> </a:t>
            </a:r>
            <a:r>
              <a:rPr lang="en-US" sz="3500" b="1" dirty="0" err="1"/>
              <a:t>nhìn</a:t>
            </a:r>
            <a:endParaRPr lang="en-US" sz="3500" b="1" dirty="0"/>
          </a:p>
        </p:txBody>
      </p:sp>
      <p:sp>
        <p:nvSpPr>
          <p:cNvPr id="83558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Cú</a:t>
            </a:r>
            <a:r>
              <a:rPr lang="en-US" dirty="0"/>
              <a:t> </a:t>
            </a:r>
            <a:r>
              <a:rPr lang="en-US" dirty="0" err="1"/>
              <a:t>pháp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ảo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có</a:t>
            </a:r>
            <a:endParaRPr lang="en-US" dirty="0"/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Danh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sách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thuộc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tính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trùng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với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các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thuộc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tính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trong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mệnh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đề</a:t>
            </a:r>
            <a:r>
              <a:rPr lang="en-US" dirty="0">
                <a:solidFill>
                  <a:schemeClr val="tx1"/>
                </a:solidFill>
              </a:rPr>
              <a:t> SELECT</a:t>
            </a:r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Số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dòng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phụ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thuộc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vào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điều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kiện</a:t>
            </a:r>
            <a:r>
              <a:rPr lang="en-US" dirty="0">
                <a:solidFill>
                  <a:schemeClr val="tx1"/>
                </a:solidFill>
              </a:rPr>
              <a:t> ở </a:t>
            </a:r>
            <a:r>
              <a:rPr lang="en-US" dirty="0" err="1">
                <a:solidFill>
                  <a:schemeClr val="tx1"/>
                </a:solidFill>
              </a:rPr>
              <a:t>mệnh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đề</a:t>
            </a:r>
            <a:r>
              <a:rPr lang="en-US" dirty="0">
                <a:solidFill>
                  <a:schemeClr val="tx1"/>
                </a:solidFill>
              </a:rPr>
              <a:t> WHERE</a:t>
            </a:r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Dữ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liệu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được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lấy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từ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các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bảng</a:t>
            </a:r>
            <a:r>
              <a:rPr lang="en-US" dirty="0">
                <a:solidFill>
                  <a:schemeClr val="tx1"/>
                </a:solidFill>
              </a:rPr>
              <a:t> ở </a:t>
            </a:r>
            <a:r>
              <a:rPr lang="en-US" dirty="0" err="1">
                <a:solidFill>
                  <a:schemeClr val="tx1"/>
                </a:solidFill>
              </a:rPr>
              <a:t>mệnh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đề</a:t>
            </a:r>
            <a:r>
              <a:rPr lang="en-US" dirty="0">
                <a:solidFill>
                  <a:schemeClr val="tx1"/>
                </a:solidFill>
              </a:rPr>
              <a:t> FROM</a:t>
            </a:r>
          </a:p>
        </p:txBody>
      </p:sp>
      <p:sp>
        <p:nvSpPr>
          <p:cNvPr id="835588" name="Rectangle 4"/>
          <p:cNvSpPr>
            <a:spLocks noChangeArrowheads="1"/>
          </p:cNvSpPr>
          <p:nvPr/>
        </p:nvSpPr>
        <p:spPr bwMode="auto">
          <a:xfrm>
            <a:off x="1295400" y="2287587"/>
            <a:ext cx="4191000" cy="792163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l"/>
            <a:r>
              <a:rPr lang="en-US" b="1" dirty="0"/>
              <a:t>CREATE VIEW </a:t>
            </a:r>
            <a:r>
              <a:rPr lang="en-US" dirty="0"/>
              <a:t>&lt;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khung</a:t>
            </a:r>
            <a:r>
              <a:rPr lang="en-US" dirty="0"/>
              <a:t> </a:t>
            </a:r>
            <a:r>
              <a:rPr lang="en-US" dirty="0" err="1"/>
              <a:t>nhìn</a:t>
            </a:r>
            <a:r>
              <a:rPr lang="en-US" dirty="0"/>
              <a:t>&gt;  </a:t>
            </a:r>
            <a:r>
              <a:rPr lang="en-US" b="1" dirty="0"/>
              <a:t>AS</a:t>
            </a:r>
            <a:r>
              <a:rPr lang="en-US" dirty="0"/>
              <a:t> </a:t>
            </a:r>
          </a:p>
          <a:p>
            <a:pPr algn="l"/>
            <a:r>
              <a:rPr lang="en-US" dirty="0"/>
              <a:t>	&lt;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&gt;</a:t>
            </a:r>
          </a:p>
        </p:txBody>
      </p:sp>
      <p:sp>
        <p:nvSpPr>
          <p:cNvPr id="835590" name="Rectangle 6"/>
          <p:cNvSpPr>
            <a:spLocks noChangeArrowheads="1"/>
          </p:cNvSpPr>
          <p:nvPr/>
        </p:nvSpPr>
        <p:spPr bwMode="auto">
          <a:xfrm>
            <a:off x="1295400" y="3506787"/>
            <a:ext cx="4191000" cy="379413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l"/>
            <a:r>
              <a:rPr lang="en-US" b="1"/>
              <a:t>DROP VIEW </a:t>
            </a:r>
            <a:r>
              <a:rPr lang="en-US"/>
              <a:t>&lt;tên khung nhìn&gt;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1945929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/>
              <a:t>Ví dụ</a:t>
            </a:r>
          </a:p>
        </p:txBody>
      </p:sp>
      <p:sp>
        <p:nvSpPr>
          <p:cNvPr id="839683" name="Text Box 3"/>
          <p:cNvSpPr txBox="1">
            <a:spLocks noChangeArrowheads="1"/>
          </p:cNvSpPr>
          <p:nvPr/>
        </p:nvSpPr>
        <p:spPr bwMode="auto">
          <a:xfrm>
            <a:off x="1371600" y="1600200"/>
            <a:ext cx="5486400" cy="160496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dirty="0">
                <a:solidFill>
                  <a:srgbClr val="0000CC"/>
                </a:solidFill>
              </a:rPr>
              <a:t>CREATE VIEW </a:t>
            </a:r>
            <a:r>
              <a:rPr lang="en-US" dirty="0"/>
              <a:t>NV_P5 </a:t>
            </a:r>
            <a:r>
              <a:rPr lang="en-US" dirty="0">
                <a:solidFill>
                  <a:srgbClr val="0000CC"/>
                </a:solidFill>
              </a:rPr>
              <a:t>AS</a:t>
            </a:r>
          </a:p>
          <a:p>
            <a:pPr algn="l"/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SELECT</a:t>
            </a:r>
            <a:r>
              <a:rPr lang="en-US" dirty="0"/>
              <a:t> MANV, HONV, TENLOT, TENVN</a:t>
            </a:r>
          </a:p>
          <a:p>
            <a:pPr algn="l"/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FROM</a:t>
            </a:r>
            <a:r>
              <a:rPr lang="en-US" dirty="0"/>
              <a:t> NHANVIEN</a:t>
            </a:r>
          </a:p>
          <a:p>
            <a:pPr algn="l"/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WHERE</a:t>
            </a:r>
            <a:r>
              <a:rPr lang="en-US" dirty="0"/>
              <a:t> PHG=5</a:t>
            </a:r>
          </a:p>
        </p:txBody>
      </p:sp>
      <p:sp>
        <p:nvSpPr>
          <p:cNvPr id="839685" name="Text Box 5"/>
          <p:cNvSpPr txBox="1">
            <a:spLocks noChangeArrowheads="1"/>
          </p:cNvSpPr>
          <p:nvPr/>
        </p:nvSpPr>
        <p:spPr bwMode="auto">
          <a:xfrm>
            <a:off x="1371600" y="3810000"/>
            <a:ext cx="6400800" cy="22923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dirty="0">
                <a:solidFill>
                  <a:srgbClr val="0000CC"/>
                </a:solidFill>
              </a:rPr>
              <a:t>CREATE VIEW </a:t>
            </a:r>
            <a:r>
              <a:rPr lang="en-US" dirty="0"/>
              <a:t>TONGLNG_SLNV_PB </a:t>
            </a:r>
            <a:r>
              <a:rPr lang="en-US" dirty="0">
                <a:solidFill>
                  <a:srgbClr val="0000CC"/>
                </a:solidFill>
              </a:rPr>
              <a:t>AS</a:t>
            </a:r>
          </a:p>
          <a:p>
            <a:pPr algn="l"/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SELECT</a:t>
            </a:r>
            <a:r>
              <a:rPr lang="en-US" dirty="0"/>
              <a:t> MAPHG, TENPB, </a:t>
            </a:r>
            <a:r>
              <a:rPr lang="en-US" dirty="0">
                <a:solidFill>
                  <a:srgbClr val="FF3399"/>
                </a:solidFill>
              </a:rPr>
              <a:t>COUNT</a:t>
            </a:r>
            <a:r>
              <a:rPr lang="en-US" dirty="0"/>
              <a:t>(*) </a:t>
            </a:r>
            <a:r>
              <a:rPr lang="en-US" dirty="0">
                <a:solidFill>
                  <a:srgbClr val="0000CC"/>
                </a:solidFill>
              </a:rPr>
              <a:t>AS</a:t>
            </a:r>
            <a:r>
              <a:rPr lang="en-US" dirty="0"/>
              <a:t> SLNV, 		</a:t>
            </a:r>
            <a:r>
              <a:rPr lang="en-US" dirty="0">
                <a:solidFill>
                  <a:srgbClr val="FF3399"/>
                </a:solidFill>
              </a:rPr>
              <a:t>SUM</a:t>
            </a:r>
            <a:r>
              <a:rPr lang="en-US" dirty="0"/>
              <a:t>(LUONG) </a:t>
            </a:r>
            <a:r>
              <a:rPr lang="en-US" dirty="0">
                <a:solidFill>
                  <a:srgbClr val="0000CC"/>
                </a:solidFill>
              </a:rPr>
              <a:t>AS</a:t>
            </a:r>
            <a:r>
              <a:rPr lang="en-US" dirty="0"/>
              <a:t> TONGLNG </a:t>
            </a:r>
          </a:p>
          <a:p>
            <a:pPr algn="l"/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FROM</a:t>
            </a:r>
            <a:r>
              <a:rPr lang="en-US" dirty="0"/>
              <a:t> NHANVIEN, PHONGBAN</a:t>
            </a:r>
          </a:p>
          <a:p>
            <a:pPr algn="l"/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WHERE</a:t>
            </a:r>
            <a:r>
              <a:rPr lang="en-US" dirty="0"/>
              <a:t> PHG=MAPHG</a:t>
            </a:r>
          </a:p>
          <a:p>
            <a:pPr algn="l"/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GROUP BY</a:t>
            </a:r>
            <a:r>
              <a:rPr lang="en-US" dirty="0"/>
              <a:t> TENPHG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139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82318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7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Truy</a:t>
            </a:r>
            <a:r>
              <a:rPr lang="en-US" sz="3500" b="1" dirty="0"/>
              <a:t> </a:t>
            </a:r>
            <a:r>
              <a:rPr lang="en-US" sz="3500" b="1" dirty="0" err="1"/>
              <a:t>vấn</a:t>
            </a:r>
            <a:r>
              <a:rPr lang="en-US" sz="3500" b="1" dirty="0"/>
              <a:t> </a:t>
            </a:r>
            <a:r>
              <a:rPr lang="en-US" sz="3500" b="1" dirty="0" err="1"/>
              <a:t>trên</a:t>
            </a:r>
            <a:r>
              <a:rPr lang="en-US" sz="3500" b="1" dirty="0"/>
              <a:t> </a:t>
            </a:r>
            <a:r>
              <a:rPr lang="en-US" sz="3500" b="1" dirty="0" err="1"/>
              <a:t>khung</a:t>
            </a:r>
            <a:r>
              <a:rPr lang="en-US" sz="3500" b="1" dirty="0"/>
              <a:t> </a:t>
            </a:r>
            <a:r>
              <a:rPr lang="en-US" sz="3500" b="1" dirty="0" err="1"/>
              <a:t>nhìn</a:t>
            </a:r>
            <a:endParaRPr lang="en-US" sz="3500" b="1" dirty="0"/>
          </a:p>
        </p:txBody>
      </p:sp>
      <p:sp>
        <p:nvSpPr>
          <p:cNvPr id="84173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76400"/>
            <a:ext cx="8229600" cy="4648200"/>
          </a:xfrm>
        </p:spPr>
        <p:txBody>
          <a:bodyPr/>
          <a:lstStyle/>
          <a:p>
            <a:pPr algn="just"/>
            <a:r>
              <a:rPr lang="en-US" dirty="0" err="1"/>
              <a:t>Tuy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chứa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nhưng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khung</a:t>
            </a:r>
            <a:r>
              <a:rPr lang="en-US" dirty="0"/>
              <a:t> </a:t>
            </a:r>
            <a:r>
              <a:rPr lang="en-US" dirty="0" err="1"/>
              <a:t>nhìn</a:t>
            </a:r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  <p:sp>
        <p:nvSpPr>
          <p:cNvPr id="841733" name="Text Box 5"/>
          <p:cNvSpPr txBox="1">
            <a:spLocks noChangeArrowheads="1"/>
          </p:cNvSpPr>
          <p:nvPr/>
        </p:nvSpPr>
        <p:spPr bwMode="auto">
          <a:xfrm>
            <a:off x="2514600" y="2819400"/>
            <a:ext cx="3657600" cy="11922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>
                <a:solidFill>
                  <a:srgbClr val="0000CC"/>
                </a:solidFill>
              </a:rPr>
              <a:t>SELECT</a:t>
            </a:r>
            <a:r>
              <a:rPr lang="en-US"/>
              <a:t> TENNV</a:t>
            </a:r>
          </a:p>
          <a:p>
            <a:pPr algn="l"/>
            <a:r>
              <a:rPr lang="en-US">
                <a:solidFill>
                  <a:srgbClr val="0000CC"/>
                </a:solidFill>
              </a:rPr>
              <a:t>FROM</a:t>
            </a:r>
            <a:r>
              <a:rPr lang="en-US"/>
              <a:t> NV_P5</a:t>
            </a:r>
          </a:p>
          <a:p>
            <a:pPr algn="l"/>
            <a:r>
              <a:rPr lang="en-US">
                <a:solidFill>
                  <a:srgbClr val="0000CC"/>
                </a:solidFill>
              </a:rPr>
              <a:t>WHERE</a:t>
            </a:r>
            <a:r>
              <a:rPr lang="en-US"/>
              <a:t> HONV </a:t>
            </a:r>
            <a:r>
              <a:rPr lang="en-US">
                <a:solidFill>
                  <a:srgbClr val="777777"/>
                </a:solidFill>
              </a:rPr>
              <a:t>LIKE</a:t>
            </a:r>
            <a:r>
              <a:rPr lang="en-US"/>
              <a:t> </a:t>
            </a:r>
            <a:r>
              <a:rPr lang="en-US">
                <a:solidFill>
                  <a:srgbClr val="CC0000"/>
                </a:solidFill>
              </a:rPr>
              <a:t>‘Nguyen’</a:t>
            </a:r>
          </a:p>
        </p:txBody>
      </p:sp>
      <p:sp>
        <p:nvSpPr>
          <p:cNvPr id="841734" name="Text Box 6"/>
          <p:cNvSpPr txBox="1">
            <a:spLocks noChangeArrowheads="1"/>
          </p:cNvSpPr>
          <p:nvPr/>
        </p:nvSpPr>
        <p:spPr bwMode="auto">
          <a:xfrm>
            <a:off x="990600" y="4648200"/>
            <a:ext cx="7543800" cy="7016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300" dirty="0">
                <a:sym typeface="Symbol" pitchFamily="18" charset="2"/>
              </a:rPr>
              <a:t>NV_P5 </a:t>
            </a:r>
            <a:r>
              <a:rPr lang="en-US" sz="3000" dirty="0">
                <a:sym typeface="Symbol" pitchFamily="18" charset="2"/>
              </a:rPr>
              <a:t>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sz="4000" dirty="0">
                <a:sym typeface="Symbol" pitchFamily="18" charset="2"/>
              </a:rPr>
              <a:t></a:t>
            </a:r>
            <a:r>
              <a:rPr lang="en-US" sz="2200" baseline="-25000" dirty="0">
                <a:sym typeface="Symbol" pitchFamily="18" charset="2"/>
              </a:rPr>
              <a:t>MANV,HONV, TENLOT, TENNV </a:t>
            </a:r>
            <a:r>
              <a:rPr lang="en-US" sz="2200" dirty="0">
                <a:sym typeface="Symbol" pitchFamily="18" charset="2"/>
              </a:rPr>
              <a:t>(</a:t>
            </a:r>
            <a:r>
              <a:rPr lang="en-US" sz="4000" dirty="0">
                <a:sym typeface="Symbol" pitchFamily="18" charset="2"/>
              </a:rPr>
              <a:t></a:t>
            </a:r>
            <a:r>
              <a:rPr lang="en-US" sz="2200" baseline="-25000" dirty="0">
                <a:sym typeface="Symbol" pitchFamily="18" charset="2"/>
              </a:rPr>
              <a:t>PHG=5 </a:t>
            </a:r>
            <a:r>
              <a:rPr lang="en-US" sz="2200" dirty="0">
                <a:sym typeface="Symbol" pitchFamily="18" charset="2"/>
              </a:rPr>
              <a:t>(NHANVIEN))</a:t>
            </a:r>
          </a:p>
        </p:txBody>
      </p:sp>
      <p:sp>
        <p:nvSpPr>
          <p:cNvPr id="841735" name="Text Box 7"/>
          <p:cNvSpPr txBox="1">
            <a:spLocks noChangeArrowheads="1"/>
          </p:cNvSpPr>
          <p:nvPr/>
        </p:nvSpPr>
        <p:spPr bwMode="auto">
          <a:xfrm>
            <a:off x="2209800" y="5486400"/>
            <a:ext cx="4343400" cy="7016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4000">
                <a:sym typeface="Symbol" pitchFamily="18" charset="2"/>
              </a:rPr>
              <a:t></a:t>
            </a:r>
            <a:r>
              <a:rPr lang="en-US" sz="2200" baseline="-25000">
                <a:sym typeface="Symbol" pitchFamily="18" charset="2"/>
              </a:rPr>
              <a:t> TENNV </a:t>
            </a:r>
            <a:r>
              <a:rPr lang="en-US" sz="2200">
                <a:sym typeface="Symbol" pitchFamily="18" charset="2"/>
              </a:rPr>
              <a:t>(</a:t>
            </a:r>
            <a:r>
              <a:rPr lang="en-US" sz="4000">
                <a:sym typeface="Symbol" pitchFamily="18" charset="2"/>
              </a:rPr>
              <a:t></a:t>
            </a:r>
            <a:r>
              <a:rPr lang="en-US" sz="2200" baseline="-25000">
                <a:sym typeface="Symbol" pitchFamily="18" charset="2"/>
              </a:rPr>
              <a:t>HONV=‘Nguyen’ </a:t>
            </a:r>
            <a:r>
              <a:rPr lang="en-US" sz="2200">
                <a:sym typeface="Symbol" pitchFamily="18" charset="2"/>
              </a:rPr>
              <a:t>(NV_P5))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0137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417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417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417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417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1734" grpId="0"/>
      <p:bldP spid="841735" grpId="0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8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Truy</a:t>
            </a:r>
            <a:r>
              <a:rPr lang="en-US" sz="3500" b="1" dirty="0"/>
              <a:t> </a:t>
            </a:r>
            <a:r>
              <a:rPr lang="en-US" sz="3500" b="1" dirty="0" err="1"/>
              <a:t>vấn</a:t>
            </a:r>
            <a:r>
              <a:rPr lang="en-US" sz="3500" b="1" dirty="0"/>
              <a:t> </a:t>
            </a:r>
            <a:r>
              <a:rPr lang="en-US" sz="3500" b="1" dirty="0" err="1"/>
              <a:t>trên</a:t>
            </a:r>
            <a:r>
              <a:rPr lang="en-US" sz="3500" b="1" dirty="0"/>
              <a:t> </a:t>
            </a:r>
            <a:r>
              <a:rPr lang="en-US" sz="3500" b="1" dirty="0" err="1"/>
              <a:t>khung</a:t>
            </a:r>
            <a:r>
              <a:rPr lang="en-US" sz="3500" b="1" dirty="0"/>
              <a:t> </a:t>
            </a:r>
            <a:r>
              <a:rPr lang="en-US" sz="3500" b="1" dirty="0" err="1"/>
              <a:t>nhìn</a:t>
            </a:r>
            <a:endParaRPr lang="en-US" sz="3500" b="1" dirty="0"/>
          </a:p>
        </p:txBody>
      </p:sp>
      <p:sp>
        <p:nvSpPr>
          <p:cNvPr id="84787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76400"/>
            <a:ext cx="8229600" cy="4648200"/>
          </a:xfrm>
        </p:spPr>
        <p:txBody>
          <a:bodyPr/>
          <a:lstStyle/>
          <a:p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khung</a:t>
            </a:r>
            <a:r>
              <a:rPr lang="en-US" dirty="0"/>
              <a:t> </a:t>
            </a:r>
            <a:r>
              <a:rPr lang="en-US" dirty="0" err="1"/>
              <a:t>nhìn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bảng</a:t>
            </a:r>
            <a:endParaRPr lang="en-US" dirty="0"/>
          </a:p>
        </p:txBody>
      </p:sp>
      <p:sp>
        <p:nvSpPr>
          <p:cNvPr id="847876" name="Text Box 4"/>
          <p:cNvSpPr txBox="1">
            <a:spLocks noChangeArrowheads="1"/>
          </p:cNvSpPr>
          <p:nvPr/>
        </p:nvSpPr>
        <p:spPr bwMode="auto">
          <a:xfrm>
            <a:off x="1752600" y="2514600"/>
            <a:ext cx="5029200" cy="11922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>
                <a:solidFill>
                  <a:srgbClr val="0000CC"/>
                </a:solidFill>
              </a:rPr>
              <a:t>SELECT</a:t>
            </a:r>
            <a:r>
              <a:rPr lang="en-US"/>
              <a:t> HONV, TENVN, TENDA, THOIGIAN</a:t>
            </a:r>
          </a:p>
          <a:p>
            <a:pPr algn="l"/>
            <a:r>
              <a:rPr lang="en-US">
                <a:solidFill>
                  <a:srgbClr val="0000CC"/>
                </a:solidFill>
              </a:rPr>
              <a:t>FROM</a:t>
            </a:r>
            <a:r>
              <a:rPr lang="en-US"/>
              <a:t> NV_P5, PHANCONG, DEAN</a:t>
            </a:r>
          </a:p>
          <a:p>
            <a:pPr algn="l"/>
            <a:r>
              <a:rPr lang="en-US">
                <a:solidFill>
                  <a:srgbClr val="0000CC"/>
                </a:solidFill>
              </a:rPr>
              <a:t>WHERE</a:t>
            </a:r>
            <a:r>
              <a:rPr lang="en-US"/>
              <a:t> MANV=MA_NVIEN </a:t>
            </a:r>
            <a:r>
              <a:rPr lang="en-US">
                <a:solidFill>
                  <a:srgbClr val="777777"/>
                </a:solidFill>
              </a:rPr>
              <a:t>AND</a:t>
            </a:r>
            <a:r>
              <a:rPr lang="en-US"/>
              <a:t> SODA=MADA</a:t>
            </a:r>
            <a:endParaRPr lang="en-US">
              <a:solidFill>
                <a:srgbClr val="CC0000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141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8827116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7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Cập</a:t>
            </a:r>
            <a:r>
              <a:rPr lang="en-US" sz="3500" b="1" dirty="0"/>
              <a:t> </a:t>
            </a:r>
            <a:r>
              <a:rPr lang="en-US" sz="3500" b="1" dirty="0" err="1"/>
              <a:t>nhật</a:t>
            </a:r>
            <a:r>
              <a:rPr lang="en-US" sz="3500" b="1" dirty="0"/>
              <a:t> </a:t>
            </a:r>
            <a:r>
              <a:rPr lang="en-US" sz="3500" b="1" dirty="0" err="1"/>
              <a:t>trên</a:t>
            </a:r>
            <a:r>
              <a:rPr lang="en-US" sz="3500" b="1" dirty="0"/>
              <a:t> </a:t>
            </a:r>
            <a:r>
              <a:rPr lang="en-US" sz="3500" b="1" dirty="0" err="1"/>
              <a:t>khung</a:t>
            </a:r>
            <a:r>
              <a:rPr lang="en-US" sz="3500" b="1" dirty="0"/>
              <a:t> </a:t>
            </a:r>
            <a:r>
              <a:rPr lang="en-US" sz="3500" b="1" dirty="0" err="1"/>
              <a:t>nhìn</a:t>
            </a:r>
            <a:endParaRPr lang="en-US" sz="3500" b="1" dirty="0"/>
          </a:p>
        </p:txBody>
      </p:sp>
      <p:sp>
        <p:nvSpPr>
          <p:cNvPr id="84377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76400"/>
            <a:ext cx="8229600" cy="4648200"/>
          </a:xfrm>
        </p:spPr>
        <p:txBody>
          <a:bodyPr/>
          <a:lstStyle/>
          <a:p>
            <a:pPr algn="just"/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INSERT, DELETE </a:t>
            </a:r>
            <a:r>
              <a:rPr lang="en-US" dirty="0" err="1"/>
              <a:t>và</a:t>
            </a:r>
            <a:r>
              <a:rPr lang="en-US" dirty="0"/>
              <a:t> UPDATE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u="sng" dirty="0" err="1"/>
              <a:t>khung</a:t>
            </a:r>
            <a:r>
              <a:rPr lang="en-US" u="sng" dirty="0"/>
              <a:t> </a:t>
            </a:r>
            <a:r>
              <a:rPr lang="en-US" u="sng" dirty="0" err="1"/>
              <a:t>nhìn</a:t>
            </a:r>
            <a:r>
              <a:rPr lang="en-US" u="sng" dirty="0"/>
              <a:t> </a:t>
            </a:r>
            <a:r>
              <a:rPr lang="en-US" u="sng" dirty="0" err="1"/>
              <a:t>đơn</a:t>
            </a:r>
            <a:r>
              <a:rPr lang="en-US" u="sng" dirty="0"/>
              <a:t> </a:t>
            </a:r>
            <a:r>
              <a:rPr lang="en-US" u="sng" dirty="0" err="1"/>
              <a:t>giản</a:t>
            </a:r>
            <a:endParaRPr lang="en-US" u="sng" dirty="0"/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Khung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nhìn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được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xây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dựng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trên</a:t>
            </a:r>
            <a:r>
              <a:rPr lang="en-US" dirty="0">
                <a:solidFill>
                  <a:schemeClr val="tx1"/>
                </a:solidFill>
              </a:rPr>
              <a:t> 1 </a:t>
            </a:r>
            <a:r>
              <a:rPr lang="en-US" dirty="0" err="1">
                <a:solidFill>
                  <a:schemeClr val="tx1"/>
                </a:solidFill>
              </a:rPr>
              <a:t>bảng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và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có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khóa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chính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của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bảng</a:t>
            </a:r>
            <a:endParaRPr lang="en-US" dirty="0">
              <a:solidFill>
                <a:schemeClr val="tx1"/>
              </a:solidFill>
            </a:endParaRPr>
          </a:p>
          <a:p>
            <a:pPr algn="just"/>
            <a:endParaRPr lang="en-US" dirty="0"/>
          </a:p>
          <a:p>
            <a:pPr algn="just"/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nhật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nếu</a:t>
            </a:r>
            <a:endParaRPr lang="en-US" dirty="0"/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Khung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nhìn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có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dùng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từ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khóa</a:t>
            </a:r>
            <a:r>
              <a:rPr lang="en-US" dirty="0">
                <a:solidFill>
                  <a:schemeClr val="tx1"/>
                </a:solidFill>
              </a:rPr>
              <a:t> DISTINCT</a:t>
            </a:r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Khung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nhìn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có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sử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dụng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các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hàm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kết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hợp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Khung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nhìn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có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mệnh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đề</a:t>
            </a:r>
            <a:r>
              <a:rPr lang="en-US" dirty="0">
                <a:solidFill>
                  <a:schemeClr val="tx1"/>
                </a:solidFill>
              </a:rPr>
              <a:t> SELECT </a:t>
            </a:r>
            <a:r>
              <a:rPr lang="en-US" dirty="0" err="1">
                <a:solidFill>
                  <a:schemeClr val="tx1"/>
                </a:solidFill>
              </a:rPr>
              <a:t>mở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rộng</a:t>
            </a:r>
            <a:endParaRPr lang="en-US" dirty="0">
              <a:solidFill>
                <a:schemeClr val="tx1"/>
              </a:solidFill>
            </a:endParaRPr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Khung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nhìn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được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xây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dựng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từ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bảng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có</a:t>
            </a:r>
            <a:r>
              <a:rPr lang="en-US" dirty="0">
                <a:solidFill>
                  <a:schemeClr val="tx1"/>
                </a:solidFill>
              </a:rPr>
              <a:t> RB </a:t>
            </a:r>
            <a:r>
              <a:rPr lang="en-US" dirty="0" err="1">
                <a:solidFill>
                  <a:schemeClr val="tx1"/>
                </a:solidFill>
              </a:rPr>
              <a:t>trên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cột</a:t>
            </a:r>
            <a:endParaRPr lang="en-US" dirty="0">
              <a:solidFill>
                <a:schemeClr val="tx1"/>
              </a:solidFill>
            </a:endParaRPr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Khung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nhìn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được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xây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dựng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từ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nhiều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bảng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142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67742722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Cập</a:t>
            </a:r>
            <a:r>
              <a:rPr lang="en-US" sz="3500" b="1" dirty="0"/>
              <a:t> </a:t>
            </a:r>
            <a:r>
              <a:rPr lang="en-US" sz="3500" b="1" dirty="0" err="1"/>
              <a:t>nhật</a:t>
            </a:r>
            <a:r>
              <a:rPr lang="en-US" sz="3500" b="1" dirty="0"/>
              <a:t> </a:t>
            </a:r>
            <a:r>
              <a:rPr lang="en-US" sz="3500" b="1" dirty="0" err="1"/>
              <a:t>trên</a:t>
            </a:r>
            <a:r>
              <a:rPr lang="en-US" sz="3500" b="1" dirty="0"/>
              <a:t> </a:t>
            </a:r>
            <a:r>
              <a:rPr lang="en-US" sz="3500" b="1" dirty="0" err="1"/>
              <a:t>khung</a:t>
            </a:r>
            <a:r>
              <a:rPr lang="en-US" sz="3500" b="1" dirty="0"/>
              <a:t> </a:t>
            </a:r>
            <a:r>
              <a:rPr lang="en-US" sz="3500" b="1" dirty="0" err="1"/>
              <a:t>nhìn</a:t>
            </a:r>
            <a:endParaRPr lang="en-US" sz="3500" b="1" dirty="0"/>
          </a:p>
        </p:txBody>
      </p:sp>
      <p:sp>
        <p:nvSpPr>
          <p:cNvPr id="84992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76400"/>
            <a:ext cx="8382000" cy="4648200"/>
          </a:xfrm>
        </p:spPr>
        <p:txBody>
          <a:bodyPr/>
          <a:lstStyle/>
          <a:p>
            <a:pPr algn="just"/>
            <a:r>
              <a:rPr lang="en-US" dirty="0" err="1"/>
              <a:t>Sửa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họ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‘123456789’ ở </a:t>
            </a:r>
            <a:r>
              <a:rPr lang="en-US" dirty="0" err="1"/>
              <a:t>phòng</a:t>
            </a:r>
            <a:r>
              <a:rPr lang="en-US" dirty="0"/>
              <a:t> 5 </a:t>
            </a:r>
            <a:r>
              <a:rPr lang="en-US" dirty="0" err="1"/>
              <a:t>là</a:t>
            </a:r>
            <a:r>
              <a:rPr lang="en-US" dirty="0"/>
              <a:t> ‘Pham’</a:t>
            </a:r>
          </a:p>
        </p:txBody>
      </p:sp>
      <p:sp>
        <p:nvSpPr>
          <p:cNvPr id="849924" name="Text Box 4"/>
          <p:cNvSpPr txBox="1">
            <a:spLocks noChangeArrowheads="1"/>
          </p:cNvSpPr>
          <p:nvPr/>
        </p:nvSpPr>
        <p:spPr bwMode="auto">
          <a:xfrm>
            <a:off x="1905000" y="2667000"/>
            <a:ext cx="3657600" cy="11922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>
                <a:solidFill>
                  <a:srgbClr val="0000CC"/>
                </a:solidFill>
              </a:rPr>
              <a:t>UPDATE</a:t>
            </a:r>
            <a:r>
              <a:rPr lang="en-US"/>
              <a:t> NV_P5</a:t>
            </a:r>
          </a:p>
          <a:p>
            <a:pPr algn="l"/>
            <a:r>
              <a:rPr lang="en-US">
                <a:solidFill>
                  <a:srgbClr val="0000CC"/>
                </a:solidFill>
              </a:rPr>
              <a:t>SET</a:t>
            </a:r>
            <a:r>
              <a:rPr lang="en-US"/>
              <a:t> HONV=‘Pham’</a:t>
            </a:r>
          </a:p>
          <a:p>
            <a:pPr algn="l"/>
            <a:r>
              <a:rPr lang="en-US">
                <a:solidFill>
                  <a:srgbClr val="0000CC"/>
                </a:solidFill>
              </a:rPr>
              <a:t>WHERE</a:t>
            </a:r>
            <a:r>
              <a:rPr lang="en-US"/>
              <a:t> MANV= </a:t>
            </a:r>
            <a:r>
              <a:rPr lang="en-US">
                <a:solidFill>
                  <a:srgbClr val="CC0000"/>
                </a:solidFill>
              </a:rPr>
              <a:t>‘123456789’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143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9506521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9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/>
              <a:t>6. </a:t>
            </a:r>
            <a:r>
              <a:rPr lang="en-US" sz="3500" b="1" dirty="0" err="1"/>
              <a:t>Chỉ</a:t>
            </a:r>
            <a:r>
              <a:rPr lang="en-US" sz="3500" b="1" dirty="0"/>
              <a:t> </a:t>
            </a:r>
            <a:r>
              <a:rPr lang="en-US" sz="3500" b="1" dirty="0" err="1"/>
              <a:t>mục</a:t>
            </a:r>
            <a:endParaRPr lang="en-US" sz="3500" b="1" dirty="0"/>
          </a:p>
        </p:txBody>
      </p:sp>
      <p:sp>
        <p:nvSpPr>
          <p:cNvPr id="85197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524000"/>
            <a:ext cx="8229600" cy="4800600"/>
          </a:xfrm>
        </p:spPr>
        <p:txBody>
          <a:bodyPr/>
          <a:lstStyle/>
          <a:p>
            <a:pPr algn="just"/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A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mẫu</a:t>
            </a:r>
            <a:r>
              <a:rPr lang="en-US" dirty="0"/>
              <a:t> tin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chứa</a:t>
            </a:r>
            <a:r>
              <a:rPr lang="en-US" dirty="0"/>
              <a:t> A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hơn</a:t>
            </a:r>
            <a:endParaRPr lang="en-US" dirty="0"/>
          </a:p>
        </p:txBody>
      </p:sp>
      <p:sp>
        <p:nvSpPr>
          <p:cNvPr id="851972" name="Text Box 4"/>
          <p:cNvSpPr txBox="1">
            <a:spLocks noChangeArrowheads="1"/>
          </p:cNvSpPr>
          <p:nvPr/>
        </p:nvSpPr>
        <p:spPr bwMode="auto">
          <a:xfrm>
            <a:off x="1066800" y="2895600"/>
            <a:ext cx="4114800" cy="11922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>
                <a:solidFill>
                  <a:srgbClr val="0000CC"/>
                </a:solidFill>
              </a:rPr>
              <a:t>SELECT </a:t>
            </a:r>
            <a:r>
              <a:rPr lang="en-US"/>
              <a:t>*</a:t>
            </a:r>
          </a:p>
          <a:p>
            <a:pPr algn="l"/>
            <a:r>
              <a:rPr lang="en-US">
                <a:solidFill>
                  <a:srgbClr val="0000CC"/>
                </a:solidFill>
              </a:rPr>
              <a:t>FROM</a:t>
            </a:r>
            <a:r>
              <a:rPr lang="en-US"/>
              <a:t> NHANVIEN</a:t>
            </a:r>
          </a:p>
          <a:p>
            <a:pPr algn="l"/>
            <a:r>
              <a:rPr lang="en-US">
                <a:solidFill>
                  <a:srgbClr val="0000CC"/>
                </a:solidFill>
              </a:rPr>
              <a:t>WHERE</a:t>
            </a:r>
            <a:r>
              <a:rPr lang="en-US"/>
              <a:t> PHG=5 </a:t>
            </a:r>
            <a:r>
              <a:rPr lang="en-US">
                <a:solidFill>
                  <a:srgbClr val="777777"/>
                </a:solidFill>
              </a:rPr>
              <a:t>AND</a:t>
            </a:r>
            <a:r>
              <a:rPr lang="en-US"/>
              <a:t>  PHAI=</a:t>
            </a:r>
            <a:r>
              <a:rPr lang="en-US">
                <a:solidFill>
                  <a:srgbClr val="CC0000"/>
                </a:solidFill>
              </a:rPr>
              <a:t>‘Nu’</a:t>
            </a:r>
          </a:p>
        </p:txBody>
      </p:sp>
      <p:sp>
        <p:nvSpPr>
          <p:cNvPr id="851973" name="Text Box 5"/>
          <p:cNvSpPr txBox="1">
            <a:spLocks noChangeArrowheads="1"/>
          </p:cNvSpPr>
          <p:nvPr/>
        </p:nvSpPr>
        <p:spPr bwMode="auto">
          <a:xfrm>
            <a:off x="1143000" y="4800600"/>
            <a:ext cx="4419600" cy="77946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/>
              <a:t>Bảng NHANVIEN có 10.000 bộ</a:t>
            </a:r>
          </a:p>
          <a:p>
            <a:pPr algn="l"/>
            <a:r>
              <a:rPr lang="en-US"/>
              <a:t>Có 200 nhân viên làm việc cho phòng 5</a:t>
            </a:r>
          </a:p>
        </p:txBody>
      </p:sp>
      <p:sp>
        <p:nvSpPr>
          <p:cNvPr id="851974" name="Text Box 6"/>
          <p:cNvSpPr txBox="1">
            <a:spLocks noChangeArrowheads="1"/>
          </p:cNvSpPr>
          <p:nvPr/>
        </p:nvSpPr>
        <p:spPr bwMode="auto">
          <a:xfrm>
            <a:off x="6248400" y="3200400"/>
            <a:ext cx="1752600" cy="379413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/>
              <a:t>Đọc 10.000 bộ</a:t>
            </a:r>
          </a:p>
        </p:txBody>
      </p:sp>
      <p:sp>
        <p:nvSpPr>
          <p:cNvPr id="851975" name="Text Box 7"/>
          <p:cNvSpPr txBox="1">
            <a:spLocks noChangeArrowheads="1"/>
          </p:cNvSpPr>
          <p:nvPr/>
        </p:nvSpPr>
        <p:spPr bwMode="auto">
          <a:xfrm>
            <a:off x="6248400" y="4114800"/>
            <a:ext cx="1752600" cy="381000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/>
              <a:t>Đọc 200 bộ</a:t>
            </a:r>
          </a:p>
        </p:txBody>
      </p:sp>
      <p:sp>
        <p:nvSpPr>
          <p:cNvPr id="851976" name="Text Box 8"/>
          <p:cNvSpPr txBox="1">
            <a:spLocks noChangeArrowheads="1"/>
          </p:cNvSpPr>
          <p:nvPr/>
        </p:nvSpPr>
        <p:spPr bwMode="auto">
          <a:xfrm>
            <a:off x="6248400" y="5029200"/>
            <a:ext cx="1752600" cy="381000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/>
              <a:t>Đọc 70 bộ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144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1274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1971" grpId="0" build="p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0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/>
              <a:t>6. </a:t>
            </a:r>
            <a:r>
              <a:rPr lang="en-US" sz="3500" b="1" dirty="0" err="1"/>
              <a:t>Chỉ</a:t>
            </a:r>
            <a:r>
              <a:rPr lang="en-US" sz="3500" b="1" dirty="0"/>
              <a:t> </a:t>
            </a:r>
            <a:r>
              <a:rPr lang="en-US" sz="3500" b="1" dirty="0" err="1"/>
              <a:t>mục</a:t>
            </a:r>
            <a:endParaRPr lang="en-US" sz="3500" b="1" dirty="0"/>
          </a:p>
        </p:txBody>
      </p:sp>
      <p:sp>
        <p:nvSpPr>
          <p:cNvPr id="85606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524000"/>
            <a:ext cx="8229600" cy="4800600"/>
          </a:xfrm>
        </p:spPr>
        <p:txBody>
          <a:bodyPr/>
          <a:lstStyle/>
          <a:p>
            <a:r>
              <a:rPr lang="en-US" dirty="0" err="1"/>
              <a:t>Cú</a:t>
            </a:r>
            <a:r>
              <a:rPr lang="en-US" dirty="0"/>
              <a:t> </a:t>
            </a:r>
            <a:r>
              <a:rPr lang="en-US" dirty="0" err="1"/>
              <a:t>pháp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endParaRPr lang="en-US" dirty="0"/>
          </a:p>
        </p:txBody>
      </p:sp>
      <p:sp>
        <p:nvSpPr>
          <p:cNvPr id="856073" name="Rectangle 9"/>
          <p:cNvSpPr>
            <a:spLocks noChangeArrowheads="1"/>
          </p:cNvSpPr>
          <p:nvPr/>
        </p:nvSpPr>
        <p:spPr bwMode="auto">
          <a:xfrm>
            <a:off x="914400" y="2287587"/>
            <a:ext cx="6477000" cy="379413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l"/>
            <a:r>
              <a:rPr lang="en-US" b="1" dirty="0"/>
              <a:t>CREATE INDEX </a:t>
            </a:r>
            <a:r>
              <a:rPr lang="en-US" dirty="0"/>
              <a:t>&lt;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&gt; </a:t>
            </a:r>
            <a:r>
              <a:rPr lang="en-US" b="1" dirty="0"/>
              <a:t>ON</a:t>
            </a:r>
            <a:r>
              <a:rPr lang="en-US" dirty="0"/>
              <a:t> &lt;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&gt;(&lt;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cột</a:t>
            </a:r>
            <a:r>
              <a:rPr lang="en-US" dirty="0"/>
              <a:t>&gt;)</a:t>
            </a:r>
          </a:p>
        </p:txBody>
      </p:sp>
      <p:sp>
        <p:nvSpPr>
          <p:cNvPr id="856074" name="Text Box 10"/>
          <p:cNvSpPr txBox="1">
            <a:spLocks noChangeArrowheads="1"/>
          </p:cNvSpPr>
          <p:nvPr/>
        </p:nvSpPr>
        <p:spPr bwMode="auto">
          <a:xfrm>
            <a:off x="914400" y="4510088"/>
            <a:ext cx="5181600" cy="36671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>
                <a:solidFill>
                  <a:srgbClr val="0000CC"/>
                </a:solidFill>
              </a:rPr>
              <a:t>CREATE INDEX </a:t>
            </a:r>
            <a:r>
              <a:rPr lang="en-US"/>
              <a:t>PHG_IND </a:t>
            </a:r>
            <a:r>
              <a:rPr lang="en-US">
                <a:solidFill>
                  <a:srgbClr val="0000CC"/>
                </a:solidFill>
              </a:rPr>
              <a:t>ON</a:t>
            </a:r>
            <a:r>
              <a:rPr lang="en-US"/>
              <a:t> NHANVIEN(PHG)</a:t>
            </a:r>
            <a:endParaRPr lang="en-US">
              <a:solidFill>
                <a:srgbClr val="CC0000"/>
              </a:solidFill>
            </a:endParaRPr>
          </a:p>
        </p:txBody>
      </p:sp>
      <p:sp>
        <p:nvSpPr>
          <p:cNvPr id="856075" name="Text Box 11"/>
          <p:cNvSpPr txBox="1">
            <a:spLocks noChangeArrowheads="1"/>
          </p:cNvSpPr>
          <p:nvPr/>
        </p:nvSpPr>
        <p:spPr bwMode="auto">
          <a:xfrm>
            <a:off x="914400" y="5195888"/>
            <a:ext cx="6629400" cy="36671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>
                <a:solidFill>
                  <a:srgbClr val="0000CC"/>
                </a:solidFill>
              </a:rPr>
              <a:t>CREATE INDEX </a:t>
            </a:r>
            <a:r>
              <a:rPr lang="en-US"/>
              <a:t>PHG_PHAI_IND </a:t>
            </a:r>
            <a:r>
              <a:rPr lang="en-US">
                <a:solidFill>
                  <a:srgbClr val="0000CC"/>
                </a:solidFill>
              </a:rPr>
              <a:t>ON</a:t>
            </a:r>
            <a:r>
              <a:rPr lang="en-US"/>
              <a:t> NHANVIEN(PHG, PHAI)</a:t>
            </a:r>
            <a:endParaRPr lang="en-US">
              <a:solidFill>
                <a:srgbClr val="CC0000"/>
              </a:solidFill>
            </a:endParaRPr>
          </a:p>
        </p:txBody>
      </p:sp>
      <p:sp>
        <p:nvSpPr>
          <p:cNvPr id="856076" name="Rectangle 12"/>
          <p:cNvSpPr>
            <a:spLocks noChangeArrowheads="1"/>
          </p:cNvSpPr>
          <p:nvPr/>
        </p:nvSpPr>
        <p:spPr bwMode="auto">
          <a:xfrm>
            <a:off x="914400" y="2973387"/>
            <a:ext cx="6477000" cy="379413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l"/>
            <a:r>
              <a:rPr lang="en-US" b="1"/>
              <a:t>DROP INDEX </a:t>
            </a:r>
            <a:r>
              <a:rPr lang="en-US"/>
              <a:t>&lt;tên chỉ mục&gt;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145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2076087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1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/>
              <a:t>6. </a:t>
            </a:r>
            <a:r>
              <a:rPr lang="en-US" sz="3500" b="1" dirty="0" err="1"/>
              <a:t>Chỉ</a:t>
            </a:r>
            <a:r>
              <a:rPr lang="en-US" sz="3500" b="1" dirty="0"/>
              <a:t> </a:t>
            </a:r>
            <a:r>
              <a:rPr lang="en-US" sz="3500" b="1" dirty="0" err="1"/>
              <a:t>mục</a:t>
            </a:r>
            <a:r>
              <a:rPr lang="en-US" sz="3500" b="1" dirty="0"/>
              <a:t> </a:t>
            </a:r>
          </a:p>
        </p:txBody>
      </p:sp>
      <p:sp>
        <p:nvSpPr>
          <p:cNvPr id="85811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229600" cy="4724400"/>
          </a:xfrm>
        </p:spPr>
        <p:txBody>
          <a:bodyPr/>
          <a:lstStyle/>
          <a:p>
            <a:pPr algn="just"/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xét</a:t>
            </a:r>
            <a:endParaRPr lang="en-US" dirty="0"/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Tìm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kiếm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nhanh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trong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trường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hợp</a:t>
            </a:r>
            <a:r>
              <a:rPr lang="en-US" dirty="0">
                <a:solidFill>
                  <a:schemeClr val="tx1"/>
                </a:solidFill>
              </a:rPr>
              <a:t> so </a:t>
            </a:r>
            <a:r>
              <a:rPr lang="en-US" dirty="0" err="1">
                <a:solidFill>
                  <a:schemeClr val="tx1"/>
                </a:solidFill>
              </a:rPr>
              <a:t>sánh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với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hằng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số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và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phép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kết</a:t>
            </a:r>
            <a:endParaRPr lang="en-US" dirty="0">
              <a:solidFill>
                <a:schemeClr val="tx1"/>
              </a:solidFill>
            </a:endParaRPr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Làm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chậm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các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thao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tác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thêm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xóa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và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sửa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Tốn</a:t>
            </a:r>
            <a:r>
              <a:rPr lang="en-US" dirty="0">
                <a:solidFill>
                  <a:schemeClr val="tx1"/>
                </a:solidFill>
              </a:rPr>
              <a:t> chi </a:t>
            </a:r>
            <a:r>
              <a:rPr lang="en-US" dirty="0" err="1">
                <a:solidFill>
                  <a:schemeClr val="tx1"/>
                </a:solidFill>
              </a:rPr>
              <a:t>phí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lvl="2" algn="just"/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mục</a:t>
            </a:r>
            <a:endParaRPr lang="en-US" dirty="0"/>
          </a:p>
          <a:p>
            <a:pPr lvl="2" algn="just"/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đĩa</a:t>
            </a:r>
            <a:r>
              <a:rPr lang="en-US" dirty="0"/>
              <a:t> </a:t>
            </a:r>
            <a:r>
              <a:rPr lang="en-US" dirty="0" err="1"/>
              <a:t>nhiều</a:t>
            </a:r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lựa</a:t>
            </a:r>
            <a:r>
              <a:rPr lang="en-US" dirty="0"/>
              <a:t> </a:t>
            </a:r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???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146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66949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9324</TotalTime>
  <Words>9038</Words>
  <Application>Microsoft Office PowerPoint</Application>
  <PresentationFormat>On-screen Show (4:3)</PresentationFormat>
  <Paragraphs>2013</Paragraphs>
  <Slides>146</Slides>
  <Notes>121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146</vt:i4>
      </vt:variant>
    </vt:vector>
  </HeadingPairs>
  <TitlesOfParts>
    <vt:vector size="154" baseType="lpstr">
      <vt:lpstr>Arial</vt:lpstr>
      <vt:lpstr>Calibri</vt:lpstr>
      <vt:lpstr>Courier</vt:lpstr>
      <vt:lpstr>Tahoma</vt:lpstr>
      <vt:lpstr>Times New Roman</vt:lpstr>
      <vt:lpstr>Wingdings</vt:lpstr>
      <vt:lpstr>Wingdings 2</vt:lpstr>
      <vt:lpstr>Civic</vt:lpstr>
      <vt:lpstr>PowerPoint Presentation</vt:lpstr>
      <vt:lpstr>Nội dung chi tiết</vt:lpstr>
      <vt:lpstr>1) Giới thiệu</vt:lpstr>
      <vt:lpstr>1) Giới thiệu</vt:lpstr>
      <vt:lpstr>1) Giới thiệu</vt:lpstr>
      <vt:lpstr>Giới thiệu Microsoft SQL Server</vt:lpstr>
      <vt:lpstr>Giao diện đăng nhập</vt:lpstr>
      <vt:lpstr>Giao diện làm việc</vt:lpstr>
      <vt:lpstr>Giao diện truy vấn</vt:lpstr>
      <vt:lpstr>Các thao tác cơ bản</vt:lpstr>
      <vt:lpstr>Lệnh GO</vt:lpstr>
      <vt:lpstr>Lệnh GO</vt:lpstr>
      <vt:lpstr>2) Định nghĩa dữ liệu</vt:lpstr>
      <vt:lpstr>a) Kiểu dữ liệu</vt:lpstr>
      <vt:lpstr>a) Kiểu dữ liệu</vt:lpstr>
      <vt:lpstr>b) Tạo CSDL</vt:lpstr>
      <vt:lpstr>b) Tạo CSDL</vt:lpstr>
      <vt:lpstr>b) Tạo CSDL</vt:lpstr>
      <vt:lpstr>b) Tạo CSDL</vt:lpstr>
      <vt:lpstr>c) Chỉnh sửa CSDL</vt:lpstr>
      <vt:lpstr>d) Xóa CSDL</vt:lpstr>
      <vt:lpstr>e) Lệnh tạo bảng</vt:lpstr>
      <vt:lpstr>Ví dụ - Tạo bảng</vt:lpstr>
      <vt:lpstr>e) Lệnh tạo bảng</vt:lpstr>
      <vt:lpstr>Ví dụ - Tạo bảng có kèm RBTV</vt:lpstr>
      <vt:lpstr>Ví dụ - Tạo bảng có kèm RBTV</vt:lpstr>
      <vt:lpstr>Ví dụ - RBTV có đặt tên</vt:lpstr>
      <vt:lpstr>Ví dụ - RBTV có đặt tên</vt:lpstr>
      <vt:lpstr>f) Lệnh sửa bảng</vt:lpstr>
      <vt:lpstr>f) Lệnh sửa bảng</vt:lpstr>
      <vt:lpstr>Ví dụ - Thay đổi cấu trúc bảng</vt:lpstr>
      <vt:lpstr>Ví dụ - Thay đổi RBTV</vt:lpstr>
      <vt:lpstr>Ví dụ - Thay đổi RBTV khóa ngoại</vt:lpstr>
      <vt:lpstr>g) Lệnh xóa bảng</vt:lpstr>
      <vt:lpstr>g) Lệnh xóa bảng</vt:lpstr>
      <vt:lpstr>k) Lệnh tạo miền giá trị</vt:lpstr>
      <vt:lpstr>3) Truy vấn dữ liệu</vt:lpstr>
      <vt:lpstr>a) Truy vấn cơ bản</vt:lpstr>
      <vt:lpstr>a) Truy vấn cơ bản </vt:lpstr>
      <vt:lpstr>Ví dụ</vt:lpstr>
      <vt:lpstr>Mệnh đề SELECT</vt:lpstr>
      <vt:lpstr>Mệnh đề SELECT</vt:lpstr>
      <vt:lpstr>Mệnh đề SELECT </vt:lpstr>
      <vt:lpstr>Mệnh đề SELECT</vt:lpstr>
      <vt:lpstr>Mệnh đề SELECT</vt:lpstr>
      <vt:lpstr>Mệnh đề SELECT</vt:lpstr>
      <vt:lpstr>Mệnh đề WHERE</vt:lpstr>
      <vt:lpstr>Mệnh đề WHERE</vt:lpstr>
      <vt:lpstr>Mệnh đề WHERE </vt:lpstr>
      <vt:lpstr>Mệnh đề WHERE </vt:lpstr>
      <vt:lpstr>Mệnh đề WHERE </vt:lpstr>
      <vt:lpstr>Mệnh đề WHERE</vt:lpstr>
      <vt:lpstr>Mệnh đề WHERE </vt:lpstr>
      <vt:lpstr>Mệnh đề WHERE </vt:lpstr>
      <vt:lpstr>Mệnh đề WHERE</vt:lpstr>
      <vt:lpstr>Mệnh đề WHERE</vt:lpstr>
      <vt:lpstr>Mệnh đề WHERE</vt:lpstr>
      <vt:lpstr>Mệnh đề WHERE</vt:lpstr>
      <vt:lpstr>Mệnh đề FROM</vt:lpstr>
      <vt:lpstr>Mệnh đề FROM</vt:lpstr>
      <vt:lpstr>Mệnh đề FROM</vt:lpstr>
      <vt:lpstr>PowerPoint Presentation</vt:lpstr>
      <vt:lpstr>Ví dụ 1</vt:lpstr>
      <vt:lpstr>Ví dụ 2</vt:lpstr>
      <vt:lpstr>Ví dụ 3</vt:lpstr>
      <vt:lpstr>Ví dụ 4</vt:lpstr>
      <vt:lpstr>Mệnh đề ORDER BY</vt:lpstr>
      <vt:lpstr>Mệnh đề ORDER BY</vt:lpstr>
      <vt:lpstr>b) Phép toán tập hợp trong SQL</vt:lpstr>
      <vt:lpstr>a) Phép toán tập hợp trong SQL</vt:lpstr>
      <vt:lpstr>Ví dụ 5</vt:lpstr>
      <vt:lpstr>Ví dụ 6</vt:lpstr>
      <vt:lpstr>Ví dụ 7</vt:lpstr>
      <vt:lpstr>Truy vấn lồng</vt:lpstr>
      <vt:lpstr>Truy vấn lồng</vt:lpstr>
      <vt:lpstr>Truy vấn lồng</vt:lpstr>
      <vt:lpstr>Ví dụ - Lồng phân cấp</vt:lpstr>
      <vt:lpstr>Ví dụ 5</vt:lpstr>
      <vt:lpstr>Ví dụ 7</vt:lpstr>
      <vt:lpstr>Ví dụ 8</vt:lpstr>
      <vt:lpstr>Ví dụ 9</vt:lpstr>
      <vt:lpstr>Ví dụ 10</vt:lpstr>
      <vt:lpstr>Ví dụ - Lồng tương quan</vt:lpstr>
      <vt:lpstr>Ví dụ 6</vt:lpstr>
      <vt:lpstr>Ví dụ 7</vt:lpstr>
      <vt:lpstr>Ví dụ 8</vt:lpstr>
      <vt:lpstr>Ví dụ 10</vt:lpstr>
      <vt:lpstr>IN và EXISTS</vt:lpstr>
      <vt:lpstr>Phép chia</vt:lpstr>
      <vt:lpstr>Phép chia</vt:lpstr>
      <vt:lpstr>Phép chia trong SQL</vt:lpstr>
      <vt:lpstr>Phép chia</vt:lpstr>
      <vt:lpstr>Phép chia</vt:lpstr>
      <vt:lpstr>Ví dụ 12</vt:lpstr>
      <vt:lpstr>Ví dụ 12</vt:lpstr>
      <vt:lpstr>c) Hàm kết hợp</vt:lpstr>
      <vt:lpstr>Ví dụ 13</vt:lpstr>
      <vt:lpstr>Ví dụ 14</vt:lpstr>
      <vt:lpstr>Ví dụ 15</vt:lpstr>
      <vt:lpstr>d) Gom nhóm</vt:lpstr>
      <vt:lpstr>PowerPoint Presentation</vt:lpstr>
      <vt:lpstr>Ví dụ 16 </vt:lpstr>
      <vt:lpstr>Ví dụ 17</vt:lpstr>
      <vt:lpstr>Ví dụ 18</vt:lpstr>
      <vt:lpstr>e) Điều kiện trên nhóm</vt:lpstr>
      <vt:lpstr>Ví dụ 18</vt:lpstr>
      <vt:lpstr>Ví dụ 19</vt:lpstr>
      <vt:lpstr>Nhận xét</vt:lpstr>
      <vt:lpstr>Nhận xét</vt:lpstr>
      <vt:lpstr>Ví dụ 20</vt:lpstr>
      <vt:lpstr>Ví dụ 20</vt:lpstr>
      <vt:lpstr>Ví dụ 21</vt:lpstr>
      <vt:lpstr>f) Một số dạng truy vấn khác</vt:lpstr>
      <vt:lpstr>Truy vấn con ở mệnh đề FROM</vt:lpstr>
      <vt:lpstr>Ví dụ 22</vt:lpstr>
      <vt:lpstr>Điều kiện kết ở mệnh đề FROM</vt:lpstr>
      <vt:lpstr>Ví dụ 23</vt:lpstr>
      <vt:lpstr>Ví dụ 24</vt:lpstr>
      <vt:lpstr>Cấu trúc CASE</vt:lpstr>
      <vt:lpstr>Ví dụ 25</vt:lpstr>
      <vt:lpstr>Ví dụ 26</vt:lpstr>
      <vt:lpstr>Kết luận</vt:lpstr>
      <vt:lpstr>4. Cập nhật dữ liệu</vt:lpstr>
      <vt:lpstr>a) Lệnh INSERT</vt:lpstr>
      <vt:lpstr>Ví dụ</vt:lpstr>
      <vt:lpstr>PowerPoint Presentation</vt:lpstr>
      <vt:lpstr>a) Lệnh INSERT </vt:lpstr>
      <vt:lpstr>a) Lệnh INSERT</vt:lpstr>
      <vt:lpstr>Ví dụ</vt:lpstr>
      <vt:lpstr>b) Lệnh DELETE </vt:lpstr>
      <vt:lpstr>Ví dụ</vt:lpstr>
      <vt:lpstr>b) Lệnh DELETE</vt:lpstr>
      <vt:lpstr>c) Lệnh UPDATE </vt:lpstr>
      <vt:lpstr>Ví dụ</vt:lpstr>
      <vt:lpstr>c) Lệnh UPDATE </vt:lpstr>
      <vt:lpstr>5. Khung nhìn</vt:lpstr>
      <vt:lpstr>5. Khung nhìn</vt:lpstr>
      <vt:lpstr>Định nghĩa khung nhìn</vt:lpstr>
      <vt:lpstr>Ví dụ</vt:lpstr>
      <vt:lpstr>Truy vấn trên khung nhìn</vt:lpstr>
      <vt:lpstr>Truy vấn trên khung nhìn</vt:lpstr>
      <vt:lpstr>Cập nhật trên khung nhìn</vt:lpstr>
      <vt:lpstr>Cập nhật trên khung nhìn</vt:lpstr>
      <vt:lpstr>6. Chỉ mục</vt:lpstr>
      <vt:lpstr>6. Chỉ mục</vt:lpstr>
      <vt:lpstr>6. Chỉ mục </vt:lpstr>
    </vt:vector>
  </TitlesOfParts>
  <Company>SRDC METU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Semantics of Web Services</dc:title>
  <dc:creator>phuonglien</dc:creator>
  <cp:lastModifiedBy>khoa truong.tan</cp:lastModifiedBy>
  <cp:revision>386</cp:revision>
  <dcterms:created xsi:type="dcterms:W3CDTF">2003-05-25T12:47:52Z</dcterms:created>
  <dcterms:modified xsi:type="dcterms:W3CDTF">2020-05-21T00:42:35Z</dcterms:modified>
</cp:coreProperties>
</file>