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7"/>
  </p:notesMasterIdLst>
  <p:sldIdLst>
    <p:sldId id="256" r:id="rId2"/>
    <p:sldId id="393" r:id="rId3"/>
    <p:sldId id="300" r:id="rId4"/>
    <p:sldId id="301" r:id="rId5"/>
    <p:sldId id="309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10" r:id="rId14"/>
    <p:sldId id="311" r:id="rId15"/>
    <p:sldId id="312" r:id="rId16"/>
    <p:sldId id="314" r:id="rId17"/>
    <p:sldId id="313" r:id="rId18"/>
    <p:sldId id="315" r:id="rId19"/>
    <p:sldId id="316" r:id="rId20"/>
    <p:sldId id="338" r:id="rId21"/>
    <p:sldId id="317" r:id="rId22"/>
    <p:sldId id="339" r:id="rId23"/>
    <p:sldId id="340" r:id="rId24"/>
    <p:sldId id="318" r:id="rId25"/>
    <p:sldId id="319" r:id="rId26"/>
    <p:sldId id="320" r:id="rId27"/>
    <p:sldId id="321" r:id="rId28"/>
    <p:sldId id="322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29" r:id="rId37"/>
    <p:sldId id="348" r:id="rId38"/>
    <p:sldId id="330" r:id="rId39"/>
    <p:sldId id="349" r:id="rId40"/>
    <p:sldId id="331" r:id="rId41"/>
    <p:sldId id="350" r:id="rId42"/>
    <p:sldId id="332" r:id="rId43"/>
    <p:sldId id="351" r:id="rId44"/>
    <p:sldId id="352" r:id="rId45"/>
    <p:sldId id="333" r:id="rId46"/>
    <p:sldId id="334" r:id="rId47"/>
    <p:sldId id="335" r:id="rId48"/>
    <p:sldId id="336" r:id="rId49"/>
    <p:sldId id="337" r:id="rId50"/>
    <p:sldId id="353" r:id="rId51"/>
    <p:sldId id="354" r:id="rId52"/>
    <p:sldId id="355" r:id="rId53"/>
    <p:sldId id="356" r:id="rId54"/>
    <p:sldId id="357" r:id="rId55"/>
    <p:sldId id="358" r:id="rId56"/>
    <p:sldId id="359" r:id="rId57"/>
    <p:sldId id="360" r:id="rId58"/>
    <p:sldId id="361" r:id="rId59"/>
    <p:sldId id="385" r:id="rId60"/>
    <p:sldId id="386" r:id="rId61"/>
    <p:sldId id="387" r:id="rId62"/>
    <p:sldId id="388" r:id="rId63"/>
    <p:sldId id="362" r:id="rId64"/>
    <p:sldId id="363" r:id="rId65"/>
    <p:sldId id="364" r:id="rId66"/>
    <p:sldId id="365" r:id="rId67"/>
    <p:sldId id="367" r:id="rId68"/>
    <p:sldId id="368" r:id="rId69"/>
    <p:sldId id="389" r:id="rId70"/>
    <p:sldId id="369" r:id="rId71"/>
    <p:sldId id="390" r:id="rId72"/>
    <p:sldId id="370" r:id="rId73"/>
    <p:sldId id="371" r:id="rId74"/>
    <p:sldId id="372" r:id="rId75"/>
    <p:sldId id="373" r:id="rId76"/>
    <p:sldId id="376" r:id="rId77"/>
    <p:sldId id="391" r:id="rId78"/>
    <p:sldId id="377" r:id="rId79"/>
    <p:sldId id="378" r:id="rId80"/>
    <p:sldId id="379" r:id="rId81"/>
    <p:sldId id="380" r:id="rId82"/>
    <p:sldId id="392" r:id="rId83"/>
    <p:sldId id="382" r:id="rId84"/>
    <p:sldId id="383" r:id="rId85"/>
    <p:sldId id="384" r:id="rId8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73" autoAdjust="0"/>
    <p:restoredTop sz="85714"/>
  </p:normalViewPr>
  <p:slideViewPr>
    <p:cSldViewPr>
      <p:cViewPr varScale="1">
        <p:scale>
          <a:sx n="70" d="100"/>
          <a:sy n="70" d="100"/>
        </p:scale>
        <p:origin x="115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ED888-D991-4773-B1F0-5CFA0B9EFB8D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AD2C0-57EA-42D6-8A5C-133B52C6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4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13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389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154D51A-B352-48BE-BE39-51A947238293}" type="slidenum">
              <a:rPr lang="en-US"/>
              <a:pPr/>
              <a:t>14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94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EFB804-D6AE-4E79-8E13-856BD131A352}" type="slidenum">
              <a:rPr lang="en-US"/>
              <a:pPr/>
              <a:t>15</a:t>
            </a:fld>
            <a:endParaRPr 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76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F03DBD-9CBA-4F64-8AE8-3EBBBAEA2FD8}" type="slidenum">
              <a:rPr lang="en-US"/>
              <a:pPr/>
              <a:t>17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80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18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83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19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20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21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093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3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24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093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25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343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26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70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9FCB26-6A4A-4E9F-B056-8B5F793D0EB3}" type="slidenum">
              <a:rPr lang="en-US"/>
              <a:pPr/>
              <a:t>27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50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749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ABF42E2F-198D-4246-8672-0BEF388001B6}" type="datetime1">
              <a:rPr lang="en-US" sz="1200">
                <a:solidFill>
                  <a:schemeClr val="tx1"/>
                </a:solidFill>
              </a:rPr>
              <a:pPr eaLnBrk="1" hangingPunct="1"/>
              <a:t>3/19/2020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19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B9C55777-3F02-41C2-B07F-CC620B7F965B}" type="slidenum">
              <a:rPr lang="en-US" sz="1200">
                <a:solidFill>
                  <a:schemeClr val="tx1"/>
                </a:solidFill>
              </a:rPr>
              <a:pPr eaLnBrk="1" hangingPunct="1"/>
              <a:t>76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403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ABF42E2F-198D-4246-8672-0BEF388001B6}" type="datetime1">
              <a:rPr lang="en-US" sz="1200">
                <a:solidFill>
                  <a:schemeClr val="tx1"/>
                </a:solidFill>
              </a:rPr>
              <a:pPr eaLnBrk="1" hangingPunct="1"/>
              <a:t>3/19/2020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19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B9C55777-3F02-41C2-B07F-CC620B7F965B}" type="slidenum">
              <a:rPr lang="en-US" sz="1200">
                <a:solidFill>
                  <a:schemeClr val="tx1"/>
                </a:solidFill>
              </a:rPr>
              <a:pPr eaLnBrk="1" hangingPunct="1"/>
              <a:t>77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67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24E9B911-4C31-4333-97E6-F3AF971EB0BA}" type="datetime1">
              <a:rPr lang="en-US" sz="1200">
                <a:solidFill>
                  <a:schemeClr val="tx1"/>
                </a:solidFill>
              </a:rPr>
              <a:pPr eaLnBrk="1" hangingPunct="1"/>
              <a:t>3/19/2020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02630DBD-8659-49E1-8201-0D3C547466D5}" type="slidenum">
              <a:rPr lang="en-US" sz="1200">
                <a:solidFill>
                  <a:schemeClr val="tx1"/>
                </a:solidFill>
              </a:rPr>
              <a:pPr eaLnBrk="1" hangingPunct="1"/>
              <a:t>78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512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A15622B2-FD1C-47DD-98D0-0362C05B36C0}" type="datetime1">
              <a:rPr lang="en-US" sz="1200">
                <a:solidFill>
                  <a:schemeClr val="tx1"/>
                </a:solidFill>
              </a:rPr>
              <a:pPr eaLnBrk="1" hangingPunct="1"/>
              <a:t>3/19/2020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39467D5F-B31A-4956-B942-64AD08DBD640}" type="slidenum">
              <a:rPr lang="en-US" sz="1200">
                <a:solidFill>
                  <a:schemeClr val="tx1"/>
                </a:solidFill>
              </a:rPr>
              <a:pPr eaLnBrk="1" hangingPunct="1"/>
              <a:t>79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4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40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FB7C5B8A-9861-435C-8A47-B3E9E666C417}" type="datetime1">
              <a:rPr lang="en-US" sz="1200">
                <a:solidFill>
                  <a:schemeClr val="tx1"/>
                </a:solidFill>
              </a:rPr>
              <a:pPr eaLnBrk="1" hangingPunct="1"/>
              <a:t>3/19/2020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505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754D495A-6A96-4EAE-B7AA-FD25FDD69F81}" type="slidenum">
              <a:rPr lang="en-US" sz="1200">
                <a:solidFill>
                  <a:schemeClr val="tx1"/>
                </a:solidFill>
              </a:rPr>
              <a:pPr eaLnBrk="1" hangingPunct="1"/>
              <a:t>80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50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50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13A5CDEE-2F84-45A5-AB72-FBA5BB6C5DEE}" type="datetime1">
              <a:rPr lang="en-US" sz="1200">
                <a:solidFill>
                  <a:schemeClr val="tx1"/>
                </a:solidFill>
              </a:rPr>
              <a:pPr eaLnBrk="1" hangingPunct="1"/>
              <a:t>3/19/2020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CDA63C28-5E55-48AB-92FB-8FE100AE22C5}" type="slidenum">
              <a:rPr lang="en-US" sz="1200">
                <a:solidFill>
                  <a:schemeClr val="tx1"/>
                </a:solidFill>
              </a:rPr>
              <a:pPr eaLnBrk="1" hangingPunct="1"/>
              <a:t>81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46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25A122B8-A3DE-4AC4-A9AF-9D7648F40B1F}" type="datetime1">
              <a:rPr lang="en-US" sz="1200">
                <a:solidFill>
                  <a:schemeClr val="tx1"/>
                </a:solidFill>
              </a:rPr>
              <a:pPr eaLnBrk="1" hangingPunct="1"/>
              <a:t>3/19/2020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831733" indent="-319897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27958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791424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303259" indent="-255918" defTabSz="913484" eaLnBrk="0" hangingPunct="0"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815095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3326930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838766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4350601" indent="-255918" algn="ctr" defTabSz="91348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6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/>
            <a:fld id="{8B9EEBED-79EC-46BF-A4DB-F58E6FA0E177}" type="slidenum">
              <a:rPr lang="en-US" sz="1200">
                <a:solidFill>
                  <a:schemeClr val="tx1"/>
                </a:solidFill>
              </a:rPr>
              <a:pPr eaLnBrk="1" hangingPunct="1"/>
              <a:t>83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1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8710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6386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358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01972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9875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82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1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0859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785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963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6209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68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066800"/>
            <a:ext cx="426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066800"/>
            <a:ext cx="426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8/13/2014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EB67A-A811-4A57-BC9B-CD1624D7F0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69756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r>
              <a:rPr lang="en-US"/>
              <a:t>8/13/2014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275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6.xml"/><Relationship Id="rId3" Type="http://schemas.openxmlformats.org/officeDocument/2006/relationships/slide" Target="slide15.xml"/><Relationship Id="rId7" Type="http://schemas.openxmlformats.org/officeDocument/2006/relationships/slide" Target="slide6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0.xml"/><Relationship Id="rId4" Type="http://schemas.openxmlformats.org/officeDocument/2006/relationships/slide" Target="slide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tmp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31.tmp"/><Relationship Id="rId4" Type="http://schemas.openxmlformats.org/officeDocument/2006/relationships/image" Target="../media/image30.tmp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47800" y="5943600"/>
            <a:ext cx="6400800" cy="533400"/>
          </a:xfrm>
        </p:spPr>
        <p:txBody>
          <a:bodyPr>
            <a:normAutofit/>
          </a:bodyPr>
          <a:lstStyle/>
          <a:p>
            <a:r>
              <a:rPr lang="en-US" sz="2400" dirty="0"/>
              <a:t>KHOA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nghệ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990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CƠ SỞ DỮ LIỆU</a:t>
            </a:r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1371600" y="-76200"/>
            <a:ext cx="64008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BÀI GIẢNG</a:t>
            </a:r>
          </a:p>
        </p:txBody>
      </p:sp>
      <p:sp>
        <p:nvSpPr>
          <p:cNvPr id="9" name="Title 5"/>
          <p:cNvSpPr txBox="1">
            <a:spLocks/>
          </p:cNvSpPr>
          <p:nvPr/>
        </p:nvSpPr>
        <p:spPr>
          <a:xfrm>
            <a:off x="685800" y="2819400"/>
            <a:ext cx="7772400" cy="13716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</a:t>
            </a:r>
          </a:p>
          <a:p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HÌNH DỮ LIỆU</a:t>
            </a:r>
          </a:p>
        </p:txBody>
      </p:sp>
    </p:spTree>
    <p:extLst>
      <p:ext uri="{BB962C8B-B14F-4D97-AF65-F5344CB8AC3E}">
        <p14:creationId xmlns:p14="http://schemas.microsoft.com/office/powerpoint/2010/main" val="351861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Nội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4495800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400" dirty="0" err="1"/>
              <a:t>Khái</a:t>
            </a:r>
            <a:r>
              <a:rPr lang="en-US" sz="2400" dirty="0"/>
              <a:t> </a:t>
            </a:r>
            <a:r>
              <a:rPr lang="en-US" sz="2400" dirty="0" err="1"/>
              <a:t>niệm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</a:p>
          <a:p>
            <a:pPr marL="457200" indent="-457200" algn="just">
              <a:buAutoNum type="arabicPeriod"/>
            </a:pP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cài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pPr marL="457200" indent="-457200" algn="just">
              <a:buAutoNum type="arabicPeriod"/>
            </a:pP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endParaRPr lang="en-US" sz="2400" dirty="0"/>
          </a:p>
          <a:p>
            <a:pPr marL="457200" indent="-457200" algn="just">
              <a:buAutoNum type="arabicPeriod"/>
            </a:pP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marL="457200" indent="-457200" algn="just">
              <a:buAutoNum type="arabicPeriod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khái</a:t>
            </a:r>
            <a:r>
              <a:rPr lang="en-US" sz="2400" dirty="0"/>
              <a:t> </a:t>
            </a:r>
            <a:r>
              <a:rPr lang="en-US" sz="2400" dirty="0" err="1"/>
              <a:t>niệm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endParaRPr lang="en-US" sz="2400" dirty="0"/>
          </a:p>
          <a:p>
            <a:pPr marL="457200" indent="-457200" algn="just">
              <a:buAutoNum type="arabicPeriod"/>
            </a:pP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sang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8" name="5-Point Star 7">
            <a:hlinkClick r:id="rId3" action="ppaction://hlinksldjump"/>
          </p:cNvPr>
          <p:cNvSpPr/>
          <p:nvPr/>
        </p:nvSpPr>
        <p:spPr>
          <a:xfrm>
            <a:off x="6324600" y="205740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5-Point Star 8">
            <a:hlinkClick r:id="rId4" action="ppaction://hlinksldjump"/>
          </p:cNvPr>
          <p:cNvSpPr/>
          <p:nvPr/>
        </p:nvSpPr>
        <p:spPr>
          <a:xfrm>
            <a:off x="4326082" y="251460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>
            <a:hlinkClick r:id="rId5" action="ppaction://hlinksldjump"/>
          </p:cNvPr>
          <p:cNvSpPr/>
          <p:nvPr/>
        </p:nvSpPr>
        <p:spPr>
          <a:xfrm>
            <a:off x="4326082" y="297180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5-Point Star 11">
            <a:hlinkClick r:id="rId6" action="ppaction://hlinksldjump"/>
          </p:cNvPr>
          <p:cNvSpPr/>
          <p:nvPr/>
        </p:nvSpPr>
        <p:spPr>
          <a:xfrm>
            <a:off x="4326082" y="167640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5-Point Star 12">
            <a:hlinkClick r:id="rId7" action="ppaction://hlinksldjump"/>
          </p:cNvPr>
          <p:cNvSpPr/>
          <p:nvPr/>
        </p:nvSpPr>
        <p:spPr>
          <a:xfrm>
            <a:off x="4326082" y="342900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5-Point Star 13">
            <a:hlinkClick r:id="rId8" action="ppaction://hlinksldjump"/>
          </p:cNvPr>
          <p:cNvSpPr/>
          <p:nvPr/>
        </p:nvSpPr>
        <p:spPr>
          <a:xfrm>
            <a:off x="8610600" y="3879273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6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4495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khái</a:t>
            </a:r>
            <a:r>
              <a:rPr lang="en-US" sz="2400" dirty="0"/>
              <a:t> </a:t>
            </a:r>
            <a:r>
              <a:rPr lang="en-US" sz="2400" dirty="0" err="1"/>
              <a:t>niệm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CSDL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,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CSDL </a:t>
            </a:r>
            <a:r>
              <a:rPr lang="en-US" sz="2400" dirty="0" err="1"/>
              <a:t>đó</a:t>
            </a:r>
            <a:r>
              <a:rPr lang="en-US" sz="2400" dirty="0"/>
              <a:t>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kí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, </a:t>
            </a:r>
            <a:r>
              <a:rPr lang="en-US" sz="2400" dirty="0" err="1"/>
              <a:t>quy</a:t>
            </a:r>
            <a:r>
              <a:rPr lang="en-US" sz="2400" dirty="0"/>
              <a:t> </a:t>
            </a:r>
            <a:r>
              <a:rPr lang="en-US" sz="2400" dirty="0" err="1"/>
              <a:t>tắc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, </a:t>
            </a: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, </a:t>
            </a:r>
            <a:r>
              <a:rPr lang="en-US" sz="2400" dirty="0" err="1"/>
              <a:t>ngữ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endParaRPr lang="en-US" sz="2400" dirty="0"/>
          </a:p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: </a:t>
            </a:r>
            <a:r>
              <a:rPr lang="en-US" sz="2400" dirty="0" err="1"/>
              <a:t>đặc</a:t>
            </a:r>
            <a:r>
              <a:rPr lang="en-US" sz="2400" dirty="0"/>
              <a:t> </a:t>
            </a:r>
            <a:r>
              <a:rPr lang="en-US" sz="2400" dirty="0" err="1"/>
              <a:t>trưng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từng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cận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3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695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mức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/>
          </a:bodyPr>
          <a:lstStyle/>
          <a:p>
            <a:pPr marL="284163" lvl="1" indent="-273050" algn="just">
              <a:buSzPct val="85000"/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tx1"/>
                </a:solidFill>
              </a:rPr>
              <a:t>Mô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hình</a:t>
            </a:r>
            <a:r>
              <a:rPr lang="en-US" sz="2400" b="1" dirty="0">
                <a:solidFill>
                  <a:schemeClr val="tx1"/>
                </a:solidFill>
              </a:rPr>
              <a:t> ở </a:t>
            </a:r>
            <a:r>
              <a:rPr lang="en-US" sz="2400" b="1" dirty="0" err="1">
                <a:solidFill>
                  <a:schemeClr val="tx1"/>
                </a:solidFill>
              </a:rPr>
              <a:t>mức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quan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niệm</a:t>
            </a:r>
            <a:r>
              <a:rPr lang="en-US" sz="2400" b="1" dirty="0">
                <a:solidFill>
                  <a:schemeClr val="tx1"/>
                </a:solidFill>
              </a:rPr>
              <a:t> (</a:t>
            </a:r>
            <a:r>
              <a:rPr lang="en-US" sz="2400" b="1" dirty="0" err="1">
                <a:solidFill>
                  <a:schemeClr val="tx1"/>
                </a:solidFill>
              </a:rPr>
              <a:t>mức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vi-VN" sz="2400" b="1" dirty="0">
                <a:solidFill>
                  <a:schemeClr val="tx1"/>
                </a:solidFill>
              </a:rPr>
              <a:t>ngoài</a:t>
            </a:r>
            <a:r>
              <a:rPr lang="en-US" sz="2400" b="1" dirty="0">
                <a:solidFill>
                  <a:schemeClr val="tx1"/>
                </a:solidFill>
              </a:rPr>
              <a:t>, </a:t>
            </a:r>
            <a:r>
              <a:rPr lang="en-US" sz="2400" b="1" dirty="0" err="1">
                <a:solidFill>
                  <a:schemeClr val="tx1"/>
                </a:solidFill>
              </a:rPr>
              <a:t>ngữ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nghĩa</a:t>
            </a:r>
            <a:r>
              <a:rPr lang="en-US" sz="2400" b="1" dirty="0">
                <a:solidFill>
                  <a:schemeClr val="tx1"/>
                </a:solidFill>
              </a:rPr>
              <a:t>): </a:t>
            </a:r>
            <a:r>
              <a:rPr lang="en-US" sz="2400" dirty="0" err="1">
                <a:solidFill>
                  <a:schemeClr val="tx1"/>
                </a:solidFill>
              </a:rPr>
              <a:t>cung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cấp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khái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niệm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gần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gũi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với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người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dùng</a:t>
            </a:r>
            <a:r>
              <a:rPr lang="en-US" sz="2400" dirty="0">
                <a:solidFill>
                  <a:schemeClr val="tx1"/>
                </a:solidFill>
              </a:rPr>
              <a:t>. VD </a:t>
            </a:r>
            <a:r>
              <a:rPr lang="en-US" sz="2400" dirty="0" err="1">
                <a:solidFill>
                  <a:schemeClr val="tx1"/>
                </a:solidFill>
              </a:rPr>
              <a:t>mô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thực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kết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hợp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mô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đối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tượng</a:t>
            </a:r>
            <a:r>
              <a:rPr lang="en-US" sz="2400" dirty="0">
                <a:solidFill>
                  <a:schemeClr val="tx1"/>
                </a:solidFill>
              </a:rPr>
              <a:t>,…</a:t>
            </a:r>
          </a:p>
          <a:p>
            <a:pPr marL="284163" lvl="1" indent="-273050" algn="just">
              <a:buSzPct val="85000"/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tx1"/>
                </a:solidFill>
              </a:rPr>
              <a:t>Mô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hình</a:t>
            </a:r>
            <a:r>
              <a:rPr lang="en-US" sz="2400" b="1" dirty="0">
                <a:solidFill>
                  <a:schemeClr val="tx1"/>
                </a:solidFill>
              </a:rPr>
              <a:t> ở </a:t>
            </a:r>
            <a:r>
              <a:rPr lang="en-US" sz="2400" b="1" dirty="0" err="1">
                <a:solidFill>
                  <a:schemeClr val="tx1"/>
                </a:solidFill>
              </a:rPr>
              <a:t>mức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cài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đặt</a:t>
            </a:r>
            <a:r>
              <a:rPr lang="en-US" sz="2400" b="1" dirty="0">
                <a:solidFill>
                  <a:schemeClr val="tx1"/>
                </a:solidFill>
              </a:rPr>
              <a:t> (logic): </a:t>
            </a:r>
            <a:r>
              <a:rPr lang="en-US" sz="2400" dirty="0" err="1">
                <a:solidFill>
                  <a:schemeClr val="tx1"/>
                </a:solidFill>
              </a:rPr>
              <a:t>cung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cấp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khái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niệm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người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dùng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có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hiểu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nhưng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không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với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dữ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liệu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được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lưu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trên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máy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tính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 err="1">
                <a:solidFill>
                  <a:schemeClr val="tx1"/>
                </a:solidFill>
              </a:rPr>
              <a:t>Mô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này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không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đề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cập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đến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một</a:t>
            </a:r>
            <a:r>
              <a:rPr lang="en-US" sz="2400" dirty="0">
                <a:solidFill>
                  <a:schemeClr val="tx1"/>
                </a:solidFill>
              </a:rPr>
              <a:t> HQT CSDL </a:t>
            </a:r>
            <a:r>
              <a:rPr lang="en-US" sz="2400" dirty="0" err="1">
                <a:solidFill>
                  <a:schemeClr val="tx1"/>
                </a:solidFill>
              </a:rPr>
              <a:t>cụ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 err="1">
                <a:solidFill>
                  <a:schemeClr val="tx1"/>
                </a:solidFill>
              </a:rPr>
              <a:t>Ví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dụ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dirty="0" err="1">
                <a:solidFill>
                  <a:schemeClr val="tx1"/>
                </a:solidFill>
              </a:rPr>
              <a:t>Mô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hình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dữ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liệu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hệ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  <a:p>
            <a:pPr marL="284163" lvl="1" indent="-273050" algn="just">
              <a:buSzPct val="85000"/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tx1"/>
                </a:solidFill>
              </a:rPr>
              <a:t>Mô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hình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vật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lý</a:t>
            </a:r>
            <a:r>
              <a:rPr lang="en-US" sz="2400" b="1" dirty="0">
                <a:solidFill>
                  <a:schemeClr val="tx1"/>
                </a:solidFill>
              </a:rPr>
              <a:t> (</a:t>
            </a:r>
            <a:r>
              <a:rPr lang="en-US" sz="2400" b="1" dirty="0" err="1">
                <a:solidFill>
                  <a:schemeClr val="tx1"/>
                </a:solidFill>
              </a:rPr>
              <a:t>mức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vi-VN" sz="2400" b="1">
                <a:solidFill>
                  <a:schemeClr val="tx1"/>
                </a:solidFill>
              </a:rPr>
              <a:t>trong</a:t>
            </a:r>
            <a:r>
              <a:rPr lang="en-US" sz="2400" b="1">
                <a:solidFill>
                  <a:schemeClr val="tx1"/>
                </a:solidFill>
              </a:rPr>
              <a:t>): </a:t>
            </a:r>
            <a:r>
              <a:rPr lang="en-US" sz="2400" dirty="0" err="1">
                <a:solidFill>
                  <a:schemeClr val="tx1"/>
                </a:solidFill>
              </a:rPr>
              <a:t>đưa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khái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niệm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mô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tả</a:t>
            </a:r>
            <a:r>
              <a:rPr lang="en-US" sz="2400" dirty="0">
                <a:solidFill>
                  <a:schemeClr val="tx1"/>
                </a:solidFill>
              </a:rPr>
              <a:t> chi </a:t>
            </a:r>
            <a:r>
              <a:rPr lang="en-US" sz="2400" dirty="0" err="1">
                <a:solidFill>
                  <a:schemeClr val="tx1"/>
                </a:solidFill>
              </a:rPr>
              <a:t>tiết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về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cách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thức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dữ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liệu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được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lưu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trên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máy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tính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với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một</a:t>
            </a:r>
            <a:r>
              <a:rPr lang="en-US" sz="2400" dirty="0">
                <a:solidFill>
                  <a:schemeClr val="tx1"/>
                </a:solidFill>
              </a:rPr>
              <a:t> HQT CSDL </a:t>
            </a:r>
            <a:r>
              <a:rPr lang="en-US" sz="2400" dirty="0" err="1">
                <a:solidFill>
                  <a:schemeClr val="tx1"/>
                </a:solidFill>
              </a:rPr>
              <a:t>cụ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thể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4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502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loại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Mô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hình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mức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cao</a:t>
            </a:r>
            <a:r>
              <a:rPr lang="en-US" sz="2400" dirty="0">
                <a:cs typeface="Times New Roman" pitchFamily="18" charset="0"/>
              </a:rPr>
              <a:t> (</a:t>
            </a:r>
            <a:r>
              <a:rPr lang="en-US" sz="2400" dirty="0" err="1">
                <a:cs typeface="Times New Roman" pitchFamily="18" charset="0"/>
              </a:rPr>
              <a:t>Mức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khái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niệm</a:t>
            </a:r>
            <a:r>
              <a:rPr lang="en-US" sz="2400" dirty="0">
                <a:cs typeface="Times New Roman" pitchFamily="18" charset="0"/>
              </a:rPr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Mô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hình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kết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hợp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(Entity Relationship Model)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Mô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hình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hướng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đối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tượng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 (Object Oriented Model)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Mô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hình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cài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đặt</a:t>
            </a:r>
            <a:endParaRPr lang="en-US" sz="2400" dirty="0"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Mô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hình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quan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cs typeface="Times New Roman" pitchFamily="18" charset="0"/>
              </a:rPr>
              <a:t>hệ</a:t>
            </a:r>
            <a:r>
              <a:rPr lang="en-US" sz="2400" b="1" dirty="0">
                <a:solidFill>
                  <a:schemeClr val="tx1"/>
                </a:solidFill>
                <a:cs typeface="Times New Roman" pitchFamily="18" charset="0"/>
              </a:rPr>
              <a:t> (Relational Data Model)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Mô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hình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mạng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(Network Data Model)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Mô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hình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cấp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Hierachical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 Data Model) 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Mô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hình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mức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thấp</a:t>
            </a:r>
            <a:r>
              <a:rPr lang="en-US" sz="2400" dirty="0">
                <a:cs typeface="Times New Roman" pitchFamily="18" charset="0"/>
              </a:rPr>
              <a:t> (</a:t>
            </a:r>
            <a:r>
              <a:rPr lang="en-US" sz="2400" dirty="0" err="1">
                <a:cs typeface="Times New Roman" pitchFamily="18" charset="0"/>
              </a:rPr>
              <a:t>mô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hình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vật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lý</a:t>
            </a:r>
            <a:r>
              <a:rPr lang="en-US" sz="2400" dirty="0">
                <a:cs typeface="Times New Roman" pitchFamily="18" charset="0"/>
              </a:rPr>
              <a:t>)</a:t>
            </a:r>
          </a:p>
          <a:p>
            <a:pPr>
              <a:buFont typeface="Wingdings" pitchFamily="2" charset="2"/>
              <a:buChar char="v"/>
            </a:pPr>
            <a:endParaRPr lang="en-US" sz="2400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5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147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1.3.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Một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vài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/>
          </a:bodyPr>
          <a:lstStyle/>
          <a:p>
            <a:pPr marL="354013" lvl="1" indent="-342900" algn="just">
              <a:buSzPct val="85000"/>
              <a:buFont typeface="Wingdings" pitchFamily="2" charset="2"/>
              <a:buChar char="v"/>
            </a:pPr>
            <a:r>
              <a:rPr lang="vi-VN" sz="2400" dirty="0">
                <a:solidFill>
                  <a:schemeClr val="tx1"/>
                </a:solidFill>
                <a:latin typeface="Cambria" pitchFamily="18" charset="0"/>
              </a:rPr>
              <a:t>Mô hình phân cấp</a:t>
            </a:r>
          </a:p>
          <a:p>
            <a:pPr marL="354013" lvl="1" indent="-342900" algn="just">
              <a:buSzPct val="85000"/>
              <a:buFont typeface="Wingdings" pitchFamily="2" charset="2"/>
              <a:buChar char="v"/>
            </a:pPr>
            <a:r>
              <a:rPr lang="vi-VN" sz="2400" dirty="0">
                <a:solidFill>
                  <a:schemeClr val="tx1"/>
                </a:solidFill>
                <a:latin typeface="Cambria" pitchFamily="18" charset="0"/>
              </a:rPr>
              <a:t>Mô hình mạng</a:t>
            </a:r>
          </a:p>
          <a:p>
            <a:pPr marL="354013" lvl="1" indent="-342900" algn="just">
              <a:buSzPct val="85000"/>
              <a:buFont typeface="Wingdings" pitchFamily="2" charset="2"/>
              <a:buChar char="v"/>
            </a:pPr>
            <a:r>
              <a:rPr lang="vi-VN" sz="2400" dirty="0">
                <a:solidFill>
                  <a:schemeClr val="tx1"/>
                </a:solidFill>
                <a:latin typeface="Cambria" pitchFamily="18" charset="0"/>
              </a:rPr>
              <a:t>Mô hình quan hệ</a:t>
            </a:r>
          </a:p>
          <a:p>
            <a:pPr marL="354013" lvl="1" indent="-342900" algn="just">
              <a:buSzPct val="85000"/>
              <a:buFont typeface="Wingdings" pitchFamily="2" charset="2"/>
              <a:buChar char="v"/>
            </a:pPr>
            <a:r>
              <a:rPr lang="vi-VN" sz="2400" dirty="0">
                <a:solidFill>
                  <a:schemeClr val="tx1"/>
                </a:solidFill>
                <a:latin typeface="Cambria" pitchFamily="18" charset="0"/>
              </a:rPr>
              <a:t>Mô hình thực thể - liên kết</a:t>
            </a:r>
            <a:endParaRPr lang="en-US" sz="2400" dirty="0">
              <a:solidFill>
                <a:schemeClr val="tx1"/>
              </a:solidFill>
              <a:latin typeface="Cambria" pitchFamily="18" charset="0"/>
            </a:endParaRPr>
          </a:p>
          <a:p>
            <a:pPr marL="354013" lvl="1" indent="-342900" algn="just">
              <a:buSzPct val="85000"/>
              <a:buFont typeface="Wingdings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…</a:t>
            </a:r>
            <a:endParaRPr lang="vi-VN" sz="2400" dirty="0">
              <a:solidFill>
                <a:schemeClr val="tx1"/>
              </a:solidFill>
              <a:latin typeface="Cambria" pitchFamily="18" charset="0"/>
            </a:endParaRPr>
          </a:p>
          <a:p>
            <a:pPr marL="274320" lvl="1" indent="0" algn="just">
              <a:buNone/>
            </a:pPr>
            <a:endParaRPr lang="en-US" dirty="0">
              <a:solidFill>
                <a:schemeClr val="tx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6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202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phân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cấp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(Hierarchical data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vi-VN" sz="2400" dirty="0">
                <a:latin typeface="Cambria" pitchFamily="18" charset="0"/>
              </a:rPr>
              <a:t>Biểu diễn: bằng cây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latin typeface="Cambria" pitchFamily="18" charset="0"/>
              </a:rPr>
              <a:t>Quan hệ cha/con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latin typeface="Cambria" pitchFamily="18" charset="0"/>
              </a:rPr>
              <a:t>Mỗi nút có một cha duy nhất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latin typeface="Cambria" pitchFamily="18" charset="0"/>
              </a:rPr>
              <a:t>1 CSDL = tập các cây</a:t>
            </a:r>
          </a:p>
          <a:p>
            <a:pPr algn="just">
              <a:buFont typeface="Wingdings" pitchFamily="2" charset="2"/>
              <a:buChar char="v"/>
            </a:pPr>
            <a:r>
              <a:rPr lang="vi-VN" sz="2400" dirty="0">
                <a:latin typeface="Cambria" pitchFamily="18" charset="0"/>
              </a:rPr>
              <a:t>Các phép toán: GET, GET UNIQUE, GET NEXT, GET NEXT WITHIN PARENT, ...</a:t>
            </a:r>
            <a:endParaRPr lang="en-US" sz="2400" dirty="0">
              <a:latin typeface="Cambria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7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902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phân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cấp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(Hierarchical data 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8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1828800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LOPHOC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3048000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SINHVIEN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3048000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MONHOC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4038600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KETQUA</a:t>
            </a:r>
          </a:p>
        </p:txBody>
      </p: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 flipH="1">
            <a:off x="1524000" y="2286000"/>
            <a:ext cx="762000" cy="762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8" idx="0"/>
          </p:cNvCxnSpPr>
          <p:nvPr/>
        </p:nvCxnSpPr>
        <p:spPr>
          <a:xfrm>
            <a:off x="2286000" y="2286000"/>
            <a:ext cx="914400" cy="762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0"/>
          </p:cNvCxnSpPr>
          <p:nvPr/>
        </p:nvCxnSpPr>
        <p:spPr>
          <a:xfrm>
            <a:off x="1524000" y="3505200"/>
            <a:ext cx="0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0" y="1863436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GIAOVIEN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061855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MONHOC</a:t>
            </a:r>
          </a:p>
        </p:txBody>
      </p:sp>
      <p:cxnSp>
        <p:nvCxnSpPr>
          <p:cNvPr id="22" name="Straight Arrow Connector 21"/>
          <p:cNvCxnSpPr>
            <a:endCxn id="21" idx="0"/>
          </p:cNvCxnSpPr>
          <p:nvPr/>
        </p:nvCxnSpPr>
        <p:spPr>
          <a:xfrm>
            <a:off x="6172200" y="2320636"/>
            <a:ext cx="0" cy="7412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159079" y="1828800"/>
            <a:ext cx="88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MỨC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0" y="3091934"/>
            <a:ext cx="88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MỨC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1424" y="4038600"/>
            <a:ext cx="88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MỨC 3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49970" y="2667000"/>
            <a:ext cx="70866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9970" y="3723409"/>
            <a:ext cx="70866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699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phân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cấp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(Hierarchical data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vi-VN" sz="2400" dirty="0">
                <a:latin typeface="Cambria" pitchFamily="18" charset="0"/>
              </a:rPr>
              <a:t>Ưu điểm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Dễ xây dựng và thao tác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Tương thích với các lĩnh vực tổ chức phân cấp (vd: tổ chức nhân sự trong các đơn vị, ...)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Ngôn ngữ thao tác đơn giản (duyệt cây)</a:t>
            </a:r>
          </a:p>
          <a:p>
            <a:pPr algn="just">
              <a:buFont typeface="Wingdings" pitchFamily="2" charset="2"/>
              <a:buChar char="v"/>
            </a:pPr>
            <a:r>
              <a:rPr lang="vi-VN" sz="2400" dirty="0">
                <a:latin typeface="Cambria" pitchFamily="18" charset="0"/>
              </a:rPr>
              <a:t>Nhược điểm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Sự lặp lại của các kiểu bản ghi → dư thừa dữ liệu và</a:t>
            </a:r>
            <a:r>
              <a:rPr lang="en-US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dữ liệu không nhất quán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Hạn chế trong biểu diễn ngữ nghĩa của các móc nối</a:t>
            </a:r>
            <a:r>
              <a:rPr lang="en-US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giữa các bản ghi (chỉ cho phép quan hệ 1-n)</a:t>
            </a:r>
            <a:endParaRPr lang="en-US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9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250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534400" cy="987552"/>
          </a:xfrm>
        </p:spPr>
        <p:txBody>
          <a:bodyPr>
            <a:no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mạng</a:t>
            </a:r>
            <a:br>
              <a:rPr lang="en-US" sz="32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(Network data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vi-VN" sz="2400" dirty="0">
                <a:latin typeface="Cambria" pitchFamily="18" charset="0"/>
              </a:rPr>
              <a:t>Biểu diễn: bằng đồ thị có hướng</a:t>
            </a:r>
          </a:p>
          <a:p>
            <a:pPr algn="just">
              <a:buFont typeface="Wingdings" pitchFamily="2" charset="2"/>
              <a:buChar char="v"/>
            </a:pPr>
            <a:r>
              <a:rPr lang="vi-VN" sz="2400" dirty="0">
                <a:latin typeface="Cambria" pitchFamily="18" charset="0"/>
              </a:rPr>
              <a:t>Các khái niệm cơ bản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mbria" pitchFamily="18" charset="0"/>
              </a:rPr>
              <a:t>T</a:t>
            </a: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ập bản ghi (record)</a:t>
            </a:r>
          </a:p>
          <a:p>
            <a:pPr lvl="2" algn="just">
              <a:buFont typeface="Wingdings" pitchFamily="2" charset="2"/>
              <a:buChar char="ü"/>
            </a:pPr>
            <a:r>
              <a:rPr lang="vi-VN" dirty="0">
                <a:latin typeface="Cambria" pitchFamily="18" charset="0"/>
              </a:rPr>
              <a:t>Kiểu bản ghi (record type)</a:t>
            </a:r>
          </a:p>
          <a:p>
            <a:pPr lvl="2" algn="just">
              <a:buFont typeface="Wingdings" pitchFamily="2" charset="2"/>
              <a:buChar char="ü"/>
            </a:pPr>
            <a:r>
              <a:rPr lang="vi-VN" dirty="0">
                <a:latin typeface="Cambria" pitchFamily="18" charset="0"/>
              </a:rPr>
              <a:t>Các trường (field) 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Móc nối (link)</a:t>
            </a:r>
          </a:p>
          <a:p>
            <a:pPr lvl="2" algn="just">
              <a:buFont typeface="Wingdings" pitchFamily="2" charset="2"/>
              <a:buChar char="ü"/>
            </a:pPr>
            <a:r>
              <a:rPr lang="vi-VN" dirty="0">
                <a:latin typeface="Cambria" pitchFamily="18" charset="0"/>
              </a:rPr>
              <a:t>Tên của móc nối</a:t>
            </a:r>
            <a:r>
              <a:rPr lang="en-US" dirty="0">
                <a:latin typeface="Cambria" pitchFamily="18" charset="0"/>
              </a:rPr>
              <a:t> </a:t>
            </a:r>
          </a:p>
          <a:p>
            <a:pPr lvl="2" algn="just">
              <a:buFont typeface="Wingdings" pitchFamily="2" charset="2"/>
              <a:buChar char="ü"/>
            </a:pPr>
            <a:r>
              <a:rPr lang="vi-VN" dirty="0">
                <a:latin typeface="Cambria" pitchFamily="18" charset="0"/>
              </a:rPr>
              <a:t>chủ (owner) – thành viên (member): theo hướng của</a:t>
            </a:r>
            <a:r>
              <a:rPr lang="en-US" dirty="0">
                <a:latin typeface="Cambria" pitchFamily="18" charset="0"/>
              </a:rPr>
              <a:t> </a:t>
            </a:r>
            <a:r>
              <a:rPr lang="vi-VN" dirty="0">
                <a:latin typeface="Cambria" pitchFamily="18" charset="0"/>
              </a:rPr>
              <a:t>móc nối</a:t>
            </a:r>
          </a:p>
          <a:p>
            <a:pPr lvl="2" algn="just">
              <a:buFont typeface="Wingdings" pitchFamily="2" charset="2"/>
              <a:buChar char="ü"/>
            </a:pPr>
            <a:r>
              <a:rPr lang="vi-VN" dirty="0">
                <a:latin typeface="Cambria" pitchFamily="18" charset="0"/>
              </a:rPr>
              <a:t>Kiểu móc nối: 1-1, 1-n, đệ quy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Các phép toán</a:t>
            </a:r>
          </a:p>
          <a:p>
            <a:pPr lvl="2" algn="just">
              <a:buFont typeface="Wingdings" pitchFamily="2" charset="2"/>
              <a:buChar char="ü"/>
            </a:pPr>
            <a:r>
              <a:rPr lang="vi-VN" dirty="0">
                <a:latin typeface="Cambria" pitchFamily="18" charset="0"/>
              </a:rPr>
              <a:t>Duyệt: FIND, FIND member, FIND owner, FIND NEXT</a:t>
            </a:r>
            <a:endParaRPr lang="en-US" dirty="0">
              <a:latin typeface="Cambria" pitchFamily="18" charset="0"/>
            </a:endParaRPr>
          </a:p>
          <a:p>
            <a:pPr lvl="2" algn="just">
              <a:buFont typeface="Wingdings" pitchFamily="2" charset="2"/>
              <a:buChar char="ü"/>
            </a:pPr>
            <a:r>
              <a:rPr lang="vi-VN" dirty="0">
                <a:latin typeface="Cambria" pitchFamily="18" charset="0"/>
              </a:rPr>
              <a:t>Thủ tục: GET</a:t>
            </a:r>
            <a:endParaRPr lang="en-US" dirty="0">
              <a:latin typeface="Cambria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10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357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987552"/>
          </a:xfrm>
        </p:spPr>
        <p:txBody>
          <a:bodyPr>
            <a:normAutofit fontScale="90000"/>
          </a:bodyPr>
          <a:lstStyle/>
          <a:p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mạng</a:t>
            </a:r>
            <a:br>
              <a:rPr lang="en-US" sz="36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(Network data model)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11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0672" y="3477491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LOPHOC</a:t>
            </a:r>
          </a:p>
        </p:txBody>
      </p:sp>
      <p:sp>
        <p:nvSpPr>
          <p:cNvPr id="7" name="Rectangle 6"/>
          <p:cNvSpPr/>
          <p:nvPr/>
        </p:nvSpPr>
        <p:spPr>
          <a:xfrm>
            <a:off x="858982" y="1877291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SINHVIEN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0672" y="1828800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MONHOC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5098473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KETQUA</a:t>
            </a:r>
          </a:p>
        </p:txBody>
      </p:sp>
      <p:cxnSp>
        <p:nvCxnSpPr>
          <p:cNvPr id="11" name="Straight Arrow Connector 10"/>
          <p:cNvCxnSpPr>
            <a:stCxn id="6" idx="2"/>
          </p:cNvCxnSpPr>
          <p:nvPr/>
        </p:nvCxnSpPr>
        <p:spPr>
          <a:xfrm flipH="1">
            <a:off x="3200400" y="3934691"/>
            <a:ext cx="1136072" cy="115339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2"/>
            <a:endCxn id="9" idx="0"/>
          </p:cNvCxnSpPr>
          <p:nvPr/>
        </p:nvCxnSpPr>
        <p:spPr>
          <a:xfrm>
            <a:off x="1544782" y="2334491"/>
            <a:ext cx="1655618" cy="276398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6" idx="0"/>
          </p:cNvCxnSpPr>
          <p:nvPr/>
        </p:nvCxnSpPr>
        <p:spPr>
          <a:xfrm>
            <a:off x="4336472" y="2286000"/>
            <a:ext cx="0" cy="119149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26922" y="4326720"/>
            <a:ext cx="166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LOPHOC_DIEM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3306680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SINHVIEN_DIEM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34200" y="3869520"/>
            <a:ext cx="13716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DIEUKIEN</a:t>
            </a:r>
          </a:p>
        </p:txBody>
      </p:sp>
      <p:cxnSp>
        <p:nvCxnSpPr>
          <p:cNvPr id="28" name="Straight Arrow Connector 27"/>
          <p:cNvCxnSpPr>
            <a:endCxn id="25" idx="1"/>
          </p:cNvCxnSpPr>
          <p:nvPr/>
        </p:nvCxnSpPr>
        <p:spPr>
          <a:xfrm>
            <a:off x="4336472" y="2286000"/>
            <a:ext cx="2597728" cy="18121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022272" y="2057400"/>
            <a:ext cx="2597728" cy="181212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77753" y="3934691"/>
            <a:ext cx="1907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MONHOC_TRUOC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7803" y="2498559"/>
            <a:ext cx="160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MONHOC_SAU</a:t>
            </a:r>
          </a:p>
        </p:txBody>
      </p:sp>
    </p:spTree>
    <p:extLst>
      <p:ext uri="{BB962C8B-B14F-4D97-AF65-F5344CB8AC3E}">
        <p14:creationId xmlns:p14="http://schemas.microsoft.com/office/powerpoint/2010/main" val="968976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534400" cy="987552"/>
          </a:xfrm>
        </p:spPr>
        <p:txBody>
          <a:bodyPr>
            <a:no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mạng</a:t>
            </a:r>
            <a:br>
              <a:rPr lang="en-US" sz="32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(Network data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vi-VN" sz="2400" dirty="0">
                <a:latin typeface="Cambria" pitchFamily="18" charset="0"/>
              </a:rPr>
              <a:t>Ưu điểm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Đơn giản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Có thể biểu diễn các ngữ nghĩa đa dạng với kiểu bản</a:t>
            </a:r>
            <a:r>
              <a:rPr lang="en-US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ghi và kiểu móc nối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Truy vấn thông qua phép duyệt đồ thị (navigation)</a:t>
            </a:r>
          </a:p>
          <a:p>
            <a:pPr algn="just">
              <a:buFont typeface="Wingdings" pitchFamily="2" charset="2"/>
              <a:buChar char="v"/>
            </a:pPr>
            <a:r>
              <a:rPr lang="vi-VN" sz="2400" dirty="0">
                <a:latin typeface="Cambria" pitchFamily="18" charset="0"/>
              </a:rPr>
              <a:t>Nhược điểm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Số lượng các con trỏ lớn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Hạn chế trong biểu diễn ngữ nghĩa của các móc nối</a:t>
            </a:r>
            <a:r>
              <a:rPr lang="en-US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vi-VN" dirty="0">
                <a:solidFill>
                  <a:schemeClr val="tx1"/>
                </a:solidFill>
                <a:latin typeface="Cambria" pitchFamily="18" charset="0"/>
              </a:rPr>
              <a:t>giữa các bản ghi</a:t>
            </a:r>
            <a:endParaRPr lang="en-US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12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374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1.4.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Lược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đồ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CSDL 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CSDL (Database Schema):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trúc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ràng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buộc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CSDL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209800"/>
            <a:ext cx="5849167" cy="410584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13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60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1.4.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Lược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đồ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CSDL </a:t>
            </a:r>
            <a:endParaRPr lang="en-US" sz="3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Char char="v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CSDL (Database Instance)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CSDL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CSDL</a:t>
            </a: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CSDL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ít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CSDL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CSDL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cập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nhật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590800"/>
            <a:ext cx="7509681" cy="284171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14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7" name="5-Point Star 6">
            <a:hlinkClick r:id="rId4" action="ppaction://hlinksldjump"/>
          </p:cNvPr>
          <p:cNvSpPr/>
          <p:nvPr/>
        </p:nvSpPr>
        <p:spPr>
          <a:xfrm>
            <a:off x="8458200" y="601980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9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67" name="Rectangle 27"/>
          <p:cNvSpPr>
            <a:spLocks noChangeArrowheads="1"/>
          </p:cNvSpPr>
          <p:nvPr/>
        </p:nvSpPr>
        <p:spPr bwMode="auto">
          <a:xfrm>
            <a:off x="2209800" y="2895600"/>
            <a:ext cx="1524000" cy="838200"/>
          </a:xfrm>
          <a:prstGeom prst="rect">
            <a:avLst/>
          </a:prstGeom>
          <a:solidFill>
            <a:srgbClr val="CC0000">
              <a:alpha val="70000"/>
            </a:srgb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thiết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và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cài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đặt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304800" y="3124200"/>
            <a:ext cx="12192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endParaRPr lang="en-US" dirty="0"/>
          </a:p>
        </p:txBody>
      </p:sp>
      <p:grpSp>
        <p:nvGrpSpPr>
          <p:cNvPr id="138257" name="Group 17"/>
          <p:cNvGrpSpPr>
            <a:grpSpLocks/>
          </p:cNvGrpSpPr>
          <p:nvPr/>
        </p:nvGrpSpPr>
        <p:grpSpPr bwMode="auto">
          <a:xfrm>
            <a:off x="2209800" y="2895600"/>
            <a:ext cx="1524000" cy="838200"/>
            <a:chOff x="1296" y="2736"/>
            <a:chExt cx="960" cy="528"/>
          </a:xfrm>
        </p:grpSpPr>
        <p:sp>
          <p:nvSpPr>
            <p:cNvPr id="138251" name="Rectangle 11"/>
            <p:cNvSpPr>
              <a:spLocks noChangeArrowheads="1"/>
            </p:cNvSpPr>
            <p:nvPr/>
          </p:nvSpPr>
          <p:spPr bwMode="auto">
            <a:xfrm>
              <a:off x="1296" y="2736"/>
              <a:ext cx="960" cy="52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8252" name="Text Box 12"/>
            <p:cNvSpPr txBox="1">
              <a:spLocks noChangeArrowheads="1"/>
            </p:cNvSpPr>
            <p:nvPr/>
          </p:nvSpPr>
          <p:spPr bwMode="auto">
            <a:xfrm>
              <a:off x="1296" y="2880"/>
              <a:ext cx="96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E/R </a:t>
              </a:r>
              <a:r>
                <a:rPr lang="en-US" b="1" dirty="0" err="1">
                  <a:solidFill>
                    <a:schemeClr val="bg1"/>
                  </a:solidFill>
                </a:rPr>
                <a:t>thiết</a:t>
              </a:r>
              <a:r>
                <a:rPr lang="en-US" b="1" dirty="0">
                  <a:solidFill>
                    <a:schemeClr val="bg1"/>
                  </a:solidFill>
                </a:rPr>
                <a:t> </a:t>
              </a:r>
              <a:r>
                <a:rPr lang="en-US" b="1" dirty="0" err="1">
                  <a:solidFill>
                    <a:schemeClr val="bg1"/>
                  </a:solidFill>
                </a:rPr>
                <a:t>kế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8258" name="Group 18"/>
          <p:cNvGrpSpPr>
            <a:grpSpLocks/>
          </p:cNvGrpSpPr>
          <p:nvPr/>
        </p:nvGrpSpPr>
        <p:grpSpPr bwMode="auto">
          <a:xfrm>
            <a:off x="4572000" y="2895600"/>
            <a:ext cx="1524000" cy="838200"/>
            <a:chOff x="2544" y="2736"/>
            <a:chExt cx="960" cy="528"/>
          </a:xfrm>
        </p:grpSpPr>
        <p:sp>
          <p:nvSpPr>
            <p:cNvPr id="138253" name="Rectangle 13"/>
            <p:cNvSpPr>
              <a:spLocks noChangeArrowheads="1"/>
            </p:cNvSpPr>
            <p:nvPr/>
          </p:nvSpPr>
          <p:spPr bwMode="auto">
            <a:xfrm>
              <a:off x="2544" y="2736"/>
              <a:ext cx="960" cy="52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8254" name="Text Box 14"/>
            <p:cNvSpPr txBox="1">
              <a:spLocks noChangeArrowheads="1"/>
            </p:cNvSpPr>
            <p:nvPr/>
          </p:nvSpPr>
          <p:spPr bwMode="auto">
            <a:xfrm>
              <a:off x="2544" y="2784"/>
              <a:ext cx="960" cy="40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dirty="0" err="1"/>
                <a:t>Lược</a:t>
              </a:r>
              <a:r>
                <a:rPr lang="en-US" dirty="0"/>
                <a:t> </a:t>
              </a:r>
              <a:r>
                <a:rPr lang="en-US" dirty="0" err="1"/>
                <a:t>đồ</a:t>
              </a:r>
              <a:r>
                <a:rPr lang="en-US" dirty="0"/>
                <a:t> </a:t>
              </a:r>
              <a:r>
                <a:rPr lang="en-US" dirty="0" err="1"/>
                <a:t>quan</a:t>
              </a:r>
              <a:r>
                <a:rPr lang="en-US" dirty="0"/>
                <a:t> </a:t>
              </a:r>
              <a:r>
                <a:rPr lang="en-US" dirty="0" err="1"/>
                <a:t>hệ</a:t>
              </a:r>
              <a:endParaRPr lang="en-US" dirty="0"/>
            </a:p>
          </p:txBody>
        </p:sp>
      </p:grpSp>
      <p:grpSp>
        <p:nvGrpSpPr>
          <p:cNvPr id="138259" name="Group 19"/>
          <p:cNvGrpSpPr>
            <a:grpSpLocks/>
          </p:cNvGrpSpPr>
          <p:nvPr/>
        </p:nvGrpSpPr>
        <p:grpSpPr bwMode="auto">
          <a:xfrm>
            <a:off x="6934200" y="2895600"/>
            <a:ext cx="1524000" cy="838200"/>
            <a:chOff x="3792" y="2736"/>
            <a:chExt cx="960" cy="528"/>
          </a:xfrm>
        </p:grpSpPr>
        <p:sp>
          <p:nvSpPr>
            <p:cNvPr id="138255" name="Rectangle 15"/>
            <p:cNvSpPr>
              <a:spLocks noChangeArrowheads="1"/>
            </p:cNvSpPr>
            <p:nvPr/>
          </p:nvSpPr>
          <p:spPr bwMode="auto">
            <a:xfrm>
              <a:off x="3792" y="2736"/>
              <a:ext cx="960" cy="52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8256" name="Text Box 16"/>
            <p:cNvSpPr txBox="1">
              <a:spLocks noChangeArrowheads="1"/>
            </p:cNvSpPr>
            <p:nvPr/>
          </p:nvSpPr>
          <p:spPr bwMode="auto">
            <a:xfrm>
              <a:off x="3792" y="2784"/>
              <a:ext cx="960" cy="40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dirty="0"/>
                <a:t>HQT CSDL </a:t>
              </a:r>
              <a:r>
                <a:rPr lang="en-US" dirty="0" err="1"/>
                <a:t>quan</a:t>
              </a:r>
              <a:r>
                <a:rPr lang="en-US" dirty="0"/>
                <a:t> </a:t>
              </a:r>
              <a:r>
                <a:rPr lang="en-US" dirty="0" err="1"/>
                <a:t>hệ</a:t>
              </a:r>
              <a:endParaRPr lang="en-US" dirty="0"/>
            </a:p>
          </p:txBody>
        </p:sp>
      </p:grpSp>
      <p:sp>
        <p:nvSpPr>
          <p:cNvPr id="138261" name="Line 21"/>
          <p:cNvSpPr>
            <a:spLocks noChangeShapeType="1"/>
          </p:cNvSpPr>
          <p:nvPr/>
        </p:nvSpPr>
        <p:spPr bwMode="auto">
          <a:xfrm>
            <a:off x="3733800" y="3352800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8262" name="Line 22"/>
          <p:cNvSpPr>
            <a:spLocks noChangeShapeType="1"/>
          </p:cNvSpPr>
          <p:nvPr/>
        </p:nvSpPr>
        <p:spPr bwMode="auto">
          <a:xfrm>
            <a:off x="6096000" y="3352800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8263" name="Line 23"/>
          <p:cNvSpPr>
            <a:spLocks noChangeShapeType="1"/>
          </p:cNvSpPr>
          <p:nvPr/>
        </p:nvSpPr>
        <p:spPr bwMode="auto">
          <a:xfrm>
            <a:off x="1371600" y="3352800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15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57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67" grpId="0" animBg="1"/>
      <p:bldP spid="138250" grpId="0"/>
      <p:bldP spid="138261" grpId="0" animBg="1"/>
      <p:bldP spid="138262" grpId="0" animBg="1"/>
      <p:bldP spid="13826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4343400"/>
            <a:ext cx="259006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6705600" y="3352800"/>
          <a:ext cx="2438400" cy="1338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Visio" r:id="rId4" imgW="5537200" imgH="2095500" progId="">
                  <p:embed/>
                </p:oleObj>
              </mc:Choice>
              <mc:Fallback>
                <p:oleObj name="Visio" r:id="rId4" imgW="5537200" imgH="20955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352800"/>
                        <a:ext cx="2438400" cy="1338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human.jp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0600" y="685800"/>
            <a:ext cx="1402329" cy="1676400"/>
          </a:xfrm>
          <a:prstGeom prst="rect">
            <a:avLst/>
          </a:prstGeom>
        </p:spPr>
      </p:pic>
      <p:pic>
        <p:nvPicPr>
          <p:cNvPr id="12" name="Picture 11" descr="computer.jp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4267200"/>
            <a:ext cx="1752600" cy="1752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819400" y="1752600"/>
            <a:ext cx="205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1: PHÂN TÍCH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472440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4: CÀI ĐẶT</a:t>
            </a:r>
          </a:p>
        </p:txBody>
      </p:sp>
      <p:pic>
        <p:nvPicPr>
          <p:cNvPr id="15" name="Picture 14" descr="DataFlowDiagram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400" y="914400"/>
            <a:ext cx="2081048" cy="1676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24600" y="4953000"/>
            <a:ext cx="1505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3: THIẾT KẾ</a:t>
            </a:r>
          </a:p>
          <a:p>
            <a:pPr algn="ctr"/>
            <a:r>
              <a:rPr lang="en-US" dirty="0" err="1">
                <a:solidFill>
                  <a:srgbClr val="0070C0"/>
                </a:solidFill>
              </a:rPr>
              <a:t>Mức</a:t>
            </a:r>
            <a:r>
              <a:rPr lang="en-US" dirty="0">
                <a:solidFill>
                  <a:srgbClr val="0070C0"/>
                </a:solidFill>
              </a:rPr>
              <a:t> logic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6330" y="1600200"/>
            <a:ext cx="17876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2: THIẾT KẾ</a:t>
            </a:r>
          </a:p>
          <a:p>
            <a:pPr algn="ctr"/>
            <a:r>
              <a:rPr lang="en-US" dirty="0" err="1">
                <a:solidFill>
                  <a:srgbClr val="0070C0"/>
                </a:solidFill>
              </a:rPr>
              <a:t>Mức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niêm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41801" y="3048000"/>
            <a:ext cx="8763000" cy="1981200"/>
          </a:xfrm>
          <a:prstGeom prst="line">
            <a:avLst/>
          </a:prstGeom>
          <a:ln w="317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667000" y="2209800"/>
            <a:ext cx="2362200" cy="1588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/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6200000" flipH="1">
            <a:off x="6819900" y="2019300"/>
            <a:ext cx="1371600" cy="838200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/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10800000" flipV="1">
            <a:off x="5562600" y="4267200"/>
            <a:ext cx="2057400" cy="990600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/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0800000">
            <a:off x="1752600" y="5181600"/>
            <a:ext cx="1524000" cy="1588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arrow"/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38200" y="2133600"/>
            <a:ext cx="1568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err="1"/>
              <a:t>Khảo</a:t>
            </a:r>
            <a:r>
              <a:rPr lang="en-US" sz="1400" dirty="0"/>
              <a:t> </a:t>
            </a:r>
            <a:r>
              <a:rPr lang="en-US" sz="1400" dirty="0" err="1"/>
              <a:t>sát</a:t>
            </a:r>
            <a:r>
              <a:rPr lang="en-US" sz="1400" dirty="0"/>
              <a:t> </a:t>
            </a:r>
            <a:r>
              <a:rPr lang="en-US" sz="1400" dirty="0" err="1"/>
              <a:t>yêu</a:t>
            </a:r>
            <a:r>
              <a:rPr lang="en-US" sz="1400" dirty="0"/>
              <a:t> </a:t>
            </a:r>
            <a:r>
              <a:rPr lang="en-US" sz="1400" dirty="0" err="1"/>
              <a:t>cầu</a:t>
            </a:r>
            <a:endParaRPr lang="en-US" sz="1400" dirty="0"/>
          </a:p>
          <a:p>
            <a:pPr algn="ctr"/>
            <a:r>
              <a:rPr lang="en-US" sz="1400" dirty="0" err="1"/>
              <a:t>Mô</a:t>
            </a:r>
            <a:r>
              <a:rPr lang="en-US" sz="1400" dirty="0"/>
              <a:t> </a:t>
            </a:r>
            <a:r>
              <a:rPr lang="en-US" sz="1400" dirty="0" err="1"/>
              <a:t>tả</a:t>
            </a:r>
            <a:r>
              <a:rPr lang="en-US" sz="1400" dirty="0"/>
              <a:t> </a:t>
            </a:r>
            <a:r>
              <a:rPr lang="en-US" sz="1400" dirty="0" err="1"/>
              <a:t>ứng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endParaRPr lang="en-US" sz="1400" dirty="0"/>
          </a:p>
        </p:txBody>
      </p:sp>
      <p:sp>
        <p:nvSpPr>
          <p:cNvPr id="24" name="Rectangle 23"/>
          <p:cNvSpPr/>
          <p:nvPr/>
        </p:nvSpPr>
        <p:spPr>
          <a:xfrm>
            <a:off x="7019700" y="3124200"/>
            <a:ext cx="21243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err="1"/>
              <a:t>Mô</a:t>
            </a:r>
            <a:r>
              <a:rPr lang="en-US" sz="1400" dirty="0"/>
              <a:t> </a:t>
            </a:r>
            <a:r>
              <a:rPr lang="en-US" sz="1400" dirty="0" err="1"/>
              <a:t>hình</a:t>
            </a:r>
            <a:r>
              <a:rPr lang="en-US" sz="1400" dirty="0"/>
              <a:t> </a:t>
            </a:r>
            <a:r>
              <a:rPr lang="en-US" sz="1400" dirty="0" err="1"/>
              <a:t>mức</a:t>
            </a:r>
            <a:r>
              <a:rPr lang="en-US" sz="1400" dirty="0"/>
              <a:t> </a:t>
            </a:r>
            <a:r>
              <a:rPr lang="en-US" sz="1400" dirty="0" err="1"/>
              <a:t>quan</a:t>
            </a:r>
            <a:r>
              <a:rPr lang="en-US" sz="1400" dirty="0"/>
              <a:t> </a:t>
            </a:r>
            <a:r>
              <a:rPr lang="en-US" sz="1400" dirty="0" err="1"/>
              <a:t>niệm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3581400" y="5715000"/>
            <a:ext cx="18966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err="1"/>
              <a:t>Mô</a:t>
            </a:r>
            <a:r>
              <a:rPr lang="en-US" sz="1400" dirty="0"/>
              <a:t> </a:t>
            </a:r>
            <a:r>
              <a:rPr lang="en-US" sz="1400" dirty="0" err="1"/>
              <a:t>hình</a:t>
            </a:r>
            <a:r>
              <a:rPr lang="en-US" sz="1400" dirty="0"/>
              <a:t>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</a:t>
            </a:r>
            <a:r>
              <a:rPr lang="en-US" sz="1400" dirty="0" err="1"/>
              <a:t>vật</a:t>
            </a:r>
            <a:r>
              <a:rPr lang="en-US" sz="1400" dirty="0"/>
              <a:t> </a:t>
            </a:r>
            <a:r>
              <a:rPr lang="en-US" sz="1400" dirty="0" err="1"/>
              <a:t>lý</a:t>
            </a:r>
            <a:endParaRPr lang="en-US" sz="1400" dirty="0"/>
          </a:p>
        </p:txBody>
      </p:sp>
      <p:sp>
        <p:nvSpPr>
          <p:cNvPr id="26" name="Rectangle 25"/>
          <p:cNvSpPr/>
          <p:nvPr/>
        </p:nvSpPr>
        <p:spPr>
          <a:xfrm>
            <a:off x="228600" y="5943600"/>
            <a:ext cx="17393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Tin </a:t>
            </a:r>
            <a:r>
              <a:rPr lang="en-US" sz="1400" dirty="0" err="1"/>
              <a:t>học</a:t>
            </a:r>
            <a:r>
              <a:rPr lang="en-US" sz="1400" dirty="0"/>
              <a:t> </a:t>
            </a:r>
            <a:r>
              <a:rPr lang="en-US" sz="1400" dirty="0" err="1"/>
              <a:t>hoá</a:t>
            </a:r>
            <a:r>
              <a:rPr lang="en-US" sz="1400" dirty="0"/>
              <a:t> </a:t>
            </a:r>
            <a:r>
              <a:rPr lang="en-US" sz="1400" dirty="0" err="1"/>
              <a:t>quản</a:t>
            </a:r>
            <a:r>
              <a:rPr lang="en-US" sz="1400" dirty="0"/>
              <a:t> </a:t>
            </a:r>
            <a:r>
              <a:rPr lang="en-US" sz="1400" dirty="0" err="1"/>
              <a:t>lý</a:t>
            </a:r>
            <a:endParaRPr lang="en-US" sz="1400" dirty="0"/>
          </a:p>
        </p:txBody>
      </p:sp>
      <p:sp>
        <p:nvSpPr>
          <p:cNvPr id="27" name="Rectangle 26"/>
          <p:cNvSpPr/>
          <p:nvPr/>
        </p:nvSpPr>
        <p:spPr>
          <a:xfrm rot="819438">
            <a:off x="155100" y="2914839"/>
            <a:ext cx="2143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Độc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lập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với</a:t>
            </a:r>
            <a:r>
              <a:rPr lang="en-US" dirty="0">
                <a:solidFill>
                  <a:srgbClr val="C00000"/>
                </a:solidFill>
              </a:rPr>
              <a:t> DBMS</a:t>
            </a:r>
          </a:p>
        </p:txBody>
      </p:sp>
      <p:sp>
        <p:nvSpPr>
          <p:cNvPr id="28" name="Rectangle 27"/>
          <p:cNvSpPr/>
          <p:nvPr/>
        </p:nvSpPr>
        <p:spPr>
          <a:xfrm rot="819438">
            <a:off x="155100" y="3295839"/>
            <a:ext cx="2646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Phụ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thuộc</a:t>
            </a:r>
            <a:r>
              <a:rPr lang="en-US" dirty="0">
                <a:solidFill>
                  <a:srgbClr val="C00000"/>
                </a:solidFill>
              </a:rPr>
              <a:t> DBMS </a:t>
            </a:r>
            <a:r>
              <a:rPr lang="en-US" dirty="0" err="1">
                <a:solidFill>
                  <a:srgbClr val="C00000"/>
                </a:solidFill>
              </a:rPr>
              <a:t>cụ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thể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257800" y="2514600"/>
            <a:ext cx="1249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err="1"/>
              <a:t>Mô</a:t>
            </a:r>
            <a:r>
              <a:rPr lang="en-US" sz="1400" dirty="0"/>
              <a:t> </a:t>
            </a:r>
            <a:r>
              <a:rPr lang="en-US" sz="1400" dirty="0" err="1"/>
              <a:t>hình</a:t>
            </a:r>
            <a:r>
              <a:rPr lang="en-US" sz="1400" dirty="0"/>
              <a:t> DFD</a:t>
            </a:r>
          </a:p>
        </p:txBody>
      </p:sp>
    </p:spTree>
    <p:extLst>
      <p:ext uri="{BB962C8B-B14F-4D97-AF65-F5344CB8AC3E}">
        <p14:creationId xmlns:p14="http://schemas.microsoft.com/office/powerpoint/2010/main" val="111405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749" name="Group 61"/>
          <p:cNvGrpSpPr>
            <a:grpSpLocks/>
          </p:cNvGrpSpPr>
          <p:nvPr/>
        </p:nvGrpSpPr>
        <p:grpSpPr bwMode="auto">
          <a:xfrm>
            <a:off x="457200" y="4495800"/>
            <a:ext cx="8458200" cy="1828801"/>
            <a:chOff x="288" y="2784"/>
            <a:chExt cx="5328" cy="1296"/>
          </a:xfrm>
        </p:grpSpPr>
        <p:sp>
          <p:nvSpPr>
            <p:cNvPr id="242738" name="Rectangle 50"/>
            <p:cNvSpPr>
              <a:spLocks noChangeArrowheads="1"/>
            </p:cNvSpPr>
            <p:nvPr/>
          </p:nvSpPr>
          <p:spPr bwMode="auto">
            <a:xfrm>
              <a:off x="288" y="2784"/>
              <a:ext cx="5328" cy="129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46" name="Text Box 58"/>
            <p:cNvSpPr txBox="1">
              <a:spLocks noChangeArrowheads="1"/>
            </p:cNvSpPr>
            <p:nvPr/>
          </p:nvSpPr>
          <p:spPr bwMode="auto">
            <a:xfrm>
              <a:off x="4608" y="2861"/>
              <a:ext cx="960" cy="41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/>
                <a:t>Phụ thuộc HQT cụ thể</a:t>
              </a:r>
            </a:p>
          </p:txBody>
        </p:sp>
      </p:grpSp>
      <p:grpSp>
        <p:nvGrpSpPr>
          <p:cNvPr id="242748" name="Group 60"/>
          <p:cNvGrpSpPr>
            <a:grpSpLocks/>
          </p:cNvGrpSpPr>
          <p:nvPr/>
        </p:nvGrpSpPr>
        <p:grpSpPr bwMode="auto">
          <a:xfrm>
            <a:off x="457200" y="990600"/>
            <a:ext cx="8458200" cy="3505200"/>
            <a:chOff x="288" y="624"/>
            <a:chExt cx="5328" cy="2160"/>
          </a:xfrm>
        </p:grpSpPr>
        <p:sp>
          <p:nvSpPr>
            <p:cNvPr id="242737" name="Rectangle 49"/>
            <p:cNvSpPr>
              <a:spLocks noChangeArrowheads="1"/>
            </p:cNvSpPr>
            <p:nvPr/>
          </p:nvSpPr>
          <p:spPr bwMode="auto">
            <a:xfrm>
              <a:off x="288" y="624"/>
              <a:ext cx="5328" cy="2160"/>
            </a:xfrm>
            <a:prstGeom prst="rect">
              <a:avLst/>
            </a:prstGeom>
            <a:solidFill>
              <a:srgbClr val="99CCFF">
                <a:alpha val="55000"/>
              </a:srgbClr>
            </a:solidFill>
            <a:ln w="12700" algn="ctr">
              <a:solidFill>
                <a:srgbClr val="99CCFF">
                  <a:alpha val="55000"/>
                </a:srgbClr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45" name="Text Box 57"/>
            <p:cNvSpPr txBox="1">
              <a:spLocks noChangeArrowheads="1"/>
            </p:cNvSpPr>
            <p:nvPr/>
          </p:nvSpPr>
          <p:spPr bwMode="auto">
            <a:xfrm>
              <a:off x="4512" y="2505"/>
              <a:ext cx="1056" cy="22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/>
                <a:t>Độc lập HQT</a:t>
              </a:r>
            </a:p>
          </p:txBody>
        </p:sp>
      </p:grp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thiết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kế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và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cài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đặt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  <a:endParaRPr lang="en-US" sz="3500" dirty="0"/>
          </a:p>
        </p:txBody>
      </p:sp>
      <p:grpSp>
        <p:nvGrpSpPr>
          <p:cNvPr id="242743" name="Group 55"/>
          <p:cNvGrpSpPr>
            <a:grpSpLocks/>
          </p:cNvGrpSpPr>
          <p:nvPr/>
        </p:nvGrpSpPr>
        <p:grpSpPr bwMode="auto">
          <a:xfrm>
            <a:off x="1143000" y="1066800"/>
            <a:ext cx="2362200" cy="5257800"/>
            <a:chOff x="288" y="672"/>
            <a:chExt cx="1488" cy="3312"/>
          </a:xfrm>
        </p:grpSpPr>
        <p:sp>
          <p:nvSpPr>
            <p:cNvPr id="242705" name="AutoShape 17"/>
            <p:cNvSpPr>
              <a:spLocks noChangeArrowheads="1"/>
            </p:cNvSpPr>
            <p:nvPr/>
          </p:nvSpPr>
          <p:spPr bwMode="auto">
            <a:xfrm>
              <a:off x="288" y="672"/>
              <a:ext cx="1152" cy="480"/>
            </a:xfrm>
            <a:prstGeom prst="cloudCallout">
              <a:avLst>
                <a:gd name="adj1" fmla="val 45287"/>
                <a:gd name="adj2" fmla="val -15000"/>
              </a:avLst>
            </a:prstGeom>
            <a:solidFill>
              <a:srgbClr val="99CCFF"/>
            </a:solidFill>
            <a:ln w="12700">
              <a:noFill/>
              <a:round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dirty="0" err="1"/>
                <a:t>Thế</a:t>
              </a:r>
              <a:r>
                <a:rPr lang="en-US" dirty="0"/>
                <a:t> </a:t>
              </a:r>
              <a:r>
                <a:rPr lang="en-US" dirty="0" err="1"/>
                <a:t>giới</a:t>
              </a:r>
              <a:r>
                <a:rPr lang="en-US" dirty="0"/>
                <a:t> </a:t>
              </a:r>
              <a:r>
                <a:rPr lang="en-US" dirty="0" err="1"/>
                <a:t>thực</a:t>
              </a:r>
              <a:endParaRPr lang="en-US" dirty="0"/>
            </a:p>
          </p:txBody>
        </p:sp>
        <p:sp>
          <p:nvSpPr>
            <p:cNvPr id="242708" name="Text Box 20"/>
            <p:cNvSpPr txBox="1">
              <a:spLocks noChangeArrowheads="1"/>
            </p:cNvSpPr>
            <p:nvPr/>
          </p:nvSpPr>
          <p:spPr bwMode="auto">
            <a:xfrm>
              <a:off x="336" y="1249"/>
              <a:ext cx="1344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Phân tích yêu cầu</a:t>
              </a:r>
            </a:p>
          </p:txBody>
        </p:sp>
        <p:sp>
          <p:nvSpPr>
            <p:cNvPr id="242709" name="Text Box 21"/>
            <p:cNvSpPr txBox="1">
              <a:spLocks noChangeArrowheads="1"/>
            </p:cNvSpPr>
            <p:nvPr/>
          </p:nvSpPr>
          <p:spPr bwMode="auto">
            <a:xfrm>
              <a:off x="288" y="1969"/>
              <a:ext cx="148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Phân tích quan niệm</a:t>
              </a:r>
            </a:p>
          </p:txBody>
        </p:sp>
        <p:sp>
          <p:nvSpPr>
            <p:cNvPr id="242710" name="Text Box 22"/>
            <p:cNvSpPr txBox="1">
              <a:spLocks noChangeArrowheads="1"/>
            </p:cNvSpPr>
            <p:nvPr/>
          </p:nvSpPr>
          <p:spPr bwMode="auto">
            <a:xfrm>
              <a:off x="288" y="2689"/>
              <a:ext cx="148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Thiết kế mức logic</a:t>
              </a:r>
            </a:p>
          </p:txBody>
        </p:sp>
        <p:sp>
          <p:nvSpPr>
            <p:cNvPr id="242711" name="Text Box 23"/>
            <p:cNvSpPr txBox="1">
              <a:spLocks noChangeArrowheads="1"/>
            </p:cNvSpPr>
            <p:nvPr/>
          </p:nvSpPr>
          <p:spPr bwMode="auto">
            <a:xfrm>
              <a:off x="288" y="3408"/>
              <a:ext cx="148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Thiết kế mức vật lý</a:t>
              </a:r>
            </a:p>
          </p:txBody>
        </p:sp>
        <p:sp>
          <p:nvSpPr>
            <p:cNvPr id="242712" name="Line 24"/>
            <p:cNvSpPr>
              <a:spLocks noChangeShapeType="1"/>
            </p:cNvSpPr>
            <p:nvPr/>
          </p:nvSpPr>
          <p:spPr bwMode="auto">
            <a:xfrm>
              <a:off x="1008" y="110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13" name="Text Box 25"/>
            <p:cNvSpPr txBox="1">
              <a:spLocks noChangeArrowheads="1"/>
            </p:cNvSpPr>
            <p:nvPr/>
          </p:nvSpPr>
          <p:spPr bwMode="auto">
            <a:xfrm>
              <a:off x="336" y="1632"/>
              <a:ext cx="134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Các yêu cầu về dữ liệu</a:t>
              </a:r>
            </a:p>
          </p:txBody>
        </p:sp>
        <p:sp>
          <p:nvSpPr>
            <p:cNvPr id="242714" name="Line 26"/>
            <p:cNvSpPr>
              <a:spLocks noChangeShapeType="1"/>
            </p:cNvSpPr>
            <p:nvPr/>
          </p:nvSpPr>
          <p:spPr bwMode="auto">
            <a:xfrm>
              <a:off x="1008" y="148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15" name="Line 27"/>
            <p:cNvSpPr>
              <a:spLocks noChangeShapeType="1"/>
            </p:cNvSpPr>
            <p:nvPr/>
          </p:nvSpPr>
          <p:spPr bwMode="auto">
            <a:xfrm>
              <a:off x="1008" y="182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16" name="Text Box 28"/>
            <p:cNvSpPr txBox="1">
              <a:spLocks noChangeArrowheads="1"/>
            </p:cNvSpPr>
            <p:nvPr/>
          </p:nvSpPr>
          <p:spPr bwMode="auto">
            <a:xfrm>
              <a:off x="336" y="2352"/>
              <a:ext cx="134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Lược đồ quan niệm</a:t>
              </a:r>
            </a:p>
          </p:txBody>
        </p:sp>
        <p:sp>
          <p:nvSpPr>
            <p:cNvPr id="242717" name="Line 29"/>
            <p:cNvSpPr>
              <a:spLocks noChangeShapeType="1"/>
            </p:cNvSpPr>
            <p:nvPr/>
          </p:nvSpPr>
          <p:spPr bwMode="auto">
            <a:xfrm>
              <a:off x="1008" y="220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18" name="Line 30"/>
            <p:cNvSpPr>
              <a:spLocks noChangeShapeType="1"/>
            </p:cNvSpPr>
            <p:nvPr/>
          </p:nvSpPr>
          <p:spPr bwMode="auto">
            <a:xfrm>
              <a:off x="1008" y="254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19" name="Line 31"/>
            <p:cNvSpPr>
              <a:spLocks noChangeShapeType="1"/>
            </p:cNvSpPr>
            <p:nvPr/>
          </p:nvSpPr>
          <p:spPr bwMode="auto">
            <a:xfrm>
              <a:off x="1008" y="292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20" name="Line 32"/>
            <p:cNvSpPr>
              <a:spLocks noChangeShapeType="1"/>
            </p:cNvSpPr>
            <p:nvPr/>
          </p:nvSpPr>
          <p:spPr bwMode="auto">
            <a:xfrm>
              <a:off x="1008" y="326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21" name="Text Box 33"/>
            <p:cNvSpPr txBox="1">
              <a:spLocks noChangeArrowheads="1"/>
            </p:cNvSpPr>
            <p:nvPr/>
          </p:nvSpPr>
          <p:spPr bwMode="auto">
            <a:xfrm>
              <a:off x="336" y="3072"/>
              <a:ext cx="134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Lược đồ logic</a:t>
              </a:r>
            </a:p>
          </p:txBody>
        </p:sp>
        <p:sp>
          <p:nvSpPr>
            <p:cNvPr id="242722" name="Text Box 34"/>
            <p:cNvSpPr txBox="1">
              <a:spLocks noChangeArrowheads="1"/>
            </p:cNvSpPr>
            <p:nvPr/>
          </p:nvSpPr>
          <p:spPr bwMode="auto">
            <a:xfrm>
              <a:off x="336" y="3792"/>
              <a:ext cx="134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Lược đồ trong</a:t>
              </a:r>
            </a:p>
          </p:txBody>
        </p:sp>
        <p:sp>
          <p:nvSpPr>
            <p:cNvPr id="242723" name="Line 35"/>
            <p:cNvSpPr>
              <a:spLocks noChangeShapeType="1"/>
            </p:cNvSpPr>
            <p:nvPr/>
          </p:nvSpPr>
          <p:spPr bwMode="auto">
            <a:xfrm>
              <a:off x="1008" y="364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42744" name="Group 56"/>
          <p:cNvGrpSpPr>
            <a:grpSpLocks/>
          </p:cNvGrpSpPr>
          <p:nvPr/>
        </p:nvGrpSpPr>
        <p:grpSpPr bwMode="auto">
          <a:xfrm>
            <a:off x="2971800" y="1447800"/>
            <a:ext cx="4191000" cy="4876800"/>
            <a:chOff x="1440" y="912"/>
            <a:chExt cx="2640" cy="3072"/>
          </a:xfrm>
        </p:grpSpPr>
        <p:sp>
          <p:nvSpPr>
            <p:cNvPr id="242724" name="Line 36"/>
            <p:cNvSpPr>
              <a:spLocks noChangeShapeType="1"/>
            </p:cNvSpPr>
            <p:nvPr/>
          </p:nvSpPr>
          <p:spPr bwMode="auto">
            <a:xfrm>
              <a:off x="1584" y="3888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25" name="Text Box 37"/>
            <p:cNvSpPr txBox="1">
              <a:spLocks noChangeArrowheads="1"/>
            </p:cNvSpPr>
            <p:nvPr/>
          </p:nvSpPr>
          <p:spPr bwMode="auto">
            <a:xfrm>
              <a:off x="2448" y="3745"/>
              <a:ext cx="1632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Chương trình ứng dụng</a:t>
              </a:r>
            </a:p>
          </p:txBody>
        </p:sp>
        <p:sp>
          <p:nvSpPr>
            <p:cNvPr id="242726" name="Text Box 38"/>
            <p:cNvSpPr txBox="1">
              <a:spLocks noChangeArrowheads="1"/>
            </p:cNvSpPr>
            <p:nvPr/>
          </p:nvSpPr>
          <p:spPr bwMode="auto">
            <a:xfrm>
              <a:off x="2448" y="3044"/>
              <a:ext cx="1632" cy="41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Thiết kế </a:t>
              </a:r>
              <a:br>
                <a:rPr lang="en-US"/>
              </a:br>
              <a:r>
                <a:rPr lang="en-US"/>
                <a:t>chương trình ứng dụng</a:t>
              </a:r>
            </a:p>
          </p:txBody>
        </p:sp>
        <p:sp>
          <p:nvSpPr>
            <p:cNvPr id="242727" name="Text Box 39"/>
            <p:cNvSpPr txBox="1">
              <a:spLocks noChangeArrowheads="1"/>
            </p:cNvSpPr>
            <p:nvPr/>
          </p:nvSpPr>
          <p:spPr bwMode="auto">
            <a:xfrm>
              <a:off x="2400" y="1729"/>
              <a:ext cx="1632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Phân tích chức năng</a:t>
              </a:r>
            </a:p>
          </p:txBody>
        </p:sp>
        <p:sp>
          <p:nvSpPr>
            <p:cNvPr id="242728" name="Text Box 40"/>
            <p:cNvSpPr txBox="1">
              <a:spLocks noChangeArrowheads="1"/>
            </p:cNvSpPr>
            <p:nvPr/>
          </p:nvSpPr>
          <p:spPr bwMode="auto">
            <a:xfrm>
              <a:off x="2448" y="1296"/>
              <a:ext cx="15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Các yêu cầu về chức năng</a:t>
              </a:r>
            </a:p>
          </p:txBody>
        </p:sp>
        <p:sp>
          <p:nvSpPr>
            <p:cNvPr id="242729" name="Text Box 41"/>
            <p:cNvSpPr txBox="1">
              <a:spLocks noChangeArrowheads="1"/>
            </p:cNvSpPr>
            <p:nvPr/>
          </p:nvSpPr>
          <p:spPr bwMode="auto">
            <a:xfrm>
              <a:off x="2448" y="2208"/>
              <a:ext cx="15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Các đặc tả chức năng</a:t>
              </a:r>
            </a:p>
          </p:txBody>
        </p:sp>
        <p:sp>
          <p:nvSpPr>
            <p:cNvPr id="242730" name="Line 42"/>
            <p:cNvSpPr>
              <a:spLocks noChangeShapeType="1"/>
            </p:cNvSpPr>
            <p:nvPr/>
          </p:nvSpPr>
          <p:spPr bwMode="auto">
            <a:xfrm>
              <a:off x="1440" y="912"/>
              <a:ext cx="110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31" name="Line 43"/>
            <p:cNvSpPr>
              <a:spLocks noChangeShapeType="1"/>
            </p:cNvSpPr>
            <p:nvPr/>
          </p:nvSpPr>
          <p:spPr bwMode="auto">
            <a:xfrm>
              <a:off x="3216" y="148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32" name="Line 44"/>
            <p:cNvSpPr>
              <a:spLocks noChangeShapeType="1"/>
            </p:cNvSpPr>
            <p:nvPr/>
          </p:nvSpPr>
          <p:spPr bwMode="auto">
            <a:xfrm>
              <a:off x="3216" y="196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34" name="Line 46"/>
            <p:cNvSpPr>
              <a:spLocks noChangeShapeType="1"/>
            </p:cNvSpPr>
            <p:nvPr/>
          </p:nvSpPr>
          <p:spPr bwMode="auto">
            <a:xfrm>
              <a:off x="3216" y="3456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35" name="Line 47"/>
            <p:cNvSpPr>
              <a:spLocks noChangeShapeType="1"/>
            </p:cNvSpPr>
            <p:nvPr/>
          </p:nvSpPr>
          <p:spPr bwMode="auto">
            <a:xfrm>
              <a:off x="3216" y="2400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2736" name="Line 48"/>
            <p:cNvSpPr>
              <a:spLocks noChangeShapeType="1"/>
            </p:cNvSpPr>
            <p:nvPr/>
          </p:nvSpPr>
          <p:spPr bwMode="auto">
            <a:xfrm flipH="1">
              <a:off x="1776" y="2400"/>
              <a:ext cx="144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17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42" name="5-Point Star 41">
            <a:hlinkClick r:id="rId3" action="ppaction://hlinksldjump"/>
          </p:cNvPr>
          <p:cNvSpPr/>
          <p:nvPr/>
        </p:nvSpPr>
        <p:spPr>
          <a:xfrm>
            <a:off x="8458200" y="604751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thực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thể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Mô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hình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thực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thể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kết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hợp</a:t>
            </a:r>
            <a:r>
              <a:rPr lang="en-US" sz="2400" dirty="0">
                <a:cs typeface="Times New Roman" pitchFamily="18" charset="0"/>
              </a:rPr>
              <a:t> (</a:t>
            </a:r>
            <a:r>
              <a:rPr lang="en-US" sz="2400" b="1" dirty="0">
                <a:solidFill>
                  <a:srgbClr val="C00000"/>
                </a:solidFill>
                <a:cs typeface="Times New Roman" pitchFamily="18" charset="0"/>
              </a:rPr>
              <a:t>E</a:t>
            </a:r>
            <a:r>
              <a:rPr lang="en-US" sz="2400" b="1" dirty="0">
                <a:cs typeface="Times New Roman" pitchFamily="18" charset="0"/>
              </a:rPr>
              <a:t>ntity </a:t>
            </a:r>
            <a:r>
              <a:rPr lang="en-US" sz="2400" b="1" dirty="0">
                <a:solidFill>
                  <a:srgbClr val="C00000"/>
                </a:solidFill>
                <a:cs typeface="Times New Roman" pitchFamily="18" charset="0"/>
              </a:rPr>
              <a:t>R</a:t>
            </a:r>
            <a:r>
              <a:rPr lang="en-US" sz="2400" b="1" dirty="0">
                <a:cs typeface="Times New Roman" pitchFamily="18" charset="0"/>
              </a:rPr>
              <a:t>elationship </a:t>
            </a:r>
            <a:r>
              <a:rPr lang="en-US" sz="2400" b="1" dirty="0">
                <a:solidFill>
                  <a:srgbClr val="C00000"/>
                </a:solidFill>
                <a:cs typeface="Times New Roman" pitchFamily="18" charset="0"/>
              </a:rPr>
              <a:t>D</a:t>
            </a:r>
            <a:r>
              <a:rPr lang="en-US" sz="2400" b="1" dirty="0">
                <a:cs typeface="Times New Roman" pitchFamily="18" charset="0"/>
              </a:rPr>
              <a:t>iagram</a:t>
            </a:r>
            <a:r>
              <a:rPr lang="en-US" sz="2400" dirty="0">
                <a:cs typeface="Times New Roman" pitchFamily="18" charset="0"/>
              </a:rPr>
              <a:t>)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Dùng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để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thiết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kế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CSDL ở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mức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quan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niệm</a:t>
            </a:r>
            <a:endParaRPr lang="en-US" sz="2400" dirty="0">
              <a:solidFill>
                <a:schemeClr val="tx1"/>
              </a:solidFill>
              <a:cs typeface="Times New Roman" pitchFamily="18" charset="0"/>
            </a:endParaRP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Biểu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diễn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trừu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tượng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cấu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trúc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của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CSDL (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mô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hình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hóa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thế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giới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ERD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bao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gồm</a:t>
            </a:r>
            <a:r>
              <a:rPr lang="en-US" sz="2400" dirty="0">
                <a:cs typeface="Times New Roman" pitchFamily="18" charset="0"/>
              </a:rPr>
              <a:t>:</a:t>
            </a:r>
          </a:p>
          <a:p>
            <a:pPr lvl="2" algn="just"/>
            <a:r>
              <a:rPr lang="en-US" sz="2400" dirty="0" err="1">
                <a:cs typeface="Times New Roman" pitchFamily="18" charset="0"/>
              </a:rPr>
              <a:t>Tập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thực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thể</a:t>
            </a:r>
            <a:r>
              <a:rPr lang="en-US" sz="2400" dirty="0">
                <a:cs typeface="Times New Roman" pitchFamily="18" charset="0"/>
              </a:rPr>
              <a:t> (Entity sets) / </a:t>
            </a:r>
            <a:r>
              <a:rPr lang="en-US" sz="2400" dirty="0" err="1">
                <a:cs typeface="Times New Roman" pitchFamily="18" charset="0"/>
              </a:rPr>
              <a:t>Thực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thể</a:t>
            </a:r>
            <a:r>
              <a:rPr lang="en-US" sz="2400" dirty="0">
                <a:cs typeface="Times New Roman" pitchFamily="18" charset="0"/>
              </a:rPr>
              <a:t> (Entity)</a:t>
            </a:r>
          </a:p>
          <a:p>
            <a:pPr lvl="2" algn="just"/>
            <a:r>
              <a:rPr lang="en-US" sz="2400" dirty="0" err="1">
                <a:cs typeface="Times New Roman" pitchFamily="18" charset="0"/>
              </a:rPr>
              <a:t>Thuộc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tính</a:t>
            </a:r>
            <a:r>
              <a:rPr lang="en-US" sz="2400" dirty="0">
                <a:cs typeface="Times New Roman" pitchFamily="18" charset="0"/>
              </a:rPr>
              <a:t> (Attributes)</a:t>
            </a:r>
          </a:p>
          <a:p>
            <a:pPr lvl="2" algn="just"/>
            <a:r>
              <a:rPr lang="en-US" sz="2400" dirty="0" err="1">
                <a:cs typeface="Times New Roman" pitchFamily="18" charset="0"/>
              </a:rPr>
              <a:t>Mối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quan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hệ</a:t>
            </a:r>
            <a:r>
              <a:rPr lang="en-US" sz="2400" dirty="0">
                <a:cs typeface="Times New Roman" pitchFamily="18" charset="0"/>
              </a:rPr>
              <a:t> (Relationship)</a:t>
            </a:r>
          </a:p>
          <a:p>
            <a:pPr marL="403225" lvl="1" indent="0" eaLnBrk="1" hangingPunct="1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18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6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Thực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thể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2826"/>
            <a:ext cx="8229600" cy="479797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Đặc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điểm</a:t>
            </a:r>
            <a:r>
              <a:rPr lang="en-US" sz="2400" dirty="0"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Diễn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tả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các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đối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tượng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trong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tế</a:t>
            </a:r>
            <a:endParaRPr lang="en-US" sz="2000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Có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tên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gọi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riêng</a:t>
            </a:r>
            <a:endParaRPr lang="en-US" sz="2000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Có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danh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sách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thuộc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tính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mô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tả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đặc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trưng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của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endParaRPr lang="en-US" sz="2000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Có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khóa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endParaRPr lang="en-US" sz="2000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Ví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dụ</a:t>
            </a:r>
            <a:r>
              <a:rPr lang="en-US" sz="2400" dirty="0">
                <a:cs typeface="Times New Roman" pitchFamily="18" charset="0"/>
              </a:rPr>
              <a:t>: </a:t>
            </a:r>
            <a:r>
              <a:rPr lang="en-US" sz="2400" dirty="0" err="1">
                <a:cs typeface="Times New Roman" pitchFamily="18" charset="0"/>
              </a:rPr>
              <a:t>Ứng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dụng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quản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lý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sinh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viên</a:t>
            </a:r>
            <a:endParaRPr lang="en-US" sz="2800" dirty="0">
              <a:cs typeface="Times New Roman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1 SV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 1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thực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thể</a:t>
            </a:r>
            <a:endParaRPr lang="en-US" sz="2000" dirty="0">
              <a:solidFill>
                <a:schemeClr val="tx1"/>
              </a:solidFill>
              <a:cs typeface="Times New Roman" pitchFamily="18" charset="0"/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1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lớp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  1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thực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thể</a:t>
            </a:r>
            <a:endParaRPr lang="en-US" sz="2000" dirty="0">
              <a:solidFill>
                <a:schemeClr val="tx1"/>
              </a:solidFill>
              <a:cs typeface="Times New Roman" pitchFamily="18" charset="0"/>
            </a:endParaRPr>
          </a:p>
          <a:p>
            <a:pPr marL="0" lvl="1" indent="0">
              <a:buClr>
                <a:schemeClr val="accent1"/>
              </a:buClr>
              <a:buSzPct val="85000"/>
              <a:buNone/>
            </a:pPr>
            <a:r>
              <a:rPr lang="en-US" sz="2400" dirty="0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Entity set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hợp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các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tính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chất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giống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nhau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. </a:t>
            </a:r>
          </a:p>
          <a:p>
            <a:pPr marL="274320" lvl="1">
              <a:buClr>
                <a:schemeClr val="accent1"/>
              </a:buClr>
              <a:buSzPct val="85000"/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Kí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hiệu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:                        ,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tên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: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danh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từ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hoặc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cụm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danh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từ</a:t>
            </a:r>
            <a:endParaRPr lang="en-US" sz="2400" dirty="0">
              <a:solidFill>
                <a:schemeClr val="tx1"/>
              </a:solidFill>
              <a:cs typeface="Times New Roman" pitchFamily="18" charset="0"/>
            </a:endParaRPr>
          </a:p>
          <a:p>
            <a:pPr marL="403225" lvl="1" indent="0" eaLnBrk="1" hangingPunct="1"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81200" y="5486400"/>
            <a:ext cx="1295400" cy="4572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19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49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Thực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thể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2826"/>
            <a:ext cx="8229600" cy="479797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 “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ty</a:t>
            </a:r>
            <a:r>
              <a:rPr lang="en-US" sz="2400" dirty="0"/>
              <a:t>”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ban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ban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endParaRPr lang="en-US" dirty="0">
              <a:solidFill>
                <a:schemeClr val="tx1"/>
              </a:solidFill>
            </a:endParaRP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20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5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3.2.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Thuộc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tính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610600" cy="4876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Kí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hiệu</a:t>
            </a:r>
            <a:r>
              <a:rPr lang="en-US" sz="2400" dirty="0"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Đặc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điểm</a:t>
            </a:r>
            <a:r>
              <a:rPr lang="en-US" sz="2400" dirty="0"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Diễn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tả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thuộc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tính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phần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hay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mối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hợp</a:t>
            </a: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thông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tin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mở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rộng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thuộc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tính</a:t>
            </a: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Thuộc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tính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những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giá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trị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nguyên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số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Kiểu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chuỗi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kiểu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số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nguyên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kiểu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số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Tên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thuộc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tính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Danh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hoặc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cụm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danh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từ</a:t>
            </a: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027" y="4191000"/>
            <a:ext cx="6218571" cy="210589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819399" y="1371600"/>
            <a:ext cx="876301" cy="381000"/>
          </a:xfrm>
          <a:prstGeom prst="ellips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286000" y="1562100"/>
            <a:ext cx="5333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38799" y="1545193"/>
            <a:ext cx="152401" cy="142875"/>
          </a:xfrm>
          <a:prstGeom prst="ellips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endCxn id="16" idx="2"/>
          </p:cNvCxnSpPr>
          <p:nvPr/>
        </p:nvCxnSpPr>
        <p:spPr>
          <a:xfrm>
            <a:off x="5181600" y="1616631"/>
            <a:ext cx="4571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90493" y="1383268"/>
            <a:ext cx="457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21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43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3.2.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Thuộc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tính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7048"/>
            <a:ext cx="8653272" cy="45720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2400" b="1" dirty="0" err="1"/>
              <a:t>Các</a:t>
            </a:r>
            <a:r>
              <a:rPr lang="en-US" sz="2400" b="1" dirty="0"/>
              <a:t> </a:t>
            </a:r>
            <a:r>
              <a:rPr lang="en-US" sz="2400" b="1" dirty="0" err="1"/>
              <a:t>loại</a:t>
            </a:r>
            <a:r>
              <a:rPr lang="en-US" sz="2400" b="1" dirty="0"/>
              <a:t> </a:t>
            </a:r>
            <a:r>
              <a:rPr lang="en-US" sz="2400" b="1" dirty="0" err="1"/>
              <a:t>thuộc</a:t>
            </a:r>
            <a:r>
              <a:rPr lang="en-US" sz="2400" b="1" dirty="0"/>
              <a:t> </a:t>
            </a:r>
            <a:r>
              <a:rPr lang="en-US" sz="2400" b="1" dirty="0" err="1"/>
              <a:t>tính</a:t>
            </a:r>
            <a:r>
              <a:rPr lang="en-US" sz="2400" b="1" dirty="0"/>
              <a:t>: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chỉ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nhận</a:t>
            </a:r>
            <a:r>
              <a:rPr lang="en-US" dirty="0">
                <a:solidFill>
                  <a:schemeClr val="tx1"/>
                </a:solidFill>
              </a:rPr>
              <a:t> 1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1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nhận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1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gồm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nhỏ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hơn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524000" y="3771702"/>
            <a:ext cx="6096000" cy="2351314"/>
            <a:chOff x="1143000" y="3173186"/>
            <a:chExt cx="6781800" cy="2694214"/>
          </a:xfrm>
        </p:grpSpPr>
        <p:sp>
          <p:nvSpPr>
            <p:cNvPr id="6" name="Rectangle 5"/>
            <p:cNvSpPr/>
            <p:nvPr/>
          </p:nvSpPr>
          <p:spPr>
            <a:xfrm>
              <a:off x="1143000" y="4267200"/>
              <a:ext cx="1600200" cy="533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SINH VIÊN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505200" y="4191000"/>
              <a:ext cx="1752600" cy="685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Họ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tên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Straight Connector 7"/>
            <p:cNvCxnSpPr>
              <a:stCxn id="7" idx="2"/>
              <a:endCxn id="6" idx="3"/>
            </p:cNvCxnSpPr>
            <p:nvPr/>
          </p:nvCxnSpPr>
          <p:spPr>
            <a:xfrm flipH="1">
              <a:off x="2743200" y="4533900"/>
              <a:ext cx="762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6172200" y="3173186"/>
              <a:ext cx="1752600" cy="685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Họ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/>
            <p:cNvCxnSpPr>
              <a:stCxn id="14" idx="2"/>
              <a:endCxn id="7" idx="7"/>
            </p:cNvCxnSpPr>
            <p:nvPr/>
          </p:nvCxnSpPr>
          <p:spPr>
            <a:xfrm flipH="1">
              <a:off x="5001138" y="3516086"/>
              <a:ext cx="1171062" cy="77534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6172200" y="4169228"/>
              <a:ext cx="1752600" cy="685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Chữ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lót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Connector 16"/>
            <p:cNvCxnSpPr>
              <a:stCxn id="16" idx="2"/>
              <a:endCxn id="7" idx="6"/>
            </p:cNvCxnSpPr>
            <p:nvPr/>
          </p:nvCxnSpPr>
          <p:spPr>
            <a:xfrm flipH="1">
              <a:off x="5257800" y="4512128"/>
              <a:ext cx="914400" cy="2177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>
              <a:off x="6172200" y="5181600"/>
              <a:ext cx="1752600" cy="685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Tên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/>
            <p:cNvCxnSpPr>
              <a:stCxn id="18" idx="2"/>
              <a:endCxn id="7" idx="5"/>
            </p:cNvCxnSpPr>
            <p:nvPr/>
          </p:nvCxnSpPr>
          <p:spPr>
            <a:xfrm flipH="1" flipV="1">
              <a:off x="5001138" y="4776367"/>
              <a:ext cx="1171062" cy="74813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103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3.2.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Thuộc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tính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 algn="just">
              <a:buFont typeface="Wingdings" pitchFamily="2" charset="2"/>
              <a:buChar char="Ø"/>
            </a:pP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: </a:t>
            </a:r>
            <a:r>
              <a:rPr lang="en-US" dirty="0" err="1"/>
              <a:t>Vd</a:t>
            </a:r>
            <a:r>
              <a:rPr lang="en-US" dirty="0"/>
              <a:t>: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,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…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. VD: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,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…</a:t>
            </a:r>
          </a:p>
          <a:p>
            <a:pPr lvl="1" algn="just">
              <a:buFont typeface="Wingdings" pitchFamily="2" charset="2"/>
              <a:buChar char="Ø"/>
            </a:pPr>
            <a:endParaRPr lang="en-US" dirty="0"/>
          </a:p>
          <a:p>
            <a:pPr lvl="1" algn="just">
              <a:buFont typeface="Wingdings" pitchFamily="2" charset="2"/>
              <a:buChar char="Ø"/>
            </a:pPr>
            <a:endParaRPr lang="en-US" dirty="0"/>
          </a:p>
          <a:p>
            <a:pPr lvl="1" algn="just">
              <a:buFont typeface="Wingdings" pitchFamily="2" charset="2"/>
              <a:buChar char="Ø"/>
            </a:pP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: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. </a:t>
            </a:r>
            <a:r>
              <a:rPr lang="en-US" dirty="0" err="1"/>
              <a:t>Vd</a:t>
            </a:r>
            <a:r>
              <a:rPr lang="en-US" dirty="0"/>
              <a:t>: </a:t>
            </a:r>
            <a:r>
              <a:rPr lang="en-US" dirty="0" err="1"/>
              <a:t>tuổi</a:t>
            </a:r>
            <a:endParaRPr lang="en-US" dirty="0"/>
          </a:p>
        </p:txBody>
      </p:sp>
      <p:sp>
        <p:nvSpPr>
          <p:cNvPr id="6" name="Donut 5"/>
          <p:cNvSpPr/>
          <p:nvPr/>
        </p:nvSpPr>
        <p:spPr>
          <a:xfrm>
            <a:off x="1556656" y="2590800"/>
            <a:ext cx="1621971" cy="604157"/>
          </a:xfrm>
          <a:prstGeom prst="donut">
            <a:avLst>
              <a:gd name="adj" fmla="val 10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Điện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thoại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5734792" y="2590800"/>
            <a:ext cx="1676400" cy="604157"/>
          </a:xfrm>
          <a:prstGeom prst="donut">
            <a:avLst>
              <a:gd name="adj" fmla="val 10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Địa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chỉ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829792" y="4305300"/>
            <a:ext cx="1905000" cy="838200"/>
          </a:xfrm>
          <a:prstGeom prst="ellipse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Tuổi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77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3.3.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Thuộc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tính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endParaRPr lang="en-US" sz="3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400" b="1" dirty="0" err="1">
                <a:cs typeface="Times New Roman" pitchFamily="18" charset="0"/>
                <a:sym typeface="Wingdings" pitchFamily="2" charset="2"/>
              </a:rPr>
              <a:t>Khóa</a:t>
            </a:r>
            <a:r>
              <a:rPr lang="en-US" sz="2400" b="1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b="1" dirty="0" err="1">
                <a:cs typeface="Times New Roman" pitchFamily="18" charset="0"/>
                <a:sym typeface="Wingdings" pitchFamily="2" charset="2"/>
              </a:rPr>
              <a:t>chính</a:t>
            </a:r>
            <a:endParaRPr lang="en-US" sz="2400" b="1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Các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cần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biệt</a:t>
            </a:r>
            <a:endParaRPr lang="en-US" sz="2400" dirty="0">
              <a:solidFill>
                <a:schemeClr val="tx1"/>
              </a:solidFill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Khóa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K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của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1 hay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nhiều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thuộc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tính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:</a:t>
            </a:r>
          </a:p>
          <a:p>
            <a:pPr lvl="2" algn="just"/>
            <a:r>
              <a:rPr lang="en-US" sz="2400" dirty="0" err="1">
                <a:cs typeface="Times New Roman" pitchFamily="18" charset="0"/>
              </a:rPr>
              <a:t>Lấy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ra</a:t>
            </a:r>
            <a:r>
              <a:rPr lang="en-US" sz="2400" dirty="0">
                <a:cs typeface="Times New Roman" pitchFamily="18" charset="0"/>
              </a:rPr>
              <a:t> 2 </a:t>
            </a:r>
            <a:r>
              <a:rPr lang="en-US" sz="2400" dirty="0" err="1">
                <a:cs typeface="Times New Roman" pitchFamily="18" charset="0"/>
              </a:rPr>
              <a:t>thực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thể</a:t>
            </a:r>
            <a:r>
              <a:rPr lang="en-US" sz="2400" dirty="0">
                <a:cs typeface="Times New Roman" pitchFamily="18" charset="0"/>
              </a:rPr>
              <a:t> e1, e2 </a:t>
            </a:r>
            <a:r>
              <a:rPr lang="en-US" sz="2400" dirty="0" err="1">
                <a:cs typeface="Times New Roman" pitchFamily="18" charset="0"/>
              </a:rPr>
              <a:t>bất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kì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trong</a:t>
            </a:r>
            <a:r>
              <a:rPr lang="en-US" sz="2400" dirty="0">
                <a:cs typeface="Times New Roman" pitchFamily="18" charset="0"/>
              </a:rPr>
              <a:t> E</a:t>
            </a:r>
          </a:p>
          <a:p>
            <a:pPr lvl="2" algn="just"/>
            <a:r>
              <a:rPr lang="en-US" sz="2400" dirty="0">
                <a:cs typeface="Times New Roman" pitchFamily="18" charset="0"/>
              </a:rPr>
              <a:t>e1, e2 </a:t>
            </a:r>
            <a:r>
              <a:rPr lang="en-US" sz="2400" dirty="0" err="1">
                <a:cs typeface="Times New Roman" pitchFamily="18" charset="0"/>
              </a:rPr>
              <a:t>không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thể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có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các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giá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trị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giống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nhau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tại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các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thuộc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tính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trong</a:t>
            </a:r>
            <a:r>
              <a:rPr lang="en-US" sz="2400" dirty="0">
                <a:cs typeface="Times New Roman" pitchFamily="18" charset="0"/>
              </a:rPr>
              <a:t> K</a:t>
            </a:r>
          </a:p>
          <a:p>
            <a:pPr lvl="1" algn="just"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Chú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ý: </a:t>
            </a:r>
          </a:p>
          <a:p>
            <a:pPr lvl="2" algn="just"/>
            <a:r>
              <a:rPr lang="en-US" sz="2400" dirty="0" err="1">
                <a:cs typeface="Times New Roman" pitchFamily="18" charset="0"/>
              </a:rPr>
              <a:t>Mỗi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tập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thực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thể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phải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có</a:t>
            </a:r>
            <a:r>
              <a:rPr lang="en-US" sz="2400" dirty="0">
                <a:cs typeface="Times New Roman" pitchFamily="18" charset="0"/>
              </a:rPr>
              <a:t> 1 </a:t>
            </a:r>
            <a:r>
              <a:rPr lang="en-US" sz="2400" dirty="0" err="1">
                <a:cs typeface="Times New Roman" pitchFamily="18" charset="0"/>
              </a:rPr>
              <a:t>khóa</a:t>
            </a:r>
            <a:endParaRPr lang="en-US" sz="2400" dirty="0">
              <a:cs typeface="Times New Roman" pitchFamily="18" charset="0"/>
            </a:endParaRPr>
          </a:p>
          <a:p>
            <a:pPr lvl="2" algn="just"/>
            <a:r>
              <a:rPr lang="en-US" sz="2400" dirty="0">
                <a:cs typeface="Times New Roman" pitchFamily="18" charset="0"/>
              </a:rPr>
              <a:t>1 </a:t>
            </a:r>
            <a:r>
              <a:rPr lang="en-US" sz="2400" dirty="0" err="1">
                <a:cs typeface="Times New Roman" pitchFamily="18" charset="0"/>
              </a:rPr>
              <a:t>khóa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có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thể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có</a:t>
            </a:r>
            <a:r>
              <a:rPr lang="en-US" sz="2400" dirty="0">
                <a:cs typeface="Times New Roman" pitchFamily="18" charset="0"/>
              </a:rPr>
              <a:t> 1 hay </a:t>
            </a:r>
            <a:r>
              <a:rPr lang="en-US" sz="2400" dirty="0" err="1">
                <a:cs typeface="Times New Roman" pitchFamily="18" charset="0"/>
              </a:rPr>
              <a:t>nhiều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thuộc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tính</a:t>
            </a:r>
            <a:endParaRPr lang="en-US" sz="2400" dirty="0">
              <a:cs typeface="Times New Roman" pitchFamily="18" charset="0"/>
            </a:endParaRPr>
          </a:p>
          <a:p>
            <a:pPr lvl="1" eaLnBrk="1" hangingPunct="1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934200" y="1676400"/>
            <a:ext cx="1524000" cy="533400"/>
            <a:chOff x="3230336" y="1828800"/>
            <a:chExt cx="1524000" cy="533400"/>
          </a:xfrm>
        </p:grpSpPr>
        <p:sp>
          <p:nvSpPr>
            <p:cNvPr id="5" name="Oval 14"/>
            <p:cNvSpPr>
              <a:spLocks noChangeArrowheads="1"/>
            </p:cNvSpPr>
            <p:nvPr/>
          </p:nvSpPr>
          <p:spPr bwMode="auto">
            <a:xfrm>
              <a:off x="3230336" y="1828800"/>
              <a:ext cx="1524000" cy="533400"/>
            </a:xfrm>
            <a:prstGeom prst="ellipse">
              <a:avLst/>
            </a:prstGeom>
            <a:gradFill>
              <a:gsLst>
                <a:gs pos="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5400000" scaled="0"/>
            </a:gradFill>
            <a:ln w="1905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16"/>
            <p:cNvSpPr>
              <a:spLocks noChangeShapeType="1"/>
            </p:cNvSpPr>
            <p:nvPr/>
          </p:nvSpPr>
          <p:spPr bwMode="auto">
            <a:xfrm>
              <a:off x="3458936" y="2209800"/>
              <a:ext cx="1066800" cy="0"/>
            </a:xfrm>
            <a:prstGeom prst="line">
              <a:avLst/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24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04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3.3.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Thuộc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tính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endParaRPr lang="en-US" sz="3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403225" lvl="1" indent="0" eaLnBrk="1" hangingPunct="1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13" y="2057400"/>
            <a:ext cx="7249537" cy="402963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25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552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3.4.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Mối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Kí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hiệu</a:t>
            </a:r>
            <a:r>
              <a:rPr lang="en-US" sz="2400" dirty="0"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>
                <a:cs typeface="Times New Roman" pitchFamily="18" charset="0"/>
              </a:rPr>
              <a:t>Đặc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điểm</a:t>
            </a:r>
            <a:r>
              <a:rPr lang="en-US" sz="2400" dirty="0"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Diễn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tả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mối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liên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giữa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ít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2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thực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thể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khác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nhau</a:t>
            </a: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lvl="2"/>
            <a:r>
              <a:rPr lang="en-US" sz="2200" dirty="0" err="1">
                <a:cs typeface="Times New Roman" pitchFamily="18" charset="0"/>
              </a:rPr>
              <a:t>Quan</a:t>
            </a:r>
            <a:r>
              <a:rPr lang="en-US" sz="2200" dirty="0">
                <a:cs typeface="Times New Roman" pitchFamily="18" charset="0"/>
              </a:rPr>
              <a:t> </a:t>
            </a:r>
            <a:r>
              <a:rPr lang="en-US" sz="2200" dirty="0" err="1">
                <a:cs typeface="Times New Roman" pitchFamily="18" charset="0"/>
              </a:rPr>
              <a:t>hệ</a:t>
            </a:r>
            <a:r>
              <a:rPr lang="en-US" sz="2200" dirty="0">
                <a:cs typeface="Times New Roman" pitchFamily="18" charset="0"/>
              </a:rPr>
              <a:t> </a:t>
            </a:r>
            <a:r>
              <a:rPr lang="en-US" sz="2200" dirty="0" err="1">
                <a:cs typeface="Times New Roman" pitchFamily="18" charset="0"/>
              </a:rPr>
              <a:t>giữa</a:t>
            </a:r>
            <a:r>
              <a:rPr lang="en-US" sz="2200" dirty="0">
                <a:cs typeface="Times New Roman" pitchFamily="18" charset="0"/>
              </a:rPr>
              <a:t> 2 </a:t>
            </a:r>
            <a:r>
              <a:rPr lang="en-US" sz="2200" dirty="0" err="1">
                <a:cs typeface="Times New Roman" pitchFamily="18" charset="0"/>
              </a:rPr>
              <a:t>thực</a:t>
            </a:r>
            <a:r>
              <a:rPr lang="en-US" sz="2200" dirty="0">
                <a:cs typeface="Times New Roman" pitchFamily="18" charset="0"/>
              </a:rPr>
              <a:t> </a:t>
            </a:r>
            <a:r>
              <a:rPr lang="en-US" sz="2200" dirty="0" err="1">
                <a:cs typeface="Times New Roman" pitchFamily="18" charset="0"/>
              </a:rPr>
              <a:t>thể</a:t>
            </a:r>
            <a:r>
              <a:rPr lang="en-US" sz="2200" dirty="0">
                <a:cs typeface="Times New Roman" pitchFamily="18" charset="0"/>
              </a:rPr>
              <a:t> 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kết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hợp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nhị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phân</a:t>
            </a:r>
            <a:endParaRPr lang="en-US" sz="2200" dirty="0">
              <a:cs typeface="Times New Roman" pitchFamily="18" charset="0"/>
              <a:sym typeface="Wingdings" pitchFamily="2" charset="2"/>
            </a:endParaRPr>
          </a:p>
          <a:p>
            <a:pPr lvl="2"/>
            <a:r>
              <a:rPr lang="en-US" sz="2200" dirty="0" err="1">
                <a:cs typeface="Times New Roman" pitchFamily="18" charset="0"/>
                <a:sym typeface="Wingdings" pitchFamily="2" charset="2"/>
              </a:rPr>
              <a:t>Quan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hệ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nhiều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thực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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kết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hợp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đa</a:t>
            </a:r>
            <a:r>
              <a:rPr lang="en-US" sz="2200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err="1">
                <a:cs typeface="Times New Roman" pitchFamily="18" charset="0"/>
                <a:sym typeface="Wingdings" pitchFamily="2" charset="2"/>
              </a:rPr>
              <a:t>phân</a:t>
            </a:r>
            <a:endParaRPr lang="en-US" sz="2200" dirty="0">
              <a:cs typeface="Times New Roman" pitchFamily="18" charset="0"/>
              <a:sym typeface="Wingdings" pitchFamily="2" charset="2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tên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gọi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riêng</a:t>
            </a: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Số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ngôi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thuộc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mối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hợp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: 2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ngôi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/ n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ngôi</a:t>
            </a: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thuộc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tính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riêng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mối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hợp</a:t>
            </a: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lowchart: Decision 1"/>
          <p:cNvSpPr/>
          <p:nvPr/>
        </p:nvSpPr>
        <p:spPr>
          <a:xfrm>
            <a:off x="2095500" y="1524000"/>
            <a:ext cx="2133600" cy="609600"/>
          </a:xfrm>
          <a:prstGeom prst="flowChartDecision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26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058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3.4.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Mối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endParaRPr lang="en-US" sz="3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400" dirty="0" err="1">
                <a:cs typeface="Times New Roman" pitchFamily="18" charset="0"/>
              </a:rPr>
              <a:t>Ví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dụ</a:t>
            </a:r>
            <a:r>
              <a:rPr lang="en-US" sz="2400" dirty="0"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cs typeface="Times New Roman" pitchFamily="18" charset="0"/>
              </a:rPr>
              <a:t>1 NV (</a:t>
            </a:r>
            <a:r>
              <a:rPr lang="en-US" sz="2400" dirty="0" err="1">
                <a:cs typeface="Times New Roman" pitchFamily="18" charset="0"/>
              </a:rPr>
              <a:t>làm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việc</a:t>
            </a:r>
            <a:r>
              <a:rPr lang="en-US" sz="2400" dirty="0">
                <a:cs typeface="Times New Roman" pitchFamily="18" charset="0"/>
              </a:rPr>
              <a:t>) ở 1 </a:t>
            </a:r>
            <a:r>
              <a:rPr lang="en-US" sz="2400" dirty="0" err="1">
                <a:cs typeface="Times New Roman" pitchFamily="18" charset="0"/>
              </a:rPr>
              <a:t>phòng</a:t>
            </a:r>
            <a:r>
              <a:rPr lang="en-US" sz="2400" dirty="0">
                <a:cs typeface="Times New Roman" pitchFamily="18" charset="0"/>
              </a:rPr>
              <a:t> ban </a:t>
            </a:r>
            <a:r>
              <a:rPr lang="en-US" sz="2400" dirty="0" err="1">
                <a:cs typeface="Times New Roman" pitchFamily="18" charset="0"/>
              </a:rPr>
              <a:t>nào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đó</a:t>
            </a:r>
            <a:endParaRPr lang="en-US" sz="2400" dirty="0"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cs typeface="Times New Roman" pitchFamily="18" charset="0"/>
              </a:rPr>
              <a:t>1 </a:t>
            </a:r>
            <a:r>
              <a:rPr lang="en-US" sz="2400" dirty="0" err="1">
                <a:cs typeface="Times New Roman" pitchFamily="18" charset="0"/>
              </a:rPr>
              <a:t>phòng</a:t>
            </a:r>
            <a:r>
              <a:rPr lang="en-US" sz="2400" dirty="0">
                <a:cs typeface="Times New Roman" pitchFamily="18" charset="0"/>
              </a:rPr>
              <a:t> ban </a:t>
            </a:r>
            <a:r>
              <a:rPr lang="en-US" sz="2400" dirty="0" err="1">
                <a:cs typeface="Times New Roman" pitchFamily="18" charset="0"/>
              </a:rPr>
              <a:t>có</a:t>
            </a:r>
            <a:r>
              <a:rPr lang="en-US" sz="2400" dirty="0">
                <a:cs typeface="Times New Roman" pitchFamily="18" charset="0"/>
              </a:rPr>
              <a:t> 1 NV (</a:t>
            </a:r>
            <a:r>
              <a:rPr lang="en-US" sz="2400" dirty="0" err="1">
                <a:cs typeface="Times New Roman" pitchFamily="18" charset="0"/>
              </a:rPr>
              <a:t>là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trưởng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phòng</a:t>
            </a:r>
            <a:r>
              <a:rPr lang="en-US" sz="2400" dirty="0">
                <a:cs typeface="Times New Roman" pitchFamily="18" charset="0"/>
              </a:rPr>
              <a:t>)</a:t>
            </a:r>
          </a:p>
          <a:p>
            <a:pPr marL="403225" lvl="1" indent="0" eaLnBrk="1" hangingPunct="1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895600"/>
            <a:ext cx="6131486" cy="340817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27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40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79463" y="107951"/>
            <a:ext cx="7581900" cy="8826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3.5.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Bản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số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mối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531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2895600"/>
            <a:ext cx="8686800" cy="3581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Char char="v"/>
            </a:pPr>
            <a:r>
              <a:rPr lang="en-US" sz="2400" dirty="0">
                <a:effectLst/>
              </a:rPr>
              <a:t>(min, max) </a:t>
            </a:r>
            <a:r>
              <a:rPr lang="en-US" sz="2400" dirty="0" err="1">
                <a:effectLst/>
              </a:rPr>
              <a:t>chỉ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định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mỗi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thực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e </a:t>
            </a:r>
            <a:r>
              <a:rPr lang="en-US" sz="2400" dirty="0" err="1">
                <a:effectLst/>
              </a:rPr>
              <a:t>thuộc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tập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các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thực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E </a:t>
            </a:r>
            <a:r>
              <a:rPr lang="en-US" sz="2400" dirty="0" err="1">
                <a:effectLst/>
              </a:rPr>
              <a:t>tham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gia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ít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nhất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và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nhiều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nhất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vào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hiện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của</a:t>
            </a:r>
            <a:r>
              <a:rPr lang="en-US" sz="2400" dirty="0">
                <a:effectLst/>
              </a:rPr>
              <a:t> R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Char char="v"/>
            </a:pPr>
            <a:r>
              <a:rPr lang="en-US" sz="2400" dirty="0" err="1">
                <a:effectLst/>
              </a:rPr>
              <a:t>Giải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thích</a:t>
            </a:r>
            <a:endParaRPr lang="en-US" sz="2400" dirty="0">
              <a:effectLst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dirty="0">
                <a:solidFill>
                  <a:schemeClr val="tx1"/>
                </a:solidFill>
                <a:effectLst/>
              </a:rPr>
              <a:t>(0,1): </a:t>
            </a:r>
            <a:r>
              <a:rPr lang="en-US" dirty="0" err="1">
                <a:solidFill>
                  <a:schemeClr val="tx1"/>
                </a:solidFill>
                <a:effectLst/>
              </a:rPr>
              <a:t>không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hoặc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một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dirty="0">
                <a:solidFill>
                  <a:schemeClr val="tx1"/>
                </a:solidFill>
                <a:effectLst/>
              </a:rPr>
              <a:t>(1,1): </a:t>
            </a:r>
            <a:r>
              <a:rPr lang="en-US" dirty="0" err="1">
                <a:solidFill>
                  <a:schemeClr val="tx1"/>
                </a:solidFill>
                <a:effectLst/>
              </a:rPr>
              <a:t>duy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nhất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một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dirty="0">
                <a:solidFill>
                  <a:schemeClr val="tx1"/>
                </a:solidFill>
                <a:effectLst/>
              </a:rPr>
              <a:t>(0,n): </a:t>
            </a:r>
            <a:r>
              <a:rPr lang="en-US" dirty="0" err="1">
                <a:solidFill>
                  <a:schemeClr val="tx1"/>
                </a:solidFill>
                <a:effectLst/>
              </a:rPr>
              <a:t>không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hoặc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nhiều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dirty="0">
                <a:solidFill>
                  <a:schemeClr val="tx1"/>
                </a:solidFill>
                <a:effectLst/>
              </a:rPr>
              <a:t>(1,n): </a:t>
            </a:r>
            <a:r>
              <a:rPr lang="en-US" dirty="0" err="1">
                <a:solidFill>
                  <a:schemeClr val="tx1"/>
                </a:solidFill>
                <a:effectLst/>
              </a:rPr>
              <a:t>một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hoặc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nhiều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pic>
        <p:nvPicPr>
          <p:cNvPr id="2253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547812"/>
            <a:ext cx="7993063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28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825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3.5.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Bản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số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mối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2400" b="1" dirty="0" err="1"/>
              <a:t>Phân</a:t>
            </a:r>
            <a:r>
              <a:rPr lang="en-US" sz="2400" b="1" dirty="0"/>
              <a:t> </a:t>
            </a:r>
            <a:r>
              <a:rPr lang="en-US" sz="2400" b="1" dirty="0" err="1"/>
              <a:t>loại</a:t>
            </a:r>
            <a:r>
              <a:rPr lang="en-US" sz="2400" b="1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(1 – 1)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(1 – n) hay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(n – 1)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(n – n)</a:t>
            </a:r>
          </a:p>
        </p:txBody>
      </p:sp>
    </p:spTree>
    <p:extLst>
      <p:ext uri="{BB962C8B-B14F-4D97-AF65-F5344CB8AC3E}">
        <p14:creationId xmlns:p14="http://schemas.microsoft.com/office/powerpoint/2010/main" val="2413535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Mối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1 – 1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vi-VN" sz="2400" dirty="0">
                <a:latin typeface="Cambria" pitchFamily="18" charset="0"/>
              </a:rPr>
              <a:t>Mỗi cá thể của thực thể A có liên kết với 0 hay 1 cá thể trong thực thể B và ngược lại.</a:t>
            </a:r>
          </a:p>
          <a:p>
            <a:pPr algn="just">
              <a:buFont typeface="Wingdings" pitchFamily="2" charset="2"/>
              <a:buChar char="Ø"/>
            </a:pPr>
            <a:r>
              <a:rPr lang="vi-VN" sz="2400" dirty="0">
                <a:latin typeface="Cambria" pitchFamily="18" charset="0"/>
              </a:rPr>
              <a:t>R: tên của quan hệ giữa hai cá thể trong 2 thực thể A và B.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Cambria" pitchFamily="18" charset="0"/>
              </a:rPr>
              <a:t>VD: </a:t>
            </a:r>
            <a:r>
              <a:rPr lang="en-US" sz="2400" dirty="0" err="1">
                <a:latin typeface="Cambria" pitchFamily="18" charset="0"/>
              </a:rPr>
              <a:t>Sinh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viên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có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thể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có</a:t>
            </a:r>
            <a:r>
              <a:rPr lang="en-US" sz="2400" dirty="0">
                <a:latin typeface="Cambria" pitchFamily="18" charset="0"/>
              </a:rPr>
              <a:t> (0,1) </a:t>
            </a:r>
            <a:r>
              <a:rPr lang="en-US" sz="2400" dirty="0" err="1">
                <a:latin typeface="Cambria" pitchFamily="18" charset="0"/>
              </a:rPr>
              <a:t>tài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khoản</a:t>
            </a:r>
            <a:r>
              <a:rPr lang="en-US" sz="2400" dirty="0">
                <a:latin typeface="Cambria" pitchFamily="18" charset="0"/>
              </a:rPr>
              <a:t>. </a:t>
            </a:r>
            <a:r>
              <a:rPr lang="en-US" sz="2400" dirty="0" err="1">
                <a:latin typeface="Cambria" pitchFamily="18" charset="0"/>
              </a:rPr>
              <a:t>Tài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khoản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thuộc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về</a:t>
            </a:r>
            <a:r>
              <a:rPr lang="en-US" sz="2400" dirty="0">
                <a:latin typeface="Cambria" pitchFamily="18" charset="0"/>
              </a:rPr>
              <a:t> (1,1) </a:t>
            </a:r>
            <a:r>
              <a:rPr lang="en-US" sz="2400" dirty="0" err="1">
                <a:latin typeface="Cambria" pitchFamily="18" charset="0"/>
              </a:rPr>
              <a:t>sinh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viên</a:t>
            </a:r>
            <a:r>
              <a:rPr lang="en-US" sz="2400" dirty="0">
                <a:latin typeface="Cambria" pitchFamily="18" charset="0"/>
              </a:rPr>
              <a:t>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094014" y="5181600"/>
            <a:ext cx="7086600" cy="762000"/>
            <a:chOff x="1066800" y="2438400"/>
            <a:chExt cx="7086600" cy="762000"/>
          </a:xfrm>
        </p:grpSpPr>
        <p:sp>
          <p:nvSpPr>
            <p:cNvPr id="6" name="Rectangle 5"/>
            <p:cNvSpPr/>
            <p:nvPr/>
          </p:nvSpPr>
          <p:spPr>
            <a:xfrm>
              <a:off x="1066800" y="2590800"/>
              <a:ext cx="1676400" cy="533400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Sinh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viên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77000" y="2590800"/>
              <a:ext cx="1676400" cy="533400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Tài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khoản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Diamond 7"/>
            <p:cNvSpPr/>
            <p:nvPr/>
          </p:nvSpPr>
          <p:spPr>
            <a:xfrm>
              <a:off x="3581400" y="2514600"/>
              <a:ext cx="2133600" cy="685800"/>
            </a:xfrm>
            <a:prstGeom prst="diamond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Có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/>
            <p:cNvCxnSpPr>
              <a:stCxn id="6" idx="3"/>
              <a:endCxn id="8" idx="1"/>
            </p:cNvCxnSpPr>
            <p:nvPr/>
          </p:nvCxnSpPr>
          <p:spPr>
            <a:xfrm>
              <a:off x="2743200" y="2857500"/>
              <a:ext cx="8382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8" idx="3"/>
              <a:endCxn id="7" idx="1"/>
            </p:cNvCxnSpPr>
            <p:nvPr/>
          </p:nvCxnSpPr>
          <p:spPr>
            <a:xfrm>
              <a:off x="5715000" y="2857500"/>
              <a:ext cx="7620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19400" y="24384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(0,1)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15000" y="24384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(1,1)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39814" y="2878777"/>
            <a:ext cx="3407791" cy="838200"/>
            <a:chOff x="2040509" y="1524000"/>
            <a:chExt cx="3407791" cy="838200"/>
          </a:xfrm>
        </p:grpSpPr>
        <p:sp>
          <p:nvSpPr>
            <p:cNvPr id="29" name="Rectangle 28"/>
            <p:cNvSpPr/>
            <p:nvPr/>
          </p:nvSpPr>
          <p:spPr>
            <a:xfrm>
              <a:off x="2040509" y="16002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A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62500" y="16002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Verdana" pitchFamily="34" charset="0"/>
                </a:rPr>
                <a:t>B</a:t>
              </a:r>
            </a:p>
          </p:txBody>
        </p:sp>
        <p:cxnSp>
          <p:nvCxnSpPr>
            <p:cNvPr id="31" name="Straight Arrow Connector 30"/>
            <p:cNvCxnSpPr>
              <a:stCxn id="29" idx="3"/>
              <a:endCxn id="30" idx="1"/>
            </p:cNvCxnSpPr>
            <p:nvPr/>
          </p:nvCxnSpPr>
          <p:spPr>
            <a:xfrm>
              <a:off x="2726309" y="1981200"/>
              <a:ext cx="2036191" cy="0"/>
            </a:xfrm>
            <a:prstGeom prst="straightConnector1">
              <a:avLst/>
            </a:prstGeom>
            <a:ln w="254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954909" y="1524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34071" y="1524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91000" y="2895600"/>
            <a:ext cx="4474591" cy="1017032"/>
            <a:chOff x="2116709" y="2933700"/>
            <a:chExt cx="4969891" cy="1017032"/>
          </a:xfrm>
        </p:grpSpPr>
        <p:sp>
          <p:nvSpPr>
            <p:cNvPr id="34" name="Rectangle 33"/>
            <p:cNvSpPr/>
            <p:nvPr/>
          </p:nvSpPr>
          <p:spPr>
            <a:xfrm>
              <a:off x="2116709" y="29718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A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400800" y="29718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B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cxnSp>
          <p:nvCxnSpPr>
            <p:cNvPr id="36" name="Straight Arrow Connector 35"/>
            <p:cNvCxnSpPr>
              <a:stCxn id="34" idx="3"/>
              <a:endCxn id="35" idx="1"/>
            </p:cNvCxnSpPr>
            <p:nvPr/>
          </p:nvCxnSpPr>
          <p:spPr>
            <a:xfrm>
              <a:off x="2802509" y="3352800"/>
              <a:ext cx="3598291" cy="1588"/>
            </a:xfrm>
            <a:prstGeom prst="straightConnector1">
              <a:avLst/>
            </a:prstGeom>
            <a:ln w="25400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Diamond 36"/>
            <p:cNvSpPr/>
            <p:nvPr/>
          </p:nvSpPr>
          <p:spPr>
            <a:xfrm>
              <a:off x="4250309" y="2933700"/>
              <a:ext cx="838200" cy="838200"/>
            </a:xfrm>
            <a:prstGeom prst="diamond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C00000"/>
                  </a:solidFill>
                </a:rPr>
                <a:t>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35909" y="3581400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X,1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21909" y="3581400"/>
              <a:ext cx="447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Y,1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353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noFill/>
            <a:prstDash val="solid"/>
          </a:ln>
        </p:spPr>
        <p:txBody>
          <a:bodyPr/>
          <a:lstStyle/>
          <a:p>
            <a:r>
              <a:rPr lang="vi-VN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noFill/>
            <a:prstDash val="solid"/>
          </a:ln>
        </p:spPr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914400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Độc giả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60490" y="914400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Sách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cxnSp>
        <p:nvCxnSpPr>
          <p:cNvPr id="9" name="Straight Arrow Connector 8"/>
          <p:cNvCxnSpPr>
            <a:stCxn id="7" idx="3"/>
            <a:endCxn id="8" idx="1"/>
          </p:cNvCxnSpPr>
          <p:nvPr/>
        </p:nvCxnSpPr>
        <p:spPr>
          <a:xfrm>
            <a:off x="2954909" y="1295400"/>
            <a:ext cx="3005581" cy="1588"/>
          </a:xfrm>
          <a:prstGeom prst="straightConnector1">
            <a:avLst/>
          </a:prstGeom>
          <a:ln w="25400"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24200" y="838200"/>
            <a:ext cx="30168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838200"/>
            <a:ext cx="30168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" y="2043113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Độc giả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36690" y="2043113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Sách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cxnSp>
        <p:nvCxnSpPr>
          <p:cNvPr id="14" name="Straight Arrow Connector 13"/>
          <p:cNvCxnSpPr>
            <a:stCxn id="12" idx="3"/>
            <a:endCxn id="13" idx="1"/>
          </p:cNvCxnSpPr>
          <p:nvPr/>
        </p:nvCxnSpPr>
        <p:spPr>
          <a:xfrm>
            <a:off x="2954909" y="2424113"/>
            <a:ext cx="3081781" cy="1588"/>
          </a:xfrm>
          <a:prstGeom prst="straightConnector1">
            <a:avLst/>
          </a:prstGeom>
          <a:ln w="25400"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3962400" y="1981200"/>
            <a:ext cx="1295400" cy="890588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Verdana" pitchFamily="34" charset="0"/>
              </a:rPr>
              <a:t>Đọc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00313"/>
            <a:ext cx="476412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1,1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0" y="2500313"/>
            <a:ext cx="476412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0,1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3819525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Trưởng phòng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60490" y="3819525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Phòng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cxnSp>
        <p:nvCxnSpPr>
          <p:cNvPr id="20" name="Straight Arrow Connector 19"/>
          <p:cNvCxnSpPr>
            <a:stCxn id="18" idx="3"/>
            <a:endCxn id="19" idx="1"/>
          </p:cNvCxnSpPr>
          <p:nvPr/>
        </p:nvCxnSpPr>
        <p:spPr>
          <a:xfrm>
            <a:off x="2954909" y="4200525"/>
            <a:ext cx="3005581" cy="1588"/>
          </a:xfrm>
          <a:prstGeom prst="straightConnector1">
            <a:avLst/>
          </a:prstGeom>
          <a:ln w="25400"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24200" y="3743325"/>
            <a:ext cx="30168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743325"/>
            <a:ext cx="30168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" y="4962525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Trưởng phòng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36690" y="4962525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Phòng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cxnSp>
        <p:nvCxnSpPr>
          <p:cNvPr id="25" name="Straight Arrow Connector 24"/>
          <p:cNvCxnSpPr>
            <a:stCxn id="23" idx="3"/>
            <a:endCxn id="24" idx="1"/>
          </p:cNvCxnSpPr>
          <p:nvPr/>
        </p:nvCxnSpPr>
        <p:spPr>
          <a:xfrm>
            <a:off x="2954909" y="5343525"/>
            <a:ext cx="3081781" cy="1588"/>
          </a:xfrm>
          <a:prstGeom prst="straightConnector1">
            <a:avLst/>
          </a:prstGeom>
          <a:ln w="25400"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3962400" y="4900612"/>
            <a:ext cx="1295400" cy="890588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C00000"/>
                </a:solidFill>
                <a:latin typeface="Verdana" pitchFamily="34" charset="0"/>
              </a:rPr>
              <a:t>Lãnh đạo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419725"/>
            <a:ext cx="476412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0,1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5419725"/>
            <a:ext cx="476412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0,1</a:t>
            </a:r>
          </a:p>
        </p:txBody>
      </p:sp>
    </p:spTree>
    <p:extLst>
      <p:ext uri="{BB962C8B-B14F-4D97-AF65-F5344CB8AC3E}">
        <p14:creationId xmlns:p14="http://schemas.microsoft.com/office/powerpoint/2010/main" val="3386181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  <a:prstDash val="solid"/>
          </a:ln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Mối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1 – 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noFill/>
            <a:prstDash val="solid"/>
          </a:ln>
        </p:spPr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noFill/>
            <a:prstDash val="solid"/>
          </a:ln>
        </p:spPr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ln>
            <a:noFill/>
            <a:prstDash val="solid"/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cá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A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0 hay n </a:t>
            </a:r>
            <a:r>
              <a:rPr lang="en-US" sz="2400" dirty="0" err="1"/>
              <a:t>cá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B. </a:t>
            </a:r>
            <a:r>
              <a:rPr lang="en-US" sz="2400" dirty="0" err="1"/>
              <a:t>Tuy</a:t>
            </a:r>
            <a:r>
              <a:rPr lang="en-US" sz="2400" dirty="0"/>
              <a:t> </a:t>
            </a:r>
            <a:r>
              <a:rPr lang="en-US" sz="2400" dirty="0" err="1"/>
              <a:t>nhiên</a:t>
            </a:r>
            <a:r>
              <a:rPr lang="en-US" sz="2400" dirty="0"/>
              <a:t>, 1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trong</a:t>
            </a:r>
            <a:r>
              <a:rPr lang="en-US" sz="2400" dirty="0"/>
              <a:t> B </a:t>
            </a:r>
            <a:r>
              <a:rPr lang="en-US" sz="2400" dirty="0" err="1"/>
              <a:t>chỉ</a:t>
            </a:r>
            <a:r>
              <a:rPr lang="en-US" sz="2400" dirty="0"/>
              <a:t> 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 </a:t>
            </a:r>
            <a:r>
              <a:rPr lang="en-US" sz="2400" dirty="0" err="1"/>
              <a:t>được</a:t>
            </a:r>
            <a:r>
              <a:rPr lang="en-US" sz="2400" dirty="0"/>
              <a:t>  </a:t>
            </a:r>
            <a:r>
              <a:rPr lang="en-US" sz="2400" dirty="0" err="1"/>
              <a:t>với</a:t>
            </a:r>
            <a:r>
              <a:rPr lang="en-US" sz="2400" dirty="0"/>
              <a:t>  1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A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: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(1,1) </a:t>
            </a:r>
            <a:r>
              <a:rPr lang="en-US" sz="2400" dirty="0" err="1"/>
              <a:t>khoa</a:t>
            </a:r>
            <a:r>
              <a:rPr lang="en-US" sz="2400" dirty="0"/>
              <a:t>.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khoa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(0,n)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066800" y="5105400"/>
            <a:ext cx="7086600" cy="762000"/>
            <a:chOff x="1066800" y="2438400"/>
            <a:chExt cx="7086600" cy="762000"/>
          </a:xfrm>
        </p:grpSpPr>
        <p:sp>
          <p:nvSpPr>
            <p:cNvPr id="14" name="Rectangle 13"/>
            <p:cNvSpPr/>
            <p:nvPr/>
          </p:nvSpPr>
          <p:spPr>
            <a:xfrm>
              <a:off x="1066800" y="2590800"/>
              <a:ext cx="1676400" cy="533400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Sinh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viên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77000" y="2590800"/>
              <a:ext cx="1676400" cy="533400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Khoa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Diamond 15"/>
            <p:cNvSpPr/>
            <p:nvPr/>
          </p:nvSpPr>
          <p:spPr>
            <a:xfrm>
              <a:off x="3581400" y="2514600"/>
              <a:ext cx="2133600" cy="685800"/>
            </a:xfrm>
            <a:prstGeom prst="diamond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Thuộc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về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Connector 16"/>
            <p:cNvCxnSpPr>
              <a:stCxn id="14" idx="3"/>
              <a:endCxn id="16" idx="1"/>
            </p:cNvCxnSpPr>
            <p:nvPr/>
          </p:nvCxnSpPr>
          <p:spPr>
            <a:xfrm>
              <a:off x="2743200" y="2857500"/>
              <a:ext cx="838200" cy="1588"/>
            </a:xfrm>
            <a:prstGeom prst="line">
              <a:avLst/>
            </a:prstGeom>
            <a:ln w="3810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16" idx="3"/>
              <a:endCxn id="15" idx="1"/>
            </p:cNvCxnSpPr>
            <p:nvPr/>
          </p:nvCxnSpPr>
          <p:spPr>
            <a:xfrm>
              <a:off x="5715000" y="2857500"/>
              <a:ext cx="762000" cy="1588"/>
            </a:xfrm>
            <a:prstGeom prst="line">
              <a:avLst/>
            </a:prstGeom>
            <a:ln w="3810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19400" y="2438400"/>
              <a:ext cx="685800" cy="369332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(1,1)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15000" y="2438400"/>
              <a:ext cx="685800" cy="369332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(0,n)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924504" y="2035629"/>
            <a:ext cx="3990896" cy="555171"/>
            <a:chOff x="3180351" y="1632881"/>
            <a:chExt cx="4969891" cy="838200"/>
          </a:xfrm>
        </p:grpSpPr>
        <p:sp>
          <p:nvSpPr>
            <p:cNvPr id="21" name="Rectangle 20"/>
            <p:cNvSpPr/>
            <p:nvPr/>
          </p:nvSpPr>
          <p:spPr>
            <a:xfrm>
              <a:off x="3180351" y="1709081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A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464442" y="1709081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B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cxnSp>
          <p:nvCxnSpPr>
            <p:cNvPr id="23" name="Straight Arrow Connector 22"/>
            <p:cNvCxnSpPr>
              <a:stCxn id="21" idx="3"/>
              <a:endCxn id="22" idx="1"/>
            </p:cNvCxnSpPr>
            <p:nvPr/>
          </p:nvCxnSpPr>
          <p:spPr>
            <a:xfrm>
              <a:off x="3866151" y="2090081"/>
              <a:ext cx="3598291" cy="1588"/>
            </a:xfrm>
            <a:prstGeom prst="straightConnector1">
              <a:avLst/>
            </a:prstGeom>
            <a:ln w="25400">
              <a:prstDash val="solid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094751" y="1632881"/>
              <a:ext cx="301686" cy="369332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990351" y="1632881"/>
              <a:ext cx="306494" cy="369332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n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24505" y="3097768"/>
            <a:ext cx="3978406" cy="647700"/>
            <a:chOff x="3256551" y="3042581"/>
            <a:chExt cx="4969891" cy="1017032"/>
          </a:xfrm>
        </p:grpSpPr>
        <p:sp>
          <p:nvSpPr>
            <p:cNvPr id="26" name="Rectangle 25"/>
            <p:cNvSpPr/>
            <p:nvPr/>
          </p:nvSpPr>
          <p:spPr>
            <a:xfrm>
              <a:off x="3256551" y="3080681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Verdana" pitchFamily="34" charset="0"/>
                </a:rPr>
                <a:t>A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540642" y="3080681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B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cxnSp>
          <p:nvCxnSpPr>
            <p:cNvPr id="28" name="Straight Arrow Connector 27"/>
            <p:cNvCxnSpPr>
              <a:stCxn id="26" idx="3"/>
              <a:endCxn id="27" idx="1"/>
            </p:cNvCxnSpPr>
            <p:nvPr/>
          </p:nvCxnSpPr>
          <p:spPr>
            <a:xfrm>
              <a:off x="3942351" y="3461681"/>
              <a:ext cx="3598291" cy="1588"/>
            </a:xfrm>
            <a:prstGeom prst="straightConnector1">
              <a:avLst/>
            </a:prstGeom>
            <a:ln w="25400"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Diamond 28"/>
            <p:cNvSpPr/>
            <p:nvPr/>
          </p:nvSpPr>
          <p:spPr>
            <a:xfrm>
              <a:off x="5390151" y="3042581"/>
              <a:ext cx="838200" cy="838200"/>
            </a:xfrm>
            <a:prstGeom prst="diamond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C00000"/>
                  </a:solidFill>
                </a:rPr>
                <a:t>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475751" y="3690281"/>
              <a:ext cx="476412" cy="369332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1,1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761751" y="3690281"/>
              <a:ext cx="473206" cy="369332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1,n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943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762000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Khách hàng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60490" y="762000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Hoá đơn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cxnSp>
        <p:nvCxnSpPr>
          <p:cNvPr id="10" name="Straight Arrow Connector 9"/>
          <p:cNvCxnSpPr>
            <a:stCxn id="8" idx="3"/>
            <a:endCxn id="9" idx="1"/>
          </p:cNvCxnSpPr>
          <p:nvPr/>
        </p:nvCxnSpPr>
        <p:spPr>
          <a:xfrm>
            <a:off x="2954909" y="1143000"/>
            <a:ext cx="3005581" cy="1588"/>
          </a:xfrm>
          <a:prstGeom prst="straightConnector1">
            <a:avLst/>
          </a:prstGeom>
          <a:ln w="25400"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24200" y="685800"/>
            <a:ext cx="30168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85800"/>
            <a:ext cx="306494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" y="1890713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Khách hàng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6690" y="1890713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Hoá đơn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cxnSp>
        <p:nvCxnSpPr>
          <p:cNvPr id="15" name="Straight Arrow Connector 14"/>
          <p:cNvCxnSpPr>
            <a:stCxn id="13" idx="3"/>
            <a:endCxn id="14" idx="1"/>
          </p:cNvCxnSpPr>
          <p:nvPr/>
        </p:nvCxnSpPr>
        <p:spPr>
          <a:xfrm>
            <a:off x="2954909" y="2271713"/>
            <a:ext cx="3081781" cy="1588"/>
          </a:xfrm>
          <a:prstGeom prst="straightConnector1">
            <a:avLst/>
          </a:prstGeom>
          <a:ln w="25400"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3962400" y="1828800"/>
            <a:ext cx="1295400" cy="890588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Verdana" pitchFamily="34" charset="0"/>
              </a:rPr>
              <a:t>Có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47913"/>
            <a:ext cx="47320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0,n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0" y="2347913"/>
            <a:ext cx="47320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1,1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3667125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Phòng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60490" y="3667125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Nhân viên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cxnSp>
        <p:nvCxnSpPr>
          <p:cNvPr id="21" name="Straight Arrow Connector 20"/>
          <p:cNvCxnSpPr>
            <a:stCxn id="19" idx="3"/>
            <a:endCxn id="20" idx="1"/>
          </p:cNvCxnSpPr>
          <p:nvPr/>
        </p:nvCxnSpPr>
        <p:spPr>
          <a:xfrm>
            <a:off x="2954909" y="4048125"/>
            <a:ext cx="3005581" cy="1588"/>
          </a:xfrm>
          <a:prstGeom prst="straightConnector1">
            <a:avLst/>
          </a:prstGeom>
          <a:ln w="25400"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24200" y="3590925"/>
            <a:ext cx="30168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590925"/>
            <a:ext cx="306494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200" y="4810125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Phòng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36690" y="4810125"/>
            <a:ext cx="2116709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Verdana" pitchFamily="34" charset="0"/>
              </a:rPr>
              <a:t>Nhân viên</a:t>
            </a:r>
            <a:endParaRPr lang="en-US" sz="2000" dirty="0">
              <a:solidFill>
                <a:schemeClr val="tx1"/>
              </a:solidFill>
              <a:latin typeface="Verdana" pitchFamily="34" charset="0"/>
            </a:endParaRPr>
          </a:p>
        </p:txBody>
      </p:sp>
      <p:cxnSp>
        <p:nvCxnSpPr>
          <p:cNvPr id="26" name="Straight Arrow Connector 25"/>
          <p:cNvCxnSpPr>
            <a:stCxn id="24" idx="3"/>
            <a:endCxn id="25" idx="1"/>
          </p:cNvCxnSpPr>
          <p:nvPr/>
        </p:nvCxnSpPr>
        <p:spPr>
          <a:xfrm>
            <a:off x="2954909" y="5191125"/>
            <a:ext cx="3081781" cy="1588"/>
          </a:xfrm>
          <a:prstGeom prst="straightConnector1">
            <a:avLst/>
          </a:prstGeom>
          <a:ln w="25400"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3810000" y="4733925"/>
            <a:ext cx="1447800" cy="9144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C00000"/>
                </a:solidFill>
                <a:latin typeface="Verdana" pitchFamily="34" charset="0"/>
              </a:rPr>
              <a:t>Có</a:t>
            </a:r>
            <a:endParaRPr lang="en-US" sz="1400" dirty="0">
              <a:solidFill>
                <a:srgbClr val="C00000"/>
              </a:solidFill>
              <a:latin typeface="Verdana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76600" y="5267325"/>
            <a:ext cx="47320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1,n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0" y="5267325"/>
            <a:ext cx="473206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0,1</a:t>
            </a:r>
          </a:p>
        </p:txBody>
      </p:sp>
    </p:spTree>
    <p:extLst>
      <p:ext uri="{BB962C8B-B14F-4D97-AF65-F5344CB8AC3E}">
        <p14:creationId xmlns:p14="http://schemas.microsoft.com/office/powerpoint/2010/main" val="3742113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Mối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n – 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vi-VN" sz="2400" dirty="0">
                <a:latin typeface="Cambria" pitchFamily="18" charset="0"/>
              </a:rPr>
              <a:t>Mỗi cá thể của thực thể A có liên kết với 0 hay n cá thể trong thực thể B và ngược lại.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Cambria" pitchFamily="18" charset="0"/>
              </a:rPr>
              <a:t>VD: </a:t>
            </a:r>
            <a:r>
              <a:rPr lang="en-US" sz="2400" dirty="0" err="1">
                <a:latin typeface="Cambria" pitchFamily="18" charset="0"/>
              </a:rPr>
              <a:t>Một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sinh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viên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có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thể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học</a:t>
            </a:r>
            <a:r>
              <a:rPr lang="en-US" sz="2400" dirty="0">
                <a:latin typeface="Cambria" pitchFamily="18" charset="0"/>
              </a:rPr>
              <a:t> (0,n) </a:t>
            </a:r>
            <a:r>
              <a:rPr lang="en-US" sz="2400" dirty="0" err="1">
                <a:latin typeface="Cambria" pitchFamily="18" charset="0"/>
              </a:rPr>
              <a:t>môn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học</a:t>
            </a:r>
            <a:r>
              <a:rPr lang="en-US" sz="2400" dirty="0">
                <a:latin typeface="Cambria" pitchFamily="18" charset="0"/>
              </a:rPr>
              <a:t>. </a:t>
            </a:r>
            <a:r>
              <a:rPr lang="en-US" sz="2400" dirty="0" err="1">
                <a:latin typeface="Cambria" pitchFamily="18" charset="0"/>
              </a:rPr>
              <a:t>Một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môn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học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có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thể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vi-VN" sz="2400" dirty="0">
                <a:latin typeface="Cambria" pitchFamily="18" charset="0"/>
              </a:rPr>
              <a:t>đượ</a:t>
            </a:r>
            <a:r>
              <a:rPr lang="en-US" sz="2400" dirty="0">
                <a:latin typeface="Cambria" pitchFamily="18" charset="0"/>
              </a:rPr>
              <a:t>c </a:t>
            </a:r>
            <a:r>
              <a:rPr lang="en-US" sz="2400" dirty="0" err="1">
                <a:latin typeface="Cambria" pitchFamily="18" charset="0"/>
              </a:rPr>
              <a:t>học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bởi</a:t>
            </a:r>
            <a:r>
              <a:rPr lang="en-US" sz="2400" dirty="0">
                <a:latin typeface="Cambria" pitchFamily="18" charset="0"/>
              </a:rPr>
              <a:t> (0,n) </a:t>
            </a:r>
            <a:r>
              <a:rPr lang="en-US" sz="2400" dirty="0" err="1">
                <a:latin typeface="Cambria" pitchFamily="18" charset="0"/>
              </a:rPr>
              <a:t>sinh</a:t>
            </a:r>
            <a:r>
              <a:rPr lang="en-US" sz="2400" dirty="0">
                <a:latin typeface="Cambria" pitchFamily="18" charset="0"/>
              </a:rPr>
              <a:t> </a:t>
            </a:r>
            <a:r>
              <a:rPr lang="en-US" sz="2400" dirty="0" err="1">
                <a:latin typeface="Cambria" pitchFamily="18" charset="0"/>
              </a:rPr>
              <a:t>viên</a:t>
            </a:r>
            <a:r>
              <a:rPr lang="en-US" sz="2400" dirty="0">
                <a:latin typeface="Cambria" pitchFamily="18" charset="0"/>
              </a:rPr>
              <a:t>.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066800" y="5410200"/>
            <a:ext cx="7086600" cy="762000"/>
            <a:chOff x="1066800" y="2438400"/>
            <a:chExt cx="7086600" cy="762000"/>
          </a:xfrm>
        </p:grpSpPr>
        <p:sp>
          <p:nvSpPr>
            <p:cNvPr id="15" name="Rectangle 14"/>
            <p:cNvSpPr/>
            <p:nvPr/>
          </p:nvSpPr>
          <p:spPr>
            <a:xfrm>
              <a:off x="1066800" y="2590800"/>
              <a:ext cx="1676400" cy="533400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Sinh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viên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77000" y="2590800"/>
              <a:ext cx="1676400" cy="533400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Môn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học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Diamond 16"/>
            <p:cNvSpPr/>
            <p:nvPr/>
          </p:nvSpPr>
          <p:spPr>
            <a:xfrm>
              <a:off x="3581400" y="2514600"/>
              <a:ext cx="2133600" cy="685800"/>
            </a:xfrm>
            <a:prstGeom prst="diamond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Học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Connector 17"/>
            <p:cNvCxnSpPr>
              <a:stCxn id="15" idx="3"/>
              <a:endCxn id="17" idx="1"/>
            </p:cNvCxnSpPr>
            <p:nvPr/>
          </p:nvCxnSpPr>
          <p:spPr>
            <a:xfrm>
              <a:off x="2743200" y="2857500"/>
              <a:ext cx="8382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7" idx="3"/>
              <a:endCxn id="16" idx="1"/>
            </p:cNvCxnSpPr>
            <p:nvPr/>
          </p:nvCxnSpPr>
          <p:spPr>
            <a:xfrm>
              <a:off x="5715000" y="2857500"/>
              <a:ext cx="7620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819400" y="24384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(0,n)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15000" y="24384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(0,n)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752600" y="2351314"/>
            <a:ext cx="4969891" cy="838200"/>
            <a:chOff x="1752600" y="2057400"/>
            <a:chExt cx="4969891" cy="838200"/>
          </a:xfrm>
        </p:grpSpPr>
        <p:sp>
          <p:nvSpPr>
            <p:cNvPr id="22" name="Rectangle 21"/>
            <p:cNvSpPr/>
            <p:nvPr/>
          </p:nvSpPr>
          <p:spPr>
            <a:xfrm>
              <a:off x="1752600" y="21336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A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36691" y="21336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B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cxnSp>
          <p:nvCxnSpPr>
            <p:cNvPr id="24" name="Straight Arrow Connector 23"/>
            <p:cNvCxnSpPr>
              <a:stCxn id="22" idx="3"/>
              <a:endCxn id="23" idx="1"/>
            </p:cNvCxnSpPr>
            <p:nvPr/>
          </p:nvCxnSpPr>
          <p:spPr>
            <a:xfrm>
              <a:off x="2438400" y="2514600"/>
              <a:ext cx="3598291" cy="1588"/>
            </a:xfrm>
            <a:prstGeom prst="straightConnector1">
              <a:avLst/>
            </a:prstGeom>
            <a:ln w="254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667000" y="20574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562600" y="20574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n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741714" y="3402568"/>
            <a:ext cx="4969891" cy="1017032"/>
            <a:chOff x="1828800" y="3467100"/>
            <a:chExt cx="4969891" cy="1017032"/>
          </a:xfrm>
        </p:grpSpPr>
        <p:sp>
          <p:nvSpPr>
            <p:cNvPr id="27" name="Rectangle 26"/>
            <p:cNvSpPr/>
            <p:nvPr/>
          </p:nvSpPr>
          <p:spPr>
            <a:xfrm>
              <a:off x="1828800" y="35052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A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112891" y="35052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B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cxnSp>
          <p:nvCxnSpPr>
            <p:cNvPr id="29" name="Straight Arrow Connector 28"/>
            <p:cNvCxnSpPr>
              <a:stCxn id="27" idx="3"/>
              <a:endCxn id="28" idx="1"/>
            </p:cNvCxnSpPr>
            <p:nvPr/>
          </p:nvCxnSpPr>
          <p:spPr>
            <a:xfrm>
              <a:off x="2514600" y="3886200"/>
              <a:ext cx="3598291" cy="1588"/>
            </a:xfrm>
            <a:prstGeom prst="straightConnector1">
              <a:avLst/>
            </a:prstGeom>
            <a:ln w="25400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mond 29"/>
            <p:cNvSpPr/>
            <p:nvPr/>
          </p:nvSpPr>
          <p:spPr>
            <a:xfrm>
              <a:off x="3962400" y="3467100"/>
              <a:ext cx="838200" cy="838200"/>
            </a:xfrm>
            <a:prstGeom prst="diamond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C00000"/>
                  </a:solidFill>
                </a:rPr>
                <a:t>R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048000" y="4114800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</a:rPr>
                <a:t>X,n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34000" y="4114800"/>
              <a:ext cx="494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</a:rPr>
                <a:t>Y,n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4702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  <a:prstDash val="solid"/>
          </a:ln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Mối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kết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vòng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noFill/>
            <a:prstDash val="solid"/>
          </a:ln>
        </p:spPr>
        <p:txBody>
          <a:bodyPr/>
          <a:lstStyle/>
          <a:p>
            <a:r>
              <a:rPr lang="vi-VN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noFill/>
            <a:prstDash val="solid"/>
          </a:ln>
        </p:spPr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ln>
            <a:noFill/>
            <a:prstDash val="solid"/>
          </a:ln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tham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vai</a:t>
            </a:r>
            <a:r>
              <a:rPr lang="en-US" sz="2400" dirty="0"/>
              <a:t> </a:t>
            </a:r>
            <a:r>
              <a:rPr lang="en-US" sz="2400" dirty="0" err="1"/>
              <a:t>trò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VD:</a:t>
            </a:r>
          </a:p>
          <a:p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3314700" y="2438400"/>
            <a:ext cx="2971800" cy="838200"/>
            <a:chOff x="4343400" y="2400300"/>
            <a:chExt cx="2971800" cy="838200"/>
          </a:xfrm>
        </p:grpSpPr>
        <p:sp>
          <p:nvSpPr>
            <p:cNvPr id="7" name="Rectangle 6"/>
            <p:cNvSpPr/>
            <p:nvPr/>
          </p:nvSpPr>
          <p:spPr>
            <a:xfrm>
              <a:off x="4343400" y="2438400"/>
              <a:ext cx="6858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Verdana" pitchFamily="34" charset="0"/>
                </a:rPr>
                <a:t>A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cxnSp>
          <p:nvCxnSpPr>
            <p:cNvPr id="8" name="Straight Arrow Connector 7"/>
            <p:cNvCxnSpPr>
              <a:stCxn id="7" idx="3"/>
              <a:endCxn id="9" idx="3"/>
            </p:cNvCxnSpPr>
            <p:nvPr/>
          </p:nvCxnSpPr>
          <p:spPr>
            <a:xfrm>
              <a:off x="5029200" y="2819400"/>
              <a:ext cx="2286000" cy="1588"/>
            </a:xfrm>
            <a:prstGeom prst="straightConnector1">
              <a:avLst/>
            </a:prstGeom>
            <a:ln w="25400"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8"/>
            <p:cNvSpPr/>
            <p:nvPr/>
          </p:nvSpPr>
          <p:spPr>
            <a:xfrm>
              <a:off x="6477000" y="2400300"/>
              <a:ext cx="838200" cy="838200"/>
            </a:xfrm>
            <a:prstGeom prst="diamond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rgbClr val="C00000"/>
                  </a:solidFill>
                </a:rPr>
                <a:t>R</a:t>
              </a:r>
            </a:p>
          </p:txBody>
        </p:sp>
        <p:cxnSp>
          <p:nvCxnSpPr>
            <p:cNvPr id="10" name="Elbow Connector 9"/>
            <p:cNvCxnSpPr>
              <a:stCxn id="7" idx="2"/>
              <a:endCxn id="9" idx="2"/>
            </p:cNvCxnSpPr>
            <p:nvPr/>
          </p:nvCxnSpPr>
          <p:spPr>
            <a:xfrm rot="16200000" flipH="1">
              <a:off x="5772150" y="2114550"/>
              <a:ext cx="38100" cy="2209800"/>
            </a:xfrm>
            <a:prstGeom prst="bentConnector3">
              <a:avLst>
                <a:gd name="adj1" fmla="val 1603898"/>
              </a:avLst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1191067" y="4307375"/>
            <a:ext cx="5943600" cy="1603177"/>
            <a:chOff x="914400" y="4495800"/>
            <a:chExt cx="5943600" cy="1603177"/>
          </a:xfrm>
        </p:grpSpPr>
        <p:sp>
          <p:nvSpPr>
            <p:cNvPr id="11" name="Rectangle 10"/>
            <p:cNvSpPr/>
            <p:nvPr/>
          </p:nvSpPr>
          <p:spPr>
            <a:xfrm>
              <a:off x="914400" y="4572000"/>
              <a:ext cx="2171700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solidFill>
                    <a:schemeClr val="tx1"/>
                  </a:solidFill>
                  <a:latin typeface="Verdana" pitchFamily="34" charset="0"/>
                </a:rPr>
                <a:t>NhanVien</a:t>
              </a:r>
              <a:endParaRPr lang="en-US" sz="24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cxnSp>
          <p:nvCxnSpPr>
            <p:cNvPr id="12" name="Straight Arrow Connector 11"/>
            <p:cNvCxnSpPr>
              <a:stCxn id="11" idx="3"/>
              <a:endCxn id="13" idx="3"/>
            </p:cNvCxnSpPr>
            <p:nvPr/>
          </p:nvCxnSpPr>
          <p:spPr>
            <a:xfrm>
              <a:off x="3086100" y="4953000"/>
              <a:ext cx="3771900" cy="1588"/>
            </a:xfrm>
            <a:prstGeom prst="straightConnector1">
              <a:avLst/>
            </a:prstGeom>
            <a:ln w="25400"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Diamond 12"/>
            <p:cNvSpPr/>
            <p:nvPr/>
          </p:nvSpPr>
          <p:spPr>
            <a:xfrm>
              <a:off x="4533900" y="4533900"/>
              <a:ext cx="2324100" cy="838200"/>
            </a:xfrm>
            <a:prstGeom prst="diamond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rgbClr val="C00000"/>
                  </a:solidFill>
                </a:rPr>
                <a:t>QuanLy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cxnSp>
          <p:nvCxnSpPr>
            <p:cNvPr id="14" name="Elbow Connector 13"/>
            <p:cNvCxnSpPr>
              <a:stCxn id="11" idx="2"/>
              <a:endCxn id="13" idx="2"/>
            </p:cNvCxnSpPr>
            <p:nvPr/>
          </p:nvCxnSpPr>
          <p:spPr>
            <a:xfrm rot="16200000" flipH="1">
              <a:off x="3829050" y="3505200"/>
              <a:ext cx="38100" cy="3695700"/>
            </a:xfrm>
            <a:prstGeom prst="bentConnector3">
              <a:avLst>
                <a:gd name="adj1" fmla="val 2040260"/>
              </a:avLst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56"/>
            <p:cNvSpPr txBox="1">
              <a:spLocks noChangeArrowheads="1"/>
            </p:cNvSpPr>
            <p:nvPr/>
          </p:nvSpPr>
          <p:spPr bwMode="auto">
            <a:xfrm>
              <a:off x="3124200" y="4495800"/>
              <a:ext cx="1676400" cy="304800"/>
            </a:xfrm>
            <a:prstGeom prst="rect">
              <a:avLst/>
            </a:prstGeom>
            <a:noFill/>
            <a:ln w="12700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>
                  <a:solidFill>
                    <a:srgbClr val="0070C0"/>
                  </a:solidFill>
                </a:rPr>
                <a:t>La </a:t>
              </a:r>
              <a:r>
                <a:rPr lang="en-US" sz="1400" dirty="0" err="1">
                  <a:solidFill>
                    <a:srgbClr val="0070C0"/>
                  </a:solidFill>
                </a:rPr>
                <a:t>nguoi</a:t>
              </a:r>
              <a:r>
                <a:rPr lang="en-US" sz="1400" dirty="0">
                  <a:solidFill>
                    <a:srgbClr val="0070C0"/>
                  </a:solidFill>
                </a:rPr>
                <a:t> </a:t>
              </a:r>
              <a:r>
                <a:rPr lang="en-US" sz="1400" dirty="0" err="1">
                  <a:solidFill>
                    <a:srgbClr val="0070C0"/>
                  </a:solidFill>
                </a:rPr>
                <a:t>quan</a:t>
              </a:r>
              <a:r>
                <a:rPr lang="en-US" sz="1400" dirty="0">
                  <a:solidFill>
                    <a:srgbClr val="0070C0"/>
                  </a:solidFill>
                </a:rPr>
                <a:t> </a:t>
              </a:r>
              <a:r>
                <a:rPr lang="en-US" sz="1400" dirty="0" err="1">
                  <a:solidFill>
                    <a:srgbClr val="0070C0"/>
                  </a:solidFill>
                </a:rPr>
                <a:t>ly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sp>
          <p:nvSpPr>
            <p:cNvPr id="16" name="Text Box 56"/>
            <p:cNvSpPr txBox="1">
              <a:spLocks noChangeArrowheads="1"/>
            </p:cNvSpPr>
            <p:nvPr/>
          </p:nvSpPr>
          <p:spPr bwMode="auto">
            <a:xfrm>
              <a:off x="3124200" y="5791200"/>
              <a:ext cx="1676400" cy="307777"/>
            </a:xfrm>
            <a:prstGeom prst="rect">
              <a:avLst/>
            </a:prstGeom>
            <a:noFill/>
            <a:ln w="12700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 err="1">
                  <a:solidFill>
                    <a:srgbClr val="0070C0"/>
                  </a:solidFill>
                </a:rPr>
                <a:t>Duoc</a:t>
              </a:r>
              <a:r>
                <a:rPr lang="en-US" sz="1400" dirty="0">
                  <a:solidFill>
                    <a:srgbClr val="0070C0"/>
                  </a:solidFill>
                </a:rPr>
                <a:t> </a:t>
              </a:r>
              <a:r>
                <a:rPr lang="en-US" sz="1400" dirty="0" err="1">
                  <a:solidFill>
                    <a:srgbClr val="0070C0"/>
                  </a:solidFill>
                </a:rPr>
                <a:t>quan</a:t>
              </a:r>
              <a:r>
                <a:rPr lang="en-US" sz="1400" dirty="0">
                  <a:solidFill>
                    <a:srgbClr val="0070C0"/>
                  </a:solidFill>
                </a:rPr>
                <a:t> </a:t>
              </a:r>
              <a:r>
                <a:rPr lang="en-US" sz="1400" dirty="0" err="1">
                  <a:solidFill>
                    <a:srgbClr val="0070C0"/>
                  </a:solidFill>
                </a:rPr>
                <a:t>ly</a:t>
              </a:r>
              <a:r>
                <a:rPr lang="en-US" sz="1400" dirty="0">
                  <a:solidFill>
                    <a:srgbClr val="0070C0"/>
                  </a:solidFill>
                </a:rPr>
                <a:t> </a:t>
              </a:r>
              <a:r>
                <a:rPr lang="en-US" sz="1400" dirty="0" err="1">
                  <a:solidFill>
                    <a:srgbClr val="0070C0"/>
                  </a:solidFill>
                </a:rPr>
                <a:t>bởi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57600" y="4953000"/>
              <a:ext cx="505267" cy="369332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0,n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514600" y="5715000"/>
              <a:ext cx="505267" cy="369332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0,1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998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3.6.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Thực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Thể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Yếu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69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76400"/>
            <a:ext cx="8305800" cy="4648200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2400" dirty="0" err="1">
                <a:effectLst/>
              </a:rPr>
              <a:t>Là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thực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khóa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có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được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từ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những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thuộc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tính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của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tập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thực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khác</a:t>
            </a:r>
            <a:endParaRPr lang="en-US" sz="2400" dirty="0">
              <a:effectLst/>
            </a:endParaRP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2400" dirty="0" err="1">
                <a:effectLst/>
              </a:rPr>
              <a:t>Thực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yếu</a:t>
            </a:r>
            <a:r>
              <a:rPr lang="en-US" sz="2400" dirty="0">
                <a:effectLst/>
              </a:rPr>
              <a:t> (weak entity set) </a:t>
            </a:r>
            <a:r>
              <a:rPr lang="en-US" sz="2400" dirty="0" err="1">
                <a:effectLst/>
              </a:rPr>
              <a:t>phải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tham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gia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vào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mối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quan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hệ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trong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đó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có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một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tập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thực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chính</a:t>
            </a:r>
            <a:endParaRPr lang="en-US" sz="2400" dirty="0">
              <a:effectLst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581400" y="4027714"/>
            <a:ext cx="2057400" cy="609600"/>
          </a:xfrm>
          <a:prstGeom prst="rect">
            <a:avLst/>
          </a:prstGeom>
          <a:noFill/>
          <a:ln w="101600" cmpd="dbl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7EB67A-A811-4A57-BC9B-CD1624D7F0F2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73454"/>
      </p:ext>
    </p:extLst>
  </p:cSld>
  <p:clrMapOvr>
    <a:masterClrMapping/>
  </p:clrMapOvr>
  <p:transition spd="med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4" name="Group 84"/>
          <p:cNvGrpSpPr>
            <a:grpSpLocks/>
          </p:cNvGrpSpPr>
          <p:nvPr/>
        </p:nvGrpSpPr>
        <p:grpSpPr bwMode="auto">
          <a:xfrm>
            <a:off x="2108200" y="457200"/>
            <a:ext cx="5130800" cy="5562600"/>
            <a:chOff x="1264" y="912"/>
            <a:chExt cx="2832" cy="3120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2256" y="1920"/>
              <a:ext cx="816" cy="384"/>
              <a:chOff x="3744" y="2496"/>
              <a:chExt cx="1200" cy="384"/>
            </a:xfrm>
          </p:grpSpPr>
          <p:sp>
            <p:nvSpPr>
              <p:cNvPr id="54" name="AutoShape 6"/>
              <p:cNvSpPr>
                <a:spLocks noChangeArrowheads="1"/>
              </p:cNvSpPr>
              <p:nvPr/>
            </p:nvSpPr>
            <p:spPr bwMode="auto">
              <a:xfrm>
                <a:off x="3744" y="2496"/>
                <a:ext cx="1200" cy="384"/>
              </a:xfrm>
              <a:prstGeom prst="flowChartDecision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5" name="Text Box 7"/>
              <p:cNvSpPr txBox="1">
                <a:spLocks noChangeArrowheads="1"/>
              </p:cNvSpPr>
              <p:nvPr/>
            </p:nvSpPr>
            <p:spPr bwMode="auto">
              <a:xfrm>
                <a:off x="3840" y="2576"/>
                <a:ext cx="1056" cy="212"/>
              </a:xfrm>
              <a:prstGeom prst="rect">
                <a:avLst/>
              </a:prstGeom>
              <a:noFill/>
              <a:ln w="38100" cmpd="dbl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600" dirty="0"/>
                  <a:t>HD_CT</a:t>
                </a:r>
              </a:p>
            </p:txBody>
          </p:sp>
        </p:grpSp>
        <p:grpSp>
          <p:nvGrpSpPr>
            <p:cNvPr id="6" name="Group 66"/>
            <p:cNvGrpSpPr>
              <a:grpSpLocks/>
            </p:cNvGrpSpPr>
            <p:nvPr/>
          </p:nvGrpSpPr>
          <p:grpSpPr bwMode="auto">
            <a:xfrm>
              <a:off x="1264" y="912"/>
              <a:ext cx="1904" cy="912"/>
              <a:chOff x="480" y="1488"/>
              <a:chExt cx="1904" cy="912"/>
            </a:xfrm>
          </p:grpSpPr>
          <p:sp>
            <p:nvSpPr>
              <p:cNvPr id="41" name="Text Box 9"/>
              <p:cNvSpPr txBox="1">
                <a:spLocks noChangeArrowheads="1"/>
              </p:cNvSpPr>
              <p:nvPr/>
            </p:nvSpPr>
            <p:spPr bwMode="auto">
              <a:xfrm>
                <a:off x="1376" y="2112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HOA_DON</a:t>
                </a:r>
              </a:p>
            </p:txBody>
          </p:sp>
          <p:grpSp>
            <p:nvGrpSpPr>
              <p:cNvPr id="42" name="Group 61"/>
              <p:cNvGrpSpPr>
                <a:grpSpLocks/>
              </p:cNvGrpSpPr>
              <p:nvPr/>
            </p:nvGrpSpPr>
            <p:grpSpPr bwMode="auto">
              <a:xfrm>
                <a:off x="480" y="2160"/>
                <a:ext cx="672" cy="240"/>
                <a:chOff x="528" y="2160"/>
                <a:chExt cx="672" cy="240"/>
              </a:xfrm>
            </p:grpSpPr>
            <p:sp>
              <p:nvSpPr>
                <p:cNvPr id="52" name="Oval 11"/>
                <p:cNvSpPr>
                  <a:spLocks noChangeArrowheads="1"/>
                </p:cNvSpPr>
                <p:nvPr/>
              </p:nvSpPr>
              <p:spPr bwMode="auto">
                <a:xfrm>
                  <a:off x="528" y="2160"/>
                  <a:ext cx="672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28" y="2192"/>
                  <a:ext cx="672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TONGTIEN</a:t>
                  </a:r>
                </a:p>
              </p:txBody>
            </p:sp>
          </p:grpSp>
          <p:grpSp>
            <p:nvGrpSpPr>
              <p:cNvPr id="43" name="Group 60"/>
              <p:cNvGrpSpPr>
                <a:grpSpLocks/>
              </p:cNvGrpSpPr>
              <p:nvPr/>
            </p:nvGrpSpPr>
            <p:grpSpPr bwMode="auto">
              <a:xfrm>
                <a:off x="576" y="1824"/>
                <a:ext cx="576" cy="240"/>
                <a:chOff x="576" y="1824"/>
                <a:chExt cx="576" cy="240"/>
              </a:xfrm>
            </p:grpSpPr>
            <p:sp>
              <p:nvSpPr>
                <p:cNvPr id="50" name="Oval 26"/>
                <p:cNvSpPr>
                  <a:spLocks noChangeArrowheads="1"/>
                </p:cNvSpPr>
                <p:nvPr/>
              </p:nvSpPr>
              <p:spPr bwMode="auto">
                <a:xfrm>
                  <a:off x="576" y="182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76" y="1848"/>
                  <a:ext cx="576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NGAYHD</a:t>
                  </a:r>
                </a:p>
              </p:txBody>
            </p:sp>
          </p:grpSp>
          <p:sp>
            <p:nvSpPr>
              <p:cNvPr id="44" name="Line 29"/>
              <p:cNvSpPr>
                <a:spLocks noChangeShapeType="1"/>
              </p:cNvSpPr>
              <p:nvPr/>
            </p:nvSpPr>
            <p:spPr bwMode="auto">
              <a:xfrm flipH="1">
                <a:off x="1152" y="2208"/>
                <a:ext cx="24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" name="Line 30"/>
              <p:cNvSpPr>
                <a:spLocks noChangeShapeType="1"/>
              </p:cNvSpPr>
              <p:nvPr/>
            </p:nvSpPr>
            <p:spPr bwMode="auto">
              <a:xfrm flipH="1" flipV="1">
                <a:off x="1104" y="1968"/>
                <a:ext cx="28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6" name="Group 34"/>
              <p:cNvGrpSpPr>
                <a:grpSpLocks/>
              </p:cNvGrpSpPr>
              <p:nvPr/>
            </p:nvGrpSpPr>
            <p:grpSpPr bwMode="auto">
              <a:xfrm>
                <a:off x="576" y="1488"/>
                <a:ext cx="528" cy="240"/>
                <a:chOff x="192" y="2160"/>
                <a:chExt cx="528" cy="240"/>
              </a:xfrm>
            </p:grpSpPr>
            <p:sp>
              <p:nvSpPr>
                <p:cNvPr id="48" name="Oval 35"/>
                <p:cNvSpPr>
                  <a:spLocks noChangeArrowheads="1"/>
                </p:cNvSpPr>
                <p:nvPr/>
              </p:nvSpPr>
              <p:spPr bwMode="auto">
                <a:xfrm>
                  <a:off x="192" y="2160"/>
                  <a:ext cx="528" cy="240"/>
                </a:xfrm>
                <a:prstGeom prst="ellipse">
                  <a:avLst/>
                </a:prstGeom>
                <a:solidFill>
                  <a:srgbClr val="CC0000">
                    <a:alpha val="55000"/>
                  </a:srgbClr>
                </a:solidFill>
                <a:ln w="12700" algn="ctr">
                  <a:solidFill>
                    <a:srgbClr val="CC0000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16" y="2184"/>
                  <a:ext cx="480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400" u="sng" dirty="0"/>
                    <a:t>MAHD</a:t>
                  </a:r>
                </a:p>
              </p:txBody>
            </p:sp>
          </p:grpSp>
          <p:sp>
            <p:nvSpPr>
              <p:cNvPr id="47" name="Line 37"/>
              <p:cNvSpPr>
                <a:spLocks noChangeShapeType="1"/>
              </p:cNvSpPr>
              <p:nvPr/>
            </p:nvSpPr>
            <p:spPr bwMode="auto">
              <a:xfrm flipH="1" flipV="1">
                <a:off x="1056" y="1680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80"/>
            <p:cNvGrpSpPr>
              <a:grpSpLocks/>
            </p:cNvGrpSpPr>
            <p:nvPr/>
          </p:nvGrpSpPr>
          <p:grpSpPr bwMode="auto">
            <a:xfrm>
              <a:off x="2208" y="3216"/>
              <a:ext cx="1888" cy="816"/>
              <a:chOff x="2208" y="3216"/>
              <a:chExt cx="1888" cy="816"/>
            </a:xfrm>
          </p:grpSpPr>
          <p:sp>
            <p:nvSpPr>
              <p:cNvPr id="29" name="Text Box 40"/>
              <p:cNvSpPr txBox="1">
                <a:spLocks noChangeArrowheads="1"/>
              </p:cNvSpPr>
              <p:nvPr/>
            </p:nvSpPr>
            <p:spPr bwMode="auto">
              <a:xfrm>
                <a:off x="2208" y="3441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HANG_HOA</a:t>
                </a:r>
              </a:p>
            </p:txBody>
          </p:sp>
          <p:sp>
            <p:nvSpPr>
              <p:cNvPr id="30" name="Oval 42"/>
              <p:cNvSpPr>
                <a:spLocks noChangeArrowheads="1"/>
              </p:cNvSpPr>
              <p:nvPr/>
            </p:nvSpPr>
            <p:spPr bwMode="auto">
              <a:xfrm>
                <a:off x="3552" y="3792"/>
                <a:ext cx="528" cy="240"/>
              </a:xfrm>
              <a:prstGeom prst="ellipse">
                <a:avLst/>
              </a:prstGeom>
              <a:solidFill>
                <a:srgbClr val="CC0000">
                  <a:alpha val="55000"/>
                </a:srgbClr>
              </a:solidFill>
              <a:ln w="12700" algn="ctr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Text Box 43"/>
              <p:cNvSpPr txBox="1">
                <a:spLocks noChangeArrowheads="1"/>
              </p:cNvSpPr>
              <p:nvPr/>
            </p:nvSpPr>
            <p:spPr bwMode="auto">
              <a:xfrm>
                <a:off x="3568" y="3808"/>
                <a:ext cx="528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 u="sng"/>
                  <a:t>MAHH</a:t>
                </a:r>
              </a:p>
            </p:txBody>
          </p:sp>
          <p:grpSp>
            <p:nvGrpSpPr>
              <p:cNvPr id="32" name="Group 44"/>
              <p:cNvGrpSpPr>
                <a:grpSpLocks/>
              </p:cNvGrpSpPr>
              <p:nvPr/>
            </p:nvGrpSpPr>
            <p:grpSpPr bwMode="auto">
              <a:xfrm>
                <a:off x="3552" y="3504"/>
                <a:ext cx="528" cy="240"/>
                <a:chOff x="2112" y="3792"/>
                <a:chExt cx="528" cy="240"/>
              </a:xfrm>
            </p:grpSpPr>
            <p:sp>
              <p:nvSpPr>
                <p:cNvPr id="39" name="Oval 45"/>
                <p:cNvSpPr>
                  <a:spLocks noChangeArrowheads="1"/>
                </p:cNvSpPr>
                <p:nvPr/>
              </p:nvSpPr>
              <p:spPr bwMode="auto">
                <a:xfrm>
                  <a:off x="21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112" y="3816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DGIA</a:t>
                  </a:r>
                </a:p>
              </p:txBody>
            </p:sp>
          </p:grpSp>
          <p:grpSp>
            <p:nvGrpSpPr>
              <p:cNvPr id="33" name="Group 47"/>
              <p:cNvGrpSpPr>
                <a:grpSpLocks/>
              </p:cNvGrpSpPr>
              <p:nvPr/>
            </p:nvGrpSpPr>
            <p:grpSpPr bwMode="auto">
              <a:xfrm>
                <a:off x="3552" y="3216"/>
                <a:ext cx="528" cy="240"/>
                <a:chOff x="2112" y="3792"/>
                <a:chExt cx="528" cy="240"/>
              </a:xfrm>
            </p:grpSpPr>
            <p:sp>
              <p:nvSpPr>
                <p:cNvPr id="37" name="Oval 48"/>
                <p:cNvSpPr>
                  <a:spLocks noChangeArrowheads="1"/>
                </p:cNvSpPr>
                <p:nvPr/>
              </p:nvSpPr>
              <p:spPr bwMode="auto">
                <a:xfrm>
                  <a:off x="21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112" y="3816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TENHH</a:t>
                  </a:r>
                </a:p>
              </p:txBody>
            </p:sp>
          </p:grpSp>
          <p:sp>
            <p:nvSpPr>
              <p:cNvPr id="34" name="Line 54"/>
              <p:cNvSpPr>
                <a:spLocks noChangeShapeType="1"/>
              </p:cNvSpPr>
              <p:nvPr/>
            </p:nvSpPr>
            <p:spPr bwMode="auto">
              <a:xfrm flipV="1">
                <a:off x="3216" y="3360"/>
                <a:ext cx="336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Line 55"/>
              <p:cNvSpPr>
                <a:spLocks noChangeShapeType="1"/>
              </p:cNvSpPr>
              <p:nvPr/>
            </p:nvSpPr>
            <p:spPr bwMode="auto">
              <a:xfrm>
                <a:off x="3216" y="3600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" name="Line 56"/>
              <p:cNvSpPr>
                <a:spLocks noChangeShapeType="1"/>
              </p:cNvSpPr>
              <p:nvPr/>
            </p:nvSpPr>
            <p:spPr bwMode="auto">
              <a:xfrm>
                <a:off x="3216" y="3648"/>
                <a:ext cx="33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" name="Text Box 58"/>
            <p:cNvSpPr txBox="1">
              <a:spLocks noChangeArrowheads="1"/>
            </p:cNvSpPr>
            <p:nvPr/>
          </p:nvSpPr>
          <p:spPr bwMode="auto">
            <a:xfrm>
              <a:off x="2736" y="230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(1,1)</a:t>
              </a:r>
            </a:p>
          </p:txBody>
        </p:sp>
        <p:sp>
          <p:nvSpPr>
            <p:cNvPr id="9" name="Text Box 59"/>
            <p:cNvSpPr txBox="1">
              <a:spLocks noChangeArrowheads="1"/>
            </p:cNvSpPr>
            <p:nvPr/>
          </p:nvSpPr>
          <p:spPr bwMode="auto">
            <a:xfrm>
              <a:off x="2832" y="182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(1,n)</a:t>
              </a:r>
            </a:p>
          </p:txBody>
        </p:sp>
        <p:grpSp>
          <p:nvGrpSpPr>
            <p:cNvPr id="10" name="Group 63"/>
            <p:cNvGrpSpPr>
              <a:grpSpLocks/>
            </p:cNvGrpSpPr>
            <p:nvPr/>
          </p:nvGrpSpPr>
          <p:grpSpPr bwMode="auto">
            <a:xfrm>
              <a:off x="2256" y="2928"/>
              <a:ext cx="816" cy="384"/>
              <a:chOff x="3744" y="2496"/>
              <a:chExt cx="1200" cy="384"/>
            </a:xfrm>
          </p:grpSpPr>
          <p:sp>
            <p:nvSpPr>
              <p:cNvPr id="27" name="AutoShape 64"/>
              <p:cNvSpPr>
                <a:spLocks noChangeArrowheads="1"/>
              </p:cNvSpPr>
              <p:nvPr/>
            </p:nvSpPr>
            <p:spPr bwMode="auto">
              <a:xfrm>
                <a:off x="3744" y="2496"/>
                <a:ext cx="1200" cy="384"/>
              </a:xfrm>
              <a:prstGeom prst="flowChartDecision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8" name="Text Box 65"/>
              <p:cNvSpPr txBox="1">
                <a:spLocks noChangeArrowheads="1"/>
              </p:cNvSpPr>
              <p:nvPr/>
            </p:nvSpPr>
            <p:spPr bwMode="auto">
              <a:xfrm>
                <a:off x="3840" y="2576"/>
                <a:ext cx="1056" cy="212"/>
              </a:xfrm>
              <a:prstGeom prst="rect">
                <a:avLst/>
              </a:prstGeom>
              <a:noFill/>
              <a:ln w="38100" cmpd="dbl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600"/>
                  <a:t>HH_CT</a:t>
                </a:r>
              </a:p>
            </p:txBody>
          </p:sp>
        </p:grpSp>
        <p:sp>
          <p:nvSpPr>
            <p:cNvPr id="11" name="Line 68"/>
            <p:cNvSpPr>
              <a:spLocks noChangeShapeType="1"/>
            </p:cNvSpPr>
            <p:nvPr/>
          </p:nvSpPr>
          <p:spPr bwMode="auto">
            <a:xfrm>
              <a:off x="2656" y="177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71"/>
            <p:cNvSpPr>
              <a:spLocks noChangeShapeType="1"/>
            </p:cNvSpPr>
            <p:nvPr/>
          </p:nvSpPr>
          <p:spPr bwMode="auto">
            <a:xfrm>
              <a:off x="2672" y="329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Text Box 72"/>
            <p:cNvSpPr txBox="1">
              <a:spLocks noChangeArrowheads="1"/>
            </p:cNvSpPr>
            <p:nvPr/>
          </p:nvSpPr>
          <p:spPr bwMode="auto">
            <a:xfrm>
              <a:off x="2064" y="2784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(1,1)</a:t>
              </a:r>
            </a:p>
          </p:txBody>
        </p:sp>
        <p:sp>
          <p:nvSpPr>
            <p:cNvPr id="14" name="Text Box 73"/>
            <p:cNvSpPr txBox="1">
              <a:spLocks noChangeArrowheads="1"/>
            </p:cNvSpPr>
            <p:nvPr/>
          </p:nvSpPr>
          <p:spPr bwMode="auto">
            <a:xfrm>
              <a:off x="2064" y="3216"/>
              <a:ext cx="43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(1,n)</a:t>
              </a:r>
            </a:p>
          </p:txBody>
        </p:sp>
        <p:grpSp>
          <p:nvGrpSpPr>
            <p:cNvPr id="15" name="Group 83"/>
            <p:cNvGrpSpPr>
              <a:grpSpLocks/>
            </p:cNvGrpSpPr>
            <p:nvPr/>
          </p:nvGrpSpPr>
          <p:grpSpPr bwMode="auto">
            <a:xfrm>
              <a:off x="2208" y="2320"/>
              <a:ext cx="1776" cy="584"/>
              <a:chOff x="2208" y="2320"/>
              <a:chExt cx="1776" cy="584"/>
            </a:xfrm>
          </p:grpSpPr>
          <p:sp>
            <p:nvSpPr>
              <p:cNvPr id="16" name="Text Box 62"/>
              <p:cNvSpPr txBox="1">
                <a:spLocks noChangeArrowheads="1"/>
              </p:cNvSpPr>
              <p:nvPr/>
            </p:nvSpPr>
            <p:spPr bwMode="auto">
              <a:xfrm>
                <a:off x="2208" y="2496"/>
                <a:ext cx="1008" cy="255"/>
              </a:xfrm>
              <a:prstGeom prst="rect">
                <a:avLst/>
              </a:prstGeom>
              <a:noFill/>
              <a:ln w="38100" cmpd="dbl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CHI_TIET</a:t>
                </a:r>
              </a:p>
            </p:txBody>
          </p:sp>
          <p:sp>
            <p:nvSpPr>
              <p:cNvPr id="17" name="Line 69"/>
              <p:cNvSpPr>
                <a:spLocks noChangeShapeType="1"/>
              </p:cNvSpPr>
              <p:nvPr/>
            </p:nvSpPr>
            <p:spPr bwMode="auto">
              <a:xfrm>
                <a:off x="2672" y="232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" name="Line 70"/>
              <p:cNvSpPr>
                <a:spLocks noChangeShapeType="1"/>
              </p:cNvSpPr>
              <p:nvPr/>
            </p:nvSpPr>
            <p:spPr bwMode="auto">
              <a:xfrm>
                <a:off x="2664" y="276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19" name="Group 74"/>
              <p:cNvGrpSpPr>
                <a:grpSpLocks/>
              </p:cNvGrpSpPr>
              <p:nvPr/>
            </p:nvGrpSpPr>
            <p:grpSpPr bwMode="auto">
              <a:xfrm>
                <a:off x="3456" y="2352"/>
                <a:ext cx="528" cy="240"/>
                <a:chOff x="2112" y="3792"/>
                <a:chExt cx="528" cy="240"/>
              </a:xfrm>
            </p:grpSpPr>
            <p:sp>
              <p:nvSpPr>
                <p:cNvPr id="25" name="Oval 75"/>
                <p:cNvSpPr>
                  <a:spLocks noChangeArrowheads="1"/>
                </p:cNvSpPr>
                <p:nvPr/>
              </p:nvSpPr>
              <p:spPr bwMode="auto">
                <a:xfrm>
                  <a:off x="21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112" y="3816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SL_HH</a:t>
                  </a:r>
                </a:p>
              </p:txBody>
            </p:sp>
          </p:grpSp>
          <p:grpSp>
            <p:nvGrpSpPr>
              <p:cNvPr id="20" name="Group 77"/>
              <p:cNvGrpSpPr>
                <a:grpSpLocks/>
              </p:cNvGrpSpPr>
              <p:nvPr/>
            </p:nvGrpSpPr>
            <p:grpSpPr bwMode="auto">
              <a:xfrm>
                <a:off x="3456" y="2640"/>
                <a:ext cx="528" cy="240"/>
                <a:chOff x="2112" y="3792"/>
                <a:chExt cx="528" cy="240"/>
              </a:xfrm>
            </p:grpSpPr>
            <p:sp>
              <p:nvSpPr>
                <p:cNvPr id="23" name="Oval 78"/>
                <p:cNvSpPr>
                  <a:spLocks noChangeArrowheads="1"/>
                </p:cNvSpPr>
                <p:nvPr/>
              </p:nvSpPr>
              <p:spPr bwMode="auto">
                <a:xfrm>
                  <a:off x="21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2112" y="3816"/>
                  <a:ext cx="528" cy="19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400"/>
                    <a:t>SOTIEN</a:t>
                  </a:r>
                </a:p>
              </p:txBody>
            </p:sp>
          </p:grpSp>
          <p:sp>
            <p:nvSpPr>
              <p:cNvPr id="21" name="Line 81"/>
              <p:cNvSpPr>
                <a:spLocks noChangeShapeType="1"/>
              </p:cNvSpPr>
              <p:nvPr/>
            </p:nvSpPr>
            <p:spPr bwMode="auto">
              <a:xfrm flipV="1">
                <a:off x="3216" y="2496"/>
                <a:ext cx="24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2" name="Line 82"/>
              <p:cNvSpPr>
                <a:spLocks noChangeShapeType="1"/>
              </p:cNvSpPr>
              <p:nvPr/>
            </p:nvSpPr>
            <p:spPr bwMode="auto">
              <a:xfrm>
                <a:off x="3216" y="2640"/>
                <a:ext cx="24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7028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-13855" y="381000"/>
            <a:ext cx="91440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3.7.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Lược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đồ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ER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66837"/>
            <a:ext cx="8610600" cy="4957763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sz="2400" dirty="0" err="1">
                <a:effectLst/>
              </a:rPr>
              <a:t>Là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đồ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thị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biểu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diễn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các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tập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thực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, </a:t>
            </a:r>
            <a:r>
              <a:rPr lang="en-US" sz="2400" dirty="0" err="1">
                <a:effectLst/>
              </a:rPr>
              <a:t>thuộc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tính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và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mối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quan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hệ</a:t>
            </a:r>
            <a:endParaRPr lang="en-US" sz="2400" dirty="0">
              <a:effectLst/>
            </a:endParaRPr>
          </a:p>
          <a:p>
            <a:pPr eaLnBrk="1" hangingPunct="1">
              <a:buFont typeface="Wingdings" pitchFamily="2" charset="2"/>
              <a:buChar char="v"/>
            </a:pPr>
            <a:r>
              <a:rPr lang="en-US" sz="2400" dirty="0" err="1">
                <a:effectLst/>
              </a:rPr>
              <a:t>Đỉnh</a:t>
            </a:r>
            <a:endParaRPr lang="en-US" sz="2400" dirty="0">
              <a:effectLst/>
            </a:endParaRPr>
          </a:p>
          <a:p>
            <a:pPr eaLnBrk="1" hangingPunct="1">
              <a:buFont typeface="Wingdings" pitchFamily="2" charset="2"/>
              <a:buChar char="v"/>
            </a:pPr>
            <a:r>
              <a:rPr lang="en-US" sz="2400" dirty="0" err="1">
                <a:effectLst/>
              </a:rPr>
              <a:t>Cạnh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là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đường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nối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giữa</a:t>
            </a:r>
            <a:r>
              <a:rPr lang="en-US" sz="2800" dirty="0">
                <a:effectLst/>
                <a:latin typeface="Times New Roman" pitchFamily="18" charset="0"/>
              </a:rPr>
              <a:t>: 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effectLst/>
              </a:rPr>
              <a:t>Thực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thể</a:t>
            </a:r>
            <a:r>
              <a:rPr lang="en-US" dirty="0">
                <a:solidFill>
                  <a:schemeClr val="tx1"/>
                </a:solidFill>
                <a:effectLst/>
              </a:rPr>
              <a:t> - </a:t>
            </a:r>
            <a:r>
              <a:rPr lang="en-US" dirty="0" err="1">
                <a:solidFill>
                  <a:schemeClr val="tx1"/>
                </a:solidFill>
                <a:effectLst/>
              </a:rPr>
              <a:t>thuộc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tính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 eaLnBrk="1" hangingPunct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effectLst/>
              </a:rPr>
              <a:t>Mối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quan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hệ</a:t>
            </a:r>
            <a:r>
              <a:rPr lang="en-US" dirty="0">
                <a:solidFill>
                  <a:schemeClr val="tx1"/>
                </a:solidFill>
                <a:effectLst/>
              </a:rPr>
              <a:t> - </a:t>
            </a:r>
            <a:r>
              <a:rPr lang="en-US" dirty="0" err="1">
                <a:solidFill>
                  <a:schemeClr val="tx1"/>
                </a:solidFill>
                <a:effectLst/>
              </a:rPr>
              <a:t>thuộc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tính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 eaLnBrk="1" hangingPunct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effectLst/>
              </a:rPr>
              <a:t>Thực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thể</a:t>
            </a:r>
            <a:r>
              <a:rPr lang="en-US" dirty="0">
                <a:solidFill>
                  <a:schemeClr val="tx1"/>
                </a:solidFill>
                <a:effectLst/>
              </a:rPr>
              <a:t> - </a:t>
            </a:r>
            <a:r>
              <a:rPr lang="en-US" dirty="0" err="1">
                <a:solidFill>
                  <a:schemeClr val="tx1"/>
                </a:solidFill>
                <a:effectLst/>
              </a:rPr>
              <a:t>mối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quan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hệ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46CDAB-0646-4D12-AE91-9BCC9D965F35}" type="slidenum">
              <a:rPr lang="en-US"/>
              <a:pPr>
                <a:defRPr/>
              </a:pPr>
              <a:t>38</a:t>
            </a:fld>
            <a:endParaRPr lang="en-US"/>
          </a:p>
        </p:txBody>
      </p:sp>
      <p:pic>
        <p:nvPicPr>
          <p:cNvPr id="3072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438400"/>
            <a:ext cx="4760686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0080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3.7.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Lược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đồ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7" name="Picture 6" descr="283px-Erd-entity-relationship-example1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80" y="2169387"/>
            <a:ext cx="4020519" cy="838200"/>
          </a:xfrm>
          <a:prstGeom prst="rect">
            <a:avLst/>
          </a:prstGeom>
        </p:spPr>
      </p:pic>
      <p:pic>
        <p:nvPicPr>
          <p:cNvPr id="8" name="Picture 7" descr="Erd-id-as-primary-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80" y="5334000"/>
            <a:ext cx="990000" cy="666000"/>
          </a:xfrm>
          <a:prstGeom prst="rect">
            <a:avLst/>
          </a:prstGeom>
        </p:spPr>
      </p:pic>
      <p:pic>
        <p:nvPicPr>
          <p:cNvPr id="9" name="Picture 8" descr="Erd-relationship-with-attrib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080" y="4210800"/>
            <a:ext cx="3492000" cy="918000"/>
          </a:xfrm>
          <a:prstGeom prst="rect">
            <a:avLst/>
          </a:prstGeom>
        </p:spPr>
      </p:pic>
      <p:pic>
        <p:nvPicPr>
          <p:cNvPr id="10" name="Picture 9" descr="193px-Erd-entity-with-attribute.s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6880" y="3296400"/>
            <a:ext cx="3016738" cy="609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27680" y="2382000"/>
            <a:ext cx="2580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Entity Relation Diagram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55680" y="3429000"/>
            <a:ext cx="191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Tahoma" pitchFamily="34" charset="0"/>
                <a:cs typeface="Tahoma" pitchFamily="34" charset="0"/>
              </a:rPr>
              <a:t>Thực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thể</a:t>
            </a:r>
            <a:r>
              <a:rPr lang="en-US" dirty="0">
                <a:latin typeface="Tahoma" pitchFamily="34" charset="0"/>
                <a:cs typeface="Tahoma" pitchFamily="34" charset="0"/>
              </a:rPr>
              <a:t> (Entity)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961080" y="3440668"/>
            <a:ext cx="2395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Attribute (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Thuộc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tính</a:t>
            </a:r>
            <a:r>
              <a:rPr lang="en-US" dirty="0">
                <a:latin typeface="Tahoma" pitchFamily="34" charset="0"/>
                <a:cs typeface="Tahoma" pitchFamily="34" charset="0"/>
              </a:rPr>
              <a:t>)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6189680" y="4431268"/>
            <a:ext cx="2395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Attribute (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Thuộc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tính</a:t>
            </a:r>
            <a:r>
              <a:rPr lang="en-US" dirty="0">
                <a:latin typeface="Tahoma" pitchFamily="34" charset="0"/>
                <a:cs typeface="Tahoma" pitchFamily="34" charset="0"/>
              </a:rPr>
              <a:t>)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855680" y="4251213"/>
            <a:ext cx="16337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Tahoma" pitchFamily="34" charset="0"/>
                <a:cs typeface="Tahoma" pitchFamily="34" charset="0"/>
              </a:rPr>
              <a:t>Relationship </a:t>
            </a:r>
          </a:p>
          <a:p>
            <a:pPr algn="ctr"/>
            <a:r>
              <a:rPr lang="en-US" dirty="0">
                <a:latin typeface="Tahoma" pitchFamily="34" charset="0"/>
                <a:cs typeface="Tahoma" pitchFamily="34" charset="0"/>
              </a:rPr>
              <a:t>(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mối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quan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hệ</a:t>
            </a:r>
            <a:r>
              <a:rPr lang="en-US" dirty="0">
                <a:latin typeface="Tahoma" pitchFamily="34" charset="0"/>
                <a:cs typeface="Tahoma" pitchFamily="34" charset="0"/>
              </a:rPr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294080" y="5498068"/>
            <a:ext cx="3295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Primary Key (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Thuộc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tính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khoá</a:t>
            </a:r>
            <a:r>
              <a:rPr lang="en-US" dirty="0">
                <a:latin typeface="Tahoma" pitchFamily="34" charset="0"/>
                <a:cs typeface="Tahoma" pitchFamily="34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647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3.7.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Lược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đồ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ER</a:t>
            </a:r>
            <a:endParaRPr lang="en-US" sz="35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6867" name="Rectangle 4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5410200" cy="46482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v"/>
            </a:pPr>
            <a:r>
              <a:rPr lang="en-US" sz="2400" dirty="0" err="1">
                <a:effectLst/>
              </a:rPr>
              <a:t>Chọn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là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thực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khi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có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thể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xác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định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một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số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đặc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trưng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cơ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bản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như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các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thuộc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tính</a:t>
            </a:r>
            <a:r>
              <a:rPr lang="en-US" sz="2400" dirty="0">
                <a:effectLst/>
              </a:rPr>
              <a:t>, </a:t>
            </a:r>
            <a:r>
              <a:rPr lang="en-US" sz="2400" dirty="0" err="1">
                <a:effectLst/>
              </a:rPr>
              <a:t>mối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kết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hợp</a:t>
            </a:r>
            <a:r>
              <a:rPr lang="en-US" sz="2400" dirty="0">
                <a:effectLst/>
              </a:rPr>
              <a:t>, </a:t>
            </a:r>
            <a:r>
              <a:rPr lang="en-US" sz="2400" dirty="0" err="1">
                <a:effectLst/>
              </a:rPr>
              <a:t>tổng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quát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hoá</a:t>
            </a:r>
            <a:r>
              <a:rPr lang="en-US" sz="2400" dirty="0">
                <a:effectLst/>
              </a:rPr>
              <a:t> hay </a:t>
            </a:r>
            <a:r>
              <a:rPr lang="en-US" sz="2400" dirty="0" err="1">
                <a:effectLst/>
              </a:rPr>
              <a:t>chuyên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biệt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hoá</a:t>
            </a:r>
            <a:endParaRPr lang="en-US" sz="2400" dirty="0">
              <a:effectLst/>
            </a:endParaRPr>
          </a:p>
          <a:p>
            <a:pPr algn="just" eaLnBrk="1" hangingPunct="1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v"/>
            </a:pPr>
            <a:r>
              <a:rPr lang="en-US" sz="2400" dirty="0" err="1">
                <a:effectLst/>
              </a:rPr>
              <a:t>Chọn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là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thuộc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tính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khi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đối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tượng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có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cấu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trúc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nguyên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tố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đơn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giản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và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không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có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các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đặc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trưng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khác</a:t>
            </a:r>
            <a:endParaRPr lang="en-US" sz="2400" dirty="0">
              <a:effectLst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8E3693-722E-412B-BC4B-004A08E14DAF}" type="slidenum">
              <a:rPr lang="en-US"/>
              <a:pPr>
                <a:defRPr/>
              </a:pPr>
              <a:t>40</a:t>
            </a:fld>
            <a:endParaRPr lang="en-US"/>
          </a:p>
        </p:txBody>
      </p:sp>
      <p:pic>
        <p:nvPicPr>
          <p:cNvPr id="3687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165" y="1447800"/>
            <a:ext cx="2360035" cy="458475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06004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3.7.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Lược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đồ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vẽ</a:t>
            </a:r>
            <a:r>
              <a:rPr lang="en-US" sz="2400" dirty="0"/>
              <a:t> ERD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endParaRPr lang="en-US" sz="2400" dirty="0"/>
          </a:p>
        </p:txBody>
      </p:sp>
      <p:pic>
        <p:nvPicPr>
          <p:cNvPr id="6" name="Picture 5" descr="ERD_Typ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6577"/>
          <a:stretch>
            <a:fillRect/>
          </a:stretch>
        </p:blipFill>
        <p:spPr>
          <a:xfrm>
            <a:off x="304800" y="2057400"/>
            <a:ext cx="4018604" cy="4114800"/>
          </a:xfrm>
          <a:prstGeom prst="rect">
            <a:avLst/>
          </a:prstGeom>
        </p:spPr>
      </p:pic>
      <p:pic>
        <p:nvPicPr>
          <p:cNvPr id="7" name="Picture 6" descr="ERD_Typ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3727" r="-13" b="304"/>
          <a:stretch>
            <a:fillRect/>
          </a:stretch>
        </p:blipFill>
        <p:spPr>
          <a:xfrm>
            <a:off x="4724400" y="2133600"/>
            <a:ext cx="415187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9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bước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tạo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ERD</a:t>
            </a:r>
          </a:p>
        </p:txBody>
      </p:sp>
      <p:sp>
        <p:nvSpPr>
          <p:cNvPr id="38915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3058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,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endParaRPr lang="en-US" sz="24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,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endParaRPr lang="en-US" sz="24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endParaRPr lang="en-US" sz="24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2400" dirty="0" err="1"/>
              <a:t>Vẽ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cụ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endParaRPr lang="en-US" sz="2400" dirty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dirty="0"/>
              <a:t>MS Visio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dirty="0" err="1"/>
              <a:t>PowerDesigner</a:t>
            </a:r>
            <a:endParaRPr lang="en-US" dirty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dirty="0"/>
              <a:t>Case Studio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7B3C70-962F-48C0-81C5-54DC73E473E0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6667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7" name="Content Placeholder 7" descr="673px-ER_Diagram_MMOR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211438"/>
            <a:ext cx="8592787" cy="596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4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8" name="Content Placeholder 14" descr="has_many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3968"/>
          <a:stretch>
            <a:fillRect/>
          </a:stretch>
        </p:blipFill>
        <p:spPr>
          <a:xfrm>
            <a:off x="975946" y="228600"/>
            <a:ext cx="6872654" cy="2254751"/>
          </a:xfrm>
          <a:prstGeom prst="rect">
            <a:avLst/>
          </a:prstGeom>
        </p:spPr>
      </p:pic>
      <p:pic>
        <p:nvPicPr>
          <p:cNvPr id="9" name="Picture 8" descr="has_many_through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000"/>
          <a:stretch>
            <a:fillRect/>
          </a:stretch>
        </p:blipFill>
        <p:spPr>
          <a:xfrm>
            <a:off x="975946" y="2060902"/>
            <a:ext cx="7329854" cy="433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9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ERD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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Bảng</a:t>
            </a:r>
            <a:endParaRPr lang="en-US" sz="3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9939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686800" cy="5029200"/>
          </a:xfrm>
          <a:noFill/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dirty="0" err="1">
                <a:effectLst/>
                <a:cs typeface="Times New Roman" pitchFamily="18" charset="0"/>
              </a:rPr>
              <a:t>Đây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là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bước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chuyển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đổi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từ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giai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đoạn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phân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tích</a:t>
            </a:r>
            <a:r>
              <a:rPr lang="en-US" sz="2400" dirty="0">
                <a:effectLst/>
                <a:cs typeface="Times New Roman" pitchFamily="18" charset="0"/>
              </a:rPr>
              <a:t> sang </a:t>
            </a:r>
            <a:r>
              <a:rPr lang="en-US" sz="2400" dirty="0" err="1">
                <a:effectLst/>
                <a:cs typeface="Times New Roman" pitchFamily="18" charset="0"/>
              </a:rPr>
              <a:t>giai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đoạn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thiết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kế</a:t>
            </a:r>
            <a:endParaRPr lang="en-US" sz="2400" dirty="0">
              <a:effectLst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dirty="0" err="1">
                <a:effectLst/>
                <a:cs typeface="Times New Roman" pitchFamily="18" charset="0"/>
              </a:rPr>
              <a:t>Chuyển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đổi</a:t>
            </a:r>
            <a:r>
              <a:rPr lang="en-US" sz="2400" dirty="0">
                <a:effectLst/>
                <a:cs typeface="Times New Roman" pitchFamily="18" charset="0"/>
              </a:rPr>
              <a:t> ERD </a:t>
            </a:r>
            <a:r>
              <a:rPr lang="en-US" sz="2400" dirty="0" err="1">
                <a:effectLst/>
                <a:cs typeface="Times New Roman" pitchFamily="18" charset="0"/>
              </a:rPr>
              <a:t>thành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Mô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hình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vật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lý</a:t>
            </a:r>
            <a:r>
              <a:rPr lang="en-US" sz="2400" dirty="0">
                <a:effectLst/>
                <a:cs typeface="Times New Roman" pitchFamily="18" charset="0"/>
              </a:rPr>
              <a:t> ≡ BẢNG (</a:t>
            </a:r>
            <a:r>
              <a:rPr lang="en-US" sz="2400" dirty="0" err="1">
                <a:effectLst/>
                <a:cs typeface="Times New Roman" pitchFamily="18" charset="0"/>
              </a:rPr>
              <a:t>lưu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trữ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và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quản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lý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bởi</a:t>
            </a:r>
            <a:r>
              <a:rPr lang="en-US" sz="2400" dirty="0">
                <a:effectLst/>
                <a:cs typeface="Times New Roman" pitchFamily="18" charset="0"/>
              </a:rPr>
              <a:t> DBMS </a:t>
            </a:r>
            <a:r>
              <a:rPr lang="en-US" sz="2400" dirty="0" err="1">
                <a:effectLst/>
                <a:cs typeface="Times New Roman" pitchFamily="18" charset="0"/>
              </a:rPr>
              <a:t>trong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các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thiết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bị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lưu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trữ</a:t>
            </a:r>
            <a:r>
              <a:rPr lang="en-US" sz="2400" dirty="0">
                <a:effectLst/>
                <a:cs typeface="Times New Roman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dirty="0" err="1">
                <a:effectLst/>
                <a:cs typeface="Times New Roman" pitchFamily="18" charset="0"/>
              </a:rPr>
              <a:t>Quy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tắc</a:t>
            </a:r>
            <a:endParaRPr lang="en-US" sz="2400" dirty="0">
              <a:effectLst/>
              <a:cs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Thực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thể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  <a:sym typeface="Wingdings" pitchFamily="2" charset="2"/>
              </a:rPr>
              <a:t>Bảng</a:t>
            </a:r>
            <a:endParaRPr lang="en-US" dirty="0">
              <a:solidFill>
                <a:schemeClr val="tx1"/>
              </a:solidFill>
              <a:effectLst/>
              <a:cs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Mối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hợp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bảng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hoặc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không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bảng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tuỳ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theo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bản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số</a:t>
            </a:r>
            <a:endParaRPr lang="en-US" dirty="0">
              <a:solidFill>
                <a:schemeClr val="tx1"/>
              </a:solidFill>
              <a:effectLst/>
              <a:cs typeface="Times New Roman" pitchFamily="18" charset="0"/>
            </a:endParaRPr>
          </a:p>
          <a:p>
            <a:pPr lvl="2" algn="just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effectLst/>
                <a:cs typeface="Times New Roman" pitchFamily="18" charset="0"/>
              </a:rPr>
              <a:t>1 – n : </a:t>
            </a:r>
            <a:r>
              <a:rPr lang="en-US" sz="2200" dirty="0" err="1">
                <a:effectLst/>
                <a:cs typeface="Times New Roman" pitchFamily="18" charset="0"/>
              </a:rPr>
              <a:t>chuyển</a:t>
            </a:r>
            <a:r>
              <a:rPr lang="en-US" sz="2200" dirty="0">
                <a:effectLst/>
                <a:cs typeface="Times New Roman" pitchFamily="18" charset="0"/>
              </a:rPr>
              <a:t> </a:t>
            </a:r>
            <a:r>
              <a:rPr lang="en-US" sz="2200" dirty="0" err="1">
                <a:effectLst/>
                <a:cs typeface="Times New Roman" pitchFamily="18" charset="0"/>
              </a:rPr>
              <a:t>thành</a:t>
            </a:r>
            <a:r>
              <a:rPr lang="en-US" sz="2200" dirty="0">
                <a:effectLst/>
                <a:cs typeface="Times New Roman" pitchFamily="18" charset="0"/>
              </a:rPr>
              <a:t> cha – con </a:t>
            </a:r>
            <a:r>
              <a:rPr lang="en-US" sz="2200" dirty="0" err="1">
                <a:effectLst/>
                <a:cs typeface="Times New Roman" pitchFamily="18" charset="0"/>
              </a:rPr>
              <a:t>với</a:t>
            </a:r>
            <a:r>
              <a:rPr lang="en-US" sz="2200" dirty="0">
                <a:effectLst/>
                <a:cs typeface="Times New Roman" pitchFamily="18" charset="0"/>
              </a:rPr>
              <a:t> </a:t>
            </a:r>
            <a:r>
              <a:rPr lang="en-US" sz="2200" dirty="0" err="1">
                <a:effectLst/>
                <a:cs typeface="Times New Roman" pitchFamily="18" charset="0"/>
              </a:rPr>
              <a:t>ràng</a:t>
            </a:r>
            <a:r>
              <a:rPr lang="en-US" sz="2200" dirty="0">
                <a:effectLst/>
                <a:cs typeface="Times New Roman" pitchFamily="18" charset="0"/>
              </a:rPr>
              <a:t> </a:t>
            </a:r>
            <a:r>
              <a:rPr lang="en-US" sz="2200" dirty="0" err="1">
                <a:effectLst/>
                <a:cs typeface="Times New Roman" pitchFamily="18" charset="0"/>
              </a:rPr>
              <a:t>buộc</a:t>
            </a:r>
            <a:r>
              <a:rPr lang="en-US" sz="2200" dirty="0">
                <a:effectLst/>
                <a:cs typeface="Times New Roman" pitchFamily="18" charset="0"/>
              </a:rPr>
              <a:t> </a:t>
            </a:r>
            <a:r>
              <a:rPr lang="en-US" sz="2200" dirty="0" err="1">
                <a:effectLst/>
                <a:cs typeface="Times New Roman" pitchFamily="18" charset="0"/>
              </a:rPr>
              <a:t>khoá</a:t>
            </a:r>
            <a:r>
              <a:rPr lang="en-US" sz="2200" dirty="0">
                <a:effectLst/>
                <a:cs typeface="Times New Roman" pitchFamily="18" charset="0"/>
              </a:rPr>
              <a:t> </a:t>
            </a:r>
            <a:r>
              <a:rPr lang="en-US" sz="2200" dirty="0" err="1">
                <a:effectLst/>
                <a:cs typeface="Times New Roman" pitchFamily="18" charset="0"/>
              </a:rPr>
              <a:t>ngoại</a:t>
            </a:r>
            <a:endParaRPr lang="en-US" sz="2200" dirty="0">
              <a:effectLst/>
              <a:cs typeface="Times New Roman" pitchFamily="18" charset="0"/>
            </a:endParaRPr>
          </a:p>
          <a:p>
            <a:pPr lvl="2" algn="just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>
                <a:effectLst/>
                <a:cs typeface="Times New Roman" pitchFamily="18" charset="0"/>
              </a:rPr>
              <a:t>m – n: </a:t>
            </a:r>
            <a:r>
              <a:rPr lang="en-US" sz="2200" dirty="0" err="1">
                <a:effectLst/>
                <a:cs typeface="Times New Roman" pitchFamily="18" charset="0"/>
              </a:rPr>
              <a:t>chuyển</a:t>
            </a:r>
            <a:r>
              <a:rPr lang="en-US" sz="2200" dirty="0">
                <a:effectLst/>
                <a:cs typeface="Times New Roman" pitchFamily="18" charset="0"/>
              </a:rPr>
              <a:t> </a:t>
            </a:r>
            <a:r>
              <a:rPr lang="en-US" sz="2200" dirty="0" err="1">
                <a:effectLst/>
                <a:cs typeface="Times New Roman" pitchFamily="18" charset="0"/>
              </a:rPr>
              <a:t>thành</a:t>
            </a:r>
            <a:r>
              <a:rPr lang="en-US" sz="2200" dirty="0">
                <a:effectLst/>
                <a:cs typeface="Times New Roman" pitchFamily="18" charset="0"/>
              </a:rPr>
              <a:t> </a:t>
            </a:r>
            <a:r>
              <a:rPr lang="en-US" sz="2200" dirty="0" err="1">
                <a:effectLst/>
                <a:cs typeface="Times New Roman" pitchFamily="18" charset="0"/>
              </a:rPr>
              <a:t>thực</a:t>
            </a:r>
            <a:r>
              <a:rPr lang="en-US" sz="2200" dirty="0">
                <a:effectLst/>
                <a:cs typeface="Times New Roman" pitchFamily="18" charset="0"/>
              </a:rPr>
              <a:t> </a:t>
            </a:r>
            <a:r>
              <a:rPr lang="en-US" sz="2200" dirty="0" err="1">
                <a:effectLst/>
                <a:cs typeface="Times New Roman" pitchFamily="18" charset="0"/>
              </a:rPr>
              <a:t>thể</a:t>
            </a:r>
            <a:endParaRPr lang="en-US" sz="2200" dirty="0">
              <a:effectLst/>
              <a:cs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Ràng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buộc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khoá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chính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ràng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buộc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khoá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ngoại</a:t>
            </a:r>
            <a:endParaRPr lang="en-US" dirty="0">
              <a:solidFill>
                <a:schemeClr val="tx1"/>
              </a:solidFill>
              <a:effectLst/>
              <a:cs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Qui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tắc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vẽ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đường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tham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chiếu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giữa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quan</a:t>
            </a:r>
            <a:r>
              <a:rPr lang="en-US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  <a:cs typeface="Times New Roman" pitchFamily="18" charset="0"/>
              </a:rPr>
              <a:t>hệ</a:t>
            </a:r>
            <a:endParaRPr lang="en-US" dirty="0">
              <a:solidFill>
                <a:schemeClr val="tx1"/>
              </a:solidFill>
              <a:effectLst/>
              <a:cs typeface="Times New Roman" pitchFamily="18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9DBF18-F58C-45F7-A722-45F5737132F6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53265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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Bảng</a:t>
            </a:r>
            <a:endParaRPr lang="en-US" sz="35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9939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686800" cy="5105400"/>
          </a:xfrm>
          <a:noFill/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dirty="0" err="1">
                <a:effectLst/>
                <a:cs typeface="Times New Roman" pitchFamily="18" charset="0"/>
              </a:rPr>
              <a:t>Mối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quan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hệ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một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nhiều</a:t>
            </a:r>
            <a:r>
              <a:rPr lang="en-US" sz="2400" dirty="0">
                <a:effectLst/>
                <a:cs typeface="Times New Roman" pitchFamily="18" charset="0"/>
              </a:rPr>
              <a:t>: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400" dirty="0">
              <a:effectLst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Khóa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B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thành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khóa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ngoại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A</a:t>
            </a:r>
            <a:endParaRPr lang="en-US" sz="2400" dirty="0">
              <a:effectLst/>
              <a:cs typeface="Times New Roman" pitchFamily="18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9DBF18-F58C-45F7-A722-45F5737132F6}" type="slidenum">
              <a:rPr lang="en-US"/>
              <a:pPr>
                <a:defRPr/>
              </a:pPr>
              <a:t>46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70" y="3545633"/>
            <a:ext cx="7697275" cy="138131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677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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Bảng</a:t>
            </a:r>
            <a:endParaRPr lang="en-US" sz="35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9939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686800" cy="5029200"/>
          </a:xfrm>
          <a:noFill/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dirty="0" err="1">
                <a:effectLst/>
                <a:cs typeface="Times New Roman" pitchFamily="18" charset="0"/>
              </a:rPr>
              <a:t>Mối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quan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hệ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nhiều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nhiều</a:t>
            </a:r>
            <a:r>
              <a:rPr lang="en-US" sz="2400" dirty="0">
                <a:effectLst/>
                <a:cs typeface="Times New Roman" pitchFamily="18" charset="0"/>
              </a:rPr>
              <a:t>: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400" dirty="0">
              <a:effectLst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400" dirty="0">
              <a:effectLst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400" dirty="0">
              <a:effectLst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Phát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sinh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thêm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bảng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C.</a:t>
            </a:r>
          </a:p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Cách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1: 				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Cách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2:</a:t>
            </a:r>
            <a:endParaRPr lang="en-US" sz="2400" dirty="0">
              <a:effectLst/>
              <a:cs typeface="Times New Roman" pitchFamily="18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9DBF18-F58C-45F7-A722-45F5737132F6}" type="slidenum">
              <a:rPr lang="en-US"/>
              <a:pPr>
                <a:defRPr/>
              </a:pPr>
              <a:t>47</a:t>
            </a:fld>
            <a:endParaRPr lang="en-US"/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97" y="2104918"/>
            <a:ext cx="8377335" cy="70463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0" y="4058816"/>
            <a:ext cx="4477375" cy="2124372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665" y="4058816"/>
            <a:ext cx="4391638" cy="214342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034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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Bảng</a:t>
            </a:r>
            <a:endParaRPr lang="en-US" sz="35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9939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86800" cy="5257800"/>
          </a:xfrm>
          <a:noFill/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endParaRPr lang="en-US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dirty="0">
              <a:effectLst/>
              <a:latin typeface="Times New Roman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dirty="0">
              <a:effectLst/>
              <a:latin typeface="Times New Roman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4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9DBF18-F58C-45F7-A722-45F5737132F6}" type="slidenum">
              <a:rPr lang="en-US"/>
              <a:pPr>
                <a:defRPr/>
              </a:pPr>
              <a:t>48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24" y="1600200"/>
            <a:ext cx="7246776" cy="4698122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513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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Bảng</a:t>
            </a:r>
            <a:endParaRPr lang="en-US" sz="35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9939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686800" cy="5181600"/>
          </a:xfrm>
          <a:noFill/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dirty="0" err="1">
                <a:effectLst/>
                <a:cs typeface="Times New Roman" pitchFamily="18" charset="0"/>
              </a:rPr>
              <a:t>Mối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quan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hệ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một</a:t>
            </a:r>
            <a:r>
              <a:rPr lang="en-US" sz="2400" dirty="0">
                <a:effectLst/>
                <a:cs typeface="Times New Roman" pitchFamily="18" charset="0"/>
              </a:rPr>
              <a:t> </a:t>
            </a:r>
            <a:r>
              <a:rPr lang="en-US" sz="2400" dirty="0" err="1">
                <a:effectLst/>
                <a:cs typeface="Times New Roman" pitchFamily="18" charset="0"/>
              </a:rPr>
              <a:t>một</a:t>
            </a:r>
            <a:r>
              <a:rPr lang="en-US" sz="2400" dirty="0">
                <a:effectLst/>
                <a:cs typeface="Times New Roman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endParaRPr lang="en-US" sz="2400" dirty="0">
              <a:effectLst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400" dirty="0">
              <a:effectLst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400" dirty="0">
              <a:effectLst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Khóa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B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thành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khóa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ngoại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A,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và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ngược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lại</a:t>
            </a:r>
            <a:endParaRPr lang="en-US" sz="2400" dirty="0">
              <a:effectLst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2400" dirty="0">
                <a:cs typeface="Times New Roman" pitchFamily="18" charset="0"/>
                <a:sym typeface="Wingdings" panose="05000000000000000000" pitchFamily="2" charset="2"/>
              </a:rPr>
              <a:t>      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                                                   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hoặc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có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thể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gom</a:t>
            </a:r>
            <a:r>
              <a:rPr lang="en-US" sz="2400" dirty="0">
                <a:effectLst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effectLst/>
                <a:cs typeface="Times New Roman" pitchFamily="18" charset="0"/>
                <a:sym typeface="Wingdings" panose="05000000000000000000" pitchFamily="2" charset="2"/>
              </a:rPr>
              <a:t>chung</a:t>
            </a:r>
            <a:endParaRPr lang="en-US" sz="2400" dirty="0">
              <a:effectLst/>
              <a:cs typeface="Times New Roman" pitchFamily="18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9DBF18-F58C-45F7-A722-45F5737132F6}" type="slidenum">
              <a:rPr lang="en-US"/>
              <a:pPr>
                <a:defRPr/>
              </a:pPr>
              <a:t>49</a:t>
            </a:fld>
            <a:endParaRPr lang="en-US"/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24069"/>
            <a:ext cx="8077200" cy="590531"/>
          </a:xfrm>
          <a:prstGeom prst="rect">
            <a:avLst/>
          </a:prstGeom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733928"/>
            <a:ext cx="3771613" cy="1676272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29" y="3762485"/>
            <a:ext cx="2007262" cy="2562115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809052"/>
            <a:ext cx="1981200" cy="251554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0" name="5-Point Star 9">
            <a:hlinkClick r:id="rId6" action="ppaction://hlinksldjump"/>
          </p:cNvPr>
          <p:cNvSpPr/>
          <p:nvPr/>
        </p:nvSpPr>
        <p:spPr>
          <a:xfrm>
            <a:off x="342900" y="601980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2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228600"/>
            <a:ext cx="8534400" cy="914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RDM</a:t>
            </a:r>
            <a:br>
              <a:rPr lang="en-US" sz="32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(RELATIONAL DATA MODEL)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311B4-787A-4534-AC05-C8D627DCB8E7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Char char="v"/>
            </a:pP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r>
              <a:rPr lang="en-US" sz="2400" dirty="0"/>
              <a:t> </a:t>
            </a:r>
            <a:r>
              <a:rPr lang="en-US" sz="2400" dirty="0" err="1"/>
              <a:t>bởi</a:t>
            </a:r>
            <a:r>
              <a:rPr lang="en-US" sz="2400" dirty="0"/>
              <a:t> Dr. E F </a:t>
            </a:r>
            <a:r>
              <a:rPr lang="en-US" sz="2400" dirty="0" err="1"/>
              <a:t>Codd</a:t>
            </a:r>
            <a:r>
              <a:rPr lang="en-US" sz="2400" dirty="0"/>
              <a:t> </a:t>
            </a:r>
            <a:r>
              <a:rPr lang="en-US" sz="2400" dirty="0" err="1"/>
              <a:t>năm</a:t>
            </a:r>
            <a:r>
              <a:rPr lang="en-US" sz="2400" dirty="0"/>
              <a:t> 1970.</a:t>
            </a:r>
          </a:p>
          <a:p>
            <a:pPr marL="569913" lvl="1" indent="0" algn="just" eaLnBrk="1" hangingPunct="1">
              <a:buNone/>
            </a:pPr>
            <a:r>
              <a:rPr lang="en-US" dirty="0">
                <a:solidFill>
                  <a:schemeClr val="tx1"/>
                </a:solidFill>
              </a:rPr>
              <a:t>“A Relation Model for Large Shared Data Banks”, Communications of ACM, 6/1970</a:t>
            </a:r>
          </a:p>
          <a:p>
            <a:pPr algn="just" eaLnBrk="1" hangingPunct="1">
              <a:buFont typeface="Wingdings" pitchFamily="2" charset="2"/>
              <a:buChar char="v"/>
            </a:pP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,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</a:p>
          <a:p>
            <a:pPr marL="569913" lvl="1" indent="0" algn="just">
              <a:buNone/>
            </a:pPr>
            <a:r>
              <a:rPr lang="en-US" dirty="0" err="1">
                <a:solidFill>
                  <a:schemeClr val="tx1"/>
                </a:solidFill>
              </a:rPr>
              <a:t>Khái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niệm</a:t>
            </a:r>
            <a:r>
              <a:rPr lang="en-US" dirty="0">
                <a:solidFill>
                  <a:schemeClr val="tx1"/>
                </a:solidFill>
              </a:rPr>
              <a:t> “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algn="just" eaLnBrk="1" hangingPunct="1">
              <a:buFont typeface="Wingdings" pitchFamily="2" charset="2"/>
              <a:buChar char="v"/>
            </a:pPr>
            <a:r>
              <a:rPr lang="en-US" sz="2400" dirty="0" err="1"/>
              <a:t>Nền</a:t>
            </a:r>
            <a:r>
              <a:rPr lang="en-US" sz="2400" dirty="0"/>
              <a:t> </a:t>
            </a:r>
            <a:r>
              <a:rPr lang="en-US" sz="2400" dirty="0" err="1"/>
              <a:t>tảng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thuyết</a:t>
            </a:r>
            <a:r>
              <a:rPr lang="en-US" sz="2400" dirty="0"/>
              <a:t> </a:t>
            </a:r>
            <a:r>
              <a:rPr lang="en-US" sz="2400" dirty="0" err="1"/>
              <a:t>vững</a:t>
            </a:r>
            <a:r>
              <a:rPr lang="en-US" sz="2400" dirty="0"/>
              <a:t> </a:t>
            </a:r>
            <a:r>
              <a:rPr lang="en-US" sz="2400" dirty="0" err="1"/>
              <a:t>chắc</a:t>
            </a:r>
            <a:r>
              <a:rPr lang="en-US" sz="2400" dirty="0"/>
              <a:t>: </a:t>
            </a:r>
          </a:p>
          <a:p>
            <a:pPr marL="569913" lvl="1" indent="0" algn="just">
              <a:buNone/>
            </a:pPr>
            <a:r>
              <a:rPr lang="en-US" dirty="0" err="1">
                <a:solidFill>
                  <a:schemeClr val="tx1"/>
                </a:solidFill>
              </a:rPr>
              <a:t>Lý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thuyết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endParaRPr lang="en-US" dirty="0">
              <a:solidFill>
                <a:schemeClr val="tx1"/>
              </a:solidFill>
            </a:endParaRPr>
          </a:p>
          <a:p>
            <a:pPr algn="just" eaLnBrk="1" hangingPunct="1">
              <a:buFont typeface="Wingdings" pitchFamily="2" charset="2"/>
              <a:buChar char="v"/>
            </a:pP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hầu</a:t>
            </a:r>
            <a:r>
              <a:rPr lang="en-US" sz="2400" dirty="0"/>
              <a:t> </a:t>
            </a:r>
            <a:r>
              <a:rPr lang="en-US" sz="2400" dirty="0" err="1"/>
              <a:t>hết</a:t>
            </a:r>
            <a:r>
              <a:rPr lang="en-US" sz="2400" dirty="0"/>
              <a:t> DBMS </a:t>
            </a:r>
            <a:r>
              <a:rPr lang="en-US" sz="2400" dirty="0" err="1"/>
              <a:t>thương</a:t>
            </a:r>
            <a:r>
              <a:rPr lang="en-US" sz="2400" dirty="0"/>
              <a:t> </a:t>
            </a:r>
            <a:r>
              <a:rPr lang="en-US" sz="2400" dirty="0" err="1"/>
              <a:t>mại</a:t>
            </a:r>
            <a:endParaRPr lang="en-US" sz="2400" dirty="0"/>
          </a:p>
          <a:p>
            <a:pPr marL="569913" lvl="1" indent="0" algn="just" eaLnBrk="1" hangingPunct="1">
              <a:buNone/>
            </a:pPr>
            <a:r>
              <a:rPr lang="en-US" dirty="0">
                <a:solidFill>
                  <a:schemeClr val="tx1"/>
                </a:solidFill>
              </a:rPr>
              <a:t>Oracle, DB2, SQL Server, ...</a:t>
            </a:r>
          </a:p>
          <a:p>
            <a:pPr marL="569913" lvl="1" indent="0" algn="just">
              <a:buNone/>
            </a:pPr>
            <a:r>
              <a:rPr lang="en-US" sz="2000" dirty="0" err="1">
                <a:solidFill>
                  <a:schemeClr val="tx1"/>
                </a:solidFill>
              </a:rPr>
              <a:t>Các</a:t>
            </a:r>
            <a:r>
              <a:rPr lang="en-US" sz="2000" dirty="0">
                <a:solidFill>
                  <a:schemeClr val="tx1"/>
                </a:solidFill>
              </a:rPr>
              <a:t> HQT CSDL </a:t>
            </a:r>
            <a:r>
              <a:rPr lang="en-US" sz="2000" dirty="0" err="1">
                <a:solidFill>
                  <a:schemeClr val="tx1"/>
                </a:solidFill>
              </a:rPr>
              <a:t>mạnh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hiện</a:t>
            </a:r>
            <a:r>
              <a:rPr lang="en-US" sz="2000" dirty="0">
                <a:solidFill>
                  <a:schemeClr val="tx1"/>
                </a:solidFill>
              </a:rPr>
              <a:t> nay </a:t>
            </a:r>
            <a:r>
              <a:rPr lang="en-US" sz="2000" dirty="0" err="1">
                <a:solidFill>
                  <a:schemeClr val="tx1"/>
                </a:solidFill>
              </a:rPr>
              <a:t>nhue</a:t>
            </a:r>
            <a:r>
              <a:rPr lang="en-US" sz="2000" dirty="0">
                <a:solidFill>
                  <a:schemeClr val="tx1"/>
                </a:solidFill>
              </a:rPr>
              <a:t> MS SQL, Oracle… </a:t>
            </a:r>
            <a:r>
              <a:rPr lang="en-US" sz="2000" dirty="0" err="1">
                <a:solidFill>
                  <a:schemeClr val="tx1"/>
                </a:solidFill>
              </a:rPr>
              <a:t>đều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được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cài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đặt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dựa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trên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lý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thuyết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của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mô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hình</a:t>
            </a:r>
            <a:r>
              <a:rPr lang="en-US" sz="2000" dirty="0">
                <a:solidFill>
                  <a:schemeClr val="tx1"/>
                </a:solidFill>
              </a:rPr>
              <a:t> DLQH</a:t>
            </a:r>
          </a:p>
          <a:p>
            <a:pPr marL="569913" lvl="1" indent="0" algn="just" eaLnBrk="1" hangingPunct="1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7043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5C2448-B637-4ABC-A0AE-A705D65F0B6A}" type="slidenum">
              <a:rPr lang="en-US"/>
              <a:pPr>
                <a:defRPr/>
              </a:pPr>
              <a:t>51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 eaLnBrk="1" hangingPunct="1">
              <a:lnSpc>
                <a:spcPct val="125000"/>
              </a:lnSpc>
              <a:buFont typeface="+mj-lt"/>
              <a:buAutoNum type="alphaLcParenR"/>
            </a:pP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(Relation)</a:t>
            </a:r>
          </a:p>
          <a:p>
            <a:pPr marL="457200" indent="-457200" eaLnBrk="1" hangingPunct="1">
              <a:lnSpc>
                <a:spcPct val="125000"/>
              </a:lnSpc>
              <a:buFont typeface="+mj-lt"/>
              <a:buAutoNum type="alphaLcParenR"/>
            </a:pP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(Attribute)</a:t>
            </a:r>
          </a:p>
          <a:p>
            <a:pPr marL="457200" indent="-457200" eaLnBrk="1" hangingPunct="1">
              <a:lnSpc>
                <a:spcPct val="125000"/>
              </a:lnSpc>
              <a:buFont typeface="+mj-lt"/>
              <a:buAutoNum type="alphaLcParenR"/>
            </a:pP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(Schema)</a:t>
            </a:r>
          </a:p>
          <a:p>
            <a:pPr marL="457200" indent="-457200" eaLnBrk="1" hangingPunct="1">
              <a:lnSpc>
                <a:spcPct val="125000"/>
              </a:lnSpc>
              <a:buFont typeface="+mj-lt"/>
              <a:buAutoNum type="alphaLcParenR"/>
            </a:pPr>
            <a:r>
              <a:rPr lang="en-US" sz="2400" dirty="0" err="1"/>
              <a:t>Bộ</a:t>
            </a:r>
            <a:r>
              <a:rPr lang="en-US" sz="2400" dirty="0"/>
              <a:t> (Tuple)</a:t>
            </a:r>
          </a:p>
          <a:p>
            <a:pPr marL="457200" indent="-457200" eaLnBrk="1" hangingPunct="1">
              <a:lnSpc>
                <a:spcPct val="125000"/>
              </a:lnSpc>
              <a:buFont typeface="+mj-lt"/>
              <a:buAutoNum type="alphaLcParenR"/>
            </a:pP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(Domain)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69701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sz="3200" dirty="0"/>
          </a:p>
        </p:txBody>
      </p:sp>
      <p:sp>
        <p:nvSpPr>
          <p:cNvPr id="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2C30D-8E3B-48C2-8F9F-396C128073E5}" type="slidenum">
              <a:rPr lang="en-US"/>
              <a:pPr>
                <a:defRPr/>
              </a:pPr>
              <a:t>52</a:t>
            </a:fld>
            <a:endParaRPr lang="en-US"/>
          </a:p>
        </p:txBody>
      </p:sp>
      <p:sp>
        <p:nvSpPr>
          <p:cNvPr id="9219" name="Rectangle 13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534400" cy="838200"/>
          </a:xfrm>
        </p:spPr>
        <p:txBody>
          <a:bodyPr>
            <a:normAutofit/>
          </a:bodyPr>
          <a:lstStyle/>
          <a:p>
            <a:pPr marL="0" indent="0" algn="ctr" eaLnBrk="1" hangingPunct="1">
              <a:buFont typeface="Wingdings" pitchFamily="2" charset="2"/>
              <a:buNone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trữ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CSDL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u="sng" dirty="0" err="1"/>
              <a:t>bảng</a:t>
            </a:r>
            <a:r>
              <a:rPr lang="en-US" sz="2400" u="sng" dirty="0"/>
              <a:t> (table)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</p:txBody>
      </p:sp>
      <p:grpSp>
        <p:nvGrpSpPr>
          <p:cNvPr id="9222" name="Group 62"/>
          <p:cNvGrpSpPr>
            <a:grpSpLocks/>
          </p:cNvGrpSpPr>
          <p:nvPr/>
        </p:nvGrpSpPr>
        <p:grpSpPr bwMode="auto">
          <a:xfrm>
            <a:off x="76200" y="2590800"/>
            <a:ext cx="8839200" cy="3338513"/>
            <a:chOff x="0" y="1632"/>
            <a:chExt cx="5568" cy="2103"/>
          </a:xfrm>
        </p:grpSpPr>
        <p:grpSp>
          <p:nvGrpSpPr>
            <p:cNvPr id="9224" name="Group 60"/>
            <p:cNvGrpSpPr>
              <a:grpSpLocks/>
            </p:cNvGrpSpPr>
            <p:nvPr/>
          </p:nvGrpSpPr>
          <p:grpSpPr bwMode="auto">
            <a:xfrm>
              <a:off x="912" y="1632"/>
              <a:ext cx="2208" cy="1612"/>
              <a:chOff x="912" y="1632"/>
              <a:chExt cx="2208" cy="1612"/>
            </a:xfrm>
          </p:grpSpPr>
          <p:sp>
            <p:nvSpPr>
              <p:cNvPr id="9273" name="Rectangle 6"/>
              <p:cNvSpPr>
                <a:spLocks noChangeArrowheads="1"/>
              </p:cNvSpPr>
              <p:nvPr/>
            </p:nvSpPr>
            <p:spPr bwMode="auto">
              <a:xfrm>
                <a:off x="1056" y="2092"/>
                <a:ext cx="576" cy="1152"/>
              </a:xfrm>
              <a:prstGeom prst="rect">
                <a:avLst/>
              </a:prstGeom>
              <a:solidFill>
                <a:srgbClr val="FF99CC">
                  <a:alpha val="70195"/>
                </a:srgbClr>
              </a:solidFill>
              <a:ln w="12700" algn="ctr">
                <a:solidFill>
                  <a:srgbClr val="FF99CC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74" name="Text Box 7"/>
              <p:cNvSpPr txBox="1">
                <a:spLocks noChangeArrowheads="1"/>
              </p:cNvSpPr>
              <p:nvPr/>
            </p:nvSpPr>
            <p:spPr bwMode="auto">
              <a:xfrm>
                <a:off x="912" y="1632"/>
                <a:ext cx="220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ahoma" charset="0"/>
                    <a:cs typeface="Tahoma" charset="0"/>
                  </a:rPr>
                  <a:t>1 cột là 1 thuộc tính của nhân viên</a:t>
                </a:r>
              </a:p>
            </p:txBody>
          </p:sp>
          <p:sp>
            <p:nvSpPr>
              <p:cNvPr id="9275" name="Line 8"/>
              <p:cNvSpPr>
                <a:spLocks noChangeShapeType="1"/>
              </p:cNvSpPr>
              <p:nvPr/>
            </p:nvSpPr>
            <p:spPr bwMode="auto">
              <a:xfrm flipH="1">
                <a:off x="1584" y="1824"/>
                <a:ext cx="24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225" name="Group 61"/>
            <p:cNvGrpSpPr>
              <a:grpSpLocks/>
            </p:cNvGrpSpPr>
            <p:nvPr/>
          </p:nvGrpSpPr>
          <p:grpSpPr bwMode="auto">
            <a:xfrm>
              <a:off x="0" y="2764"/>
              <a:ext cx="5472" cy="788"/>
              <a:chOff x="0" y="2764"/>
              <a:chExt cx="5472" cy="788"/>
            </a:xfrm>
          </p:grpSpPr>
          <p:sp>
            <p:nvSpPr>
              <p:cNvPr id="9270" name="Rectangle 10"/>
              <p:cNvSpPr>
                <a:spLocks noChangeArrowheads="1"/>
              </p:cNvSpPr>
              <p:nvPr/>
            </p:nvSpPr>
            <p:spPr bwMode="auto">
              <a:xfrm>
                <a:off x="288" y="2764"/>
                <a:ext cx="5184" cy="192"/>
              </a:xfrm>
              <a:prstGeom prst="rect">
                <a:avLst/>
              </a:prstGeom>
              <a:solidFill>
                <a:srgbClr val="99CCFF">
                  <a:alpha val="70195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71" name="Text Box 11"/>
              <p:cNvSpPr txBox="1">
                <a:spLocks noChangeArrowheads="1"/>
              </p:cNvSpPr>
              <p:nvPr/>
            </p:nvSpPr>
            <p:spPr bwMode="auto">
              <a:xfrm>
                <a:off x="0" y="3340"/>
                <a:ext cx="139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ahoma" charset="0"/>
                  </a:rPr>
                  <a:t>1 dòng là 1 nhân viên</a:t>
                </a:r>
              </a:p>
            </p:txBody>
          </p:sp>
          <p:sp>
            <p:nvSpPr>
              <p:cNvPr id="9272" name="Line 12"/>
              <p:cNvSpPr>
                <a:spLocks noChangeShapeType="1"/>
              </p:cNvSpPr>
              <p:nvPr/>
            </p:nvSpPr>
            <p:spPr bwMode="auto">
              <a:xfrm flipV="1">
                <a:off x="240" y="2880"/>
                <a:ext cx="96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226" name="Group 14"/>
            <p:cNvGrpSpPr>
              <a:grpSpLocks/>
            </p:cNvGrpSpPr>
            <p:nvPr/>
          </p:nvGrpSpPr>
          <p:grpSpPr bwMode="auto">
            <a:xfrm>
              <a:off x="240" y="2140"/>
              <a:ext cx="5328" cy="1008"/>
              <a:chOff x="528" y="1680"/>
              <a:chExt cx="4704" cy="1008"/>
            </a:xfrm>
          </p:grpSpPr>
          <p:sp>
            <p:nvSpPr>
              <p:cNvPr id="9228" name="Line 15"/>
              <p:cNvSpPr>
                <a:spLocks noChangeShapeType="1"/>
              </p:cNvSpPr>
              <p:nvPr/>
            </p:nvSpPr>
            <p:spPr bwMode="auto">
              <a:xfrm>
                <a:off x="528" y="1872"/>
                <a:ext cx="47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29" name="Line 16"/>
              <p:cNvSpPr>
                <a:spLocks noChangeShapeType="1"/>
              </p:cNvSpPr>
              <p:nvPr/>
            </p:nvSpPr>
            <p:spPr bwMode="auto">
              <a:xfrm>
                <a:off x="1152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30" name="Text Box 17"/>
              <p:cNvSpPr txBox="1">
                <a:spLocks noChangeArrowheads="1"/>
              </p:cNvSpPr>
              <p:nvPr/>
            </p:nvSpPr>
            <p:spPr bwMode="auto">
              <a:xfrm>
                <a:off x="528" y="1680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TENNV</a:t>
                </a:r>
              </a:p>
            </p:txBody>
          </p:sp>
          <p:sp>
            <p:nvSpPr>
              <p:cNvPr id="9231" name="Text Box 18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HONV</a:t>
                </a:r>
              </a:p>
            </p:txBody>
          </p:sp>
          <p:sp>
            <p:nvSpPr>
              <p:cNvPr id="9232" name="Line 19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33" name="Text Box 20"/>
              <p:cNvSpPr txBox="1">
                <a:spLocks noChangeArrowheads="1"/>
              </p:cNvSpPr>
              <p:nvPr/>
            </p:nvSpPr>
            <p:spPr bwMode="auto">
              <a:xfrm>
                <a:off x="1824" y="1680"/>
                <a:ext cx="72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NS</a:t>
                </a:r>
              </a:p>
            </p:txBody>
          </p:sp>
          <p:sp>
            <p:nvSpPr>
              <p:cNvPr id="9234" name="Line 21"/>
              <p:cNvSpPr>
                <a:spLocks noChangeShapeType="1"/>
              </p:cNvSpPr>
              <p:nvPr/>
            </p:nvSpPr>
            <p:spPr bwMode="auto">
              <a:xfrm>
                <a:off x="2544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35" name="Text Box 22"/>
              <p:cNvSpPr txBox="1">
                <a:spLocks noChangeArrowheads="1"/>
              </p:cNvSpPr>
              <p:nvPr/>
            </p:nvSpPr>
            <p:spPr bwMode="auto">
              <a:xfrm>
                <a:off x="2544" y="1680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DIACHI</a:t>
                </a:r>
              </a:p>
            </p:txBody>
          </p:sp>
          <p:sp>
            <p:nvSpPr>
              <p:cNvPr id="9236" name="Line 23"/>
              <p:cNvSpPr>
                <a:spLocks noChangeShapeType="1"/>
              </p:cNvSpPr>
              <p:nvPr/>
            </p:nvSpPr>
            <p:spPr bwMode="auto">
              <a:xfrm>
                <a:off x="3408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37" name="Text Box 24"/>
              <p:cNvSpPr txBox="1">
                <a:spLocks noChangeArrowheads="1"/>
              </p:cNvSpPr>
              <p:nvPr/>
            </p:nvSpPr>
            <p:spPr bwMode="auto">
              <a:xfrm>
                <a:off x="3408" y="1680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GT</a:t>
                </a:r>
              </a:p>
            </p:txBody>
          </p:sp>
          <p:sp>
            <p:nvSpPr>
              <p:cNvPr id="9238" name="Line 25"/>
              <p:cNvSpPr>
                <a:spLocks noChangeShapeType="1"/>
              </p:cNvSpPr>
              <p:nvPr/>
            </p:nvSpPr>
            <p:spPr bwMode="auto">
              <a:xfrm>
                <a:off x="3888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39" name="Text Box 26"/>
              <p:cNvSpPr txBox="1">
                <a:spLocks noChangeArrowheads="1"/>
              </p:cNvSpPr>
              <p:nvPr/>
            </p:nvSpPr>
            <p:spPr bwMode="auto">
              <a:xfrm>
                <a:off x="3888" y="1680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LUONG</a:t>
                </a:r>
              </a:p>
            </p:txBody>
          </p:sp>
          <p:sp>
            <p:nvSpPr>
              <p:cNvPr id="9240" name="Line 27"/>
              <p:cNvSpPr>
                <a:spLocks noChangeShapeType="1"/>
              </p:cNvSpPr>
              <p:nvPr/>
            </p:nvSpPr>
            <p:spPr bwMode="auto">
              <a:xfrm>
                <a:off x="4560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41" name="Text Box 28"/>
              <p:cNvSpPr txBox="1">
                <a:spLocks noChangeArrowheads="1"/>
              </p:cNvSpPr>
              <p:nvPr/>
            </p:nvSpPr>
            <p:spPr bwMode="auto">
              <a:xfrm>
                <a:off x="4560" y="1680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PHG</a:t>
                </a:r>
              </a:p>
            </p:txBody>
          </p:sp>
          <p:sp>
            <p:nvSpPr>
              <p:cNvPr id="9242" name="Text Box 29"/>
              <p:cNvSpPr txBox="1">
                <a:spLocks noChangeArrowheads="1"/>
              </p:cNvSpPr>
              <p:nvPr/>
            </p:nvSpPr>
            <p:spPr bwMode="auto">
              <a:xfrm>
                <a:off x="528" y="1920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Tung</a:t>
                </a:r>
              </a:p>
            </p:txBody>
          </p:sp>
          <p:sp>
            <p:nvSpPr>
              <p:cNvPr id="9243" name="Text Box 30"/>
              <p:cNvSpPr txBox="1">
                <a:spLocks noChangeArrowheads="1"/>
              </p:cNvSpPr>
              <p:nvPr/>
            </p:nvSpPr>
            <p:spPr bwMode="auto">
              <a:xfrm>
                <a:off x="1152" y="1920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Nguyen</a:t>
                </a:r>
              </a:p>
            </p:txBody>
          </p:sp>
          <p:sp>
            <p:nvSpPr>
              <p:cNvPr id="9244" name="Text Box 31"/>
              <p:cNvSpPr txBox="1">
                <a:spLocks noChangeArrowheads="1"/>
              </p:cNvSpPr>
              <p:nvPr/>
            </p:nvSpPr>
            <p:spPr bwMode="auto">
              <a:xfrm>
                <a:off x="1824" y="1920"/>
                <a:ext cx="72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12/08/1955</a:t>
                </a:r>
              </a:p>
            </p:txBody>
          </p:sp>
          <p:sp>
            <p:nvSpPr>
              <p:cNvPr id="9245" name="Text Box 32"/>
              <p:cNvSpPr txBox="1">
                <a:spLocks noChangeArrowheads="1"/>
              </p:cNvSpPr>
              <p:nvPr/>
            </p:nvSpPr>
            <p:spPr bwMode="auto">
              <a:xfrm>
                <a:off x="2544" y="1920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638 NVC Q5</a:t>
                </a:r>
              </a:p>
            </p:txBody>
          </p:sp>
          <p:sp>
            <p:nvSpPr>
              <p:cNvPr id="9246" name="Text Box 33"/>
              <p:cNvSpPr txBox="1">
                <a:spLocks noChangeArrowheads="1"/>
              </p:cNvSpPr>
              <p:nvPr/>
            </p:nvSpPr>
            <p:spPr bwMode="auto">
              <a:xfrm>
                <a:off x="3408" y="1920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Nam</a:t>
                </a:r>
              </a:p>
            </p:txBody>
          </p:sp>
          <p:sp>
            <p:nvSpPr>
              <p:cNvPr id="9247" name="Text Box 34"/>
              <p:cNvSpPr txBox="1">
                <a:spLocks noChangeArrowheads="1"/>
              </p:cNvSpPr>
              <p:nvPr/>
            </p:nvSpPr>
            <p:spPr bwMode="auto">
              <a:xfrm>
                <a:off x="3888" y="1920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40000</a:t>
                </a:r>
              </a:p>
            </p:txBody>
          </p:sp>
          <p:sp>
            <p:nvSpPr>
              <p:cNvPr id="9248" name="Text Box 35"/>
              <p:cNvSpPr txBox="1">
                <a:spLocks noChangeArrowheads="1"/>
              </p:cNvSpPr>
              <p:nvPr/>
            </p:nvSpPr>
            <p:spPr bwMode="auto">
              <a:xfrm>
                <a:off x="4560" y="1920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5</a:t>
                </a:r>
              </a:p>
            </p:txBody>
          </p:sp>
          <p:sp>
            <p:nvSpPr>
              <p:cNvPr id="9249" name="Text Box 36"/>
              <p:cNvSpPr txBox="1">
                <a:spLocks noChangeArrowheads="1"/>
              </p:cNvSpPr>
              <p:nvPr/>
            </p:nvSpPr>
            <p:spPr bwMode="auto">
              <a:xfrm>
                <a:off x="528" y="2112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Hang</a:t>
                </a:r>
              </a:p>
            </p:txBody>
          </p:sp>
          <p:sp>
            <p:nvSpPr>
              <p:cNvPr id="9250" name="Text Box 37"/>
              <p:cNvSpPr txBox="1">
                <a:spLocks noChangeArrowheads="1"/>
              </p:cNvSpPr>
              <p:nvPr/>
            </p:nvSpPr>
            <p:spPr bwMode="auto">
              <a:xfrm>
                <a:off x="1152" y="2112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Bui</a:t>
                </a:r>
              </a:p>
            </p:txBody>
          </p:sp>
          <p:sp>
            <p:nvSpPr>
              <p:cNvPr id="9251" name="Text Box 38"/>
              <p:cNvSpPr txBox="1">
                <a:spLocks noChangeArrowheads="1"/>
              </p:cNvSpPr>
              <p:nvPr/>
            </p:nvSpPr>
            <p:spPr bwMode="auto">
              <a:xfrm>
                <a:off x="1824" y="2112"/>
                <a:ext cx="72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07/19/1968</a:t>
                </a:r>
              </a:p>
            </p:txBody>
          </p:sp>
          <p:sp>
            <p:nvSpPr>
              <p:cNvPr id="9252" name="Text Box 39"/>
              <p:cNvSpPr txBox="1">
                <a:spLocks noChangeArrowheads="1"/>
              </p:cNvSpPr>
              <p:nvPr/>
            </p:nvSpPr>
            <p:spPr bwMode="auto">
              <a:xfrm>
                <a:off x="2544" y="2112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332 NTH Q1</a:t>
                </a:r>
              </a:p>
            </p:txBody>
          </p:sp>
          <p:sp>
            <p:nvSpPr>
              <p:cNvPr id="9253" name="Text Box 40"/>
              <p:cNvSpPr txBox="1">
                <a:spLocks noChangeArrowheads="1"/>
              </p:cNvSpPr>
              <p:nvPr/>
            </p:nvSpPr>
            <p:spPr bwMode="auto">
              <a:xfrm>
                <a:off x="3408" y="2112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Nu</a:t>
                </a:r>
              </a:p>
            </p:txBody>
          </p:sp>
          <p:sp>
            <p:nvSpPr>
              <p:cNvPr id="9254" name="Text Box 41"/>
              <p:cNvSpPr txBox="1">
                <a:spLocks noChangeArrowheads="1"/>
              </p:cNvSpPr>
              <p:nvPr/>
            </p:nvSpPr>
            <p:spPr bwMode="auto">
              <a:xfrm>
                <a:off x="3888" y="2112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25000</a:t>
                </a:r>
              </a:p>
            </p:txBody>
          </p:sp>
          <p:sp>
            <p:nvSpPr>
              <p:cNvPr id="9255" name="Text Box 42"/>
              <p:cNvSpPr txBox="1">
                <a:spLocks noChangeArrowheads="1"/>
              </p:cNvSpPr>
              <p:nvPr/>
            </p:nvSpPr>
            <p:spPr bwMode="auto">
              <a:xfrm>
                <a:off x="4560" y="2112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4</a:t>
                </a:r>
              </a:p>
            </p:txBody>
          </p:sp>
          <p:sp>
            <p:nvSpPr>
              <p:cNvPr id="9256" name="Text Box 43"/>
              <p:cNvSpPr txBox="1">
                <a:spLocks noChangeArrowheads="1"/>
              </p:cNvSpPr>
              <p:nvPr/>
            </p:nvSpPr>
            <p:spPr bwMode="auto">
              <a:xfrm>
                <a:off x="528" y="2304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Nhu</a:t>
                </a:r>
              </a:p>
            </p:txBody>
          </p:sp>
          <p:sp>
            <p:nvSpPr>
              <p:cNvPr id="9257" name="Text Box 44"/>
              <p:cNvSpPr txBox="1">
                <a:spLocks noChangeArrowheads="1"/>
              </p:cNvSpPr>
              <p:nvPr/>
            </p:nvSpPr>
            <p:spPr bwMode="auto">
              <a:xfrm>
                <a:off x="1152" y="2304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Le</a:t>
                </a:r>
              </a:p>
            </p:txBody>
          </p:sp>
          <p:sp>
            <p:nvSpPr>
              <p:cNvPr id="9258" name="Text Box 45"/>
              <p:cNvSpPr txBox="1">
                <a:spLocks noChangeArrowheads="1"/>
              </p:cNvSpPr>
              <p:nvPr/>
            </p:nvSpPr>
            <p:spPr bwMode="auto">
              <a:xfrm>
                <a:off x="1824" y="2304"/>
                <a:ext cx="72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06/20/1951</a:t>
                </a:r>
              </a:p>
            </p:txBody>
          </p:sp>
          <p:sp>
            <p:nvSpPr>
              <p:cNvPr id="9259" name="Text Box 46"/>
              <p:cNvSpPr txBox="1">
                <a:spLocks noChangeArrowheads="1"/>
              </p:cNvSpPr>
              <p:nvPr/>
            </p:nvSpPr>
            <p:spPr bwMode="auto">
              <a:xfrm>
                <a:off x="2544" y="2304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291 HVH QPN</a:t>
                </a:r>
              </a:p>
            </p:txBody>
          </p:sp>
          <p:sp>
            <p:nvSpPr>
              <p:cNvPr id="9260" name="Text Box 47"/>
              <p:cNvSpPr txBox="1">
                <a:spLocks noChangeArrowheads="1"/>
              </p:cNvSpPr>
              <p:nvPr/>
            </p:nvSpPr>
            <p:spPr bwMode="auto">
              <a:xfrm>
                <a:off x="3408" y="23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Nu</a:t>
                </a:r>
              </a:p>
            </p:txBody>
          </p:sp>
          <p:sp>
            <p:nvSpPr>
              <p:cNvPr id="9261" name="Text Box 48"/>
              <p:cNvSpPr txBox="1">
                <a:spLocks noChangeArrowheads="1"/>
              </p:cNvSpPr>
              <p:nvPr/>
            </p:nvSpPr>
            <p:spPr bwMode="auto">
              <a:xfrm>
                <a:off x="3888" y="2304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43000</a:t>
                </a:r>
              </a:p>
            </p:txBody>
          </p:sp>
          <p:sp>
            <p:nvSpPr>
              <p:cNvPr id="9262" name="Text Box 49"/>
              <p:cNvSpPr txBox="1">
                <a:spLocks noChangeArrowheads="1"/>
              </p:cNvSpPr>
              <p:nvPr/>
            </p:nvSpPr>
            <p:spPr bwMode="auto">
              <a:xfrm>
                <a:off x="4560" y="2304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4</a:t>
                </a:r>
              </a:p>
            </p:txBody>
          </p:sp>
          <p:sp>
            <p:nvSpPr>
              <p:cNvPr id="9263" name="Text Box 50"/>
              <p:cNvSpPr txBox="1">
                <a:spLocks noChangeArrowheads="1"/>
              </p:cNvSpPr>
              <p:nvPr/>
            </p:nvSpPr>
            <p:spPr bwMode="auto">
              <a:xfrm>
                <a:off x="528" y="2496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Hung</a:t>
                </a:r>
              </a:p>
            </p:txBody>
          </p:sp>
          <p:sp>
            <p:nvSpPr>
              <p:cNvPr id="9264" name="Text Box 51"/>
              <p:cNvSpPr txBox="1">
                <a:spLocks noChangeArrowheads="1"/>
              </p:cNvSpPr>
              <p:nvPr/>
            </p:nvSpPr>
            <p:spPr bwMode="auto">
              <a:xfrm>
                <a:off x="1152" y="2496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Nguyen</a:t>
                </a:r>
              </a:p>
            </p:txBody>
          </p:sp>
          <p:sp>
            <p:nvSpPr>
              <p:cNvPr id="9265" name="Text Box 52"/>
              <p:cNvSpPr txBox="1">
                <a:spLocks noChangeArrowheads="1"/>
              </p:cNvSpPr>
              <p:nvPr/>
            </p:nvSpPr>
            <p:spPr bwMode="auto">
              <a:xfrm>
                <a:off x="1824" y="2496"/>
                <a:ext cx="72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09/15/1962</a:t>
                </a:r>
              </a:p>
            </p:txBody>
          </p:sp>
          <p:sp>
            <p:nvSpPr>
              <p:cNvPr id="9266" name="Text Box 53"/>
              <p:cNvSpPr txBox="1">
                <a:spLocks noChangeArrowheads="1"/>
              </p:cNvSpPr>
              <p:nvPr/>
            </p:nvSpPr>
            <p:spPr bwMode="auto">
              <a:xfrm>
                <a:off x="2544" y="2496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Ba Ria VT</a:t>
                </a:r>
              </a:p>
            </p:txBody>
          </p:sp>
          <p:sp>
            <p:nvSpPr>
              <p:cNvPr id="9267" name="Text Box 54"/>
              <p:cNvSpPr txBox="1">
                <a:spLocks noChangeArrowheads="1"/>
              </p:cNvSpPr>
              <p:nvPr/>
            </p:nvSpPr>
            <p:spPr bwMode="auto">
              <a:xfrm>
                <a:off x="3408" y="2496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Nam</a:t>
                </a:r>
              </a:p>
            </p:txBody>
          </p:sp>
          <p:sp>
            <p:nvSpPr>
              <p:cNvPr id="9268" name="Text Box 55"/>
              <p:cNvSpPr txBox="1">
                <a:spLocks noChangeArrowheads="1"/>
              </p:cNvSpPr>
              <p:nvPr/>
            </p:nvSpPr>
            <p:spPr bwMode="auto">
              <a:xfrm>
                <a:off x="3888" y="2496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38000</a:t>
                </a:r>
              </a:p>
            </p:txBody>
          </p:sp>
          <p:sp>
            <p:nvSpPr>
              <p:cNvPr id="9269" name="Text Box 56"/>
              <p:cNvSpPr txBox="1">
                <a:spLocks noChangeArrowheads="1"/>
              </p:cNvSpPr>
              <p:nvPr/>
            </p:nvSpPr>
            <p:spPr bwMode="auto">
              <a:xfrm>
                <a:off x="4560" y="2496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5</a:t>
                </a:r>
              </a:p>
            </p:txBody>
          </p:sp>
        </p:grpSp>
        <p:sp>
          <p:nvSpPr>
            <p:cNvPr id="9227" name="Text Box 57"/>
            <p:cNvSpPr txBox="1">
              <a:spLocks noChangeArrowheads="1"/>
            </p:cNvSpPr>
            <p:nvPr/>
          </p:nvSpPr>
          <p:spPr bwMode="auto">
            <a:xfrm>
              <a:off x="1728" y="3504"/>
              <a:ext cx="25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 b="1">
                  <a:solidFill>
                    <a:srgbClr val="000000"/>
                  </a:solidFill>
                  <a:latin typeface="Tahoma" charset="0"/>
                </a:rPr>
                <a:t>Tên quan hệ là NHANVIEN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61751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sz="3200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4420A-6487-42BD-8800-33E22B33CAE0}" type="slidenum">
              <a:rPr lang="en-US"/>
              <a:pPr>
                <a:defRPr/>
              </a:pPr>
              <a:t>53</a:t>
            </a:fld>
            <a:endParaRPr lang="en-US"/>
          </a:p>
        </p:txBody>
      </p:sp>
      <p:sp>
        <p:nvSpPr>
          <p:cNvPr id="172091" name="Rectangle 59"/>
          <p:cNvSpPr>
            <a:spLocks noGrp="1" noChangeArrowheads="1"/>
          </p:cNvSpPr>
          <p:nvPr>
            <p:ph sz="quarter" idx="1"/>
          </p:nvPr>
        </p:nvSpPr>
        <p:spPr>
          <a:xfrm>
            <a:off x="228600" y="1447800"/>
            <a:ext cx="8686800" cy="49530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sz="2400" b="1" dirty="0"/>
              <a:t>a) </a:t>
            </a:r>
            <a:r>
              <a:rPr lang="en-US" sz="2400" b="1" dirty="0" err="1"/>
              <a:t>Quan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: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u="sng" dirty="0"/>
              <a:t>r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:</a:t>
            </a: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US" sz="2000" dirty="0" err="1">
                <a:solidFill>
                  <a:schemeClr val="tx1"/>
                </a:solidFill>
              </a:rPr>
              <a:t>Tên</a:t>
            </a:r>
            <a:endParaRPr lang="en-US" sz="20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US" sz="2000" dirty="0" err="1">
                <a:solidFill>
                  <a:schemeClr val="tx1"/>
                </a:solidFill>
              </a:rPr>
              <a:t>Tập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hợp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các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cột</a:t>
            </a:r>
            <a:endParaRPr 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1800" dirty="0" err="1"/>
              <a:t>Cố</a:t>
            </a:r>
            <a:r>
              <a:rPr lang="en-US" sz="1800" dirty="0"/>
              <a:t> </a:t>
            </a:r>
            <a:r>
              <a:rPr lang="en-US" sz="1800" dirty="0" err="1"/>
              <a:t>định</a:t>
            </a:r>
            <a:endParaRPr lang="en-US" sz="1800" dirty="0"/>
          </a:p>
          <a:p>
            <a:pPr lvl="2"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đặt</a:t>
            </a:r>
            <a:r>
              <a:rPr lang="en-US" sz="1800" dirty="0"/>
              <a:t> </a:t>
            </a:r>
            <a:r>
              <a:rPr lang="en-US" sz="1800" dirty="0" err="1"/>
              <a:t>tên</a:t>
            </a:r>
            <a:endParaRPr lang="en-US" sz="1800" dirty="0"/>
          </a:p>
          <a:p>
            <a:pPr lvl="2"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kiểu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endParaRPr lang="en-US" sz="1800" dirty="0"/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US" sz="2000" dirty="0" err="1">
                <a:solidFill>
                  <a:schemeClr val="tx1"/>
                </a:solidFill>
              </a:rPr>
              <a:t>Tập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hợp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các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dòng</a:t>
            </a:r>
            <a:endParaRPr 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theo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endParaRPr lang="en-US" sz="1800" dirty="0"/>
          </a:p>
          <a:p>
            <a:pPr lvl="2" eaLnBrk="1" hangingPunct="1">
              <a:lnSpc>
                <a:spcPct val="130000"/>
              </a:lnSpc>
              <a:spcBef>
                <a:spcPts val="0"/>
              </a:spcBef>
              <a:defRPr/>
            </a:pPr>
            <a:r>
              <a:rPr lang="en-US" sz="1800" dirty="0" err="1"/>
              <a:t>Sự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phụ</a:t>
            </a:r>
            <a:r>
              <a:rPr lang="en-US" sz="1800" dirty="0"/>
              <a:t> </a:t>
            </a:r>
            <a:r>
              <a:rPr lang="en-US" sz="1800" dirty="0" err="1"/>
              <a:t>thuộc</a:t>
            </a:r>
            <a:r>
              <a:rPr lang="en-US" sz="1800" dirty="0"/>
              <a:t> </a:t>
            </a:r>
            <a:r>
              <a:rPr lang="en-US" sz="1800" dirty="0" err="1"/>
              <a:t>vào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endParaRPr lang="en-US" sz="1800" dirty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dòng</a:t>
            </a:r>
            <a:r>
              <a:rPr lang="en-US" sz="2400" dirty="0"/>
              <a:t> ~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(</a:t>
            </a:r>
            <a:r>
              <a:rPr lang="en-US" sz="2000" dirty="0" err="1"/>
              <a:t>đối</a:t>
            </a:r>
            <a:r>
              <a:rPr lang="en-US" sz="2000" dirty="0"/>
              <a:t> </a:t>
            </a:r>
            <a:r>
              <a:rPr lang="en-US" sz="2000" dirty="0" err="1"/>
              <a:t>tượng</a:t>
            </a:r>
            <a:r>
              <a:rPr lang="en-US" sz="2000" dirty="0"/>
              <a:t> ở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giới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~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54987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dirty="0"/>
          </a:p>
        </p:txBody>
      </p:sp>
      <p:sp>
        <p:nvSpPr>
          <p:cNvPr id="6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FE53DA-F40B-4211-AB58-F659ECAF308F}" type="slidenum">
              <a:rPr lang="en-US"/>
              <a:pPr>
                <a:defRPr/>
              </a:pPr>
              <a:t>54</a:t>
            </a:fld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304800" y="1295400"/>
            <a:ext cx="8458200" cy="4953000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sz="2400" b="1" dirty="0"/>
              <a:t>b) </a:t>
            </a:r>
            <a:r>
              <a:rPr lang="en-US" sz="2400" b="1" dirty="0" err="1"/>
              <a:t>Thuộc</a:t>
            </a:r>
            <a:r>
              <a:rPr lang="en-US" sz="2400" b="1" dirty="0"/>
              <a:t> </a:t>
            </a:r>
            <a:r>
              <a:rPr lang="en-US" sz="2400" b="1" dirty="0" err="1"/>
              <a:t>tính</a:t>
            </a:r>
            <a:r>
              <a:rPr lang="en-US" sz="2400" b="1" dirty="0"/>
              <a:t>: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cột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eaLnBrk="1" hangingPunct="1">
              <a:buFont typeface="Wingdings" pitchFamily="2" charset="2"/>
              <a:buChar char="v"/>
            </a:pP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ý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cột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endParaRPr lang="en-US" sz="2400" dirty="0"/>
          </a:p>
          <a:p>
            <a:pPr eaLnBrk="1" hangingPunct="1">
              <a:buFont typeface="Wingdings" pitchFamily="2" charset="2"/>
              <a:buChar char="v"/>
            </a:pPr>
            <a:endParaRPr lang="en-US" sz="2400" dirty="0"/>
          </a:p>
          <a:p>
            <a:pPr eaLnBrk="1" hangingPunct="1">
              <a:buFont typeface="Wingdings" pitchFamily="2" charset="2"/>
              <a:buChar char="v"/>
            </a:pPr>
            <a:endParaRPr lang="en-US" sz="2400" dirty="0"/>
          </a:p>
          <a:p>
            <a:pPr eaLnBrk="1" hangingPunct="1">
              <a:buFont typeface="Wingdings" pitchFamily="2" charset="2"/>
              <a:buChar char="v"/>
            </a:pPr>
            <a:endParaRPr lang="en-US" sz="2400" dirty="0"/>
          </a:p>
          <a:p>
            <a:pPr eaLnBrk="1" hangingPunct="1">
              <a:buFont typeface="Wingdings" pitchFamily="2" charset="2"/>
              <a:buChar char="v"/>
            </a:pPr>
            <a:endParaRPr lang="en-US" sz="2400" dirty="0"/>
          </a:p>
          <a:p>
            <a:pPr eaLnBrk="1" hangingPunct="1">
              <a:buFont typeface="Wingdings" pitchFamily="2" charset="2"/>
              <a:buChar char="v"/>
            </a:pPr>
            <a:endParaRPr lang="en-US" sz="2400" dirty="0"/>
          </a:p>
          <a:p>
            <a:pPr eaLnBrk="1" hangingPunct="1">
              <a:buFont typeface="Wingdings" pitchFamily="2" charset="2"/>
              <a:buChar char="v"/>
            </a:pPr>
            <a:endParaRPr lang="en-US" sz="2400" dirty="0"/>
          </a:p>
          <a:p>
            <a:pPr algn="just" eaLnBrk="1" hangingPunct="1">
              <a:buFont typeface="Wingdings" pitchFamily="2" charset="2"/>
              <a:buChar char="v"/>
            </a:pP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1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cột</a:t>
            </a:r>
            <a:r>
              <a:rPr lang="en-US" sz="2400" dirty="0"/>
              <a:t> </a:t>
            </a:r>
            <a:r>
              <a:rPr lang="en-US" sz="2400" dirty="0" err="1"/>
              <a:t>đều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</p:txBody>
      </p:sp>
      <p:grpSp>
        <p:nvGrpSpPr>
          <p:cNvPr id="11271" name="Group 60"/>
          <p:cNvGrpSpPr>
            <a:grpSpLocks/>
          </p:cNvGrpSpPr>
          <p:nvPr/>
        </p:nvGrpSpPr>
        <p:grpSpPr bwMode="auto">
          <a:xfrm>
            <a:off x="381000" y="2757714"/>
            <a:ext cx="8458199" cy="2423886"/>
            <a:chOff x="192" y="1488"/>
            <a:chExt cx="5424" cy="1728"/>
          </a:xfrm>
        </p:grpSpPr>
        <p:sp>
          <p:nvSpPr>
            <p:cNvPr id="11272" name="Rectangle 6"/>
            <p:cNvSpPr>
              <a:spLocks noChangeArrowheads="1"/>
            </p:cNvSpPr>
            <p:nvPr/>
          </p:nvSpPr>
          <p:spPr bwMode="auto">
            <a:xfrm>
              <a:off x="200" y="2153"/>
              <a:ext cx="5409" cy="200"/>
            </a:xfrm>
            <a:prstGeom prst="rect">
              <a:avLst/>
            </a:prstGeom>
            <a:solidFill>
              <a:srgbClr val="FFCC99">
                <a:alpha val="79999"/>
              </a:srgbClr>
            </a:solidFill>
            <a:ln w="12700" algn="ctr">
              <a:solidFill>
                <a:srgbClr val="FFCC99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381000" indent="-381000"/>
              <a:endParaRPr lang="en-US" sz="1400"/>
            </a:p>
          </p:txBody>
        </p:sp>
        <p:grpSp>
          <p:nvGrpSpPr>
            <p:cNvPr id="11273" name="Group 8"/>
            <p:cNvGrpSpPr>
              <a:grpSpLocks/>
            </p:cNvGrpSpPr>
            <p:nvPr/>
          </p:nvGrpSpPr>
          <p:grpSpPr bwMode="auto">
            <a:xfrm>
              <a:off x="192" y="2160"/>
              <a:ext cx="5424" cy="1056"/>
              <a:chOff x="528" y="1680"/>
              <a:chExt cx="4704" cy="1008"/>
            </a:xfrm>
          </p:grpSpPr>
          <p:sp>
            <p:nvSpPr>
              <p:cNvPr id="11283" name="Line 9"/>
              <p:cNvSpPr>
                <a:spLocks noChangeShapeType="1"/>
              </p:cNvSpPr>
              <p:nvPr/>
            </p:nvSpPr>
            <p:spPr bwMode="auto">
              <a:xfrm>
                <a:off x="528" y="1872"/>
                <a:ext cx="47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84" name="Line 10"/>
              <p:cNvSpPr>
                <a:spLocks noChangeShapeType="1"/>
              </p:cNvSpPr>
              <p:nvPr/>
            </p:nvSpPr>
            <p:spPr bwMode="auto">
              <a:xfrm>
                <a:off x="1152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85" name="Text Box 11"/>
              <p:cNvSpPr txBox="1">
                <a:spLocks noChangeArrowheads="1"/>
              </p:cNvSpPr>
              <p:nvPr/>
            </p:nvSpPr>
            <p:spPr bwMode="auto">
              <a:xfrm>
                <a:off x="528" y="1680"/>
                <a:ext cx="624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TENNV</a:t>
                </a:r>
              </a:p>
            </p:txBody>
          </p:sp>
          <p:sp>
            <p:nvSpPr>
              <p:cNvPr id="11286" name="Text Box 12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HONV</a:t>
                </a:r>
              </a:p>
            </p:txBody>
          </p:sp>
          <p:sp>
            <p:nvSpPr>
              <p:cNvPr id="11287" name="Line 13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88" name="Text Box 14"/>
              <p:cNvSpPr txBox="1">
                <a:spLocks noChangeArrowheads="1"/>
              </p:cNvSpPr>
              <p:nvPr/>
            </p:nvSpPr>
            <p:spPr bwMode="auto">
              <a:xfrm>
                <a:off x="1824" y="1680"/>
                <a:ext cx="720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NS</a:t>
                </a:r>
              </a:p>
            </p:txBody>
          </p:sp>
          <p:sp>
            <p:nvSpPr>
              <p:cNvPr id="11289" name="Line 15"/>
              <p:cNvSpPr>
                <a:spLocks noChangeShapeType="1"/>
              </p:cNvSpPr>
              <p:nvPr/>
            </p:nvSpPr>
            <p:spPr bwMode="auto">
              <a:xfrm>
                <a:off x="2544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90" name="Text Box 16"/>
              <p:cNvSpPr txBox="1">
                <a:spLocks noChangeArrowheads="1"/>
              </p:cNvSpPr>
              <p:nvPr/>
            </p:nvSpPr>
            <p:spPr bwMode="auto">
              <a:xfrm>
                <a:off x="2544" y="1680"/>
                <a:ext cx="864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DIACHI</a:t>
                </a:r>
              </a:p>
            </p:txBody>
          </p:sp>
          <p:sp>
            <p:nvSpPr>
              <p:cNvPr id="11291" name="Line 17"/>
              <p:cNvSpPr>
                <a:spLocks noChangeShapeType="1"/>
              </p:cNvSpPr>
              <p:nvPr/>
            </p:nvSpPr>
            <p:spPr bwMode="auto">
              <a:xfrm>
                <a:off x="3408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92" name="Text Box 18"/>
              <p:cNvSpPr txBox="1">
                <a:spLocks noChangeArrowheads="1"/>
              </p:cNvSpPr>
              <p:nvPr/>
            </p:nvSpPr>
            <p:spPr bwMode="auto">
              <a:xfrm>
                <a:off x="3408" y="1680"/>
                <a:ext cx="480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GT</a:t>
                </a:r>
              </a:p>
            </p:txBody>
          </p:sp>
          <p:sp>
            <p:nvSpPr>
              <p:cNvPr id="11293" name="Line 19"/>
              <p:cNvSpPr>
                <a:spLocks noChangeShapeType="1"/>
              </p:cNvSpPr>
              <p:nvPr/>
            </p:nvSpPr>
            <p:spPr bwMode="auto">
              <a:xfrm>
                <a:off x="3888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94" name="Text Box 20"/>
              <p:cNvSpPr txBox="1">
                <a:spLocks noChangeArrowheads="1"/>
              </p:cNvSpPr>
              <p:nvPr/>
            </p:nvSpPr>
            <p:spPr bwMode="auto">
              <a:xfrm>
                <a:off x="3888" y="1680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LUONG</a:t>
                </a:r>
              </a:p>
            </p:txBody>
          </p:sp>
          <p:sp>
            <p:nvSpPr>
              <p:cNvPr id="11295" name="Line 21"/>
              <p:cNvSpPr>
                <a:spLocks noChangeShapeType="1"/>
              </p:cNvSpPr>
              <p:nvPr/>
            </p:nvSpPr>
            <p:spPr bwMode="auto">
              <a:xfrm>
                <a:off x="4560" y="16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96" name="Text Box 22"/>
              <p:cNvSpPr txBox="1">
                <a:spLocks noChangeArrowheads="1"/>
              </p:cNvSpPr>
              <p:nvPr/>
            </p:nvSpPr>
            <p:spPr bwMode="auto">
              <a:xfrm>
                <a:off x="4560" y="1680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PHG</a:t>
                </a:r>
              </a:p>
            </p:txBody>
          </p:sp>
          <p:sp>
            <p:nvSpPr>
              <p:cNvPr id="11297" name="Text Box 23"/>
              <p:cNvSpPr txBox="1">
                <a:spLocks noChangeArrowheads="1"/>
              </p:cNvSpPr>
              <p:nvPr/>
            </p:nvSpPr>
            <p:spPr bwMode="auto">
              <a:xfrm>
                <a:off x="528" y="1920"/>
                <a:ext cx="624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Tung</a:t>
                </a:r>
              </a:p>
            </p:txBody>
          </p:sp>
          <p:sp>
            <p:nvSpPr>
              <p:cNvPr id="11298" name="Text Box 24"/>
              <p:cNvSpPr txBox="1">
                <a:spLocks noChangeArrowheads="1"/>
              </p:cNvSpPr>
              <p:nvPr/>
            </p:nvSpPr>
            <p:spPr bwMode="auto">
              <a:xfrm>
                <a:off x="1152" y="1920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Nguyen</a:t>
                </a:r>
              </a:p>
            </p:txBody>
          </p:sp>
          <p:sp>
            <p:nvSpPr>
              <p:cNvPr id="11299" name="Text Box 25"/>
              <p:cNvSpPr txBox="1">
                <a:spLocks noChangeArrowheads="1"/>
              </p:cNvSpPr>
              <p:nvPr/>
            </p:nvSpPr>
            <p:spPr bwMode="auto">
              <a:xfrm>
                <a:off x="1824" y="1920"/>
                <a:ext cx="720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ahoma" charset="0"/>
                  </a:rPr>
                  <a:t>12/08/1955</a:t>
                </a:r>
              </a:p>
            </p:txBody>
          </p:sp>
          <p:sp>
            <p:nvSpPr>
              <p:cNvPr id="11300" name="Text Box 26"/>
              <p:cNvSpPr txBox="1">
                <a:spLocks noChangeArrowheads="1"/>
              </p:cNvSpPr>
              <p:nvPr/>
            </p:nvSpPr>
            <p:spPr bwMode="auto">
              <a:xfrm>
                <a:off x="2544" y="1920"/>
                <a:ext cx="864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638 NVC Q5</a:t>
                </a:r>
              </a:p>
            </p:txBody>
          </p:sp>
          <p:sp>
            <p:nvSpPr>
              <p:cNvPr id="11301" name="Text Box 27"/>
              <p:cNvSpPr txBox="1">
                <a:spLocks noChangeArrowheads="1"/>
              </p:cNvSpPr>
              <p:nvPr/>
            </p:nvSpPr>
            <p:spPr bwMode="auto">
              <a:xfrm>
                <a:off x="3408" y="1920"/>
                <a:ext cx="480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Nam</a:t>
                </a:r>
              </a:p>
            </p:txBody>
          </p:sp>
          <p:sp>
            <p:nvSpPr>
              <p:cNvPr id="11302" name="Text Box 28"/>
              <p:cNvSpPr txBox="1">
                <a:spLocks noChangeArrowheads="1"/>
              </p:cNvSpPr>
              <p:nvPr/>
            </p:nvSpPr>
            <p:spPr bwMode="auto">
              <a:xfrm>
                <a:off x="3888" y="1920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40000</a:t>
                </a:r>
              </a:p>
            </p:txBody>
          </p:sp>
          <p:sp>
            <p:nvSpPr>
              <p:cNvPr id="11303" name="Text Box 29"/>
              <p:cNvSpPr txBox="1">
                <a:spLocks noChangeArrowheads="1"/>
              </p:cNvSpPr>
              <p:nvPr/>
            </p:nvSpPr>
            <p:spPr bwMode="auto">
              <a:xfrm>
                <a:off x="4560" y="1920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5</a:t>
                </a:r>
              </a:p>
            </p:txBody>
          </p:sp>
          <p:sp>
            <p:nvSpPr>
              <p:cNvPr id="11304" name="Text Box 30"/>
              <p:cNvSpPr txBox="1">
                <a:spLocks noChangeArrowheads="1"/>
              </p:cNvSpPr>
              <p:nvPr/>
            </p:nvSpPr>
            <p:spPr bwMode="auto">
              <a:xfrm>
                <a:off x="528" y="2112"/>
                <a:ext cx="62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Hang</a:t>
                </a:r>
              </a:p>
            </p:txBody>
          </p:sp>
          <p:sp>
            <p:nvSpPr>
              <p:cNvPr id="11305" name="Text Box 31"/>
              <p:cNvSpPr txBox="1">
                <a:spLocks noChangeArrowheads="1"/>
              </p:cNvSpPr>
              <p:nvPr/>
            </p:nvSpPr>
            <p:spPr bwMode="auto">
              <a:xfrm>
                <a:off x="1152" y="2112"/>
                <a:ext cx="67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Bui</a:t>
                </a:r>
              </a:p>
            </p:txBody>
          </p:sp>
          <p:sp>
            <p:nvSpPr>
              <p:cNvPr id="11306" name="Text Box 32"/>
              <p:cNvSpPr txBox="1">
                <a:spLocks noChangeArrowheads="1"/>
              </p:cNvSpPr>
              <p:nvPr/>
            </p:nvSpPr>
            <p:spPr bwMode="auto">
              <a:xfrm>
                <a:off x="1824" y="2112"/>
                <a:ext cx="720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07/19/1968</a:t>
                </a:r>
              </a:p>
            </p:txBody>
          </p:sp>
          <p:sp>
            <p:nvSpPr>
              <p:cNvPr id="11307" name="Text Box 33"/>
              <p:cNvSpPr txBox="1">
                <a:spLocks noChangeArrowheads="1"/>
              </p:cNvSpPr>
              <p:nvPr/>
            </p:nvSpPr>
            <p:spPr bwMode="auto">
              <a:xfrm>
                <a:off x="2544" y="2112"/>
                <a:ext cx="86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332 NTH Q1</a:t>
                </a:r>
              </a:p>
            </p:txBody>
          </p:sp>
          <p:sp>
            <p:nvSpPr>
              <p:cNvPr id="11308" name="Text Box 34"/>
              <p:cNvSpPr txBox="1">
                <a:spLocks noChangeArrowheads="1"/>
              </p:cNvSpPr>
              <p:nvPr/>
            </p:nvSpPr>
            <p:spPr bwMode="auto">
              <a:xfrm>
                <a:off x="3408" y="2112"/>
                <a:ext cx="480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Nu</a:t>
                </a:r>
              </a:p>
            </p:txBody>
          </p:sp>
          <p:sp>
            <p:nvSpPr>
              <p:cNvPr id="11309" name="Text Box 35"/>
              <p:cNvSpPr txBox="1">
                <a:spLocks noChangeArrowheads="1"/>
              </p:cNvSpPr>
              <p:nvPr/>
            </p:nvSpPr>
            <p:spPr bwMode="auto">
              <a:xfrm>
                <a:off x="3888" y="2112"/>
                <a:ext cx="67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25000</a:t>
                </a:r>
              </a:p>
            </p:txBody>
          </p:sp>
          <p:sp>
            <p:nvSpPr>
              <p:cNvPr id="11310" name="Text Box 36"/>
              <p:cNvSpPr txBox="1">
                <a:spLocks noChangeArrowheads="1"/>
              </p:cNvSpPr>
              <p:nvPr/>
            </p:nvSpPr>
            <p:spPr bwMode="auto">
              <a:xfrm>
                <a:off x="4560" y="2112"/>
                <a:ext cx="67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4</a:t>
                </a:r>
              </a:p>
            </p:txBody>
          </p:sp>
          <p:sp>
            <p:nvSpPr>
              <p:cNvPr id="11311" name="Text Box 37"/>
              <p:cNvSpPr txBox="1">
                <a:spLocks noChangeArrowheads="1"/>
              </p:cNvSpPr>
              <p:nvPr/>
            </p:nvSpPr>
            <p:spPr bwMode="auto">
              <a:xfrm>
                <a:off x="528" y="2304"/>
                <a:ext cx="62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Nhu</a:t>
                </a:r>
              </a:p>
            </p:txBody>
          </p:sp>
          <p:sp>
            <p:nvSpPr>
              <p:cNvPr id="11312" name="Text Box 38"/>
              <p:cNvSpPr txBox="1">
                <a:spLocks noChangeArrowheads="1"/>
              </p:cNvSpPr>
              <p:nvPr/>
            </p:nvSpPr>
            <p:spPr bwMode="auto">
              <a:xfrm>
                <a:off x="1152" y="2304"/>
                <a:ext cx="67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Le</a:t>
                </a:r>
              </a:p>
            </p:txBody>
          </p:sp>
          <p:sp>
            <p:nvSpPr>
              <p:cNvPr id="11313" name="Text Box 39"/>
              <p:cNvSpPr txBox="1">
                <a:spLocks noChangeArrowheads="1"/>
              </p:cNvSpPr>
              <p:nvPr/>
            </p:nvSpPr>
            <p:spPr bwMode="auto">
              <a:xfrm>
                <a:off x="1824" y="2304"/>
                <a:ext cx="720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06/20/1951</a:t>
                </a:r>
              </a:p>
            </p:txBody>
          </p:sp>
          <p:sp>
            <p:nvSpPr>
              <p:cNvPr id="11314" name="Text Box 40"/>
              <p:cNvSpPr txBox="1">
                <a:spLocks noChangeArrowheads="1"/>
              </p:cNvSpPr>
              <p:nvPr/>
            </p:nvSpPr>
            <p:spPr bwMode="auto">
              <a:xfrm>
                <a:off x="2544" y="2304"/>
                <a:ext cx="864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291 HVH QPN</a:t>
                </a:r>
              </a:p>
            </p:txBody>
          </p:sp>
          <p:sp>
            <p:nvSpPr>
              <p:cNvPr id="11315" name="Text Box 41"/>
              <p:cNvSpPr txBox="1">
                <a:spLocks noChangeArrowheads="1"/>
              </p:cNvSpPr>
              <p:nvPr/>
            </p:nvSpPr>
            <p:spPr bwMode="auto">
              <a:xfrm>
                <a:off x="3408" y="2304"/>
                <a:ext cx="480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Nu</a:t>
                </a:r>
              </a:p>
            </p:txBody>
          </p:sp>
          <p:sp>
            <p:nvSpPr>
              <p:cNvPr id="11316" name="Text Box 42"/>
              <p:cNvSpPr txBox="1">
                <a:spLocks noChangeArrowheads="1"/>
              </p:cNvSpPr>
              <p:nvPr/>
            </p:nvSpPr>
            <p:spPr bwMode="auto">
              <a:xfrm>
                <a:off x="3888" y="2304"/>
                <a:ext cx="67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43000</a:t>
                </a:r>
              </a:p>
            </p:txBody>
          </p:sp>
          <p:sp>
            <p:nvSpPr>
              <p:cNvPr id="11317" name="Text Box 43"/>
              <p:cNvSpPr txBox="1">
                <a:spLocks noChangeArrowheads="1"/>
              </p:cNvSpPr>
              <p:nvPr/>
            </p:nvSpPr>
            <p:spPr bwMode="auto">
              <a:xfrm>
                <a:off x="4560" y="2304"/>
                <a:ext cx="67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4</a:t>
                </a:r>
              </a:p>
            </p:txBody>
          </p:sp>
          <p:sp>
            <p:nvSpPr>
              <p:cNvPr id="11318" name="Text Box 44"/>
              <p:cNvSpPr txBox="1">
                <a:spLocks noChangeArrowheads="1"/>
              </p:cNvSpPr>
              <p:nvPr/>
            </p:nvSpPr>
            <p:spPr bwMode="auto">
              <a:xfrm>
                <a:off x="528" y="2496"/>
                <a:ext cx="624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Hung</a:t>
                </a:r>
              </a:p>
            </p:txBody>
          </p:sp>
          <p:sp>
            <p:nvSpPr>
              <p:cNvPr id="11319" name="Text Box 45"/>
              <p:cNvSpPr txBox="1">
                <a:spLocks noChangeArrowheads="1"/>
              </p:cNvSpPr>
              <p:nvPr/>
            </p:nvSpPr>
            <p:spPr bwMode="auto">
              <a:xfrm>
                <a:off x="1152" y="2496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Nguyen</a:t>
                </a:r>
              </a:p>
            </p:txBody>
          </p:sp>
          <p:sp>
            <p:nvSpPr>
              <p:cNvPr id="11320" name="Text Box 46"/>
              <p:cNvSpPr txBox="1">
                <a:spLocks noChangeArrowheads="1"/>
              </p:cNvSpPr>
              <p:nvPr/>
            </p:nvSpPr>
            <p:spPr bwMode="auto">
              <a:xfrm>
                <a:off x="1824" y="2496"/>
                <a:ext cx="720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09/15/1962</a:t>
                </a:r>
              </a:p>
            </p:txBody>
          </p:sp>
          <p:sp>
            <p:nvSpPr>
              <p:cNvPr id="11321" name="Text Box 47"/>
              <p:cNvSpPr txBox="1">
                <a:spLocks noChangeArrowheads="1"/>
              </p:cNvSpPr>
              <p:nvPr/>
            </p:nvSpPr>
            <p:spPr bwMode="auto">
              <a:xfrm>
                <a:off x="2544" y="2496"/>
                <a:ext cx="864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Ba Ria VT</a:t>
                </a:r>
              </a:p>
            </p:txBody>
          </p:sp>
          <p:sp>
            <p:nvSpPr>
              <p:cNvPr id="11322" name="Text Box 48"/>
              <p:cNvSpPr txBox="1">
                <a:spLocks noChangeArrowheads="1"/>
              </p:cNvSpPr>
              <p:nvPr/>
            </p:nvSpPr>
            <p:spPr bwMode="auto">
              <a:xfrm>
                <a:off x="3408" y="2496"/>
                <a:ext cx="480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Nam</a:t>
                </a:r>
              </a:p>
            </p:txBody>
          </p:sp>
          <p:sp>
            <p:nvSpPr>
              <p:cNvPr id="11323" name="Text Box 49"/>
              <p:cNvSpPr txBox="1">
                <a:spLocks noChangeArrowheads="1"/>
              </p:cNvSpPr>
              <p:nvPr/>
            </p:nvSpPr>
            <p:spPr bwMode="auto">
              <a:xfrm>
                <a:off x="3888" y="2496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38000</a:t>
                </a:r>
              </a:p>
            </p:txBody>
          </p:sp>
          <p:sp>
            <p:nvSpPr>
              <p:cNvPr id="11324" name="Text Box 50"/>
              <p:cNvSpPr txBox="1">
                <a:spLocks noChangeArrowheads="1"/>
              </p:cNvSpPr>
              <p:nvPr/>
            </p:nvSpPr>
            <p:spPr bwMode="auto">
              <a:xfrm>
                <a:off x="4560" y="2496"/>
                <a:ext cx="67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b="1">
                    <a:solidFill>
                      <a:srgbClr val="000000"/>
                    </a:solidFill>
                    <a:latin typeface="Tahoma" charset="0"/>
                  </a:rPr>
                  <a:t>5</a:t>
                </a:r>
              </a:p>
            </p:txBody>
          </p:sp>
        </p:grpSp>
        <p:grpSp>
          <p:nvGrpSpPr>
            <p:cNvPr id="11274" name="Group 51"/>
            <p:cNvGrpSpPr>
              <a:grpSpLocks/>
            </p:cNvGrpSpPr>
            <p:nvPr/>
          </p:nvGrpSpPr>
          <p:grpSpPr bwMode="auto">
            <a:xfrm>
              <a:off x="384" y="1488"/>
              <a:ext cx="4752" cy="603"/>
              <a:chOff x="912" y="1536"/>
              <a:chExt cx="3696" cy="576"/>
            </a:xfrm>
          </p:grpSpPr>
          <p:sp>
            <p:nvSpPr>
              <p:cNvPr id="11275" name="Line 52"/>
              <p:cNvSpPr>
                <a:spLocks noChangeShapeType="1"/>
              </p:cNvSpPr>
              <p:nvPr/>
            </p:nvSpPr>
            <p:spPr bwMode="auto">
              <a:xfrm flipH="1">
                <a:off x="2832" y="1776"/>
                <a:ext cx="96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76" name="Text Box 53"/>
              <p:cNvSpPr txBox="1">
                <a:spLocks noChangeArrowheads="1"/>
              </p:cNvSpPr>
              <p:nvPr/>
            </p:nvSpPr>
            <p:spPr bwMode="auto">
              <a:xfrm>
                <a:off x="2304" y="1536"/>
                <a:ext cx="1248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600" b="1">
                    <a:solidFill>
                      <a:srgbClr val="000000"/>
                    </a:solidFill>
                    <a:latin typeface="Tahoma" charset="0"/>
                  </a:rPr>
                  <a:t>Thuộc tính</a:t>
                </a:r>
              </a:p>
            </p:txBody>
          </p:sp>
          <p:sp>
            <p:nvSpPr>
              <p:cNvPr id="11277" name="Line 54"/>
              <p:cNvSpPr>
                <a:spLocks noChangeShapeType="1"/>
              </p:cNvSpPr>
              <p:nvPr/>
            </p:nvSpPr>
            <p:spPr bwMode="auto">
              <a:xfrm flipH="1">
                <a:off x="2304" y="1776"/>
                <a:ext cx="57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78" name="Line 55"/>
              <p:cNvSpPr>
                <a:spLocks noChangeShapeType="1"/>
              </p:cNvSpPr>
              <p:nvPr/>
            </p:nvSpPr>
            <p:spPr bwMode="auto">
              <a:xfrm>
                <a:off x="2976" y="1776"/>
                <a:ext cx="624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79" name="Line 56"/>
              <p:cNvSpPr>
                <a:spLocks noChangeShapeType="1"/>
              </p:cNvSpPr>
              <p:nvPr/>
            </p:nvSpPr>
            <p:spPr bwMode="auto">
              <a:xfrm>
                <a:off x="3072" y="1776"/>
                <a:ext cx="110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80" name="Line 57"/>
              <p:cNvSpPr>
                <a:spLocks noChangeShapeType="1"/>
              </p:cNvSpPr>
              <p:nvPr/>
            </p:nvSpPr>
            <p:spPr bwMode="auto">
              <a:xfrm flipH="1">
                <a:off x="1584" y="1776"/>
                <a:ext cx="1152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81" name="Line 58"/>
              <p:cNvSpPr>
                <a:spLocks noChangeShapeType="1"/>
              </p:cNvSpPr>
              <p:nvPr/>
            </p:nvSpPr>
            <p:spPr bwMode="auto">
              <a:xfrm flipH="1">
                <a:off x="912" y="1776"/>
                <a:ext cx="168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82" name="Line 59"/>
              <p:cNvSpPr>
                <a:spLocks noChangeShapeType="1"/>
              </p:cNvSpPr>
              <p:nvPr/>
            </p:nvSpPr>
            <p:spPr bwMode="auto">
              <a:xfrm>
                <a:off x="3216" y="1776"/>
                <a:ext cx="13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90286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AB8080-F36F-4E83-9A5A-47372B570016}" type="slidenum">
              <a:rPr lang="en-US"/>
              <a:pPr>
                <a:defRPr/>
              </a:pPr>
              <a:t>55</a:t>
            </a:fld>
            <a:endParaRPr lang="en-US"/>
          </a:p>
        </p:txBody>
      </p:sp>
      <p:sp>
        <p:nvSpPr>
          <p:cNvPr id="12291" name="Rectangle 64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8229600" cy="44196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sz="2400" b="1" dirty="0"/>
              <a:t>c) </a:t>
            </a:r>
            <a:r>
              <a:rPr lang="en-US" sz="2400" b="1" dirty="0" err="1"/>
              <a:t>Lược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quan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endParaRPr lang="en-US" sz="2400" b="1" dirty="0"/>
          </a:p>
          <a:p>
            <a:pPr eaLnBrk="1" hangingPunct="1">
              <a:buFont typeface="Wingdings" pitchFamily="2" charset="2"/>
              <a:buChar char="v"/>
            </a:pP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eaLnBrk="1" hangingPunct="1">
              <a:buFont typeface="Wingdings" pitchFamily="2" charset="2"/>
              <a:buChar char="v"/>
            </a:pP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endParaRPr lang="en-US" sz="2400" dirty="0"/>
          </a:p>
        </p:txBody>
      </p:sp>
      <p:grpSp>
        <p:nvGrpSpPr>
          <p:cNvPr id="12295" name="Group 69"/>
          <p:cNvGrpSpPr>
            <a:grpSpLocks/>
          </p:cNvGrpSpPr>
          <p:nvPr/>
        </p:nvGrpSpPr>
        <p:grpSpPr bwMode="auto">
          <a:xfrm>
            <a:off x="381000" y="3352800"/>
            <a:ext cx="8382000" cy="2209800"/>
            <a:chOff x="48" y="1850"/>
            <a:chExt cx="5376" cy="1318"/>
          </a:xfrm>
        </p:grpSpPr>
        <p:grpSp>
          <p:nvGrpSpPr>
            <p:cNvPr id="12297" name="Group 60"/>
            <p:cNvGrpSpPr>
              <a:grpSpLocks/>
            </p:cNvGrpSpPr>
            <p:nvPr/>
          </p:nvGrpSpPr>
          <p:grpSpPr bwMode="auto">
            <a:xfrm>
              <a:off x="48" y="1850"/>
              <a:ext cx="5376" cy="816"/>
              <a:chOff x="192" y="1632"/>
              <a:chExt cx="5376" cy="816"/>
            </a:xfrm>
          </p:grpSpPr>
          <p:sp>
            <p:nvSpPr>
              <p:cNvPr id="174141" name="Text Box 61"/>
              <p:cNvSpPr txBox="1">
                <a:spLocks noChangeArrowheads="1"/>
              </p:cNvSpPr>
              <p:nvPr/>
            </p:nvSpPr>
            <p:spPr bwMode="auto">
              <a:xfrm>
                <a:off x="192" y="1632"/>
                <a:ext cx="1776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</a:rPr>
                  <a:t>Lược đồ quan hệ</a:t>
                </a:r>
              </a:p>
            </p:txBody>
          </p:sp>
          <p:sp>
            <p:nvSpPr>
              <p:cNvPr id="12303" name="Line 62"/>
              <p:cNvSpPr>
                <a:spLocks noChangeShapeType="1"/>
              </p:cNvSpPr>
              <p:nvPr/>
            </p:nvSpPr>
            <p:spPr bwMode="auto">
              <a:xfrm>
                <a:off x="912" y="1872"/>
                <a:ext cx="144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04" name="Rectangle 63"/>
              <p:cNvSpPr>
                <a:spLocks noChangeArrowheads="1"/>
              </p:cNvSpPr>
              <p:nvPr/>
            </p:nvSpPr>
            <p:spPr bwMode="auto">
              <a:xfrm>
                <a:off x="432" y="2112"/>
                <a:ext cx="5136" cy="33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381000" indent="-381000"/>
                <a:endParaRPr lang="en-US"/>
              </a:p>
            </p:txBody>
          </p:sp>
        </p:grpSp>
        <p:sp>
          <p:nvSpPr>
            <p:cNvPr id="174145" name="Text Box 65"/>
            <p:cNvSpPr txBox="1">
              <a:spLocks noChangeArrowheads="1"/>
            </p:cNvSpPr>
            <p:nvPr/>
          </p:nvSpPr>
          <p:spPr bwMode="auto">
            <a:xfrm>
              <a:off x="288" y="2378"/>
              <a:ext cx="50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  <a:defRPr/>
              </a:pPr>
              <a:r>
                <a:rPr lang="en-US" sz="1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</a:rPr>
                <a:t>NHANVIEN(MANV, TENNV, HONV, NS, DIACHI, GT, LUONG, PHG)</a:t>
              </a:r>
            </a:p>
          </p:txBody>
        </p:sp>
        <p:grpSp>
          <p:nvGrpSpPr>
            <p:cNvPr id="12299" name="Group 66"/>
            <p:cNvGrpSpPr>
              <a:grpSpLocks/>
            </p:cNvGrpSpPr>
            <p:nvPr/>
          </p:nvGrpSpPr>
          <p:grpSpPr bwMode="auto">
            <a:xfrm>
              <a:off x="1392" y="2668"/>
              <a:ext cx="3648" cy="500"/>
              <a:chOff x="1488" y="2668"/>
              <a:chExt cx="3744" cy="500"/>
            </a:xfrm>
          </p:grpSpPr>
          <p:sp>
            <p:nvSpPr>
              <p:cNvPr id="12300" name="AutoShape 67"/>
              <p:cNvSpPr>
                <a:spLocks/>
              </p:cNvSpPr>
              <p:nvPr/>
            </p:nvSpPr>
            <p:spPr bwMode="auto">
              <a:xfrm rot="5400000">
                <a:off x="3230" y="926"/>
                <a:ext cx="260" cy="3744"/>
              </a:xfrm>
              <a:prstGeom prst="rightBrace">
                <a:avLst>
                  <a:gd name="adj1" fmla="val 120000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01" name="Text Box 68"/>
              <p:cNvSpPr txBox="1">
                <a:spLocks noChangeArrowheads="1"/>
              </p:cNvSpPr>
              <p:nvPr/>
            </p:nvSpPr>
            <p:spPr bwMode="auto">
              <a:xfrm>
                <a:off x="2784" y="2956"/>
                <a:ext cx="120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600" b="1">
                    <a:solidFill>
                      <a:srgbClr val="000000"/>
                    </a:solidFill>
                    <a:latin typeface="Tahoma" charset="0"/>
                  </a:rPr>
                  <a:t>Là tập hợp</a:t>
                </a:r>
              </a:p>
            </p:txBody>
          </p:sp>
        </p:grp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55935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dirty="0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5E2862-87B1-4E2A-AD2F-02DD0DFE8BED}" type="slidenum">
              <a:rPr lang="en-US"/>
              <a:pPr>
                <a:defRPr/>
              </a:pPr>
              <a:t>56</a:t>
            </a:fld>
            <a:endParaRPr lang="en-US"/>
          </a:p>
        </p:txBody>
      </p:sp>
      <p:sp>
        <p:nvSpPr>
          <p:cNvPr id="175107" name="AutoShape 3"/>
          <p:cNvSpPr>
            <a:spLocks noChangeArrowheads="1"/>
          </p:cNvSpPr>
          <p:nvPr/>
        </p:nvSpPr>
        <p:spPr bwMode="auto">
          <a:xfrm>
            <a:off x="429491" y="1524000"/>
            <a:ext cx="7391400" cy="809625"/>
          </a:xfrm>
          <a:prstGeom prst="flowChartAlternateProcess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381000" indent="-381000">
              <a:buClrTx/>
              <a:defRPr/>
            </a:pPr>
            <a:r>
              <a:rPr lang="en-US" sz="2400" b="1" dirty="0" err="1"/>
              <a:t>Lược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CSDL: </a:t>
            </a:r>
            <a:r>
              <a:rPr lang="en-US" sz="2400" b="1" dirty="0" err="1"/>
              <a:t>Gồm</a:t>
            </a:r>
            <a:r>
              <a:rPr lang="en-US" sz="2400" b="1" dirty="0"/>
              <a:t> </a:t>
            </a:r>
            <a:r>
              <a:rPr lang="en-US" sz="2400" b="1" dirty="0" err="1"/>
              <a:t>nhiều</a:t>
            </a:r>
            <a:r>
              <a:rPr lang="en-US" sz="2400" b="1" dirty="0"/>
              <a:t> </a:t>
            </a:r>
            <a:r>
              <a:rPr lang="en-US" sz="2400" b="1" dirty="0" err="1"/>
              <a:t>lược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quan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endParaRPr lang="en-US" sz="2400" b="1" dirty="0"/>
          </a:p>
        </p:txBody>
      </p:sp>
      <p:grpSp>
        <p:nvGrpSpPr>
          <p:cNvPr id="13319" name="Group 27"/>
          <p:cNvGrpSpPr>
            <a:grpSpLocks/>
          </p:cNvGrpSpPr>
          <p:nvPr/>
        </p:nvGrpSpPr>
        <p:grpSpPr bwMode="auto">
          <a:xfrm>
            <a:off x="457200" y="2744788"/>
            <a:ext cx="7999413" cy="3392487"/>
            <a:chOff x="288" y="1729"/>
            <a:chExt cx="5039" cy="2137"/>
          </a:xfrm>
        </p:grpSpPr>
        <p:sp>
          <p:nvSpPr>
            <p:cNvPr id="13320" name="Text Box 17"/>
            <p:cNvSpPr txBox="1">
              <a:spLocks noChangeArrowheads="1"/>
            </p:cNvSpPr>
            <p:nvPr/>
          </p:nvSpPr>
          <p:spPr bwMode="auto">
            <a:xfrm>
              <a:off x="288" y="1729"/>
              <a:ext cx="1776" cy="335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2800" b="1" dirty="0" err="1">
                  <a:solidFill>
                    <a:srgbClr val="000000"/>
                  </a:solidFill>
                  <a:latin typeface="Tahoma" charset="0"/>
                </a:rPr>
                <a:t>Lược</a:t>
              </a:r>
              <a:r>
                <a:rPr lang="en-US" sz="2800" b="1" dirty="0">
                  <a:solidFill>
                    <a:srgbClr val="000000"/>
                  </a:solidFill>
                  <a:latin typeface="Tahoma" charset="0"/>
                </a:rPr>
                <a:t> </a:t>
              </a:r>
              <a:r>
                <a:rPr lang="en-US" sz="2800" b="1" dirty="0" err="1">
                  <a:solidFill>
                    <a:srgbClr val="000000"/>
                  </a:solidFill>
                  <a:latin typeface="Tahoma" charset="0"/>
                </a:rPr>
                <a:t>đồ</a:t>
              </a:r>
              <a:r>
                <a:rPr lang="en-US" sz="2800" b="1" dirty="0">
                  <a:solidFill>
                    <a:srgbClr val="000000"/>
                  </a:solidFill>
                  <a:latin typeface="Tahoma" charset="0"/>
                </a:rPr>
                <a:t> CSDL</a:t>
              </a:r>
            </a:p>
          </p:txBody>
        </p:sp>
        <p:grpSp>
          <p:nvGrpSpPr>
            <p:cNvPr id="13321" name="Group 26"/>
            <p:cNvGrpSpPr>
              <a:grpSpLocks/>
            </p:cNvGrpSpPr>
            <p:nvPr/>
          </p:nvGrpSpPr>
          <p:grpSpPr bwMode="auto">
            <a:xfrm>
              <a:off x="288" y="2673"/>
              <a:ext cx="5039" cy="1193"/>
              <a:chOff x="337" y="2640"/>
              <a:chExt cx="5039" cy="1193"/>
            </a:xfrm>
          </p:grpSpPr>
          <p:sp>
            <p:nvSpPr>
              <p:cNvPr id="13323" name="Text Box 20"/>
              <p:cNvSpPr txBox="1">
                <a:spLocks noChangeArrowheads="1"/>
              </p:cNvSpPr>
              <p:nvPr/>
            </p:nvSpPr>
            <p:spPr bwMode="auto">
              <a:xfrm>
                <a:off x="337" y="2640"/>
                <a:ext cx="5039" cy="233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ahoma" charset="0"/>
                  </a:rPr>
                  <a:t>NHANVIEN(MANV, TENNV, HONV, NS, DIACHI, GT, LUONG, PHG)</a:t>
                </a:r>
              </a:p>
            </p:txBody>
          </p:sp>
          <p:sp>
            <p:nvSpPr>
              <p:cNvPr id="13324" name="Text Box 21"/>
              <p:cNvSpPr txBox="1">
                <a:spLocks noChangeArrowheads="1"/>
              </p:cNvSpPr>
              <p:nvPr/>
            </p:nvSpPr>
            <p:spPr bwMode="auto">
              <a:xfrm>
                <a:off x="337" y="2880"/>
                <a:ext cx="5039" cy="233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ahoma" charset="0"/>
                  </a:rPr>
                  <a:t>PHONGBAN(MAPHG, TENPHG, TRPHG, NG_NHANCHUC)</a:t>
                </a:r>
              </a:p>
            </p:txBody>
          </p:sp>
          <p:sp>
            <p:nvSpPr>
              <p:cNvPr id="13325" name="Text Box 22"/>
              <p:cNvSpPr txBox="1">
                <a:spLocks noChangeArrowheads="1"/>
              </p:cNvSpPr>
              <p:nvPr/>
            </p:nvSpPr>
            <p:spPr bwMode="auto">
              <a:xfrm>
                <a:off x="337" y="3120"/>
                <a:ext cx="5039" cy="233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ahoma" charset="0"/>
                  </a:rPr>
                  <a:t>DIADIEM_PHG(MAPHG, DIADIEM)</a:t>
                </a:r>
              </a:p>
            </p:txBody>
          </p:sp>
          <p:sp>
            <p:nvSpPr>
              <p:cNvPr id="13326" name="Text Box 23"/>
              <p:cNvSpPr txBox="1">
                <a:spLocks noChangeArrowheads="1"/>
              </p:cNvSpPr>
              <p:nvPr/>
            </p:nvSpPr>
            <p:spPr bwMode="auto">
              <a:xfrm>
                <a:off x="337" y="3360"/>
                <a:ext cx="5039" cy="233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ahoma" charset="0"/>
                  </a:rPr>
                  <a:t>THANNHAN(MA_NVIEN, TENTN, GT, NS, QUANHE)</a:t>
                </a:r>
              </a:p>
            </p:txBody>
          </p:sp>
          <p:sp>
            <p:nvSpPr>
              <p:cNvPr id="13327" name="Text Box 24"/>
              <p:cNvSpPr txBox="1">
                <a:spLocks noChangeArrowheads="1"/>
              </p:cNvSpPr>
              <p:nvPr/>
            </p:nvSpPr>
            <p:spPr bwMode="auto">
              <a:xfrm>
                <a:off x="337" y="3600"/>
                <a:ext cx="5039" cy="233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ahoma" charset="0"/>
                  </a:rPr>
                  <a:t>DEAN(TENDA, MADA, DDIEM_DA, PHONG)</a:t>
                </a:r>
              </a:p>
            </p:txBody>
          </p:sp>
        </p:grpSp>
        <p:sp>
          <p:nvSpPr>
            <p:cNvPr id="13322" name="Line 25"/>
            <p:cNvSpPr>
              <a:spLocks noChangeShapeType="1"/>
            </p:cNvSpPr>
            <p:nvPr/>
          </p:nvSpPr>
          <p:spPr bwMode="auto">
            <a:xfrm>
              <a:off x="1104" y="2072"/>
              <a:ext cx="288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48454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641FC1-C9C7-436B-AA81-92FDCD5A12DD}" type="slidenum">
              <a:rPr lang="en-US"/>
              <a:pPr>
                <a:defRPr/>
              </a:pPr>
              <a:t>57</a:t>
            </a:fld>
            <a:endParaRPr lang="en-US"/>
          </a:p>
        </p:txBody>
      </p:sp>
      <p:sp>
        <p:nvSpPr>
          <p:cNvPr id="14339" name="Rectangle 17"/>
          <p:cNvSpPr>
            <a:spLocks noGrp="1" noChangeArrowheads="1"/>
          </p:cNvSpPr>
          <p:nvPr>
            <p:ph sz="quarter" idx="1"/>
          </p:nvPr>
        </p:nvSpPr>
        <p:spPr>
          <a:xfrm>
            <a:off x="381000" y="1600200"/>
            <a:ext cx="8458200" cy="2209800"/>
          </a:xfrm>
        </p:spPr>
        <p:txBody>
          <a:bodyPr>
            <a:normAutofit fontScale="85000" lnSpcReduction="20000"/>
          </a:bodyPr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sz="2800" b="1" dirty="0"/>
              <a:t>d) </a:t>
            </a:r>
            <a:r>
              <a:rPr lang="en-US" sz="2800" b="1" dirty="0" err="1"/>
              <a:t>Bộ</a:t>
            </a:r>
            <a:r>
              <a:rPr lang="en-US" sz="2800" b="1" dirty="0"/>
              <a:t> (Tuple)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dòng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r>
              <a:rPr lang="en-US" sz="2800" dirty="0"/>
              <a:t> </a:t>
            </a:r>
            <a:r>
              <a:rPr lang="en-US" sz="2800" dirty="0" err="1"/>
              <a:t>hệ</a:t>
            </a:r>
            <a:r>
              <a:rPr lang="en-US" sz="2800" dirty="0"/>
              <a:t> (</a:t>
            </a:r>
            <a:r>
              <a:rPr lang="en-US" sz="2800" dirty="0" err="1"/>
              <a:t>trừ</a:t>
            </a:r>
            <a:r>
              <a:rPr lang="en-US" sz="2800" dirty="0"/>
              <a:t> </a:t>
            </a:r>
            <a:r>
              <a:rPr lang="en-US" sz="2800" dirty="0" err="1"/>
              <a:t>dòng</a:t>
            </a:r>
            <a:r>
              <a:rPr lang="en-US" sz="2800" dirty="0"/>
              <a:t> </a:t>
            </a:r>
            <a:r>
              <a:rPr lang="en-US" sz="2800" dirty="0" err="1"/>
              <a:t>tiêu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 - </a:t>
            </a:r>
            <a:r>
              <a:rPr lang="en-US" sz="2800" dirty="0" err="1"/>
              <a:t>tên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thuộc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)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cụ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thuộc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r>
              <a:rPr lang="en-US" sz="2800" dirty="0"/>
              <a:t> </a:t>
            </a:r>
            <a:r>
              <a:rPr lang="en-US" sz="2800" dirty="0" err="1"/>
              <a:t>hệ</a:t>
            </a:r>
            <a:endParaRPr lang="en-US" sz="2800" dirty="0"/>
          </a:p>
        </p:txBody>
      </p:sp>
      <p:grpSp>
        <p:nvGrpSpPr>
          <p:cNvPr id="14343" name="Group 19"/>
          <p:cNvGrpSpPr>
            <a:grpSpLocks/>
          </p:cNvGrpSpPr>
          <p:nvPr/>
        </p:nvGrpSpPr>
        <p:grpSpPr bwMode="auto">
          <a:xfrm>
            <a:off x="990600" y="4122737"/>
            <a:ext cx="7315200" cy="1203325"/>
            <a:chOff x="576" y="2736"/>
            <a:chExt cx="4608" cy="758"/>
          </a:xfrm>
        </p:grpSpPr>
        <p:sp>
          <p:nvSpPr>
            <p:cNvPr id="14345" name="Rectangle 14"/>
            <p:cNvSpPr>
              <a:spLocks noChangeArrowheads="1"/>
            </p:cNvSpPr>
            <p:nvPr/>
          </p:nvSpPr>
          <p:spPr bwMode="auto">
            <a:xfrm>
              <a:off x="1888" y="2752"/>
              <a:ext cx="912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6143" name="Text Box 15"/>
            <p:cNvSpPr txBox="1">
              <a:spLocks noChangeArrowheads="1"/>
            </p:cNvSpPr>
            <p:nvPr/>
          </p:nvSpPr>
          <p:spPr bwMode="auto">
            <a:xfrm>
              <a:off x="2928" y="3120"/>
              <a:ext cx="1152" cy="374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  <a:defRPr/>
              </a:pPr>
              <a:r>
                <a:rPr 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</a:rPr>
                <a:t>Dữ liệu cụ thể của thuộc tính</a:t>
              </a:r>
            </a:p>
          </p:txBody>
        </p:sp>
        <p:sp>
          <p:nvSpPr>
            <p:cNvPr id="14347" name="Line 16"/>
            <p:cNvSpPr>
              <a:spLocks noChangeShapeType="1"/>
            </p:cNvSpPr>
            <p:nvPr/>
          </p:nvSpPr>
          <p:spPr bwMode="auto">
            <a:xfrm>
              <a:off x="2448" y="2976"/>
              <a:ext cx="528" cy="3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48" name="Text Box 18"/>
            <p:cNvSpPr txBox="1">
              <a:spLocks noChangeArrowheads="1"/>
            </p:cNvSpPr>
            <p:nvPr/>
          </p:nvSpPr>
          <p:spPr bwMode="auto">
            <a:xfrm>
              <a:off x="576" y="2736"/>
              <a:ext cx="46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Tahoma" charset="0"/>
                </a:rPr>
                <a:t>&lt;Tung, Nguyen, 12/08/1955, 638 NVC, Q5, Nam, 40000, 5&gt;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9488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mô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09FF47-3146-48D5-B71E-09E9D2D3E2FB}" type="slidenum">
              <a:rPr lang="en-US"/>
              <a:pPr>
                <a:defRPr/>
              </a:pPr>
              <a:t>58</a:t>
            </a:fld>
            <a:endParaRPr lang="en-US"/>
          </a:p>
        </p:txBody>
      </p:sp>
      <p:sp>
        <p:nvSpPr>
          <p:cNvPr id="15363" name="Rectangle 12"/>
          <p:cNvSpPr>
            <a:spLocks noGrp="1" noChangeArrowheads="1"/>
          </p:cNvSpPr>
          <p:nvPr>
            <p:ph sz="quarter" idx="1"/>
          </p:nvPr>
        </p:nvSpPr>
        <p:spPr>
          <a:xfrm>
            <a:off x="304800" y="1676400"/>
            <a:ext cx="8534400" cy="4648200"/>
          </a:xfrm>
        </p:spPr>
        <p:txBody>
          <a:bodyPr>
            <a:normAutofit fontScale="92500" lnSpcReduction="10000"/>
          </a:bodyPr>
          <a:lstStyle/>
          <a:p>
            <a:pPr marL="0" indent="0" algn="just" eaLnBrk="1" hangingPunct="1">
              <a:buNone/>
            </a:pPr>
            <a:r>
              <a:rPr lang="en-US" sz="2600" b="1" dirty="0"/>
              <a:t>e) </a:t>
            </a:r>
            <a:r>
              <a:rPr lang="en-US" sz="2600" b="1" dirty="0" err="1"/>
              <a:t>Miền</a:t>
            </a:r>
            <a:r>
              <a:rPr lang="en-US" sz="2600" b="1" dirty="0"/>
              <a:t> </a:t>
            </a:r>
            <a:r>
              <a:rPr lang="en-US" sz="2600" b="1" dirty="0" err="1"/>
              <a:t>giá</a:t>
            </a:r>
            <a:r>
              <a:rPr lang="en-US" sz="2600" b="1" dirty="0"/>
              <a:t> </a:t>
            </a:r>
            <a:r>
              <a:rPr lang="en-US" sz="2600" b="1" dirty="0" err="1"/>
              <a:t>trị</a:t>
            </a:r>
            <a:r>
              <a:rPr lang="en-US" sz="2600" b="1" dirty="0"/>
              <a:t>:</a:t>
            </a:r>
          </a:p>
          <a:p>
            <a:pPr algn="just" eaLnBrk="1" hangingPunct="1"/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tập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u="sng" dirty="0" err="1"/>
              <a:t>giá</a:t>
            </a:r>
            <a:r>
              <a:rPr lang="en-US" sz="2600" u="sng" dirty="0"/>
              <a:t> </a:t>
            </a:r>
            <a:r>
              <a:rPr lang="en-US" sz="2600" u="sng" dirty="0" err="1"/>
              <a:t>trị</a:t>
            </a:r>
            <a:r>
              <a:rPr lang="en-US" sz="2600" u="sng" dirty="0"/>
              <a:t> </a:t>
            </a:r>
            <a:r>
              <a:rPr lang="en-US" sz="2600" u="sng" dirty="0" err="1"/>
              <a:t>nguyên</a:t>
            </a:r>
            <a:r>
              <a:rPr lang="en-US" sz="2600" u="sng" dirty="0"/>
              <a:t> </a:t>
            </a:r>
            <a:r>
              <a:rPr lang="en-US" sz="2600" u="sng" dirty="0" err="1"/>
              <a:t>tố</a:t>
            </a:r>
            <a:r>
              <a:rPr lang="en-US" sz="2600" dirty="0"/>
              <a:t> </a:t>
            </a:r>
            <a:r>
              <a:rPr lang="en-US" sz="2600" dirty="0" err="1"/>
              <a:t>gắn</a:t>
            </a:r>
            <a:r>
              <a:rPr lang="en-US" sz="2600" dirty="0"/>
              <a:t> </a:t>
            </a:r>
            <a:r>
              <a:rPr lang="en-US" sz="2600" dirty="0" err="1"/>
              <a:t>liền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thuộc</a:t>
            </a:r>
            <a:r>
              <a:rPr lang="en-US" sz="2600" dirty="0"/>
              <a:t> </a:t>
            </a:r>
            <a:r>
              <a:rPr lang="en-US" sz="2600" dirty="0" err="1"/>
              <a:t>tính</a:t>
            </a:r>
            <a:endParaRPr lang="en-US" sz="2600" dirty="0"/>
          </a:p>
          <a:p>
            <a:pPr lvl="1" algn="just" eaLnBrk="1" hangingPunct="1"/>
            <a:r>
              <a:rPr lang="en-US" dirty="0" err="1">
                <a:solidFill>
                  <a:schemeClr val="tx1"/>
                </a:solidFill>
              </a:rPr>
              <a:t>Kiểu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sở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2" algn="just" eaLnBrk="1" hangingPunct="1"/>
            <a:r>
              <a:rPr lang="en-US" sz="1900" dirty="0" err="1"/>
              <a:t>Chuỗi</a:t>
            </a:r>
            <a:r>
              <a:rPr lang="en-US" sz="1900" dirty="0"/>
              <a:t> </a:t>
            </a:r>
            <a:r>
              <a:rPr lang="en-US" sz="1900" dirty="0" err="1"/>
              <a:t>ký</a:t>
            </a:r>
            <a:r>
              <a:rPr lang="en-US" sz="1900" dirty="0"/>
              <a:t> </a:t>
            </a:r>
            <a:r>
              <a:rPr lang="en-US" sz="1900" dirty="0" err="1"/>
              <a:t>tự</a:t>
            </a:r>
            <a:r>
              <a:rPr lang="en-US" sz="1900" dirty="0"/>
              <a:t> (string) </a:t>
            </a:r>
          </a:p>
          <a:p>
            <a:pPr lvl="2" algn="just" eaLnBrk="1" hangingPunct="1"/>
            <a:r>
              <a:rPr lang="en-US" sz="1900" dirty="0" err="1"/>
              <a:t>Số</a:t>
            </a:r>
            <a:r>
              <a:rPr lang="en-US" sz="1900" dirty="0"/>
              <a:t> (integer)</a:t>
            </a:r>
          </a:p>
          <a:p>
            <a:pPr lvl="1" algn="just" eaLnBrk="1" hangingPunct="1"/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tạp</a:t>
            </a:r>
            <a:endParaRPr lang="en-US" dirty="0">
              <a:solidFill>
                <a:schemeClr val="tx1"/>
              </a:solidFill>
            </a:endParaRPr>
          </a:p>
          <a:p>
            <a:pPr lvl="2" algn="just" eaLnBrk="1" hangingPunct="1"/>
            <a:r>
              <a:rPr lang="en-US" sz="1900" dirty="0" err="1"/>
              <a:t>Tập</a:t>
            </a:r>
            <a:r>
              <a:rPr lang="en-US" sz="1900" dirty="0"/>
              <a:t> </a:t>
            </a:r>
            <a:r>
              <a:rPr lang="en-US" sz="1900" dirty="0" err="1"/>
              <a:t>hợp</a:t>
            </a:r>
            <a:r>
              <a:rPr lang="en-US" sz="1900" dirty="0"/>
              <a:t> (set)</a:t>
            </a:r>
          </a:p>
          <a:p>
            <a:pPr lvl="2" algn="just" eaLnBrk="1" hangingPunct="1"/>
            <a:r>
              <a:rPr lang="en-US" sz="1900" dirty="0" err="1"/>
              <a:t>Danh</a:t>
            </a:r>
            <a:r>
              <a:rPr lang="en-US" sz="1900" dirty="0"/>
              <a:t> </a:t>
            </a:r>
            <a:r>
              <a:rPr lang="en-US" sz="1900" dirty="0" err="1"/>
              <a:t>sách</a:t>
            </a:r>
            <a:r>
              <a:rPr lang="en-US" sz="1900" dirty="0"/>
              <a:t> (list)</a:t>
            </a:r>
          </a:p>
          <a:p>
            <a:pPr lvl="2" algn="just" eaLnBrk="1" hangingPunct="1"/>
            <a:r>
              <a:rPr lang="en-US" sz="1900" dirty="0" err="1"/>
              <a:t>Mảng</a:t>
            </a:r>
            <a:r>
              <a:rPr lang="en-US" sz="1900" dirty="0"/>
              <a:t> (array)</a:t>
            </a:r>
          </a:p>
          <a:p>
            <a:pPr lvl="2" algn="just" eaLnBrk="1" hangingPunct="1"/>
            <a:r>
              <a:rPr lang="en-US" sz="1900" dirty="0" err="1"/>
              <a:t>Bản</a:t>
            </a:r>
            <a:r>
              <a:rPr lang="en-US" sz="1900" dirty="0"/>
              <a:t> </a:t>
            </a:r>
            <a:r>
              <a:rPr lang="en-US" sz="1900" dirty="0" err="1"/>
              <a:t>ghi</a:t>
            </a:r>
            <a:r>
              <a:rPr lang="en-US" sz="1900" dirty="0"/>
              <a:t> (record)</a:t>
            </a:r>
          </a:p>
          <a:p>
            <a:pPr algn="just" eaLnBrk="1" hangingPunct="1"/>
            <a:r>
              <a:rPr lang="en-US" sz="2600" dirty="0" err="1"/>
              <a:t>Ví</a:t>
            </a:r>
            <a:r>
              <a:rPr lang="en-US" sz="2600" dirty="0"/>
              <a:t> </a:t>
            </a:r>
            <a:r>
              <a:rPr lang="en-US" sz="2600" dirty="0" err="1"/>
              <a:t>dụ</a:t>
            </a:r>
            <a:endParaRPr lang="en-US" sz="2600" dirty="0"/>
          </a:p>
          <a:p>
            <a:pPr lvl="1" algn="just" eaLnBrk="1" hangingPunct="1"/>
            <a:r>
              <a:rPr lang="en-US" dirty="0">
                <a:solidFill>
                  <a:schemeClr val="tx1"/>
                </a:solidFill>
              </a:rPr>
              <a:t>TENNV: string</a:t>
            </a:r>
          </a:p>
          <a:p>
            <a:pPr lvl="1" algn="just" eaLnBrk="1" hangingPunct="1"/>
            <a:r>
              <a:rPr lang="en-US" dirty="0">
                <a:solidFill>
                  <a:schemeClr val="tx1"/>
                </a:solidFill>
              </a:rPr>
              <a:t>LUONG: integer</a:t>
            </a:r>
          </a:p>
        </p:txBody>
      </p:sp>
      <p:sp>
        <p:nvSpPr>
          <p:cNvPr id="15369" name="AutoShape 13"/>
          <p:cNvSpPr>
            <a:spLocks/>
          </p:cNvSpPr>
          <p:nvPr/>
        </p:nvSpPr>
        <p:spPr bwMode="auto">
          <a:xfrm>
            <a:off x="3733800" y="3657600"/>
            <a:ext cx="262054" cy="1447800"/>
          </a:xfrm>
          <a:prstGeom prst="rightBrace">
            <a:avLst>
              <a:gd name="adj1" fmla="val 5277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7166" name="Text Box 14"/>
          <p:cNvSpPr txBox="1">
            <a:spLocks noChangeArrowheads="1"/>
          </p:cNvSpPr>
          <p:nvPr/>
        </p:nvSpPr>
        <p:spPr bwMode="auto">
          <a:xfrm>
            <a:off x="4050448" y="4191000"/>
            <a:ext cx="3494048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  <a:defRPr/>
            </a:pPr>
            <a:r>
              <a:rPr lang="en-US" sz="2000" b="1" dirty="0" err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Không</a:t>
            </a:r>
            <a:r>
              <a:rPr lang="en-US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 </a:t>
            </a:r>
            <a:r>
              <a:rPr lang="en-US" sz="2000" b="1" dirty="0" err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được</a:t>
            </a:r>
            <a:r>
              <a:rPr lang="en-US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 </a:t>
            </a:r>
            <a:r>
              <a:rPr lang="en-US" sz="2000" b="1" dirty="0" err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chấp</a:t>
            </a:r>
            <a:r>
              <a:rPr lang="en-US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 </a:t>
            </a:r>
            <a:r>
              <a:rPr lang="en-US" sz="2000" b="1" dirty="0" err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nhận</a:t>
            </a:r>
            <a:endParaRPr lang="en-US" sz="2000" b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65789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Ghi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chú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: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endParaRPr lang="en-US" sz="2400" dirty="0"/>
          </a:p>
          <a:p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: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hay </a:t>
            </a:r>
            <a:r>
              <a:rPr lang="en-US" sz="2400" dirty="0" err="1"/>
              <a:t>đa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CSDL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184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Tính</a:t>
            </a:r>
            <a:r>
              <a:rPr lang="en-US" dirty="0"/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chất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duy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.</a:t>
            </a:r>
          </a:p>
        </p:txBody>
      </p:sp>
      <p:grpSp>
        <p:nvGrpSpPr>
          <p:cNvPr id="6" name="Group 91"/>
          <p:cNvGrpSpPr>
            <a:grpSpLocks/>
          </p:cNvGrpSpPr>
          <p:nvPr/>
        </p:nvGrpSpPr>
        <p:grpSpPr bwMode="auto">
          <a:xfrm>
            <a:off x="762000" y="3429000"/>
            <a:ext cx="7543800" cy="304800"/>
            <a:chOff x="528" y="1584"/>
            <a:chExt cx="4752" cy="192"/>
          </a:xfrm>
        </p:grpSpPr>
        <p:sp>
          <p:nvSpPr>
            <p:cNvPr id="7" name="Text Box 19"/>
            <p:cNvSpPr txBox="1">
              <a:spLocks noChangeArrowheads="1"/>
            </p:cNvSpPr>
            <p:nvPr/>
          </p:nvSpPr>
          <p:spPr bwMode="auto">
            <a:xfrm>
              <a:off x="1200" y="15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Tung</a:t>
              </a:r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528" y="15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Nguyen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1872" y="1584"/>
              <a:ext cx="81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400" dirty="0"/>
                <a:t>12/08/1955</a:t>
              </a:r>
            </a:p>
          </p:txBody>
        </p:sp>
        <p:sp>
          <p:nvSpPr>
            <p:cNvPr id="10" name="Text Box 22"/>
            <p:cNvSpPr txBox="1">
              <a:spLocks noChangeArrowheads="1"/>
            </p:cNvSpPr>
            <p:nvPr/>
          </p:nvSpPr>
          <p:spPr bwMode="auto">
            <a:xfrm>
              <a:off x="2592" y="1584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638 NVC Q5</a:t>
              </a:r>
            </a:p>
          </p:txBody>
        </p:sp>
        <p:sp>
          <p:nvSpPr>
            <p:cNvPr id="11" name="Text Box 23"/>
            <p:cNvSpPr txBox="1">
              <a:spLocks noChangeArrowheads="1"/>
            </p:cNvSpPr>
            <p:nvPr/>
          </p:nvSpPr>
          <p:spPr bwMode="auto">
            <a:xfrm>
              <a:off x="3456" y="158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12" name="Text Box 24"/>
            <p:cNvSpPr txBox="1">
              <a:spLocks noChangeArrowheads="1"/>
            </p:cNvSpPr>
            <p:nvPr/>
          </p:nvSpPr>
          <p:spPr bwMode="auto">
            <a:xfrm>
              <a:off x="3936" y="15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40000</a:t>
              </a:r>
            </a:p>
          </p:txBody>
        </p:sp>
        <p:sp>
          <p:nvSpPr>
            <p:cNvPr id="13" name="Text Box 25"/>
            <p:cNvSpPr txBox="1">
              <a:spLocks noChangeArrowheads="1"/>
            </p:cNvSpPr>
            <p:nvPr/>
          </p:nvSpPr>
          <p:spPr bwMode="auto">
            <a:xfrm>
              <a:off x="4608" y="158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</p:grpSp>
      <p:grpSp>
        <p:nvGrpSpPr>
          <p:cNvPr id="14" name="Group 92"/>
          <p:cNvGrpSpPr>
            <a:grpSpLocks/>
          </p:cNvGrpSpPr>
          <p:nvPr/>
        </p:nvGrpSpPr>
        <p:grpSpPr bwMode="auto">
          <a:xfrm>
            <a:off x="762000" y="3048000"/>
            <a:ext cx="7543800" cy="1600200"/>
            <a:chOff x="528" y="1344"/>
            <a:chExt cx="4752" cy="1008"/>
          </a:xfrm>
        </p:grpSpPr>
        <p:sp>
          <p:nvSpPr>
            <p:cNvPr id="15" name="Line 5"/>
            <p:cNvSpPr>
              <a:spLocks noChangeShapeType="1"/>
            </p:cNvSpPr>
            <p:nvPr/>
          </p:nvSpPr>
          <p:spPr bwMode="auto">
            <a:xfrm>
              <a:off x="576" y="1536"/>
              <a:ext cx="47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1200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Text Box 7"/>
            <p:cNvSpPr txBox="1">
              <a:spLocks noChangeArrowheads="1"/>
            </p:cNvSpPr>
            <p:nvPr/>
          </p:nvSpPr>
          <p:spPr bwMode="auto">
            <a:xfrm>
              <a:off x="1200" y="13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TENNV</a:t>
              </a:r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528" y="13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HONV</a:t>
              </a:r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>
              <a:off x="1872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Text Box 10"/>
            <p:cNvSpPr txBox="1">
              <a:spLocks noChangeArrowheads="1"/>
            </p:cNvSpPr>
            <p:nvPr/>
          </p:nvSpPr>
          <p:spPr bwMode="auto">
            <a:xfrm>
              <a:off x="1872" y="1344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NGSINH</a:t>
              </a:r>
            </a:p>
          </p:txBody>
        </p:sp>
        <p:sp>
          <p:nvSpPr>
            <p:cNvPr id="21" name="Line 11"/>
            <p:cNvSpPr>
              <a:spLocks noChangeShapeType="1"/>
            </p:cNvSpPr>
            <p:nvPr/>
          </p:nvSpPr>
          <p:spPr bwMode="auto">
            <a:xfrm>
              <a:off x="2592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Text Box 12"/>
            <p:cNvSpPr txBox="1">
              <a:spLocks noChangeArrowheads="1"/>
            </p:cNvSpPr>
            <p:nvPr/>
          </p:nvSpPr>
          <p:spPr bwMode="auto">
            <a:xfrm>
              <a:off x="2592" y="1344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DCHI</a:t>
              </a:r>
            </a:p>
          </p:txBody>
        </p:sp>
        <p:sp>
          <p:nvSpPr>
            <p:cNvPr id="23" name="Line 13"/>
            <p:cNvSpPr>
              <a:spLocks noChangeShapeType="1"/>
            </p:cNvSpPr>
            <p:nvPr/>
          </p:nvSpPr>
          <p:spPr bwMode="auto">
            <a:xfrm>
              <a:off x="3456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Text Box 14"/>
            <p:cNvSpPr txBox="1">
              <a:spLocks noChangeArrowheads="1"/>
            </p:cNvSpPr>
            <p:nvPr/>
          </p:nvSpPr>
          <p:spPr bwMode="auto">
            <a:xfrm>
              <a:off x="3456" y="1344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PHAI</a:t>
              </a:r>
            </a:p>
          </p:txBody>
        </p:sp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3936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Text Box 16"/>
            <p:cNvSpPr txBox="1">
              <a:spLocks noChangeArrowheads="1"/>
            </p:cNvSpPr>
            <p:nvPr/>
          </p:nvSpPr>
          <p:spPr bwMode="auto">
            <a:xfrm>
              <a:off x="3936" y="13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LUONG</a:t>
              </a:r>
            </a:p>
          </p:txBody>
        </p: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4608" y="13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4608" y="1344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PHONG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1200" y="17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Hang</a:t>
              </a:r>
            </a:p>
          </p:txBody>
        </p:sp>
        <p:sp>
          <p:nvSpPr>
            <p:cNvPr id="30" name="Text Box 27"/>
            <p:cNvSpPr txBox="1">
              <a:spLocks noChangeArrowheads="1"/>
            </p:cNvSpPr>
            <p:nvPr/>
          </p:nvSpPr>
          <p:spPr bwMode="auto">
            <a:xfrm>
              <a:off x="528" y="17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Bui</a:t>
              </a: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1872" y="1776"/>
              <a:ext cx="81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400" dirty="0"/>
                <a:t>07/19/1968</a:t>
              </a: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2592" y="1776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332 NTH Q1</a:t>
              </a:r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3456" y="1776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34" name="Text Box 31"/>
            <p:cNvSpPr txBox="1">
              <a:spLocks noChangeArrowheads="1"/>
            </p:cNvSpPr>
            <p:nvPr/>
          </p:nvSpPr>
          <p:spPr bwMode="auto">
            <a:xfrm>
              <a:off x="3936" y="17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25000</a:t>
              </a:r>
            </a:p>
          </p:txBody>
        </p:sp>
        <p:sp>
          <p:nvSpPr>
            <p:cNvPr id="35" name="Text Box 32"/>
            <p:cNvSpPr txBox="1">
              <a:spLocks noChangeArrowheads="1"/>
            </p:cNvSpPr>
            <p:nvPr/>
          </p:nvSpPr>
          <p:spPr bwMode="auto">
            <a:xfrm>
              <a:off x="4608" y="1776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1200" y="19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Nhu</a:t>
              </a: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528" y="19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Le</a:t>
              </a:r>
            </a:p>
          </p:txBody>
        </p:sp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>
              <a:off x="1872" y="1968"/>
              <a:ext cx="81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400" dirty="0"/>
                <a:t>06/20/1951</a:t>
              </a:r>
            </a:p>
          </p:txBody>
        </p:sp>
        <p:sp>
          <p:nvSpPr>
            <p:cNvPr id="39" name="Text Box 36"/>
            <p:cNvSpPr txBox="1">
              <a:spLocks noChangeArrowheads="1"/>
            </p:cNvSpPr>
            <p:nvPr/>
          </p:nvSpPr>
          <p:spPr bwMode="auto">
            <a:xfrm>
              <a:off x="2592" y="1968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/>
                <a:t>291 HVH QPN</a:t>
              </a:r>
            </a:p>
          </p:txBody>
        </p:sp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3456" y="1968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Nu</a:t>
              </a:r>
            </a:p>
          </p:txBody>
        </p:sp>
        <p:sp>
          <p:nvSpPr>
            <p:cNvPr id="41" name="Text Box 38"/>
            <p:cNvSpPr txBox="1">
              <a:spLocks noChangeArrowheads="1"/>
            </p:cNvSpPr>
            <p:nvPr/>
          </p:nvSpPr>
          <p:spPr bwMode="auto">
            <a:xfrm>
              <a:off x="3936" y="19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43000</a:t>
              </a:r>
            </a:p>
          </p:txBody>
        </p:sp>
        <p:sp>
          <p:nvSpPr>
            <p:cNvPr id="42" name="Text Box 39"/>
            <p:cNvSpPr txBox="1">
              <a:spLocks noChangeArrowheads="1"/>
            </p:cNvSpPr>
            <p:nvPr/>
          </p:nvSpPr>
          <p:spPr bwMode="auto">
            <a:xfrm>
              <a:off x="4608" y="1968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</p:grpSp>
      <p:grpSp>
        <p:nvGrpSpPr>
          <p:cNvPr id="43" name="Group 90"/>
          <p:cNvGrpSpPr>
            <a:grpSpLocks/>
          </p:cNvGrpSpPr>
          <p:nvPr/>
        </p:nvGrpSpPr>
        <p:grpSpPr bwMode="auto">
          <a:xfrm>
            <a:off x="762000" y="4343400"/>
            <a:ext cx="7543800" cy="304800"/>
            <a:chOff x="528" y="2160"/>
            <a:chExt cx="4752" cy="192"/>
          </a:xfrm>
        </p:grpSpPr>
        <p:sp>
          <p:nvSpPr>
            <p:cNvPr id="44" name="Text Box 40"/>
            <p:cNvSpPr txBox="1">
              <a:spLocks noChangeArrowheads="1"/>
            </p:cNvSpPr>
            <p:nvPr/>
          </p:nvSpPr>
          <p:spPr bwMode="auto">
            <a:xfrm>
              <a:off x="1200" y="21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Hung</a:t>
              </a:r>
            </a:p>
          </p:txBody>
        </p:sp>
        <p:sp>
          <p:nvSpPr>
            <p:cNvPr id="45" name="Text Box 41"/>
            <p:cNvSpPr txBox="1">
              <a:spLocks noChangeArrowheads="1"/>
            </p:cNvSpPr>
            <p:nvPr/>
          </p:nvSpPr>
          <p:spPr bwMode="auto">
            <a:xfrm>
              <a:off x="528" y="21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Nguyen</a:t>
              </a:r>
            </a:p>
          </p:txBody>
        </p:sp>
        <p:sp>
          <p:nvSpPr>
            <p:cNvPr id="46" name="Text Box 42"/>
            <p:cNvSpPr txBox="1">
              <a:spLocks noChangeArrowheads="1"/>
            </p:cNvSpPr>
            <p:nvPr/>
          </p:nvSpPr>
          <p:spPr bwMode="auto">
            <a:xfrm>
              <a:off x="1872" y="2160"/>
              <a:ext cx="81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400" dirty="0"/>
                <a:t>09/15/1962</a:t>
              </a:r>
            </a:p>
          </p:txBody>
        </p:sp>
        <p:sp>
          <p:nvSpPr>
            <p:cNvPr id="47" name="Text Box 43"/>
            <p:cNvSpPr txBox="1">
              <a:spLocks noChangeArrowheads="1"/>
            </p:cNvSpPr>
            <p:nvPr/>
          </p:nvSpPr>
          <p:spPr bwMode="auto">
            <a:xfrm>
              <a:off x="2592" y="2160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null</a:t>
              </a:r>
            </a:p>
          </p:txBody>
        </p:sp>
        <p:sp>
          <p:nvSpPr>
            <p:cNvPr id="48" name="Text Box 44"/>
            <p:cNvSpPr txBox="1">
              <a:spLocks noChangeArrowheads="1"/>
            </p:cNvSpPr>
            <p:nvPr/>
          </p:nvSpPr>
          <p:spPr bwMode="auto">
            <a:xfrm>
              <a:off x="3456" y="2160"/>
              <a:ext cx="4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Nam</a:t>
              </a:r>
            </a:p>
          </p:txBody>
        </p:sp>
        <p:sp>
          <p:nvSpPr>
            <p:cNvPr id="49" name="Text Box 45"/>
            <p:cNvSpPr txBox="1">
              <a:spLocks noChangeArrowheads="1"/>
            </p:cNvSpPr>
            <p:nvPr/>
          </p:nvSpPr>
          <p:spPr bwMode="auto">
            <a:xfrm>
              <a:off x="3936" y="21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38000</a:t>
              </a:r>
            </a:p>
          </p:txBody>
        </p:sp>
        <p:sp>
          <p:nvSpPr>
            <p:cNvPr id="50" name="Text Box 46"/>
            <p:cNvSpPr txBox="1">
              <a:spLocks noChangeArrowheads="1"/>
            </p:cNvSpPr>
            <p:nvPr/>
          </p:nvSpPr>
          <p:spPr bwMode="auto">
            <a:xfrm>
              <a:off x="4608" y="2160"/>
              <a:ext cx="67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01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6.93642E-7 L 0 0.133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50289E-6 L -3.33333E-6 -0.1331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Tính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chất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liệt</a:t>
            </a:r>
            <a:r>
              <a:rPr lang="en-US" sz="2400" dirty="0"/>
              <a:t> </a:t>
            </a:r>
            <a:r>
              <a:rPr lang="en-US" sz="2400" dirty="0" err="1"/>
              <a:t>kê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mang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rỗng</a:t>
            </a:r>
            <a:r>
              <a:rPr lang="en-US" sz="2400" dirty="0"/>
              <a:t> (null).</a:t>
            </a:r>
          </a:p>
          <a:p>
            <a:endParaRPr lang="en-US" dirty="0"/>
          </a:p>
        </p:txBody>
      </p:sp>
      <p:sp>
        <p:nvSpPr>
          <p:cNvPr id="6" name="Text Box 93"/>
          <p:cNvSpPr txBox="1">
            <a:spLocks noChangeArrowheads="1"/>
          </p:cNvSpPr>
          <p:nvPr/>
        </p:nvSpPr>
        <p:spPr bwMode="auto">
          <a:xfrm>
            <a:off x="816429" y="2495490"/>
            <a:ext cx="76962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 dirty="0" err="1"/>
              <a:t>Bộ</a:t>
            </a:r>
            <a:r>
              <a:rPr lang="en-US" sz="2000" dirty="0"/>
              <a:t> &lt;Nguyen, Tung, 12/08/1955, 638 NVC Q5, </a:t>
            </a:r>
            <a:r>
              <a:rPr lang="en-US" sz="2000" b="1" i="1" dirty="0"/>
              <a:t>Nam, 40000</a:t>
            </a:r>
            <a:r>
              <a:rPr lang="en-US" sz="2000" dirty="0"/>
              <a:t>, 5&gt;</a:t>
            </a:r>
          </a:p>
        </p:txBody>
      </p:sp>
      <p:sp>
        <p:nvSpPr>
          <p:cNvPr id="7" name="Text Box 95"/>
          <p:cNvSpPr txBox="1">
            <a:spLocks noChangeArrowheads="1"/>
          </p:cNvSpPr>
          <p:nvPr/>
        </p:nvSpPr>
        <p:spPr bwMode="auto">
          <a:xfrm>
            <a:off x="3947556" y="2971800"/>
            <a:ext cx="12192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 dirty="0" err="1"/>
              <a:t>khác</a:t>
            </a:r>
            <a:endParaRPr lang="en-US" sz="2000" dirty="0"/>
          </a:p>
        </p:txBody>
      </p:sp>
      <p:sp>
        <p:nvSpPr>
          <p:cNvPr id="8" name="Text Box 96"/>
          <p:cNvSpPr txBox="1">
            <a:spLocks noChangeArrowheads="1"/>
          </p:cNvSpPr>
          <p:nvPr/>
        </p:nvSpPr>
        <p:spPr bwMode="auto">
          <a:xfrm>
            <a:off x="816429" y="3657600"/>
            <a:ext cx="76962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 dirty="0" err="1"/>
              <a:t>Bộ</a:t>
            </a:r>
            <a:r>
              <a:rPr lang="en-US" sz="2000" dirty="0"/>
              <a:t> &lt;Nguyen, Tung, 12/08/1955, 638 NVC Q5, </a:t>
            </a:r>
            <a:r>
              <a:rPr lang="en-US" sz="2000" b="1" i="1" dirty="0"/>
              <a:t>40000, Nam</a:t>
            </a:r>
            <a:r>
              <a:rPr lang="en-US" sz="2000" dirty="0"/>
              <a:t>, 5&gt;</a:t>
            </a:r>
          </a:p>
        </p:txBody>
      </p:sp>
    </p:spTree>
    <p:extLst>
      <p:ext uri="{BB962C8B-B14F-4D97-AF65-F5344CB8AC3E}">
        <p14:creationId xmlns:p14="http://schemas.microsoft.com/office/powerpoint/2010/main" val="110844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Định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nghĩa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theo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toán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học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: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Lược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đồ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6B46BF-C71E-4B86-9689-F92B39761574}" type="slidenum">
              <a:rPr lang="en-US"/>
              <a:pPr>
                <a:defRPr/>
              </a:pPr>
              <a:t>62</a:t>
            </a:fld>
            <a:endParaRPr lang="en-US"/>
          </a:p>
        </p:txBody>
      </p:sp>
      <p:sp>
        <p:nvSpPr>
          <p:cNvPr id="16387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165100" y="1447800"/>
            <a:ext cx="8839200" cy="5127625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R(A1:D1, A2:D2, …, </a:t>
            </a:r>
            <a:r>
              <a:rPr lang="en-US" sz="2400" b="1" dirty="0" err="1"/>
              <a:t>An:Dn</a:t>
            </a:r>
            <a:r>
              <a:rPr lang="en-US" sz="2400" b="1" dirty="0"/>
              <a:t>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A1, A2, …, An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D1, D2, …, </a:t>
            </a:r>
            <a:r>
              <a:rPr lang="en-US" dirty="0" err="1">
                <a:solidFill>
                  <a:schemeClr val="tx1"/>
                </a:solidFill>
              </a:rPr>
              <a:t>Dn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miền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ứng</a:t>
            </a:r>
            <a:endParaRPr 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sz="2400" dirty="0" err="1"/>
              <a:t>Bậc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(</a:t>
            </a:r>
            <a:r>
              <a:rPr lang="en-US" sz="2400" dirty="0" err="1"/>
              <a:t>Bậc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251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4.1.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Định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nghĩa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theo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toán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học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: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Lược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đồ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6B46BF-C71E-4B86-9689-F92B39761574}" type="slidenum">
              <a:rPr lang="en-US"/>
              <a:pPr>
                <a:defRPr/>
              </a:pPr>
              <a:t>63</a:t>
            </a:fld>
            <a:endParaRPr lang="en-US"/>
          </a:p>
        </p:txBody>
      </p:sp>
      <p:sp>
        <p:nvSpPr>
          <p:cNvPr id="16387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165100" y="1447800"/>
            <a:ext cx="8839200" cy="5127625"/>
          </a:xfrm>
          <a:noFill/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sz="2400" dirty="0"/>
              <a:t>NHANVIEN(</a:t>
            </a:r>
            <a:r>
              <a:rPr lang="en-US" sz="2400" dirty="0" err="1"/>
              <a:t>MANV:integer,TENNV:string,HONV:string,NGSINH:date</a:t>
            </a:r>
            <a:r>
              <a:rPr lang="en-US" sz="2400" dirty="0"/>
              <a:t>, </a:t>
            </a:r>
            <a:r>
              <a:rPr lang="en-US" sz="2400" dirty="0" err="1"/>
              <a:t>DCHI:string</a:t>
            </a:r>
            <a:r>
              <a:rPr lang="en-US" sz="2400" dirty="0"/>
              <a:t>, </a:t>
            </a:r>
            <a:r>
              <a:rPr lang="en-US" sz="2400" dirty="0" err="1"/>
              <a:t>GT:string</a:t>
            </a:r>
            <a:r>
              <a:rPr lang="en-US" sz="2400" dirty="0"/>
              <a:t>, </a:t>
            </a:r>
            <a:r>
              <a:rPr lang="en-US" sz="2400" dirty="0" err="1"/>
              <a:t>LUONG:integer</a:t>
            </a:r>
            <a:r>
              <a:rPr lang="en-US" sz="2400" dirty="0"/>
              <a:t>, </a:t>
            </a:r>
            <a:r>
              <a:rPr lang="en-US" sz="2400" dirty="0" err="1"/>
              <a:t>DONVI:integer</a:t>
            </a:r>
            <a:r>
              <a:rPr lang="en-US" sz="2400" dirty="0"/>
              <a:t>)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Lược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NHANVIEN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Bậc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bậc</a:t>
            </a:r>
            <a:r>
              <a:rPr lang="en-US" b="1" dirty="0">
                <a:solidFill>
                  <a:schemeClr val="tx1"/>
                </a:solidFill>
              </a:rPr>
              <a:t> 8 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MANV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miền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nguyên</a:t>
            </a:r>
            <a:endParaRPr 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TENNV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miền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chuỗi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tự</a:t>
            </a:r>
            <a:endParaRPr 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18247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4.2.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Định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nghĩa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theo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toán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học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: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sz="3200" dirty="0"/>
          </a:p>
        </p:txBody>
      </p:sp>
      <p:sp>
        <p:nvSpPr>
          <p:cNvPr id="6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8950B6-F875-4BF8-9F89-30C8D5C56102}" type="slidenum">
              <a:rPr lang="en-US"/>
              <a:pPr>
                <a:defRPr/>
              </a:pPr>
              <a:t>64</a:t>
            </a:fld>
            <a:endParaRPr lang="en-US"/>
          </a:p>
        </p:txBody>
      </p:sp>
      <p:sp>
        <p:nvSpPr>
          <p:cNvPr id="15366" name="Rectangle 8"/>
          <p:cNvSpPr>
            <a:spLocks noGrp="1" noChangeArrowheads="1"/>
          </p:cNvSpPr>
          <p:nvPr>
            <p:ph sz="quarter" idx="1"/>
          </p:nvPr>
        </p:nvSpPr>
        <p:spPr>
          <a:xfrm>
            <a:off x="234431" y="1447800"/>
            <a:ext cx="8763000" cy="2667000"/>
          </a:xfrm>
        </p:spPr>
        <p:txBody>
          <a:bodyPr>
            <a:noAutofit/>
          </a:bodyPr>
          <a:lstStyle/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quan</a:t>
            </a:r>
            <a:r>
              <a:rPr lang="en-US" sz="2200" dirty="0"/>
              <a:t> </a:t>
            </a:r>
            <a:r>
              <a:rPr lang="en-US" sz="2200" dirty="0" err="1"/>
              <a:t>hệ</a:t>
            </a:r>
            <a:r>
              <a:rPr lang="en-US" sz="2200" dirty="0"/>
              <a:t> r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lược</a:t>
            </a:r>
            <a:r>
              <a:rPr lang="en-US" sz="2200" dirty="0"/>
              <a:t> </a:t>
            </a:r>
            <a:r>
              <a:rPr lang="en-US" sz="2200" dirty="0" err="1"/>
              <a:t>đồ</a:t>
            </a:r>
            <a:r>
              <a:rPr lang="en-US" sz="2200" dirty="0"/>
              <a:t> </a:t>
            </a:r>
            <a:r>
              <a:rPr lang="en-US" sz="2200" dirty="0" err="1"/>
              <a:t>quan</a:t>
            </a:r>
            <a:r>
              <a:rPr lang="en-US" sz="2200" dirty="0"/>
              <a:t> </a:t>
            </a:r>
            <a:r>
              <a:rPr lang="en-US" sz="2200" dirty="0" err="1"/>
              <a:t>hệ</a:t>
            </a:r>
            <a:r>
              <a:rPr lang="en-US" sz="2200" dirty="0"/>
              <a:t> R(A1, A2, …, An), </a:t>
            </a:r>
            <a:r>
              <a:rPr lang="en-US" sz="2200" dirty="0" err="1"/>
              <a:t>ký</a:t>
            </a:r>
            <a:r>
              <a:rPr lang="en-US" sz="2200" dirty="0"/>
              <a:t> </a:t>
            </a:r>
            <a:r>
              <a:rPr lang="en-US" sz="2200" dirty="0" err="1"/>
              <a:t>hiệu</a:t>
            </a:r>
            <a:r>
              <a:rPr lang="en-US" sz="2200" dirty="0"/>
              <a:t> r(R),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tập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bộ</a:t>
            </a:r>
            <a:r>
              <a:rPr lang="en-US" sz="2200" dirty="0"/>
              <a:t> r = {t1, t2, …, </a:t>
            </a:r>
            <a:r>
              <a:rPr lang="en-US" sz="2200" dirty="0" err="1"/>
              <a:t>tk</a:t>
            </a:r>
            <a:r>
              <a:rPr lang="en-US" sz="2200" dirty="0"/>
              <a:t>}</a:t>
            </a: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đó</a:t>
            </a:r>
            <a:r>
              <a:rPr lang="en-US" sz="2200" dirty="0"/>
              <a:t> </a:t>
            </a:r>
            <a:r>
              <a:rPr lang="en-US" sz="2200" dirty="0" err="1"/>
              <a:t>mỗi</a:t>
            </a:r>
            <a:r>
              <a:rPr lang="en-US" sz="2200" dirty="0"/>
              <a:t> </a:t>
            </a:r>
            <a:r>
              <a:rPr lang="en-US" sz="2200" dirty="0" err="1"/>
              <a:t>ti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1 </a:t>
            </a:r>
            <a:r>
              <a:rPr lang="en-US" sz="2200" dirty="0" err="1"/>
              <a:t>danh</a:t>
            </a:r>
            <a:r>
              <a:rPr lang="en-US" sz="2200" dirty="0"/>
              <a:t> </a:t>
            </a:r>
            <a:r>
              <a:rPr lang="en-US" sz="2200" dirty="0" err="1"/>
              <a:t>sách</a:t>
            </a:r>
            <a:r>
              <a:rPr lang="en-US" sz="2200" dirty="0"/>
              <a:t> </a:t>
            </a:r>
            <a:r>
              <a:rPr lang="en-US" sz="2200" u="sng" dirty="0" err="1"/>
              <a:t>có</a:t>
            </a:r>
            <a:r>
              <a:rPr lang="en-US" sz="2200" u="sng" dirty="0"/>
              <a:t> </a:t>
            </a:r>
            <a:r>
              <a:rPr lang="en-US" sz="2200" u="sng" dirty="0" err="1"/>
              <a:t>thứ</a:t>
            </a:r>
            <a:r>
              <a:rPr lang="en-US" sz="2200" u="sng" dirty="0"/>
              <a:t> </a:t>
            </a:r>
            <a:r>
              <a:rPr lang="en-US" sz="2200" u="sng" dirty="0" err="1"/>
              <a:t>tự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n </a:t>
            </a:r>
            <a:r>
              <a:rPr lang="en-US" sz="2200" dirty="0" err="1"/>
              <a:t>giá</a:t>
            </a:r>
            <a:r>
              <a:rPr lang="en-US" sz="2200" dirty="0"/>
              <a:t> </a:t>
            </a:r>
            <a:r>
              <a:rPr lang="en-US" sz="2200" dirty="0" err="1"/>
              <a:t>trị</a:t>
            </a:r>
            <a:r>
              <a:rPr lang="en-US" sz="2200" dirty="0"/>
              <a:t> </a:t>
            </a:r>
            <a:r>
              <a:rPr lang="en-US" sz="2200" dirty="0" err="1"/>
              <a:t>ti</a:t>
            </a:r>
            <a:r>
              <a:rPr lang="en-US" sz="2200" dirty="0"/>
              <a:t>=&lt;v</a:t>
            </a:r>
            <a:r>
              <a:rPr lang="en-US" sz="2200" baseline="-25000" dirty="0"/>
              <a:t>1</a:t>
            </a:r>
            <a:r>
              <a:rPr lang="en-US" sz="2200" dirty="0"/>
              <a:t>, v</a:t>
            </a:r>
            <a:r>
              <a:rPr lang="en-US" sz="2200" baseline="-25000" dirty="0"/>
              <a:t>2</a:t>
            </a:r>
            <a:r>
              <a:rPr lang="en-US" sz="2200" dirty="0"/>
              <a:t>, …, </a:t>
            </a:r>
            <a:r>
              <a:rPr lang="en-US" sz="2200" dirty="0" err="1"/>
              <a:t>v</a:t>
            </a:r>
            <a:r>
              <a:rPr lang="en-US" sz="2200" baseline="-25000" dirty="0" err="1"/>
              <a:t>n</a:t>
            </a:r>
            <a:r>
              <a:rPr lang="en-US" sz="2200" dirty="0"/>
              <a:t>&gt;</a:t>
            </a:r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en-US" sz="2200" dirty="0" err="1"/>
              <a:t>Mỗi</a:t>
            </a:r>
            <a:r>
              <a:rPr lang="en-US" sz="2200" dirty="0"/>
              <a:t> </a:t>
            </a:r>
            <a:r>
              <a:rPr lang="en-US" sz="2200" dirty="0" err="1"/>
              <a:t>v</a:t>
            </a:r>
            <a:r>
              <a:rPr lang="en-US" sz="2200" baseline="-25000" dirty="0" err="1"/>
              <a:t>j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phần</a:t>
            </a:r>
            <a:r>
              <a:rPr lang="en-US" sz="2200" dirty="0"/>
              <a:t> </a:t>
            </a:r>
            <a:r>
              <a:rPr lang="en-US" sz="2200" dirty="0" err="1"/>
              <a:t>tử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miền</a:t>
            </a:r>
            <a:r>
              <a:rPr lang="en-US" sz="2200" dirty="0"/>
              <a:t> </a:t>
            </a:r>
            <a:r>
              <a:rPr lang="en-US" sz="2200" dirty="0" err="1"/>
              <a:t>giá</a:t>
            </a:r>
            <a:r>
              <a:rPr lang="en-US" sz="2200" dirty="0"/>
              <a:t> </a:t>
            </a:r>
            <a:r>
              <a:rPr lang="en-US" sz="2200" dirty="0" err="1"/>
              <a:t>trị</a:t>
            </a:r>
            <a:r>
              <a:rPr lang="en-US" sz="2200" dirty="0"/>
              <a:t> DOM(</a:t>
            </a:r>
            <a:r>
              <a:rPr lang="en-US" sz="2200" dirty="0" err="1"/>
              <a:t>A</a:t>
            </a:r>
            <a:r>
              <a:rPr lang="en-US" sz="2200" baseline="-25000" dirty="0" err="1"/>
              <a:t>j</a:t>
            </a:r>
            <a:r>
              <a:rPr lang="en-US" sz="2200" dirty="0"/>
              <a:t>) </a:t>
            </a:r>
            <a:r>
              <a:rPr lang="en-US" sz="2200" dirty="0" err="1"/>
              <a:t>hoặc</a:t>
            </a:r>
            <a:r>
              <a:rPr lang="en-US" sz="2200" dirty="0"/>
              <a:t> </a:t>
            </a:r>
            <a:r>
              <a:rPr lang="en-US" sz="2200" dirty="0" err="1"/>
              <a:t>giá</a:t>
            </a:r>
            <a:r>
              <a:rPr lang="en-US" sz="2200" dirty="0"/>
              <a:t> </a:t>
            </a:r>
            <a:r>
              <a:rPr lang="en-US" sz="2200" dirty="0" err="1"/>
              <a:t>trị</a:t>
            </a:r>
            <a:r>
              <a:rPr lang="en-US" sz="2200" dirty="0"/>
              <a:t> </a:t>
            </a:r>
            <a:r>
              <a:rPr lang="en-US" sz="2200" dirty="0" err="1"/>
              <a:t>rỗng</a:t>
            </a:r>
            <a:endParaRPr lang="en-US" sz="2200" dirty="0"/>
          </a:p>
          <a:p>
            <a:pPr marL="342900" lvl="1" indent="-342900" algn="just">
              <a:buClr>
                <a:schemeClr val="accent1"/>
              </a:buClr>
              <a:buSzPct val="85000"/>
              <a:buFont typeface="Wingdings" pitchFamily="2" charset="2"/>
              <a:buChar char="Ø"/>
              <a:defRPr/>
            </a:pP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</a:t>
            </a:r>
            <a:r>
              <a:rPr lang="en-US" dirty="0">
                <a:solidFill>
                  <a:schemeClr val="tx1"/>
                </a:solidFill>
              </a:rPr>
              <a:t> i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r>
              <a:rPr lang="en-US" dirty="0">
                <a:solidFill>
                  <a:schemeClr val="tx1"/>
                </a:solidFill>
              </a:rPr>
              <a:t> t (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A</a:t>
            </a:r>
            <a:r>
              <a:rPr lang="en-US" baseline="-25000" dirty="0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hiệu</a:t>
            </a:r>
            <a:r>
              <a:rPr lang="en-US" dirty="0">
                <a:solidFill>
                  <a:schemeClr val="tx1"/>
                </a:solidFill>
              </a:rPr>
              <a:t> t[A</a:t>
            </a:r>
            <a:r>
              <a:rPr lang="en-US" baseline="-25000" dirty="0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] </a:t>
            </a:r>
            <a:r>
              <a:rPr lang="en-US" dirty="0" err="1">
                <a:solidFill>
                  <a:schemeClr val="tx1"/>
                </a:solidFill>
              </a:rPr>
              <a:t>hoặc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t.A</a:t>
            </a:r>
            <a:r>
              <a:rPr lang="en-US" baseline="-25000" dirty="0" err="1">
                <a:solidFill>
                  <a:schemeClr val="tx1"/>
                </a:solidFill>
              </a:rPr>
              <a:t>i</a:t>
            </a:r>
            <a:endParaRPr lang="en-US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5000"/>
              </a:lnSpc>
              <a:defRPr/>
            </a:pPr>
            <a:endParaRPr lang="en-US" sz="2400" dirty="0"/>
          </a:p>
        </p:txBody>
      </p:sp>
      <p:grpSp>
        <p:nvGrpSpPr>
          <p:cNvPr id="17415" name="Group 65"/>
          <p:cNvGrpSpPr>
            <a:grpSpLocks/>
          </p:cNvGrpSpPr>
          <p:nvPr/>
        </p:nvGrpSpPr>
        <p:grpSpPr bwMode="auto">
          <a:xfrm>
            <a:off x="152400" y="3962400"/>
            <a:ext cx="8775700" cy="2438400"/>
            <a:chOff x="88" y="2592"/>
            <a:chExt cx="5528" cy="1536"/>
          </a:xfrm>
        </p:grpSpPr>
        <p:grpSp>
          <p:nvGrpSpPr>
            <p:cNvPr id="17416" name="Group 62"/>
            <p:cNvGrpSpPr>
              <a:grpSpLocks/>
            </p:cNvGrpSpPr>
            <p:nvPr/>
          </p:nvGrpSpPr>
          <p:grpSpPr bwMode="auto">
            <a:xfrm>
              <a:off x="88" y="2592"/>
              <a:ext cx="5528" cy="1248"/>
              <a:chOff x="88" y="2592"/>
              <a:chExt cx="5528" cy="1248"/>
            </a:xfrm>
          </p:grpSpPr>
          <p:sp>
            <p:nvSpPr>
              <p:cNvPr id="17420" name="Rectangle 60"/>
              <p:cNvSpPr>
                <a:spLocks noChangeArrowheads="1"/>
              </p:cNvSpPr>
              <p:nvPr/>
            </p:nvSpPr>
            <p:spPr bwMode="auto">
              <a:xfrm>
                <a:off x="184" y="2592"/>
                <a:ext cx="5424" cy="12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1" name="Rectangle 6"/>
              <p:cNvSpPr>
                <a:spLocks noChangeArrowheads="1"/>
              </p:cNvSpPr>
              <p:nvPr/>
            </p:nvSpPr>
            <p:spPr bwMode="auto">
              <a:xfrm>
                <a:off x="2632" y="3600"/>
                <a:ext cx="864" cy="192"/>
              </a:xfrm>
              <a:prstGeom prst="rect">
                <a:avLst/>
              </a:prstGeom>
              <a:solidFill>
                <a:srgbClr val="FF99CC">
                  <a:alpha val="79999"/>
                </a:srgbClr>
              </a:solidFill>
              <a:ln w="12700" algn="ctr">
                <a:solidFill>
                  <a:srgbClr val="FF99CC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22" name="Rectangle 7"/>
              <p:cNvSpPr>
                <a:spLocks noChangeArrowheads="1"/>
              </p:cNvSpPr>
              <p:nvPr/>
            </p:nvSpPr>
            <p:spPr bwMode="auto">
              <a:xfrm>
                <a:off x="192" y="3360"/>
                <a:ext cx="5424" cy="192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17423" name="Group 9"/>
              <p:cNvGrpSpPr>
                <a:grpSpLocks/>
              </p:cNvGrpSpPr>
              <p:nvPr/>
            </p:nvGrpSpPr>
            <p:grpSpPr bwMode="auto">
              <a:xfrm>
                <a:off x="280" y="2592"/>
                <a:ext cx="5328" cy="1248"/>
                <a:chOff x="528" y="1680"/>
                <a:chExt cx="4704" cy="1008"/>
              </a:xfrm>
            </p:grpSpPr>
            <p:sp>
              <p:nvSpPr>
                <p:cNvPr id="17429" name="Line 10"/>
                <p:cNvSpPr>
                  <a:spLocks noChangeShapeType="1"/>
                </p:cNvSpPr>
                <p:nvPr/>
              </p:nvSpPr>
              <p:spPr bwMode="auto">
                <a:xfrm>
                  <a:off x="528" y="1872"/>
                  <a:ext cx="470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0" name="Line 11"/>
                <p:cNvSpPr>
                  <a:spLocks noChangeShapeType="1"/>
                </p:cNvSpPr>
                <p:nvPr/>
              </p:nvSpPr>
              <p:spPr bwMode="auto">
                <a:xfrm>
                  <a:off x="1152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1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28" y="1680"/>
                  <a:ext cx="62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TENNV</a:t>
                  </a:r>
                </a:p>
              </p:txBody>
            </p:sp>
            <p:sp>
              <p:nvSpPr>
                <p:cNvPr id="17432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152" y="1680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 dirty="0">
                      <a:solidFill>
                        <a:srgbClr val="000000"/>
                      </a:solidFill>
                      <a:latin typeface="Tahoma" charset="0"/>
                    </a:rPr>
                    <a:t>HONV</a:t>
                  </a:r>
                </a:p>
              </p:txBody>
            </p:sp>
            <p:sp>
              <p:nvSpPr>
                <p:cNvPr id="17433" name="Line 14"/>
                <p:cNvSpPr>
                  <a:spLocks noChangeShapeType="1"/>
                </p:cNvSpPr>
                <p:nvPr/>
              </p:nvSpPr>
              <p:spPr bwMode="auto">
                <a:xfrm>
                  <a:off x="1824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4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824" y="1680"/>
                  <a:ext cx="72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 dirty="0">
                      <a:solidFill>
                        <a:srgbClr val="000000"/>
                      </a:solidFill>
                      <a:latin typeface="Tahoma" charset="0"/>
                    </a:rPr>
                    <a:t>NGSINH</a:t>
                  </a:r>
                </a:p>
              </p:txBody>
            </p:sp>
            <p:sp>
              <p:nvSpPr>
                <p:cNvPr id="17435" name="Line 16"/>
                <p:cNvSpPr>
                  <a:spLocks noChangeShapeType="1"/>
                </p:cNvSpPr>
                <p:nvPr/>
              </p:nvSpPr>
              <p:spPr bwMode="auto">
                <a:xfrm>
                  <a:off x="2544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6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544" y="1680"/>
                  <a:ext cx="86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DCHI</a:t>
                  </a:r>
                </a:p>
              </p:txBody>
            </p:sp>
            <p:sp>
              <p:nvSpPr>
                <p:cNvPr id="17437" name="Line 18"/>
                <p:cNvSpPr>
                  <a:spLocks noChangeShapeType="1"/>
                </p:cNvSpPr>
                <p:nvPr/>
              </p:nvSpPr>
              <p:spPr bwMode="auto">
                <a:xfrm>
                  <a:off x="3408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8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3408" y="1680"/>
                  <a:ext cx="48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PHAI</a:t>
                  </a:r>
                </a:p>
              </p:txBody>
            </p:sp>
            <p:sp>
              <p:nvSpPr>
                <p:cNvPr id="17439" name="Line 20"/>
                <p:cNvSpPr>
                  <a:spLocks noChangeShapeType="1"/>
                </p:cNvSpPr>
                <p:nvPr/>
              </p:nvSpPr>
              <p:spPr bwMode="auto">
                <a:xfrm>
                  <a:off x="3888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40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888" y="1680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LUONG</a:t>
                  </a:r>
                </a:p>
              </p:txBody>
            </p:sp>
            <p:sp>
              <p:nvSpPr>
                <p:cNvPr id="17441" name="Line 22"/>
                <p:cNvSpPr>
                  <a:spLocks noChangeShapeType="1"/>
                </p:cNvSpPr>
                <p:nvPr/>
              </p:nvSpPr>
              <p:spPr bwMode="auto">
                <a:xfrm>
                  <a:off x="4560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42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560" y="1680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PHG</a:t>
                  </a:r>
                </a:p>
              </p:txBody>
            </p:sp>
            <p:sp>
              <p:nvSpPr>
                <p:cNvPr id="17443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528" y="1920"/>
                  <a:ext cx="62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Tung</a:t>
                  </a:r>
                </a:p>
              </p:txBody>
            </p:sp>
            <p:sp>
              <p:nvSpPr>
                <p:cNvPr id="1744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52" y="1920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Nguyen</a:t>
                  </a:r>
                </a:p>
              </p:txBody>
            </p:sp>
            <p:sp>
              <p:nvSpPr>
                <p:cNvPr id="17445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824" y="1920"/>
                  <a:ext cx="72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12/08/1955</a:t>
                  </a:r>
                </a:p>
              </p:txBody>
            </p:sp>
            <p:sp>
              <p:nvSpPr>
                <p:cNvPr id="1744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544" y="1920"/>
                  <a:ext cx="86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638 NVC Q5</a:t>
                  </a:r>
                </a:p>
              </p:txBody>
            </p:sp>
            <p:sp>
              <p:nvSpPr>
                <p:cNvPr id="17447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408" y="1920"/>
                  <a:ext cx="48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Nam</a:t>
                  </a:r>
                </a:p>
              </p:txBody>
            </p:sp>
            <p:sp>
              <p:nvSpPr>
                <p:cNvPr id="17448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3888" y="1920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40000</a:t>
                  </a:r>
                </a:p>
              </p:txBody>
            </p:sp>
            <p:sp>
              <p:nvSpPr>
                <p:cNvPr id="17449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4560" y="1920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5</a:t>
                  </a:r>
                </a:p>
              </p:txBody>
            </p:sp>
            <p:sp>
              <p:nvSpPr>
                <p:cNvPr id="17450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528" y="2112"/>
                  <a:ext cx="62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Hang</a:t>
                  </a:r>
                </a:p>
              </p:txBody>
            </p:sp>
            <p:sp>
              <p:nvSpPr>
                <p:cNvPr id="1745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152" y="2112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 dirty="0">
                      <a:solidFill>
                        <a:srgbClr val="000000"/>
                      </a:solidFill>
                      <a:latin typeface="Tahoma" charset="0"/>
                    </a:rPr>
                    <a:t>Bui</a:t>
                  </a:r>
                </a:p>
              </p:txBody>
            </p:sp>
            <p:sp>
              <p:nvSpPr>
                <p:cNvPr id="1745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824" y="2112"/>
                  <a:ext cx="72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07/19/1968</a:t>
                  </a:r>
                </a:p>
              </p:txBody>
            </p:sp>
            <p:sp>
              <p:nvSpPr>
                <p:cNvPr id="1745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2544" y="2112"/>
                  <a:ext cx="86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332 NTH Q1</a:t>
                  </a:r>
                </a:p>
              </p:txBody>
            </p:sp>
            <p:sp>
              <p:nvSpPr>
                <p:cNvPr id="17454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408" y="2112"/>
                  <a:ext cx="48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Nu</a:t>
                  </a:r>
                </a:p>
              </p:txBody>
            </p:sp>
            <p:sp>
              <p:nvSpPr>
                <p:cNvPr id="17455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3888" y="2112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25000</a:t>
                  </a:r>
                </a:p>
              </p:txBody>
            </p:sp>
            <p:sp>
              <p:nvSpPr>
                <p:cNvPr id="17456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560" y="2112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4</a:t>
                  </a:r>
                </a:p>
              </p:txBody>
            </p:sp>
            <p:sp>
              <p:nvSpPr>
                <p:cNvPr id="17457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528" y="2304"/>
                  <a:ext cx="62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Nhu</a:t>
                  </a:r>
                </a:p>
              </p:txBody>
            </p:sp>
            <p:sp>
              <p:nvSpPr>
                <p:cNvPr id="17458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152" y="2304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Le</a:t>
                  </a:r>
                </a:p>
              </p:txBody>
            </p:sp>
            <p:sp>
              <p:nvSpPr>
                <p:cNvPr id="17459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824" y="2304"/>
                  <a:ext cx="72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06/20/1951</a:t>
                  </a:r>
                </a:p>
              </p:txBody>
            </p:sp>
            <p:sp>
              <p:nvSpPr>
                <p:cNvPr id="17460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544" y="2304"/>
                  <a:ext cx="86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291 HVH QPN</a:t>
                  </a:r>
                </a:p>
              </p:txBody>
            </p:sp>
            <p:sp>
              <p:nvSpPr>
                <p:cNvPr id="17461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3408" y="2304"/>
                  <a:ext cx="48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 dirty="0">
                      <a:solidFill>
                        <a:srgbClr val="000000"/>
                      </a:solidFill>
                      <a:latin typeface="Tahoma" charset="0"/>
                    </a:rPr>
                    <a:t>Nu</a:t>
                  </a:r>
                </a:p>
              </p:txBody>
            </p:sp>
            <p:sp>
              <p:nvSpPr>
                <p:cNvPr id="17462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888" y="2304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43000</a:t>
                  </a:r>
                </a:p>
              </p:txBody>
            </p:sp>
            <p:sp>
              <p:nvSpPr>
                <p:cNvPr id="17463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560" y="2304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4</a:t>
                  </a:r>
                </a:p>
              </p:txBody>
            </p:sp>
            <p:sp>
              <p:nvSpPr>
                <p:cNvPr id="17464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528" y="2496"/>
                  <a:ext cx="62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Hung</a:t>
                  </a:r>
                </a:p>
              </p:txBody>
            </p:sp>
            <p:sp>
              <p:nvSpPr>
                <p:cNvPr id="17465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152" y="2496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Nguyen</a:t>
                  </a:r>
                </a:p>
              </p:txBody>
            </p:sp>
            <p:sp>
              <p:nvSpPr>
                <p:cNvPr id="17466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824" y="2496"/>
                  <a:ext cx="72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09/15/1962</a:t>
                  </a:r>
                </a:p>
              </p:txBody>
            </p:sp>
            <p:sp>
              <p:nvSpPr>
                <p:cNvPr id="17467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2544" y="2496"/>
                  <a:ext cx="864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null</a:t>
                  </a:r>
                </a:p>
              </p:txBody>
            </p:sp>
            <p:sp>
              <p:nvSpPr>
                <p:cNvPr id="17468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408" y="2496"/>
                  <a:ext cx="480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Nam</a:t>
                  </a:r>
                </a:p>
              </p:txBody>
            </p:sp>
            <p:sp>
              <p:nvSpPr>
                <p:cNvPr id="17469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888" y="2496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38000</a:t>
                  </a:r>
                </a:p>
              </p:txBody>
            </p:sp>
            <p:sp>
              <p:nvSpPr>
                <p:cNvPr id="17470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560" y="2496"/>
                  <a:ext cx="672" cy="1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b="1">
                      <a:solidFill>
                        <a:srgbClr val="000000"/>
                      </a:solidFill>
                      <a:latin typeface="Tahoma" charset="0"/>
                    </a:rPr>
                    <a:t>5</a:t>
                  </a:r>
                </a:p>
              </p:txBody>
            </p:sp>
          </p:grpSp>
          <p:grpSp>
            <p:nvGrpSpPr>
              <p:cNvPr id="17424" name="Group 52"/>
              <p:cNvGrpSpPr>
                <a:grpSpLocks/>
              </p:cNvGrpSpPr>
              <p:nvPr/>
            </p:nvGrpSpPr>
            <p:grpSpPr bwMode="auto">
              <a:xfrm>
                <a:off x="88" y="2880"/>
                <a:ext cx="480" cy="926"/>
                <a:chOff x="96" y="2880"/>
                <a:chExt cx="480" cy="727"/>
              </a:xfrm>
            </p:grpSpPr>
            <p:sp>
              <p:nvSpPr>
                <p:cNvPr id="179253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96" y="2880"/>
                  <a:ext cx="480" cy="151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  <a:defRPr/>
                  </a:pPr>
                  <a:r>
                    <a:rPr lang="en-US" sz="14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t</a:t>
                  </a:r>
                  <a:r>
                    <a:rPr lang="en-US" sz="1400" b="1" baseline="-25000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1</a:t>
                  </a:r>
                </a:p>
              </p:txBody>
            </p:sp>
            <p:sp>
              <p:nvSpPr>
                <p:cNvPr id="179254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96" y="3072"/>
                  <a:ext cx="480" cy="151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  <a:defRPr/>
                  </a:pPr>
                  <a:r>
                    <a:rPr lang="en-US" sz="14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t</a:t>
                  </a:r>
                  <a:r>
                    <a:rPr lang="en-US" sz="1400" b="1" baseline="-25000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2</a:t>
                  </a:r>
                </a:p>
              </p:txBody>
            </p:sp>
            <p:sp>
              <p:nvSpPr>
                <p:cNvPr id="179255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96" y="3264"/>
                  <a:ext cx="480" cy="151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  <a:defRPr/>
                  </a:pPr>
                  <a:r>
                    <a:rPr lang="en-US" sz="14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t</a:t>
                  </a:r>
                  <a:r>
                    <a:rPr lang="en-US" sz="1400" b="1" baseline="-25000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3</a:t>
                  </a:r>
                </a:p>
              </p:txBody>
            </p:sp>
            <p:sp>
              <p:nvSpPr>
                <p:cNvPr id="179256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96" y="3456"/>
                  <a:ext cx="480" cy="151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  <a:defRPr/>
                  </a:pPr>
                  <a:r>
                    <a:rPr lang="en-US" sz="14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t</a:t>
                  </a:r>
                  <a:r>
                    <a:rPr lang="en-US" sz="1400" b="1" baseline="-25000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4</a:t>
                  </a:r>
                </a:p>
              </p:txBody>
            </p:sp>
          </p:grpSp>
        </p:grpSp>
        <p:grpSp>
          <p:nvGrpSpPr>
            <p:cNvPr id="17417" name="Group 64"/>
            <p:cNvGrpSpPr>
              <a:grpSpLocks/>
            </p:cNvGrpSpPr>
            <p:nvPr/>
          </p:nvGrpSpPr>
          <p:grpSpPr bwMode="auto">
            <a:xfrm>
              <a:off x="1536" y="3502"/>
              <a:ext cx="432" cy="626"/>
              <a:chOff x="1536" y="3550"/>
              <a:chExt cx="432" cy="626"/>
            </a:xfrm>
          </p:grpSpPr>
          <p:sp>
            <p:nvSpPr>
              <p:cNvPr id="17418" name="Text Box 58"/>
              <p:cNvSpPr txBox="1">
                <a:spLocks noChangeArrowheads="1"/>
              </p:cNvSpPr>
              <p:nvPr/>
            </p:nvSpPr>
            <p:spPr bwMode="auto">
              <a:xfrm>
                <a:off x="1536" y="3926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2000" b="1">
                    <a:solidFill>
                      <a:srgbClr val="FF3300"/>
                    </a:solidFill>
                    <a:latin typeface="Tahoma" charset="0"/>
                  </a:rPr>
                  <a:t>v</a:t>
                </a:r>
                <a:r>
                  <a:rPr lang="en-US" sz="2000" b="1" baseline="-25000">
                    <a:solidFill>
                      <a:srgbClr val="FF3300"/>
                    </a:solidFill>
                    <a:latin typeface="Tahoma" charset="0"/>
                  </a:rPr>
                  <a:t>i</a:t>
                </a:r>
              </a:p>
            </p:txBody>
          </p:sp>
          <p:sp>
            <p:nvSpPr>
              <p:cNvPr id="17419" name="Line 59"/>
              <p:cNvSpPr>
                <a:spLocks noChangeShapeType="1"/>
              </p:cNvSpPr>
              <p:nvPr/>
            </p:nvSpPr>
            <p:spPr bwMode="auto">
              <a:xfrm>
                <a:off x="1584" y="3550"/>
                <a:ext cx="144" cy="43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130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4.2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Định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nghĩa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theo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toán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học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: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Quan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DAB969-AB3A-4456-92D3-D46B3A81290E}" type="slidenum">
              <a:rPr lang="en-US"/>
              <a:pPr>
                <a:defRPr/>
              </a:pPr>
              <a:t>65</a:t>
            </a:fld>
            <a:endParaRPr lang="en-US"/>
          </a:p>
        </p:txBody>
      </p:sp>
      <p:sp>
        <p:nvSpPr>
          <p:cNvPr id="18435" name="Rectangle 62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382000" cy="502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R </a:t>
            </a:r>
            <a:r>
              <a:rPr lang="en-US" sz="2400" dirty="0" err="1"/>
              <a:t>bậc</a:t>
            </a:r>
            <a:r>
              <a:rPr lang="en-US" sz="2400" dirty="0"/>
              <a:t> n: </a:t>
            </a:r>
            <a:r>
              <a:rPr lang="en-US" sz="2400" dirty="0">
                <a:solidFill>
                  <a:schemeClr val="tx1"/>
                </a:solidFill>
              </a:rPr>
              <a:t>R(A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, A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, …, A</a:t>
            </a:r>
            <a:r>
              <a:rPr lang="en-US" sz="2400" baseline="-25000" dirty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R: </a:t>
            </a:r>
            <a:r>
              <a:rPr lang="en-US" sz="2400" dirty="0">
                <a:solidFill>
                  <a:schemeClr val="tx1"/>
                </a:solidFill>
              </a:rPr>
              <a:t>R+={A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, A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 ,… , A</a:t>
            </a:r>
            <a:r>
              <a:rPr lang="en-US" sz="2400" baseline="-25000" dirty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(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): </a:t>
            </a:r>
            <a:r>
              <a:rPr lang="en-US" sz="2400" dirty="0">
                <a:solidFill>
                  <a:schemeClr val="tx1"/>
                </a:solidFill>
              </a:rPr>
              <a:t>R, S, P, Q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2400" dirty="0" err="1"/>
              <a:t>Bộ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tx1"/>
                </a:solidFill>
              </a:rPr>
              <a:t>t, u, v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A: </a:t>
            </a:r>
            <a:r>
              <a:rPr lang="en-US" sz="2400" dirty="0">
                <a:solidFill>
                  <a:schemeClr val="tx1"/>
                </a:solidFill>
              </a:rPr>
              <a:t>DOM(A) hay MGT(A)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A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t: </a:t>
            </a:r>
            <a:r>
              <a:rPr lang="en-US" sz="2400" dirty="0" err="1">
                <a:solidFill>
                  <a:schemeClr val="tx1"/>
                </a:solidFill>
              </a:rPr>
              <a:t>t.A</a:t>
            </a:r>
            <a:r>
              <a:rPr lang="en-US" sz="2400" dirty="0">
                <a:solidFill>
                  <a:schemeClr val="tx1"/>
                </a:solidFill>
              </a:rPr>
              <a:t> hay t[A]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19789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5.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khái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niệm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EB3405-9C83-470E-9659-398553FA22DE}" type="slidenum">
              <a:rPr lang="en-US"/>
              <a:pPr>
                <a:defRPr/>
              </a:pPr>
              <a:t>66</a:t>
            </a:fld>
            <a:endParaRPr lang="en-US"/>
          </a:p>
        </p:txBody>
      </p:sp>
      <p:sp>
        <p:nvSpPr>
          <p:cNvPr id="181252" name="Rectangle 4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742950" indent="-742950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400" dirty="0" err="1"/>
              <a:t>Siêu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FF3300"/>
                </a:solidFill>
              </a:rPr>
              <a:t>Super key</a:t>
            </a:r>
            <a:r>
              <a:rPr lang="en-US" sz="2400" dirty="0"/>
              <a:t>)</a:t>
            </a:r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400" dirty="0" err="1"/>
              <a:t>Khóa</a:t>
            </a:r>
            <a:endParaRPr lang="en-US" sz="2400" dirty="0"/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FF3300"/>
                </a:solidFill>
              </a:rPr>
              <a:t>Primary key</a:t>
            </a:r>
            <a:r>
              <a:rPr lang="en-US" sz="2400" dirty="0"/>
              <a:t>)</a:t>
            </a:r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400" dirty="0" err="1"/>
              <a:t>Tham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endParaRPr lang="en-US" sz="2400" dirty="0"/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ngoại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FF3300"/>
                </a:solidFill>
              </a:rPr>
              <a:t>Foreign key</a:t>
            </a:r>
            <a:r>
              <a:rPr lang="en-US" sz="2400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56211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a)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Siêu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endParaRPr lang="en-US" sz="3200" dirty="0"/>
          </a:p>
        </p:txBody>
      </p:sp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C75533-A568-4BE9-8CAF-1E6318D7791D}" type="slidenum">
              <a:rPr lang="en-US"/>
              <a:pPr>
                <a:defRPr/>
              </a:pPr>
              <a:t>67</a:t>
            </a:fld>
            <a:endParaRPr lang="en-US"/>
          </a:p>
        </p:txBody>
      </p:sp>
      <p:sp>
        <p:nvSpPr>
          <p:cNvPr id="2150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686800" cy="4876800"/>
          </a:xfrm>
          <a:noFill/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tồn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2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bất</a:t>
            </a:r>
            <a:r>
              <a:rPr lang="en-US" sz="2400" dirty="0"/>
              <a:t> </a:t>
            </a:r>
            <a:r>
              <a:rPr lang="en-US" sz="2400" dirty="0" err="1"/>
              <a:t>kỳ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giống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S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Char char="v"/>
            </a:pPr>
            <a:r>
              <a:rPr lang="en-US" sz="2400" dirty="0" err="1"/>
              <a:t>Siêu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FF3300"/>
                </a:solidFill>
              </a:rPr>
              <a:t>Super Key</a:t>
            </a:r>
            <a:r>
              <a:rPr lang="en-US" sz="2400" dirty="0"/>
              <a:t>)</a:t>
            </a:r>
          </a:p>
          <a:p>
            <a:pPr lvl="1" algn="just" eaLnBrk="1" hangingPunct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400" dirty="0" err="1"/>
              <a:t>Gọi</a:t>
            </a:r>
            <a:r>
              <a:rPr lang="en-US" sz="2400" dirty="0"/>
              <a:t> S</a:t>
            </a:r>
            <a:r>
              <a:rPr lang="en-US" sz="2400" baseline="-25000" dirty="0"/>
              <a:t>K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con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rỗng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R</a:t>
            </a:r>
          </a:p>
          <a:p>
            <a:pPr lvl="1" algn="just" eaLnBrk="1" hangingPunct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400" dirty="0"/>
              <a:t>S</a:t>
            </a:r>
            <a:r>
              <a:rPr lang="en-US" sz="2400" baseline="-25000" dirty="0"/>
              <a:t>K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siêu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endParaRPr lang="en-US" sz="2400" dirty="0"/>
          </a:p>
          <a:p>
            <a:pPr lvl="1" algn="just" eaLnBrk="1" hangingPunct="1">
              <a:lnSpc>
                <a:spcPct val="130000"/>
              </a:lnSpc>
              <a:buFont typeface="Wingdings" pitchFamily="2" charset="2"/>
              <a:buChar char="Ø"/>
            </a:pPr>
            <a:endParaRPr lang="en-US" sz="2400" dirty="0"/>
          </a:p>
          <a:p>
            <a:pPr lvl="1" algn="just" eaLnBrk="1" hangingPunct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400" dirty="0" err="1"/>
              <a:t>Siêu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b="1" u="sng" dirty="0" err="1"/>
              <a:t>tính</a:t>
            </a:r>
            <a:r>
              <a:rPr lang="en-US" sz="2400" b="1" u="sng" dirty="0"/>
              <a:t> </a:t>
            </a:r>
            <a:r>
              <a:rPr lang="en-US" sz="2400" b="1" u="sng" dirty="0" err="1"/>
              <a:t>duy</a:t>
            </a:r>
            <a:r>
              <a:rPr lang="en-US" sz="2400" b="1" u="sng" dirty="0"/>
              <a:t> </a:t>
            </a:r>
            <a:r>
              <a:rPr lang="en-US" sz="2400" b="1" u="sng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lvl="1" algn="just" eaLnBrk="1" hangingPunct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2400" dirty="0" err="1"/>
              <a:t>Mọi</a:t>
            </a:r>
            <a:r>
              <a:rPr lang="en-US" sz="2400" dirty="0"/>
              <a:t> </a:t>
            </a: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thiểu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siêu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endParaRPr lang="en-US" sz="2400" dirty="0"/>
          </a:p>
        </p:txBody>
      </p:sp>
      <p:grpSp>
        <p:nvGrpSpPr>
          <p:cNvPr id="21510" name="Group 5"/>
          <p:cNvGrpSpPr>
            <a:grpSpLocks/>
          </p:cNvGrpSpPr>
          <p:nvPr/>
        </p:nvGrpSpPr>
        <p:grpSpPr bwMode="auto">
          <a:xfrm>
            <a:off x="1416959" y="3620366"/>
            <a:ext cx="6477000" cy="523875"/>
            <a:chOff x="1056" y="2112"/>
            <a:chExt cx="3504" cy="330"/>
          </a:xfrm>
        </p:grpSpPr>
        <p:sp>
          <p:nvSpPr>
            <p:cNvPr id="183302" name="Text Box 6"/>
            <p:cNvSpPr txBox="1">
              <a:spLocks noChangeArrowheads="1"/>
            </p:cNvSpPr>
            <p:nvPr/>
          </p:nvSpPr>
          <p:spPr bwMode="auto">
            <a:xfrm>
              <a:off x="2880" y="2112"/>
              <a:ext cx="336" cy="3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  <a:defRPr/>
              </a:pPr>
              <a:r>
                <a:rPr lang="en-US" sz="2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sym typeface="Symbol" pitchFamily="18" charset="2"/>
                </a:rPr>
                <a:t></a:t>
              </a:r>
            </a:p>
          </p:txBody>
        </p:sp>
        <p:grpSp>
          <p:nvGrpSpPr>
            <p:cNvPr id="21513" name="Group 7"/>
            <p:cNvGrpSpPr>
              <a:grpSpLocks/>
            </p:cNvGrpSpPr>
            <p:nvPr/>
          </p:nvGrpSpPr>
          <p:grpSpPr bwMode="auto">
            <a:xfrm>
              <a:off x="1056" y="2112"/>
              <a:ext cx="1872" cy="330"/>
              <a:chOff x="1584" y="2208"/>
              <a:chExt cx="1872" cy="330"/>
            </a:xfrm>
          </p:grpSpPr>
          <p:grpSp>
            <p:nvGrpSpPr>
              <p:cNvPr id="21518" name="Group 8"/>
              <p:cNvGrpSpPr>
                <a:grpSpLocks/>
              </p:cNvGrpSpPr>
              <p:nvPr/>
            </p:nvGrpSpPr>
            <p:grpSpPr bwMode="auto">
              <a:xfrm>
                <a:off x="1584" y="2208"/>
                <a:ext cx="480" cy="330"/>
                <a:chOff x="1488" y="2208"/>
                <a:chExt cx="480" cy="330"/>
              </a:xfrm>
            </p:grpSpPr>
            <p:sp>
              <p:nvSpPr>
                <p:cNvPr id="18330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84" cy="330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  <a:defRPr/>
                  </a:pPr>
                  <a:r>
                    <a:rPr lang="en-US" sz="28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  <a:sym typeface="Symbol" pitchFamily="18" charset="2"/>
                    </a:rPr>
                    <a:t></a:t>
                  </a:r>
                </a:p>
              </p:txBody>
            </p:sp>
            <p:sp>
              <p:nvSpPr>
                <p:cNvPr id="183306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632" y="2256"/>
                  <a:ext cx="336" cy="25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  <a:defRPr/>
                  </a:pPr>
                  <a:r>
                    <a:rPr lang="en-US" sz="20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charset="0"/>
                    </a:rPr>
                    <a:t>r,</a:t>
                  </a:r>
                </a:p>
              </p:txBody>
            </p:sp>
          </p:grpSp>
          <p:sp>
            <p:nvSpPr>
              <p:cNvPr id="183307" name="Text Box 11"/>
              <p:cNvSpPr txBox="1">
                <a:spLocks noChangeArrowheads="1"/>
              </p:cNvSpPr>
              <p:nvPr/>
            </p:nvSpPr>
            <p:spPr bwMode="auto">
              <a:xfrm>
                <a:off x="1920" y="2208"/>
                <a:ext cx="384" cy="330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8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  <a:sym typeface="Symbol" pitchFamily="18" charset="2"/>
                  </a:rPr>
                  <a:t></a:t>
                </a:r>
              </a:p>
            </p:txBody>
          </p:sp>
          <p:sp>
            <p:nvSpPr>
              <p:cNvPr id="183308" name="Text Box 12"/>
              <p:cNvSpPr txBox="1">
                <a:spLocks noChangeArrowheads="1"/>
              </p:cNvSpPr>
              <p:nvPr/>
            </p:nvSpPr>
            <p:spPr bwMode="auto">
              <a:xfrm>
                <a:off x="2064" y="2256"/>
                <a:ext cx="576" cy="25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0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</a:rPr>
                  <a:t>t1,t2</a:t>
                </a:r>
              </a:p>
            </p:txBody>
          </p:sp>
          <p:sp>
            <p:nvSpPr>
              <p:cNvPr id="183309" name="Text Box 13"/>
              <p:cNvSpPr txBox="1">
                <a:spLocks noChangeArrowheads="1"/>
              </p:cNvSpPr>
              <p:nvPr/>
            </p:nvSpPr>
            <p:spPr bwMode="auto">
              <a:xfrm>
                <a:off x="2448" y="2208"/>
                <a:ext cx="240" cy="330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8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  <a:sym typeface="Symbol" pitchFamily="18" charset="2"/>
                  </a:rPr>
                  <a:t></a:t>
                </a:r>
              </a:p>
            </p:txBody>
          </p:sp>
          <p:sp>
            <p:nvSpPr>
              <p:cNvPr id="183310" name="Text Box 14"/>
              <p:cNvSpPr txBox="1">
                <a:spLocks noChangeArrowheads="1"/>
              </p:cNvSpPr>
              <p:nvPr/>
            </p:nvSpPr>
            <p:spPr bwMode="auto">
              <a:xfrm>
                <a:off x="2540" y="2256"/>
                <a:ext cx="528" cy="25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0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</a:rPr>
                  <a:t>r,  t1</a:t>
                </a:r>
              </a:p>
            </p:txBody>
          </p:sp>
          <p:sp>
            <p:nvSpPr>
              <p:cNvPr id="183311" name="Text Box 15"/>
              <p:cNvSpPr txBox="1">
                <a:spLocks noChangeArrowheads="1"/>
              </p:cNvSpPr>
              <p:nvPr/>
            </p:nvSpPr>
            <p:spPr bwMode="auto">
              <a:xfrm>
                <a:off x="2928" y="2256"/>
                <a:ext cx="528" cy="25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0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</a:rPr>
                  <a:t>t2</a:t>
                </a:r>
              </a:p>
            </p:txBody>
          </p:sp>
          <p:sp>
            <p:nvSpPr>
              <p:cNvPr id="183312" name="Text Box 16"/>
              <p:cNvSpPr txBox="1">
                <a:spLocks noChangeArrowheads="1"/>
              </p:cNvSpPr>
              <p:nvPr/>
            </p:nvSpPr>
            <p:spPr bwMode="auto">
              <a:xfrm>
                <a:off x="2928" y="2208"/>
                <a:ext cx="240" cy="330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8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  <a:sym typeface="Symbol" pitchFamily="18" charset="2"/>
                  </a:rPr>
                  <a:t></a:t>
                </a:r>
              </a:p>
            </p:txBody>
          </p:sp>
        </p:grpSp>
        <p:grpSp>
          <p:nvGrpSpPr>
            <p:cNvPr id="21514" name="Group 17"/>
            <p:cNvGrpSpPr>
              <a:grpSpLocks/>
            </p:cNvGrpSpPr>
            <p:nvPr/>
          </p:nvGrpSpPr>
          <p:grpSpPr bwMode="auto">
            <a:xfrm>
              <a:off x="3168" y="2112"/>
              <a:ext cx="1392" cy="330"/>
              <a:chOff x="2832" y="3072"/>
              <a:chExt cx="1392" cy="330"/>
            </a:xfrm>
          </p:grpSpPr>
          <p:sp>
            <p:nvSpPr>
              <p:cNvPr id="183314" name="Text Box 18"/>
              <p:cNvSpPr txBox="1">
                <a:spLocks noChangeArrowheads="1"/>
              </p:cNvSpPr>
              <p:nvPr/>
            </p:nvSpPr>
            <p:spPr bwMode="auto">
              <a:xfrm>
                <a:off x="3408" y="3072"/>
                <a:ext cx="240" cy="330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8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  <a:sym typeface="Symbol" pitchFamily="18" charset="2"/>
                  </a:rPr>
                  <a:t></a:t>
                </a:r>
              </a:p>
            </p:txBody>
          </p:sp>
          <p:sp>
            <p:nvSpPr>
              <p:cNvPr id="183315" name="Text Box 19"/>
              <p:cNvSpPr txBox="1">
                <a:spLocks noChangeArrowheads="1"/>
              </p:cNvSpPr>
              <p:nvPr/>
            </p:nvSpPr>
            <p:spPr bwMode="auto">
              <a:xfrm>
                <a:off x="2832" y="3129"/>
                <a:ext cx="768" cy="25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0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</a:rPr>
                  <a:t>t1[SK]</a:t>
                </a:r>
              </a:p>
            </p:txBody>
          </p:sp>
          <p:sp>
            <p:nvSpPr>
              <p:cNvPr id="183316" name="Text Box 20"/>
              <p:cNvSpPr txBox="1">
                <a:spLocks noChangeArrowheads="1"/>
              </p:cNvSpPr>
              <p:nvPr/>
            </p:nvSpPr>
            <p:spPr bwMode="auto">
              <a:xfrm>
                <a:off x="3648" y="3120"/>
                <a:ext cx="576" cy="25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  <a:defRPr/>
                </a:pPr>
                <a:r>
                  <a:rPr lang="en-US" sz="20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</a:rPr>
                  <a:t>t2[SK]</a:t>
                </a:r>
              </a:p>
            </p:txBody>
          </p:sp>
        </p:grp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95871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b)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endParaRPr lang="en-US" dirty="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99F308-C723-4BA0-91E3-73033E6593C6}" type="slidenum">
              <a:rPr lang="en-US"/>
              <a:pPr>
                <a:defRPr/>
              </a:pPr>
              <a:t>68</a:t>
            </a:fld>
            <a:endParaRPr lang="en-US"/>
          </a:p>
        </p:txBody>
      </p:sp>
      <p:sp>
        <p:nvSpPr>
          <p:cNvPr id="22531" name="Rectangle 22"/>
          <p:cNvSpPr>
            <a:spLocks noGrp="1" noChangeArrowheads="1"/>
          </p:cNvSpPr>
          <p:nvPr>
            <p:ph sz="quarter" idx="1"/>
          </p:nvPr>
        </p:nvSpPr>
        <p:spPr>
          <a:xfrm>
            <a:off x="152400" y="1447800"/>
            <a:ext cx="8839200" cy="4876800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Char char="v"/>
            </a:pPr>
            <a:r>
              <a:rPr lang="en-US" sz="2400" b="1" dirty="0" err="1"/>
              <a:t>Định</a:t>
            </a:r>
            <a:r>
              <a:rPr lang="en-US" sz="2400" b="1" dirty="0"/>
              <a:t> </a:t>
            </a:r>
            <a:r>
              <a:rPr lang="en-US" sz="2400" b="1" dirty="0" err="1"/>
              <a:t>nghĩa</a:t>
            </a:r>
            <a:endParaRPr lang="en-US" sz="2400" b="1" dirty="0"/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Gọi</a:t>
            </a:r>
            <a:r>
              <a:rPr lang="en-US" sz="2400" dirty="0">
                <a:solidFill>
                  <a:schemeClr val="tx1"/>
                </a:solidFill>
              </a:rPr>
              <a:t> K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một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tập</a:t>
            </a:r>
            <a:r>
              <a:rPr lang="en-US" sz="2400" dirty="0">
                <a:solidFill>
                  <a:schemeClr val="tx1"/>
                </a:solidFill>
              </a:rPr>
              <a:t> con </a:t>
            </a:r>
            <a:r>
              <a:rPr lang="en-US" sz="2400" dirty="0" err="1">
                <a:solidFill>
                  <a:schemeClr val="tx1"/>
                </a:solidFill>
              </a:rPr>
              <a:t>khác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rỗng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thuộc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tính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R</a:t>
            </a:r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K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khóa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R </a:t>
            </a:r>
            <a:r>
              <a:rPr lang="en-US" sz="2400" dirty="0" err="1">
                <a:solidFill>
                  <a:schemeClr val="tx1"/>
                </a:solidFill>
              </a:rPr>
              <a:t>nếu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thỏa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đồng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thời</a:t>
            </a:r>
            <a:r>
              <a:rPr lang="en-US" sz="2400" dirty="0">
                <a:solidFill>
                  <a:schemeClr val="tx1"/>
                </a:solidFill>
              </a:rPr>
              <a:t> 2 </a:t>
            </a:r>
            <a:r>
              <a:rPr lang="en-US" sz="2400" dirty="0" err="1">
                <a:solidFill>
                  <a:schemeClr val="tx1"/>
                </a:solidFill>
              </a:rPr>
              <a:t>điều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kiện</a:t>
            </a:r>
            <a:endParaRPr lang="en-US" sz="2400" dirty="0">
              <a:solidFill>
                <a:schemeClr val="tx1"/>
              </a:solidFill>
            </a:endParaRPr>
          </a:p>
          <a:p>
            <a:pPr lvl="2" algn="just" eaLnBrk="1" hangingPunct="1"/>
            <a:r>
              <a:rPr lang="en-US" sz="2000" dirty="0">
                <a:solidFill>
                  <a:srgbClr val="FF3300"/>
                </a:solidFill>
              </a:rPr>
              <a:t>K </a:t>
            </a:r>
            <a:r>
              <a:rPr lang="en-US" sz="2000" dirty="0" err="1">
                <a:solidFill>
                  <a:srgbClr val="FF3300"/>
                </a:solidFill>
              </a:rPr>
              <a:t>là</a:t>
            </a:r>
            <a:r>
              <a:rPr lang="en-US" sz="2000" dirty="0">
                <a:solidFill>
                  <a:srgbClr val="FF3300"/>
                </a:solidFill>
              </a:rPr>
              <a:t> </a:t>
            </a:r>
            <a:r>
              <a:rPr lang="en-US" sz="2000" dirty="0" err="1">
                <a:solidFill>
                  <a:srgbClr val="FF3300"/>
                </a:solidFill>
              </a:rPr>
              <a:t>một</a:t>
            </a:r>
            <a:r>
              <a:rPr lang="en-US" sz="2000" dirty="0">
                <a:solidFill>
                  <a:srgbClr val="FF3300"/>
                </a:solidFill>
              </a:rPr>
              <a:t> </a:t>
            </a:r>
            <a:r>
              <a:rPr lang="en-US" sz="2000" dirty="0" err="1">
                <a:solidFill>
                  <a:srgbClr val="FF3300"/>
                </a:solidFill>
              </a:rPr>
              <a:t>siêu</a:t>
            </a:r>
            <a:r>
              <a:rPr lang="en-US" sz="2000" dirty="0">
                <a:solidFill>
                  <a:srgbClr val="FF3300"/>
                </a:solidFill>
              </a:rPr>
              <a:t> </a:t>
            </a:r>
            <a:r>
              <a:rPr lang="en-US" sz="2000" dirty="0" err="1">
                <a:solidFill>
                  <a:srgbClr val="FF3300"/>
                </a:solidFill>
              </a:rPr>
              <a:t>khóa</a:t>
            </a:r>
            <a:r>
              <a:rPr lang="en-US" sz="2000" dirty="0">
                <a:solidFill>
                  <a:srgbClr val="FF3300"/>
                </a:solidFill>
              </a:rPr>
              <a:t> </a:t>
            </a:r>
            <a:r>
              <a:rPr lang="en-US" sz="2000" dirty="0" err="1">
                <a:solidFill>
                  <a:srgbClr val="FF3300"/>
                </a:solidFill>
              </a:rPr>
              <a:t>của</a:t>
            </a:r>
            <a:r>
              <a:rPr lang="en-US" sz="2000" dirty="0">
                <a:solidFill>
                  <a:srgbClr val="FF3300"/>
                </a:solidFill>
              </a:rPr>
              <a:t> R</a:t>
            </a:r>
          </a:p>
          <a:p>
            <a:pPr lvl="2" algn="just" eaLnBrk="1" hangingPunct="1"/>
            <a:r>
              <a:rPr lang="en-US" sz="2000" dirty="0">
                <a:solidFill>
                  <a:srgbClr val="FF3300"/>
                </a:solidFill>
              </a:rPr>
              <a:t> </a:t>
            </a:r>
          </a:p>
          <a:p>
            <a:pPr algn="just" eaLnBrk="1" hangingPunct="1">
              <a:buFont typeface="Wingdings" pitchFamily="2" charset="2"/>
              <a:buChar char="v"/>
            </a:pPr>
            <a:r>
              <a:rPr lang="en-US" sz="2400" b="1" dirty="0" err="1"/>
              <a:t>Nhận</a:t>
            </a:r>
            <a:r>
              <a:rPr lang="en-US" sz="2400" b="1" dirty="0"/>
              <a:t> </a:t>
            </a:r>
            <a:r>
              <a:rPr lang="en-US" sz="2400" b="1" dirty="0" err="1"/>
              <a:t>xét</a:t>
            </a:r>
            <a:endParaRPr lang="en-US" sz="2400" b="1" dirty="0"/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siêu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nhỏ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nhất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nhất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biệt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r.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Lược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gọi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22534" name="Group 23"/>
          <p:cNvGrpSpPr>
            <a:grpSpLocks/>
          </p:cNvGrpSpPr>
          <p:nvPr/>
        </p:nvGrpSpPr>
        <p:grpSpPr bwMode="auto">
          <a:xfrm>
            <a:off x="990600" y="3048000"/>
            <a:ext cx="7696200" cy="457200"/>
            <a:chOff x="889" y="1968"/>
            <a:chExt cx="4487" cy="288"/>
          </a:xfrm>
        </p:grpSpPr>
        <p:sp>
          <p:nvSpPr>
            <p:cNvPr id="22536" name="Text Box 24"/>
            <p:cNvSpPr txBox="1">
              <a:spLocks noChangeArrowheads="1"/>
            </p:cNvSpPr>
            <p:nvPr/>
          </p:nvSpPr>
          <p:spPr bwMode="auto">
            <a:xfrm>
              <a:off x="889" y="196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2400" b="1" dirty="0">
                  <a:solidFill>
                    <a:srgbClr val="FF3300"/>
                  </a:solidFill>
                  <a:latin typeface="Tahoma" charset="0"/>
                  <a:sym typeface="Symbol" pitchFamily="18" charset="2"/>
                </a:rPr>
                <a:t></a:t>
              </a:r>
            </a:p>
          </p:txBody>
        </p:sp>
        <p:grpSp>
          <p:nvGrpSpPr>
            <p:cNvPr id="22537" name="Group 25"/>
            <p:cNvGrpSpPr>
              <a:grpSpLocks/>
            </p:cNvGrpSpPr>
            <p:nvPr/>
          </p:nvGrpSpPr>
          <p:grpSpPr bwMode="auto">
            <a:xfrm>
              <a:off x="1488" y="1968"/>
              <a:ext cx="816" cy="288"/>
              <a:chOff x="2496" y="2544"/>
              <a:chExt cx="816" cy="288"/>
            </a:xfrm>
          </p:grpSpPr>
          <p:sp>
            <p:nvSpPr>
              <p:cNvPr id="22544" name="Text Box 26"/>
              <p:cNvSpPr txBox="1">
                <a:spLocks noChangeArrowheads="1"/>
              </p:cNvSpPr>
              <p:nvPr/>
            </p:nvSpPr>
            <p:spPr bwMode="auto">
              <a:xfrm>
                <a:off x="2880" y="254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2400" b="1">
                    <a:solidFill>
                      <a:srgbClr val="FF3300"/>
                    </a:solidFill>
                    <a:latin typeface="Tahoma" charset="0"/>
                    <a:sym typeface="Symbol" pitchFamily="18" charset="2"/>
                  </a:rPr>
                  <a:t></a:t>
                </a:r>
              </a:p>
            </p:txBody>
          </p:sp>
          <p:sp>
            <p:nvSpPr>
              <p:cNvPr id="22545" name="Text Box 27"/>
              <p:cNvSpPr txBox="1">
                <a:spLocks noChangeArrowheads="1"/>
              </p:cNvSpPr>
              <p:nvPr/>
            </p:nvSpPr>
            <p:spPr bwMode="auto">
              <a:xfrm>
                <a:off x="3024" y="259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b="1">
                    <a:solidFill>
                      <a:srgbClr val="FF3300"/>
                    </a:solidFill>
                    <a:latin typeface="Tahoma" charset="0"/>
                  </a:rPr>
                  <a:t>K</a:t>
                </a:r>
              </a:p>
            </p:txBody>
          </p:sp>
          <p:sp>
            <p:nvSpPr>
              <p:cNvPr id="22546" name="Text Box 28"/>
              <p:cNvSpPr txBox="1">
                <a:spLocks noChangeArrowheads="1"/>
              </p:cNvSpPr>
              <p:nvPr/>
            </p:nvSpPr>
            <p:spPr bwMode="auto">
              <a:xfrm>
                <a:off x="2496" y="2592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b="1" dirty="0">
                    <a:solidFill>
                      <a:srgbClr val="FF3300"/>
                    </a:solidFill>
                    <a:latin typeface="Tahoma" charset="0"/>
                  </a:rPr>
                  <a:t>   ,  K’</a:t>
                </a:r>
              </a:p>
            </p:txBody>
          </p:sp>
        </p:grpSp>
        <p:grpSp>
          <p:nvGrpSpPr>
            <p:cNvPr id="22538" name="Group 29"/>
            <p:cNvGrpSpPr>
              <a:grpSpLocks/>
            </p:cNvGrpSpPr>
            <p:nvPr/>
          </p:nvGrpSpPr>
          <p:grpSpPr bwMode="auto">
            <a:xfrm>
              <a:off x="1088" y="1968"/>
              <a:ext cx="664" cy="288"/>
              <a:chOff x="1472" y="2352"/>
              <a:chExt cx="664" cy="288"/>
            </a:xfrm>
          </p:grpSpPr>
          <p:sp>
            <p:nvSpPr>
              <p:cNvPr id="22541" name="Text Box 30"/>
              <p:cNvSpPr txBox="1">
                <a:spLocks noChangeArrowheads="1"/>
              </p:cNvSpPr>
              <p:nvPr/>
            </p:nvSpPr>
            <p:spPr bwMode="auto">
              <a:xfrm>
                <a:off x="1472" y="2400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b="1" dirty="0">
                    <a:solidFill>
                      <a:srgbClr val="FF3300"/>
                    </a:solidFill>
                    <a:latin typeface="Tahoma" charset="0"/>
                  </a:rPr>
                  <a:t>K’</a:t>
                </a:r>
              </a:p>
            </p:txBody>
          </p:sp>
          <p:sp>
            <p:nvSpPr>
              <p:cNvPr id="22542" name="Text Box 31"/>
              <p:cNvSpPr txBox="1">
                <a:spLocks noChangeArrowheads="1"/>
              </p:cNvSpPr>
              <p:nvPr/>
            </p:nvSpPr>
            <p:spPr bwMode="auto">
              <a:xfrm>
                <a:off x="1680" y="23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2400" b="1">
                    <a:solidFill>
                      <a:srgbClr val="FF3300"/>
                    </a:solidFill>
                    <a:latin typeface="Tahoma" charset="0"/>
                    <a:sym typeface="Symbol" pitchFamily="18" charset="2"/>
                  </a:rPr>
                  <a:t></a:t>
                </a:r>
              </a:p>
            </p:txBody>
          </p:sp>
          <p:sp>
            <p:nvSpPr>
              <p:cNvPr id="22543" name="Text Box 32"/>
              <p:cNvSpPr txBox="1">
                <a:spLocks noChangeArrowheads="1"/>
              </p:cNvSpPr>
              <p:nvPr/>
            </p:nvSpPr>
            <p:spPr bwMode="auto">
              <a:xfrm>
                <a:off x="1800" y="2400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b="1" dirty="0">
                    <a:solidFill>
                      <a:srgbClr val="FF3300"/>
                    </a:solidFill>
                    <a:latin typeface="Tahoma" charset="0"/>
                  </a:rPr>
                  <a:t> K</a:t>
                </a:r>
              </a:p>
            </p:txBody>
          </p:sp>
        </p:grpSp>
        <p:sp>
          <p:nvSpPr>
            <p:cNvPr id="22539" name="Text Box 33"/>
            <p:cNvSpPr txBox="1">
              <a:spLocks noChangeArrowheads="1"/>
            </p:cNvSpPr>
            <p:nvPr/>
          </p:nvSpPr>
          <p:spPr bwMode="auto">
            <a:xfrm>
              <a:off x="2496" y="2006"/>
              <a:ext cx="28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2000" b="1" dirty="0" err="1">
                  <a:solidFill>
                    <a:srgbClr val="FF3300"/>
                  </a:solidFill>
                </a:rPr>
                <a:t>không</a:t>
              </a:r>
              <a:r>
                <a:rPr lang="en-US" sz="2000" b="1" dirty="0">
                  <a:solidFill>
                    <a:srgbClr val="FF3300"/>
                  </a:solidFill>
                </a:rPr>
                <a:t> </a:t>
              </a:r>
              <a:r>
                <a:rPr lang="en-US" sz="2000" b="1" dirty="0" err="1">
                  <a:solidFill>
                    <a:srgbClr val="FF3300"/>
                  </a:solidFill>
                </a:rPr>
                <a:t>phải</a:t>
              </a:r>
              <a:r>
                <a:rPr lang="en-US" sz="2000" b="1" dirty="0">
                  <a:solidFill>
                    <a:srgbClr val="FF3300"/>
                  </a:solidFill>
                </a:rPr>
                <a:t> </a:t>
              </a:r>
              <a:r>
                <a:rPr lang="en-US" sz="2000" b="1" dirty="0" err="1">
                  <a:solidFill>
                    <a:srgbClr val="FF3300"/>
                  </a:solidFill>
                </a:rPr>
                <a:t>là</a:t>
              </a:r>
              <a:r>
                <a:rPr lang="en-US" sz="2000" b="1" dirty="0">
                  <a:solidFill>
                    <a:srgbClr val="FF3300"/>
                  </a:solidFill>
                </a:rPr>
                <a:t> </a:t>
              </a:r>
              <a:r>
                <a:rPr lang="en-US" sz="2000" b="1" dirty="0" err="1">
                  <a:solidFill>
                    <a:srgbClr val="FF3300"/>
                  </a:solidFill>
                </a:rPr>
                <a:t>siêu</a:t>
              </a:r>
              <a:r>
                <a:rPr lang="en-US" sz="2000" b="1" dirty="0">
                  <a:solidFill>
                    <a:srgbClr val="FF3300"/>
                  </a:solidFill>
                </a:rPr>
                <a:t> </a:t>
              </a:r>
              <a:r>
                <a:rPr lang="en-US" sz="2000" b="1" dirty="0" err="1">
                  <a:solidFill>
                    <a:srgbClr val="FF3300"/>
                  </a:solidFill>
                </a:rPr>
                <a:t>khóa</a:t>
              </a:r>
              <a:r>
                <a:rPr lang="en-US" sz="2000" b="1" dirty="0">
                  <a:solidFill>
                    <a:srgbClr val="FF3300"/>
                  </a:solidFill>
                </a:rPr>
                <a:t> </a:t>
              </a:r>
              <a:r>
                <a:rPr lang="en-US" sz="2000" b="1" dirty="0" err="1">
                  <a:solidFill>
                    <a:srgbClr val="FF3300"/>
                  </a:solidFill>
                </a:rPr>
                <a:t>của</a:t>
              </a:r>
              <a:r>
                <a:rPr lang="en-US" sz="2000" b="1" dirty="0">
                  <a:solidFill>
                    <a:srgbClr val="FF3300"/>
                  </a:solidFill>
                </a:rPr>
                <a:t> R</a:t>
              </a:r>
            </a:p>
          </p:txBody>
        </p:sp>
        <p:sp>
          <p:nvSpPr>
            <p:cNvPr id="22540" name="Text Box 34"/>
            <p:cNvSpPr txBox="1">
              <a:spLocks noChangeArrowheads="1"/>
            </p:cNvSpPr>
            <p:nvPr/>
          </p:nvSpPr>
          <p:spPr bwMode="auto">
            <a:xfrm>
              <a:off x="2160" y="2025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 b="1" dirty="0">
                  <a:solidFill>
                    <a:srgbClr val="FF3300"/>
                  </a:solidFill>
                  <a:latin typeface="Tahoma" charset="0"/>
                </a:rPr>
                <a:t>,  K’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7325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c)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chính</a:t>
            </a:r>
            <a:endParaRPr lang="en-US" sz="3200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0649DC-220D-4491-8E55-BD95DCE4E550}" type="slidenum">
              <a:rPr lang="en-US"/>
              <a:pPr>
                <a:defRPr/>
              </a:pPr>
              <a:t>69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81940" y="1447800"/>
            <a:ext cx="8503920" cy="4572000"/>
          </a:xfrm>
        </p:spPr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,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ít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null.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: </a:t>
            </a:r>
            <a:r>
              <a:rPr lang="en-US" sz="2400" dirty="0" err="1"/>
              <a:t>Gạch</a:t>
            </a:r>
            <a:r>
              <a:rPr lang="en-US" sz="2400" dirty="0"/>
              <a:t> </a:t>
            </a:r>
            <a:r>
              <a:rPr lang="en-US" sz="2400" dirty="0" err="1"/>
              <a:t>dưới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654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c)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chính</a:t>
            </a:r>
            <a:endParaRPr lang="en-US" sz="3200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0649DC-220D-4491-8E55-BD95DCE4E550}" type="slidenum">
              <a:rPr lang="en-US"/>
              <a:pPr>
                <a:defRPr/>
              </a:pPr>
              <a:t>70</a:t>
            </a:fld>
            <a:endParaRPr lang="en-US"/>
          </a:p>
        </p:txBody>
      </p:sp>
      <p:sp>
        <p:nvSpPr>
          <p:cNvPr id="21508" name="Rectangle 18"/>
          <p:cNvSpPr>
            <a:spLocks noGrp="1" noChangeArrowheads="1"/>
          </p:cNvSpPr>
          <p:nvPr>
            <p:ph sz="quarter" idx="1"/>
          </p:nvPr>
        </p:nvSpPr>
        <p:spPr>
          <a:xfrm>
            <a:off x="228600" y="1447800"/>
            <a:ext cx="8458200" cy="4769644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Char char="v"/>
              <a:defRPr/>
            </a:pP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lvl="2" eaLnBrk="1" hangingPunct="1">
              <a:buFontTx/>
              <a:buNone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2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endParaRPr lang="en-US" dirty="0">
              <a:solidFill>
                <a:schemeClr val="tx1"/>
              </a:solidFill>
            </a:endParaRPr>
          </a:p>
          <a:p>
            <a:pPr lvl="2" eaLnBrk="1" hangingPunct="1">
              <a:defRPr/>
            </a:pPr>
            <a:r>
              <a:rPr lang="en-US" dirty="0"/>
              <a:t>MANV</a:t>
            </a:r>
          </a:p>
          <a:p>
            <a:pPr lvl="2" eaLnBrk="1" hangingPunct="1">
              <a:defRPr/>
            </a:pPr>
            <a:r>
              <a:rPr lang="en-US" dirty="0"/>
              <a:t>HONV, TENNV, NS</a:t>
            </a:r>
          </a:p>
          <a:p>
            <a:pPr lvl="1" eaLnBrk="1" hangingPunct="1">
              <a:buFont typeface="Wingdings" pitchFamily="2" charset="2"/>
              <a:buChar char="Ø"/>
              <a:defRPr/>
            </a:pP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cài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đặt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(table)</a:t>
            </a:r>
          </a:p>
          <a:p>
            <a:pPr lvl="2" eaLnBrk="1" hangingPunct="1">
              <a:defRPr/>
            </a:pPr>
            <a:r>
              <a:rPr lang="en-US" dirty="0" err="1"/>
              <a:t>Chọn</a:t>
            </a:r>
            <a:r>
              <a:rPr lang="en-US" dirty="0"/>
              <a:t> 1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pPr lvl="3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hơn</a:t>
            </a:r>
            <a:endParaRPr lang="en-US" dirty="0">
              <a:solidFill>
                <a:schemeClr val="tx1"/>
              </a:solidFill>
            </a:endParaRPr>
          </a:p>
          <a:p>
            <a:pPr lvl="2" eaLnBrk="1" hangingPunct="1">
              <a:defRPr/>
            </a:pP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u="sng" dirty="0" err="1"/>
              <a:t>khóa</a:t>
            </a:r>
            <a:r>
              <a:rPr lang="en-US" u="sng" dirty="0"/>
              <a:t> </a:t>
            </a:r>
            <a:r>
              <a:rPr lang="en-US" u="sng" dirty="0" err="1"/>
              <a:t>chính</a:t>
            </a:r>
            <a:r>
              <a:rPr lang="en-US" dirty="0"/>
              <a:t>: (PK - primary key)</a:t>
            </a:r>
          </a:p>
        </p:txBody>
      </p:sp>
      <p:sp>
        <p:nvSpPr>
          <p:cNvPr id="23558" name="Text Box 19"/>
          <p:cNvSpPr txBox="1">
            <a:spLocks noChangeArrowheads="1"/>
          </p:cNvSpPr>
          <p:nvPr/>
        </p:nvSpPr>
        <p:spPr bwMode="auto">
          <a:xfrm>
            <a:off x="990600" y="1905000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1800" b="1" dirty="0">
                <a:solidFill>
                  <a:srgbClr val="FF3300"/>
                </a:solidFill>
                <a:latin typeface="Tahoma" charset="0"/>
              </a:rPr>
              <a:t>NHANVIEN(MANV, TENNV, HONV, NS, DCHI, GT, LUONG, PHG)</a:t>
            </a:r>
          </a:p>
        </p:txBody>
      </p:sp>
      <p:sp>
        <p:nvSpPr>
          <p:cNvPr id="23559" name="Text Box 20"/>
          <p:cNvSpPr txBox="1">
            <a:spLocks noChangeArrowheads="1"/>
          </p:cNvSpPr>
          <p:nvPr/>
        </p:nvSpPr>
        <p:spPr bwMode="auto">
          <a:xfrm>
            <a:off x="838200" y="5119688"/>
            <a:ext cx="7848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1800" b="1" dirty="0">
                <a:solidFill>
                  <a:srgbClr val="FF3300"/>
                </a:solidFill>
                <a:latin typeface="Tahoma" charset="0"/>
              </a:rPr>
              <a:t>NHANVIEN(</a:t>
            </a:r>
            <a:r>
              <a:rPr lang="en-US" sz="1800" b="1" u="sng" dirty="0">
                <a:solidFill>
                  <a:srgbClr val="FF3300"/>
                </a:solidFill>
                <a:latin typeface="Tahoma" charset="0"/>
              </a:rPr>
              <a:t>MANV</a:t>
            </a:r>
            <a:r>
              <a:rPr lang="en-US" sz="1800" b="1" dirty="0">
                <a:solidFill>
                  <a:srgbClr val="FF3300"/>
                </a:solidFill>
                <a:latin typeface="Tahoma" charset="0"/>
              </a:rPr>
              <a:t>, TENNV, HONV, NS, DCHI, GT, LUONG, PHG)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2988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c)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chính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Xét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r: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11328"/>
              </p:ext>
            </p:extLst>
          </p:nvPr>
        </p:nvGraphicFramePr>
        <p:xfrm>
          <a:off x="838200" y="3581400"/>
          <a:ext cx="7391400" cy="189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NGSINH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CMND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Trần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 err="1"/>
                        <a:t>Thanh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01/05/1990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024555886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12345678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Thu </a:t>
                      </a:r>
                      <a:r>
                        <a:rPr lang="en-US" dirty="0" err="1"/>
                        <a:t>Huyền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23/12/1989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024000555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88866611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Nguyễn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Tùng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12/07/1990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024678678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10002222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Trần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Thanh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05/04/1989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024123456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661810" y="2623457"/>
            <a:ext cx="3599352" cy="2928257"/>
            <a:chOff x="762000" y="3378495"/>
            <a:chExt cx="3505200" cy="2928257"/>
          </a:xfrm>
        </p:grpSpPr>
        <p:sp>
          <p:nvSpPr>
            <p:cNvPr id="8" name="Rectangle 7"/>
            <p:cNvSpPr/>
            <p:nvPr/>
          </p:nvSpPr>
          <p:spPr>
            <a:xfrm>
              <a:off x="762000" y="4267200"/>
              <a:ext cx="3505200" cy="2039552"/>
            </a:xfrm>
            <a:prstGeom prst="rect">
              <a:avLst/>
            </a:prstGeom>
            <a:solidFill>
              <a:srgbClr val="C0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71600" y="3378495"/>
              <a:ext cx="18288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Siêu</a:t>
              </a:r>
              <a:r>
                <a:rPr lang="en-US" dirty="0"/>
                <a:t> </a:t>
              </a:r>
              <a:r>
                <a:rPr lang="en-US" dirty="0" err="1"/>
                <a:t>khóa</a:t>
              </a:r>
              <a:r>
                <a:rPr lang="en-US" dirty="0"/>
                <a:t> 1</a:t>
              </a:r>
            </a:p>
          </p:txBody>
        </p:sp>
        <p:cxnSp>
          <p:nvCxnSpPr>
            <p:cNvPr id="10" name="Straight Connector 9"/>
            <p:cNvCxnSpPr>
              <a:stCxn id="8" idx="0"/>
              <a:endCxn id="9" idx="2"/>
            </p:cNvCxnSpPr>
            <p:nvPr/>
          </p:nvCxnSpPr>
          <p:spPr>
            <a:xfrm flipH="1" flipV="1">
              <a:off x="2286000" y="3759495"/>
              <a:ext cx="228600" cy="50770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708914" y="1905000"/>
            <a:ext cx="7637490" cy="3733800"/>
            <a:chOff x="708914" y="2667000"/>
            <a:chExt cx="7637490" cy="3733800"/>
          </a:xfrm>
        </p:grpSpPr>
        <p:sp>
          <p:nvSpPr>
            <p:cNvPr id="12" name="Rectangle 11"/>
            <p:cNvSpPr/>
            <p:nvPr/>
          </p:nvSpPr>
          <p:spPr>
            <a:xfrm>
              <a:off x="708914" y="4091998"/>
              <a:ext cx="1717004" cy="2308802"/>
            </a:xfrm>
            <a:prstGeom prst="rect">
              <a:avLst/>
            </a:prstGeom>
            <a:solidFill>
              <a:srgbClr val="7030A0">
                <a:alpha val="39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29400" y="4083373"/>
              <a:ext cx="1717004" cy="2308802"/>
            </a:xfrm>
            <a:prstGeom prst="rect">
              <a:avLst/>
            </a:prstGeom>
            <a:solidFill>
              <a:srgbClr val="7030A0">
                <a:alpha val="39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>
              <a:stCxn id="12" idx="0"/>
              <a:endCxn id="16" idx="2"/>
            </p:cNvCxnSpPr>
            <p:nvPr/>
          </p:nvCxnSpPr>
          <p:spPr>
            <a:xfrm flipV="1">
              <a:off x="1567416" y="3036332"/>
              <a:ext cx="2966484" cy="105566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3" idx="0"/>
              <a:endCxn id="16" idx="2"/>
            </p:cNvCxnSpPr>
            <p:nvPr/>
          </p:nvCxnSpPr>
          <p:spPr>
            <a:xfrm flipH="1" flipV="1">
              <a:off x="4533900" y="3036332"/>
              <a:ext cx="2954002" cy="104704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810000" y="26670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Khóa</a:t>
              </a:r>
              <a:endParaRPr lang="en-US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98821" y="2153611"/>
            <a:ext cx="1717004" cy="3476564"/>
            <a:chOff x="708914" y="2924236"/>
            <a:chExt cx="1717004" cy="3476564"/>
          </a:xfrm>
        </p:grpSpPr>
        <p:sp>
          <p:nvSpPr>
            <p:cNvPr id="22" name="Rectangle 21"/>
            <p:cNvSpPr/>
            <p:nvPr/>
          </p:nvSpPr>
          <p:spPr>
            <a:xfrm>
              <a:off x="708914" y="4091998"/>
              <a:ext cx="1717004" cy="2308802"/>
            </a:xfrm>
            <a:prstGeom prst="rect">
              <a:avLst/>
            </a:prstGeom>
            <a:solidFill>
              <a:srgbClr val="FFC000">
                <a:alpha val="39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>
              <a:stCxn id="22" idx="0"/>
              <a:endCxn id="24" idx="2"/>
            </p:cNvCxnSpPr>
            <p:nvPr/>
          </p:nvCxnSpPr>
          <p:spPr>
            <a:xfrm flipV="1">
              <a:off x="1567416" y="3293568"/>
              <a:ext cx="0" cy="79843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843516" y="2924236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Khóa</a:t>
              </a:r>
              <a:r>
                <a:rPr lang="en-US" dirty="0"/>
                <a:t> </a:t>
              </a:r>
              <a:r>
                <a:rPr lang="en-US" dirty="0" err="1"/>
                <a:t>Chính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2921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d)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Tham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chiếu</a:t>
            </a:r>
            <a:endParaRPr lang="en-US" sz="3200" dirty="0"/>
          </a:p>
        </p:txBody>
      </p:sp>
      <p:sp>
        <p:nvSpPr>
          <p:cNvPr id="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6C68D-ABA8-41CD-8FDE-1743F91BFE97}" type="slidenum">
              <a:rPr lang="en-US"/>
              <a:pPr>
                <a:defRPr/>
              </a:pPr>
              <a:t>72</a:t>
            </a:fld>
            <a:endParaRPr lang="en-US"/>
          </a:p>
        </p:txBody>
      </p:sp>
      <p:sp>
        <p:nvSpPr>
          <p:cNvPr id="24579" name="Rectangle 8"/>
          <p:cNvSpPr>
            <a:spLocks noGrp="1" noChangeArrowheads="1"/>
          </p:cNvSpPr>
          <p:nvPr>
            <p:ph sz="quarter" idx="1"/>
          </p:nvPr>
        </p:nvSpPr>
        <p:spPr>
          <a:xfrm>
            <a:off x="409772" y="1447800"/>
            <a:ext cx="8458200" cy="15240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b="0" dirty="0" err="1"/>
              <a:t>Một</a:t>
            </a:r>
            <a:r>
              <a:rPr lang="en-US" sz="2400" b="0" dirty="0"/>
              <a:t> </a:t>
            </a:r>
            <a:r>
              <a:rPr lang="en-US" sz="2400" b="0" dirty="0" err="1"/>
              <a:t>bộ</a:t>
            </a:r>
            <a:r>
              <a:rPr lang="en-US" sz="2400" b="0" dirty="0"/>
              <a:t> </a:t>
            </a:r>
            <a:r>
              <a:rPr lang="en-US" sz="2400" b="0" dirty="0" err="1"/>
              <a:t>trong</a:t>
            </a:r>
            <a:r>
              <a:rPr lang="en-US" sz="2400" b="0" dirty="0"/>
              <a:t> </a:t>
            </a:r>
            <a:r>
              <a:rPr lang="en-US" sz="2400" b="0" dirty="0" err="1"/>
              <a:t>quan</a:t>
            </a:r>
            <a:r>
              <a:rPr lang="en-US" sz="2400" b="0" dirty="0"/>
              <a:t> </a:t>
            </a:r>
            <a:r>
              <a:rPr lang="en-US" sz="2400" b="0" dirty="0" err="1"/>
              <a:t>hệ</a:t>
            </a:r>
            <a:r>
              <a:rPr lang="en-US" sz="2400" b="0" dirty="0"/>
              <a:t> R, </a:t>
            </a:r>
            <a:r>
              <a:rPr lang="en-US" sz="2400" b="0" dirty="0" err="1"/>
              <a:t>tại</a:t>
            </a:r>
            <a:r>
              <a:rPr lang="en-US" sz="2400" b="0" dirty="0"/>
              <a:t> </a:t>
            </a:r>
            <a:r>
              <a:rPr lang="en-US" sz="2400" b="0" dirty="0" err="1"/>
              <a:t>thuộc</a:t>
            </a:r>
            <a:r>
              <a:rPr lang="en-US" sz="2400" b="0" dirty="0"/>
              <a:t> </a:t>
            </a:r>
            <a:r>
              <a:rPr lang="en-US" sz="2400" b="0" dirty="0" err="1"/>
              <a:t>tính</a:t>
            </a:r>
            <a:r>
              <a:rPr lang="en-US" sz="2400" b="0" dirty="0"/>
              <a:t> A </a:t>
            </a:r>
            <a:r>
              <a:rPr lang="en-US" sz="2400" b="0" dirty="0" err="1"/>
              <a:t>nếu</a:t>
            </a:r>
            <a:r>
              <a:rPr lang="en-US" sz="2400" b="0" dirty="0"/>
              <a:t> </a:t>
            </a:r>
            <a:r>
              <a:rPr lang="en-US" sz="2400" b="0" dirty="0" err="1"/>
              <a:t>nhận</a:t>
            </a:r>
            <a:r>
              <a:rPr lang="en-US" sz="2400" b="0" dirty="0"/>
              <a:t> </a:t>
            </a:r>
            <a:r>
              <a:rPr lang="en-US" sz="2400" b="0" dirty="0" err="1"/>
              <a:t>một</a:t>
            </a:r>
            <a:r>
              <a:rPr lang="en-US" sz="2400" b="0" dirty="0"/>
              <a:t> </a:t>
            </a:r>
            <a:r>
              <a:rPr lang="en-US" sz="2400" b="0" dirty="0" err="1"/>
              <a:t>giá</a:t>
            </a:r>
            <a:r>
              <a:rPr lang="en-US" sz="2400" b="0" dirty="0"/>
              <a:t> </a:t>
            </a:r>
            <a:r>
              <a:rPr lang="en-US" sz="2400" b="0" dirty="0" err="1"/>
              <a:t>trị</a:t>
            </a:r>
            <a:r>
              <a:rPr lang="en-US" sz="2400" b="0" dirty="0"/>
              <a:t> </a:t>
            </a:r>
            <a:r>
              <a:rPr lang="en-US" sz="2400" b="0" dirty="0" err="1"/>
              <a:t>từ</a:t>
            </a:r>
            <a:r>
              <a:rPr lang="en-US" sz="2400" b="0" dirty="0"/>
              <a:t> </a:t>
            </a:r>
            <a:r>
              <a:rPr lang="en-US" sz="2400" b="0" dirty="0" err="1"/>
              <a:t>một</a:t>
            </a:r>
            <a:r>
              <a:rPr lang="en-US" sz="2400" b="0" dirty="0"/>
              <a:t> </a:t>
            </a:r>
            <a:r>
              <a:rPr lang="en-US" sz="2400" b="0" dirty="0" err="1"/>
              <a:t>thuộc</a:t>
            </a:r>
            <a:r>
              <a:rPr lang="en-US" sz="2400" b="0" dirty="0"/>
              <a:t> </a:t>
            </a:r>
            <a:r>
              <a:rPr lang="en-US" sz="2400" b="0" dirty="0" err="1"/>
              <a:t>tính</a:t>
            </a:r>
            <a:r>
              <a:rPr lang="en-US" sz="2400" b="0" dirty="0"/>
              <a:t> B </a:t>
            </a:r>
            <a:r>
              <a:rPr lang="en-US" sz="2400" b="0" dirty="0" err="1"/>
              <a:t>của</a:t>
            </a:r>
            <a:r>
              <a:rPr lang="en-US" sz="2400" b="0" dirty="0"/>
              <a:t> </a:t>
            </a:r>
            <a:r>
              <a:rPr lang="en-US" sz="2400" b="0" dirty="0" err="1"/>
              <a:t>quan</a:t>
            </a:r>
            <a:r>
              <a:rPr lang="en-US" sz="2400" b="0" dirty="0"/>
              <a:t> </a:t>
            </a:r>
            <a:r>
              <a:rPr lang="en-US" sz="2400" b="0" dirty="0" err="1"/>
              <a:t>hệ</a:t>
            </a:r>
            <a:r>
              <a:rPr lang="en-US" sz="2400" b="0" dirty="0"/>
              <a:t> S, ta </a:t>
            </a:r>
            <a:r>
              <a:rPr lang="en-US" sz="2400" b="0" dirty="0" err="1"/>
              <a:t>gọi</a:t>
            </a:r>
            <a:r>
              <a:rPr lang="en-US" sz="2400" b="0" dirty="0"/>
              <a:t> R </a:t>
            </a:r>
            <a:r>
              <a:rPr lang="en-US" sz="2400" b="0" dirty="0" err="1"/>
              <a:t>tham</a:t>
            </a:r>
            <a:r>
              <a:rPr lang="en-US" sz="2400" b="0" dirty="0"/>
              <a:t> </a:t>
            </a:r>
            <a:r>
              <a:rPr lang="en-US" sz="2400" b="0" dirty="0" err="1"/>
              <a:t>chiếu</a:t>
            </a:r>
            <a:r>
              <a:rPr lang="en-US" sz="2400" b="0" dirty="0"/>
              <a:t> S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b="0" dirty="0" err="1"/>
              <a:t>Bộ</a:t>
            </a:r>
            <a:r>
              <a:rPr lang="en-US" sz="2400" b="0" dirty="0"/>
              <a:t> </a:t>
            </a:r>
            <a:r>
              <a:rPr lang="en-US" sz="2400" b="0" dirty="0" err="1"/>
              <a:t>được</a:t>
            </a:r>
            <a:r>
              <a:rPr lang="en-US" sz="2400" b="0" dirty="0"/>
              <a:t> </a:t>
            </a:r>
            <a:r>
              <a:rPr lang="en-US" sz="2400" b="0" dirty="0" err="1"/>
              <a:t>tham</a:t>
            </a:r>
            <a:r>
              <a:rPr lang="en-US" sz="2400" b="0" dirty="0"/>
              <a:t> </a:t>
            </a:r>
            <a:r>
              <a:rPr lang="en-US" sz="2400" b="0" dirty="0" err="1"/>
              <a:t>chiếu</a:t>
            </a:r>
            <a:r>
              <a:rPr lang="en-US" sz="2400" b="0" dirty="0"/>
              <a:t> </a:t>
            </a:r>
            <a:r>
              <a:rPr lang="en-US" sz="2400" b="0" dirty="0" err="1"/>
              <a:t>phải</a:t>
            </a:r>
            <a:r>
              <a:rPr lang="en-US" sz="2400" b="0" dirty="0"/>
              <a:t> </a:t>
            </a:r>
            <a:r>
              <a:rPr lang="en-US" sz="2400" b="0" dirty="0" err="1"/>
              <a:t>tồn</a:t>
            </a:r>
            <a:r>
              <a:rPr lang="en-US" sz="2400" b="0" dirty="0"/>
              <a:t> </a:t>
            </a:r>
            <a:r>
              <a:rPr lang="en-US" sz="2400" b="0" dirty="0" err="1"/>
              <a:t>tại</a:t>
            </a:r>
            <a:r>
              <a:rPr lang="en-US" sz="2400" b="0" dirty="0"/>
              <a:t> </a:t>
            </a:r>
            <a:r>
              <a:rPr lang="en-US" sz="2400" b="0" dirty="0" err="1"/>
              <a:t>trước</a:t>
            </a:r>
            <a:endParaRPr lang="en-US" sz="2400" b="0" dirty="0"/>
          </a:p>
        </p:txBody>
      </p:sp>
      <p:grpSp>
        <p:nvGrpSpPr>
          <p:cNvPr id="24583" name="Group 71"/>
          <p:cNvGrpSpPr>
            <a:grpSpLocks/>
          </p:cNvGrpSpPr>
          <p:nvPr/>
        </p:nvGrpSpPr>
        <p:grpSpPr bwMode="auto">
          <a:xfrm>
            <a:off x="76200" y="2895600"/>
            <a:ext cx="8775700" cy="3232150"/>
            <a:chOff x="48" y="1996"/>
            <a:chExt cx="5528" cy="2036"/>
          </a:xfrm>
        </p:grpSpPr>
        <p:sp>
          <p:nvSpPr>
            <p:cNvPr id="24584" name="Rectangle 70"/>
            <p:cNvSpPr>
              <a:spLocks noChangeArrowheads="1"/>
            </p:cNvSpPr>
            <p:nvPr/>
          </p:nvSpPr>
          <p:spPr bwMode="auto">
            <a:xfrm>
              <a:off x="359" y="2956"/>
              <a:ext cx="5217" cy="1056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5" name="Rectangle 69"/>
            <p:cNvSpPr>
              <a:spLocks noChangeArrowheads="1"/>
            </p:cNvSpPr>
            <p:nvPr/>
          </p:nvSpPr>
          <p:spPr bwMode="auto">
            <a:xfrm>
              <a:off x="1968" y="2016"/>
              <a:ext cx="1728" cy="8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586" name="Group 9"/>
            <p:cNvGrpSpPr>
              <a:grpSpLocks/>
            </p:cNvGrpSpPr>
            <p:nvPr/>
          </p:nvGrpSpPr>
          <p:grpSpPr bwMode="auto">
            <a:xfrm>
              <a:off x="48" y="1996"/>
              <a:ext cx="5524" cy="2036"/>
              <a:chOff x="48" y="1968"/>
              <a:chExt cx="5088" cy="2036"/>
            </a:xfrm>
          </p:grpSpPr>
          <p:sp>
            <p:nvSpPr>
              <p:cNvPr id="24587" name="Rectangle 10"/>
              <p:cNvSpPr>
                <a:spLocks noChangeArrowheads="1"/>
              </p:cNvSpPr>
              <p:nvPr/>
            </p:nvSpPr>
            <p:spPr bwMode="auto">
              <a:xfrm>
                <a:off x="336" y="3216"/>
                <a:ext cx="4800" cy="192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588" name="Rectangle 11"/>
              <p:cNvSpPr>
                <a:spLocks noChangeArrowheads="1"/>
              </p:cNvSpPr>
              <p:nvPr/>
            </p:nvSpPr>
            <p:spPr bwMode="auto">
              <a:xfrm>
                <a:off x="1824" y="2208"/>
                <a:ext cx="1584" cy="192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24589" name="Group 12"/>
              <p:cNvGrpSpPr>
                <a:grpSpLocks/>
              </p:cNvGrpSpPr>
              <p:nvPr/>
            </p:nvGrpSpPr>
            <p:grpSpPr bwMode="auto">
              <a:xfrm>
                <a:off x="384" y="2976"/>
                <a:ext cx="4704" cy="1028"/>
                <a:chOff x="528" y="1680"/>
                <a:chExt cx="4704" cy="1028"/>
              </a:xfrm>
            </p:grpSpPr>
            <p:sp>
              <p:nvSpPr>
                <p:cNvPr id="24604" name="Line 13"/>
                <p:cNvSpPr>
                  <a:spLocks noChangeShapeType="1"/>
                </p:cNvSpPr>
                <p:nvPr/>
              </p:nvSpPr>
              <p:spPr bwMode="auto">
                <a:xfrm>
                  <a:off x="528" y="1872"/>
                  <a:ext cx="470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605" name="Line 14"/>
                <p:cNvSpPr>
                  <a:spLocks noChangeShapeType="1"/>
                </p:cNvSpPr>
                <p:nvPr/>
              </p:nvSpPr>
              <p:spPr bwMode="auto">
                <a:xfrm>
                  <a:off x="1152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60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528" y="1680"/>
                  <a:ext cx="62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 dirty="0">
                      <a:solidFill>
                        <a:srgbClr val="000000"/>
                      </a:solidFill>
                      <a:latin typeface="Tahoma" charset="0"/>
                    </a:rPr>
                    <a:t>TENNV</a:t>
                  </a:r>
                </a:p>
              </p:txBody>
            </p:sp>
            <p:sp>
              <p:nvSpPr>
                <p:cNvPr id="24607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152" y="168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 dirty="0">
                      <a:solidFill>
                        <a:srgbClr val="000000"/>
                      </a:solidFill>
                      <a:latin typeface="Tahoma" charset="0"/>
                    </a:rPr>
                    <a:t>HONV</a:t>
                  </a:r>
                </a:p>
              </p:txBody>
            </p:sp>
            <p:sp>
              <p:nvSpPr>
                <p:cNvPr id="24608" name="Line 17"/>
                <p:cNvSpPr>
                  <a:spLocks noChangeShapeType="1"/>
                </p:cNvSpPr>
                <p:nvPr/>
              </p:nvSpPr>
              <p:spPr bwMode="auto">
                <a:xfrm>
                  <a:off x="1824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609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824" y="1680"/>
                  <a:ext cx="72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NS</a:t>
                  </a:r>
                </a:p>
              </p:txBody>
            </p:sp>
            <p:sp>
              <p:nvSpPr>
                <p:cNvPr id="24610" name="Line 19"/>
                <p:cNvSpPr>
                  <a:spLocks noChangeShapeType="1"/>
                </p:cNvSpPr>
                <p:nvPr/>
              </p:nvSpPr>
              <p:spPr bwMode="auto">
                <a:xfrm>
                  <a:off x="2544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61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544" y="1680"/>
                  <a:ext cx="86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DCHI</a:t>
                  </a:r>
                </a:p>
              </p:txBody>
            </p:sp>
            <p:sp>
              <p:nvSpPr>
                <p:cNvPr id="24612" name="Line 21"/>
                <p:cNvSpPr>
                  <a:spLocks noChangeShapeType="1"/>
                </p:cNvSpPr>
                <p:nvPr/>
              </p:nvSpPr>
              <p:spPr bwMode="auto">
                <a:xfrm>
                  <a:off x="3408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61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408" y="1680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GT</a:t>
                  </a:r>
                </a:p>
              </p:txBody>
            </p:sp>
            <p:sp>
              <p:nvSpPr>
                <p:cNvPr id="24614" name="Line 23"/>
                <p:cNvSpPr>
                  <a:spLocks noChangeShapeType="1"/>
                </p:cNvSpPr>
                <p:nvPr/>
              </p:nvSpPr>
              <p:spPr bwMode="auto">
                <a:xfrm>
                  <a:off x="3888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615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888" y="168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LUONG</a:t>
                  </a:r>
                </a:p>
              </p:txBody>
            </p:sp>
            <p:sp>
              <p:nvSpPr>
                <p:cNvPr id="24616" name="Line 25"/>
                <p:cNvSpPr>
                  <a:spLocks noChangeShapeType="1"/>
                </p:cNvSpPr>
                <p:nvPr/>
              </p:nvSpPr>
              <p:spPr bwMode="auto">
                <a:xfrm>
                  <a:off x="4560" y="1680"/>
                  <a:ext cx="0" cy="10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617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560" y="168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PHG</a:t>
                  </a:r>
                </a:p>
              </p:txBody>
            </p:sp>
            <p:sp>
              <p:nvSpPr>
                <p:cNvPr id="2461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28" y="1920"/>
                  <a:ext cx="62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Tung</a:t>
                  </a:r>
                </a:p>
              </p:txBody>
            </p:sp>
            <p:sp>
              <p:nvSpPr>
                <p:cNvPr id="2461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152" y="192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Nguyen</a:t>
                  </a:r>
                </a:p>
              </p:txBody>
            </p:sp>
            <p:sp>
              <p:nvSpPr>
                <p:cNvPr id="2462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824" y="1920"/>
                  <a:ext cx="72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12/08/1955</a:t>
                  </a:r>
                </a:p>
              </p:txBody>
            </p:sp>
            <p:sp>
              <p:nvSpPr>
                <p:cNvPr id="24621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2544" y="1920"/>
                  <a:ext cx="86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638 NVC Q5</a:t>
                  </a:r>
                </a:p>
              </p:txBody>
            </p:sp>
            <p:sp>
              <p:nvSpPr>
                <p:cNvPr id="24622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408" y="1920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Nam</a:t>
                  </a:r>
                </a:p>
              </p:txBody>
            </p:sp>
            <p:sp>
              <p:nvSpPr>
                <p:cNvPr id="24623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888" y="192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40000</a:t>
                  </a:r>
                </a:p>
              </p:txBody>
            </p:sp>
            <p:sp>
              <p:nvSpPr>
                <p:cNvPr id="24624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560" y="192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5</a:t>
                  </a:r>
                </a:p>
              </p:txBody>
            </p:sp>
            <p:sp>
              <p:nvSpPr>
                <p:cNvPr id="24625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528" y="2112"/>
                  <a:ext cx="62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Hang</a:t>
                  </a:r>
                </a:p>
              </p:txBody>
            </p:sp>
            <p:sp>
              <p:nvSpPr>
                <p:cNvPr id="24626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152" y="2112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Bui</a:t>
                  </a:r>
                </a:p>
              </p:txBody>
            </p:sp>
            <p:sp>
              <p:nvSpPr>
                <p:cNvPr id="24627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824" y="2112"/>
                  <a:ext cx="72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07/19/1968</a:t>
                  </a:r>
                </a:p>
              </p:txBody>
            </p:sp>
            <p:sp>
              <p:nvSpPr>
                <p:cNvPr id="24628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544" y="2112"/>
                  <a:ext cx="86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332 NTH Q1</a:t>
                  </a:r>
                </a:p>
              </p:txBody>
            </p:sp>
            <p:sp>
              <p:nvSpPr>
                <p:cNvPr id="24629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408" y="2112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Nu</a:t>
                  </a:r>
                </a:p>
              </p:txBody>
            </p:sp>
            <p:sp>
              <p:nvSpPr>
                <p:cNvPr id="24630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888" y="2112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25000</a:t>
                  </a:r>
                </a:p>
              </p:txBody>
            </p:sp>
            <p:sp>
              <p:nvSpPr>
                <p:cNvPr id="24631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560" y="2112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4</a:t>
                  </a:r>
                </a:p>
              </p:txBody>
            </p:sp>
            <p:sp>
              <p:nvSpPr>
                <p:cNvPr id="24632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528" y="2304"/>
                  <a:ext cx="62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Nhu</a:t>
                  </a:r>
                </a:p>
              </p:txBody>
            </p:sp>
            <p:sp>
              <p:nvSpPr>
                <p:cNvPr id="24633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1152" y="2304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Le</a:t>
                  </a:r>
                </a:p>
              </p:txBody>
            </p:sp>
            <p:sp>
              <p:nvSpPr>
                <p:cNvPr id="24634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824" y="2304"/>
                  <a:ext cx="72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06/20/1951</a:t>
                  </a:r>
                </a:p>
              </p:txBody>
            </p:sp>
            <p:sp>
              <p:nvSpPr>
                <p:cNvPr id="2463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544" y="2304"/>
                  <a:ext cx="86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291 HVH QPN</a:t>
                  </a:r>
                </a:p>
              </p:txBody>
            </p:sp>
            <p:sp>
              <p:nvSpPr>
                <p:cNvPr id="24636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408" y="2304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Nu</a:t>
                  </a:r>
                </a:p>
              </p:txBody>
            </p:sp>
            <p:sp>
              <p:nvSpPr>
                <p:cNvPr id="24637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3888" y="2304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43000</a:t>
                  </a:r>
                </a:p>
              </p:txBody>
            </p:sp>
            <p:sp>
              <p:nvSpPr>
                <p:cNvPr id="24638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560" y="2304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4</a:t>
                  </a:r>
                </a:p>
              </p:txBody>
            </p:sp>
            <p:sp>
              <p:nvSpPr>
                <p:cNvPr id="24639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528" y="2496"/>
                  <a:ext cx="62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Hung</a:t>
                  </a:r>
                </a:p>
              </p:txBody>
            </p:sp>
            <p:sp>
              <p:nvSpPr>
                <p:cNvPr id="24640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152" y="2496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Nguyen</a:t>
                  </a:r>
                </a:p>
              </p:txBody>
            </p:sp>
            <p:sp>
              <p:nvSpPr>
                <p:cNvPr id="24641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1824" y="2496"/>
                  <a:ext cx="72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09/15/1962</a:t>
                  </a:r>
                </a:p>
              </p:txBody>
            </p:sp>
            <p:sp>
              <p:nvSpPr>
                <p:cNvPr id="24642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544" y="2496"/>
                  <a:ext cx="86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Ba Ria VT</a:t>
                  </a:r>
                </a:p>
              </p:txBody>
            </p:sp>
            <p:sp>
              <p:nvSpPr>
                <p:cNvPr id="24643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408" y="2496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Nam</a:t>
                  </a:r>
                </a:p>
              </p:txBody>
            </p:sp>
            <p:sp>
              <p:nvSpPr>
                <p:cNvPr id="24644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3888" y="2496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38000</a:t>
                  </a:r>
                </a:p>
              </p:txBody>
            </p:sp>
            <p:sp>
              <p:nvSpPr>
                <p:cNvPr id="24645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560" y="2496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5</a:t>
                  </a:r>
                </a:p>
              </p:txBody>
            </p:sp>
          </p:grpSp>
          <p:grpSp>
            <p:nvGrpSpPr>
              <p:cNvPr id="24590" name="Group 55"/>
              <p:cNvGrpSpPr>
                <a:grpSpLocks/>
              </p:cNvGrpSpPr>
              <p:nvPr/>
            </p:nvGrpSpPr>
            <p:grpSpPr bwMode="auto">
              <a:xfrm>
                <a:off x="1872" y="1968"/>
                <a:ext cx="1536" cy="836"/>
                <a:chOff x="2160" y="3216"/>
                <a:chExt cx="1536" cy="836"/>
              </a:xfrm>
            </p:grpSpPr>
            <p:sp>
              <p:nvSpPr>
                <p:cNvPr id="24594" name="Line 56"/>
                <p:cNvSpPr>
                  <a:spLocks noChangeShapeType="1"/>
                </p:cNvSpPr>
                <p:nvPr/>
              </p:nvSpPr>
              <p:spPr bwMode="auto">
                <a:xfrm>
                  <a:off x="2160" y="3408"/>
                  <a:ext cx="153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595" name="Line 57"/>
                <p:cNvSpPr>
                  <a:spLocks noChangeShapeType="1"/>
                </p:cNvSpPr>
                <p:nvPr/>
              </p:nvSpPr>
              <p:spPr bwMode="auto">
                <a:xfrm>
                  <a:off x="2976" y="3216"/>
                  <a:ext cx="0" cy="7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596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208" y="3216"/>
                  <a:ext cx="768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TENPHG</a:t>
                  </a:r>
                </a:p>
              </p:txBody>
            </p:sp>
            <p:sp>
              <p:nvSpPr>
                <p:cNvPr id="24597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2976" y="3216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MAPHG</a:t>
                  </a:r>
                </a:p>
              </p:txBody>
            </p:sp>
            <p:sp>
              <p:nvSpPr>
                <p:cNvPr id="24598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2160" y="3456"/>
                  <a:ext cx="81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Nghien cuu</a:t>
                  </a:r>
                </a:p>
              </p:txBody>
            </p:sp>
            <p:sp>
              <p:nvSpPr>
                <p:cNvPr id="24599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976" y="3456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5</a:t>
                  </a:r>
                </a:p>
              </p:txBody>
            </p:sp>
            <p:sp>
              <p:nvSpPr>
                <p:cNvPr id="24600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160" y="3648"/>
                  <a:ext cx="81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Dieu hanh</a:t>
                  </a:r>
                </a:p>
              </p:txBody>
            </p:sp>
            <p:sp>
              <p:nvSpPr>
                <p:cNvPr id="24601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2976" y="3648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4</a:t>
                  </a:r>
                </a:p>
              </p:txBody>
            </p:sp>
            <p:sp>
              <p:nvSpPr>
                <p:cNvPr id="24602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2160" y="3840"/>
                  <a:ext cx="81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Quan ly</a:t>
                  </a:r>
                </a:p>
              </p:txBody>
            </p:sp>
            <p:sp>
              <p:nvSpPr>
                <p:cNvPr id="24603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2976" y="384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1</a:t>
                  </a:r>
                </a:p>
              </p:txBody>
            </p:sp>
          </p:grpSp>
          <p:sp>
            <p:nvSpPr>
              <p:cNvPr id="24592" name="Text Box 67"/>
              <p:cNvSpPr txBox="1">
                <a:spLocks noChangeArrowheads="1"/>
              </p:cNvSpPr>
              <p:nvPr/>
            </p:nvSpPr>
            <p:spPr bwMode="auto">
              <a:xfrm>
                <a:off x="48" y="34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2000">
                    <a:solidFill>
                      <a:srgbClr val="000000"/>
                    </a:solidFill>
                    <a:latin typeface="Tahoma" charset="0"/>
                  </a:rPr>
                  <a:t>R</a:t>
                </a:r>
              </a:p>
            </p:txBody>
          </p:sp>
          <p:sp>
            <p:nvSpPr>
              <p:cNvPr id="24593" name="Text Box 68"/>
              <p:cNvSpPr txBox="1">
                <a:spLocks noChangeArrowheads="1"/>
              </p:cNvSpPr>
              <p:nvPr/>
            </p:nvSpPr>
            <p:spPr bwMode="auto">
              <a:xfrm>
                <a:off x="1344" y="225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Tahoma" charset="0"/>
                  </a:rPr>
                  <a:t>S</a:t>
                </a:r>
              </a:p>
            </p:txBody>
          </p:sp>
        </p:grp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cxnSp>
        <p:nvCxnSpPr>
          <p:cNvPr id="11" name="Straight Connector 10"/>
          <p:cNvCxnSpPr>
            <a:endCxn id="24624" idx="0"/>
          </p:cNvCxnSpPr>
          <p:nvPr/>
        </p:nvCxnSpPr>
        <p:spPr>
          <a:xfrm>
            <a:off x="8183712" y="3429000"/>
            <a:ext cx="0" cy="144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867400" y="3733800"/>
            <a:ext cx="231643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01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e)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ngoại</a:t>
            </a:r>
            <a:endParaRPr lang="en-US" dirty="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A9C3A3-E0E8-4174-A3BC-BF7D9E8E2B00}" type="slidenum">
              <a:rPr lang="en-US"/>
              <a:pPr>
                <a:defRPr/>
              </a:pPr>
              <a:t>73</a:t>
            </a:fld>
            <a:endParaRPr lang="en-US"/>
          </a:p>
        </p:txBody>
      </p:sp>
      <p:sp>
        <p:nvSpPr>
          <p:cNvPr id="25603" name="Rectangle 69"/>
          <p:cNvSpPr>
            <a:spLocks noGrp="1" noChangeArrowheads="1"/>
          </p:cNvSpPr>
          <p:nvPr>
            <p:ph sz="quarter" idx="1"/>
          </p:nvPr>
        </p:nvSpPr>
        <p:spPr>
          <a:xfrm>
            <a:off x="304800" y="1371599"/>
            <a:ext cx="8534400" cy="313888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Char char="v"/>
            </a:pPr>
            <a:r>
              <a:rPr lang="en-US" sz="2600" dirty="0" err="1"/>
              <a:t>Xét</a:t>
            </a:r>
            <a:r>
              <a:rPr lang="en-US" sz="2600" dirty="0"/>
              <a:t> 2 </a:t>
            </a:r>
            <a:r>
              <a:rPr lang="en-US" sz="2600" dirty="0" err="1"/>
              <a:t>lược</a:t>
            </a:r>
            <a:r>
              <a:rPr lang="en-US" sz="2600" dirty="0"/>
              <a:t> </a:t>
            </a:r>
            <a:r>
              <a:rPr lang="en-US" sz="2600" dirty="0" err="1"/>
              <a:t>đồ</a:t>
            </a:r>
            <a:r>
              <a:rPr lang="en-US" sz="2600" dirty="0"/>
              <a:t> R </a:t>
            </a:r>
            <a:r>
              <a:rPr lang="en-US" sz="2600" dirty="0" err="1"/>
              <a:t>và</a:t>
            </a:r>
            <a:r>
              <a:rPr lang="en-US" sz="2600" dirty="0"/>
              <a:t> S 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Gọi</a:t>
            </a:r>
            <a:r>
              <a:rPr lang="en-US" sz="2400" dirty="0">
                <a:solidFill>
                  <a:schemeClr val="tx1"/>
                </a:solidFill>
              </a:rPr>
              <a:t> FK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tập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thuộc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tính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rỗng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R 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FK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khóa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ngoại</a:t>
            </a:r>
            <a:r>
              <a:rPr lang="en-US" sz="2400" dirty="0">
                <a:solidFill>
                  <a:schemeClr val="tx1"/>
                </a:solidFill>
              </a:rPr>
              <a:t> (Foreign Key)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R </a:t>
            </a:r>
            <a:r>
              <a:rPr lang="en-US" sz="2400" dirty="0" err="1">
                <a:solidFill>
                  <a:schemeClr val="tx1"/>
                </a:solidFill>
              </a:rPr>
              <a:t>khi</a:t>
            </a:r>
            <a:endParaRPr lang="en-US" sz="2400" dirty="0">
              <a:solidFill>
                <a:schemeClr val="tx1"/>
              </a:solidFill>
            </a:endParaRPr>
          </a:p>
          <a:p>
            <a:pPr lvl="2" eaLnBrk="1" hangingPunct="1"/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FK </a:t>
            </a:r>
            <a:r>
              <a:rPr lang="en-US" sz="2000" dirty="0" err="1"/>
              <a:t>phải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cùng</a:t>
            </a:r>
            <a:r>
              <a:rPr lang="en-US" sz="2000" dirty="0"/>
              <a:t> </a:t>
            </a:r>
            <a:r>
              <a:rPr lang="en-US" sz="2000" dirty="0" err="1"/>
              <a:t>miền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S</a:t>
            </a:r>
          </a:p>
          <a:p>
            <a:pPr lvl="2" eaLnBrk="1" hangingPunct="1"/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 FK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t</a:t>
            </a:r>
            <a:r>
              <a:rPr lang="en-US" sz="2000" baseline="-25000" dirty="0"/>
              <a:t>1</a:t>
            </a:r>
            <a:r>
              <a:rPr lang="en-US" sz="2000" dirty="0">
                <a:sym typeface="Symbol" pitchFamily="18" charset="2"/>
              </a:rPr>
              <a:t>R</a:t>
            </a:r>
          </a:p>
          <a:p>
            <a:pPr lvl="3" eaLnBrk="1" hangingPunct="1"/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Hoặc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bằng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giá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trị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tại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khóa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chính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của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một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bộ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t2S</a:t>
            </a:r>
          </a:p>
          <a:p>
            <a:pPr lvl="3" eaLnBrk="1" hangingPunct="1"/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Hoặc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bằng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giá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trị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rỗng</a:t>
            </a:r>
            <a:endParaRPr lang="en-US" sz="1800" dirty="0">
              <a:solidFill>
                <a:schemeClr val="tx1"/>
              </a:solidFill>
              <a:sym typeface="Symbol" pitchFamily="18" charset="2"/>
            </a:endParaRPr>
          </a:p>
          <a:p>
            <a:pPr eaLnBrk="1" hangingPunct="1">
              <a:buFont typeface="Wingdings" pitchFamily="2" charset="2"/>
              <a:buChar char="v"/>
            </a:pPr>
            <a:r>
              <a:rPr lang="en-US" sz="2600" dirty="0" err="1">
                <a:sym typeface="Symbol" pitchFamily="18" charset="2"/>
              </a:rPr>
              <a:t>Ví</a:t>
            </a:r>
            <a:r>
              <a:rPr lang="en-US" sz="2600" dirty="0">
                <a:sym typeface="Symbol" pitchFamily="18" charset="2"/>
              </a:rPr>
              <a:t> </a:t>
            </a:r>
            <a:r>
              <a:rPr lang="en-US" sz="2600" dirty="0" err="1">
                <a:sym typeface="Symbol" pitchFamily="18" charset="2"/>
              </a:rPr>
              <a:t>dụ</a:t>
            </a:r>
            <a:endParaRPr lang="en-US" sz="2600" dirty="0">
              <a:sym typeface="Symbol" pitchFamily="18" charset="2"/>
            </a:endParaRPr>
          </a:p>
        </p:txBody>
      </p:sp>
      <p:grpSp>
        <p:nvGrpSpPr>
          <p:cNvPr id="25607" name="Group 83"/>
          <p:cNvGrpSpPr>
            <a:grpSpLocks/>
          </p:cNvGrpSpPr>
          <p:nvPr/>
        </p:nvGrpSpPr>
        <p:grpSpPr bwMode="auto">
          <a:xfrm>
            <a:off x="304801" y="4178300"/>
            <a:ext cx="8305800" cy="2101850"/>
            <a:chOff x="192" y="2592"/>
            <a:chExt cx="5266" cy="1392"/>
          </a:xfrm>
        </p:grpSpPr>
        <p:sp>
          <p:nvSpPr>
            <p:cNvPr id="25608" name="Text Box 70"/>
            <p:cNvSpPr txBox="1">
              <a:spLocks noChangeArrowheads="1"/>
            </p:cNvSpPr>
            <p:nvPr/>
          </p:nvSpPr>
          <p:spPr bwMode="auto">
            <a:xfrm>
              <a:off x="288" y="2986"/>
              <a:ext cx="51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Tahoma" charset="0"/>
                </a:rPr>
                <a:t>         NHANVIEN(MANV, TENNV, HONV, NS, DCHI, GT, LUONG, </a:t>
              </a:r>
              <a:r>
                <a:rPr lang="en-US" sz="1800" b="1" dirty="0">
                  <a:latin typeface="Tahoma" charset="0"/>
                </a:rPr>
                <a:t>PHG</a:t>
              </a:r>
              <a:r>
                <a:rPr lang="en-US" sz="1800" b="1" dirty="0">
                  <a:solidFill>
                    <a:srgbClr val="000000"/>
                  </a:solidFill>
                  <a:latin typeface="Tahoma" charset="0"/>
                </a:rPr>
                <a:t>)</a:t>
              </a:r>
            </a:p>
          </p:txBody>
        </p:sp>
        <p:sp>
          <p:nvSpPr>
            <p:cNvPr id="25609" name="Text Box 71"/>
            <p:cNvSpPr txBox="1">
              <a:spLocks noChangeArrowheads="1"/>
            </p:cNvSpPr>
            <p:nvPr/>
          </p:nvSpPr>
          <p:spPr bwMode="auto">
            <a:xfrm>
              <a:off x="728" y="3217"/>
              <a:ext cx="23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Tahoma" charset="0"/>
                </a:rPr>
                <a:t>PHONGBAN(TENPHG, </a:t>
              </a:r>
              <a:r>
                <a:rPr lang="en-US" sz="1800" b="1" u="sng" dirty="0">
                  <a:latin typeface="Tahoma" charset="0"/>
                </a:rPr>
                <a:t>MAPHG</a:t>
              </a:r>
              <a:r>
                <a:rPr lang="en-US" sz="1800" b="1" dirty="0">
                  <a:solidFill>
                    <a:srgbClr val="000000"/>
                  </a:solidFill>
                  <a:latin typeface="Tahoma" charset="0"/>
                </a:rPr>
                <a:t>)</a:t>
              </a:r>
            </a:p>
          </p:txBody>
        </p:sp>
        <p:sp>
          <p:nvSpPr>
            <p:cNvPr id="25610" name="Freeform 72"/>
            <p:cNvSpPr>
              <a:spLocks/>
            </p:cNvSpPr>
            <p:nvPr/>
          </p:nvSpPr>
          <p:spPr bwMode="auto">
            <a:xfrm>
              <a:off x="2596" y="3168"/>
              <a:ext cx="2492" cy="340"/>
            </a:xfrm>
            <a:custGeom>
              <a:avLst/>
              <a:gdLst>
                <a:gd name="T0" fmla="*/ 2403 w 2584"/>
                <a:gd name="T1" fmla="*/ 0 h 315"/>
                <a:gd name="T2" fmla="*/ 1493 w 2584"/>
                <a:gd name="T3" fmla="*/ 202 h 315"/>
                <a:gd name="T4" fmla="*/ 636 w 2584"/>
                <a:gd name="T5" fmla="*/ 344 h 315"/>
                <a:gd name="T6" fmla="*/ 291 w 2584"/>
                <a:gd name="T7" fmla="*/ 336 h 315"/>
                <a:gd name="T8" fmla="*/ 0 w 2584"/>
                <a:gd name="T9" fmla="*/ 249 h 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4"/>
                <a:gd name="T16" fmla="*/ 0 h 315"/>
                <a:gd name="T17" fmla="*/ 2584 w 2584"/>
                <a:gd name="T18" fmla="*/ 315 h 3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4" h="315">
                  <a:moveTo>
                    <a:pt x="2584" y="0"/>
                  </a:moveTo>
                  <a:cubicBezTo>
                    <a:pt x="2421" y="29"/>
                    <a:pt x="1922" y="124"/>
                    <a:pt x="1605" y="173"/>
                  </a:cubicBezTo>
                  <a:cubicBezTo>
                    <a:pt x="1288" y="222"/>
                    <a:pt x="898" y="277"/>
                    <a:pt x="683" y="296"/>
                  </a:cubicBezTo>
                  <a:cubicBezTo>
                    <a:pt x="468" y="315"/>
                    <a:pt x="427" y="302"/>
                    <a:pt x="313" y="288"/>
                  </a:cubicBezTo>
                  <a:cubicBezTo>
                    <a:pt x="199" y="274"/>
                    <a:pt x="65" y="229"/>
                    <a:pt x="0" y="2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11" name="Text Box 73"/>
            <p:cNvSpPr txBox="1">
              <a:spLocks noChangeArrowheads="1"/>
            </p:cNvSpPr>
            <p:nvPr/>
          </p:nvSpPr>
          <p:spPr bwMode="auto">
            <a:xfrm>
              <a:off x="1584" y="3696"/>
              <a:ext cx="960" cy="2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ahoma" charset="0"/>
                </a:rPr>
                <a:t>Khóa chính</a:t>
              </a:r>
            </a:p>
          </p:txBody>
        </p:sp>
        <p:sp>
          <p:nvSpPr>
            <p:cNvPr id="25612" name="Text Box 74"/>
            <p:cNvSpPr txBox="1">
              <a:spLocks noChangeArrowheads="1"/>
            </p:cNvSpPr>
            <p:nvPr/>
          </p:nvSpPr>
          <p:spPr bwMode="auto">
            <a:xfrm>
              <a:off x="4560" y="2592"/>
              <a:ext cx="898" cy="2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ahoma" charset="0"/>
                </a:rPr>
                <a:t>Khóa ngoại</a:t>
              </a:r>
            </a:p>
          </p:txBody>
        </p:sp>
        <p:sp>
          <p:nvSpPr>
            <p:cNvPr id="25613" name="Line 75"/>
            <p:cNvSpPr>
              <a:spLocks noChangeShapeType="1"/>
            </p:cNvSpPr>
            <p:nvPr/>
          </p:nvSpPr>
          <p:spPr bwMode="auto">
            <a:xfrm flipH="1">
              <a:off x="2352" y="3416"/>
              <a:ext cx="10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14" name="Line 76"/>
            <p:cNvSpPr>
              <a:spLocks noChangeShapeType="1"/>
            </p:cNvSpPr>
            <p:nvPr/>
          </p:nvSpPr>
          <p:spPr bwMode="auto">
            <a:xfrm flipV="1">
              <a:off x="5136" y="2832"/>
              <a:ext cx="4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15" name="Text Box 77"/>
            <p:cNvSpPr txBox="1">
              <a:spLocks noChangeArrowheads="1"/>
            </p:cNvSpPr>
            <p:nvPr/>
          </p:nvSpPr>
          <p:spPr bwMode="auto">
            <a:xfrm>
              <a:off x="1584" y="2602"/>
              <a:ext cx="1440" cy="22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600" b="1" dirty="0" err="1">
                  <a:solidFill>
                    <a:srgbClr val="000000"/>
                  </a:solidFill>
                  <a:latin typeface="Tahoma" charset="0"/>
                </a:rPr>
                <a:t>Quan</a:t>
              </a:r>
              <a:r>
                <a:rPr lang="en-US" sz="1600" b="1" dirty="0">
                  <a:solidFill>
                    <a:srgbClr val="000000"/>
                  </a:solidFill>
                  <a:latin typeface="Tahoma" charset="0"/>
                </a:rPr>
                <a:t> </a:t>
              </a:r>
              <a:r>
                <a:rPr lang="en-US" sz="1600" b="1" dirty="0" err="1">
                  <a:solidFill>
                    <a:srgbClr val="000000"/>
                  </a:solidFill>
                  <a:latin typeface="Tahoma" charset="0"/>
                </a:rPr>
                <a:t>hệ</a:t>
              </a:r>
              <a:r>
                <a:rPr lang="en-US" sz="1600" b="1" dirty="0">
                  <a:solidFill>
                    <a:srgbClr val="000000"/>
                  </a:solidFill>
                  <a:latin typeface="Tahoma" charset="0"/>
                </a:rPr>
                <a:t> </a:t>
              </a:r>
              <a:r>
                <a:rPr lang="en-US" sz="1600" b="1" dirty="0" err="1">
                  <a:solidFill>
                    <a:srgbClr val="000000"/>
                  </a:solidFill>
                  <a:latin typeface="Tahoma" charset="0"/>
                </a:rPr>
                <a:t>tham</a:t>
              </a:r>
              <a:r>
                <a:rPr lang="en-US" sz="1600" b="1" dirty="0">
                  <a:solidFill>
                    <a:srgbClr val="000000"/>
                  </a:solidFill>
                  <a:latin typeface="Tahoma" charset="0"/>
                </a:rPr>
                <a:t> </a:t>
              </a:r>
              <a:r>
                <a:rPr lang="en-US" sz="1600" b="1" dirty="0" err="1">
                  <a:solidFill>
                    <a:srgbClr val="000000"/>
                  </a:solidFill>
                  <a:latin typeface="Tahoma" charset="0"/>
                </a:rPr>
                <a:t>chiếu</a:t>
              </a:r>
              <a:endParaRPr lang="en-US" sz="1600" b="1" dirty="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25616" name="Line 78"/>
            <p:cNvSpPr>
              <a:spLocks noChangeShapeType="1"/>
            </p:cNvSpPr>
            <p:nvPr/>
          </p:nvSpPr>
          <p:spPr bwMode="auto">
            <a:xfrm flipH="1">
              <a:off x="1296" y="2832"/>
              <a:ext cx="624" cy="2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17" name="Text Box 79"/>
            <p:cNvSpPr txBox="1">
              <a:spLocks noChangeArrowheads="1"/>
            </p:cNvSpPr>
            <p:nvPr/>
          </p:nvSpPr>
          <p:spPr bwMode="auto">
            <a:xfrm>
              <a:off x="192" y="3610"/>
              <a:ext cx="960" cy="374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600" b="1">
                  <a:solidFill>
                    <a:srgbClr val="000000"/>
                  </a:solidFill>
                  <a:latin typeface="Tahoma" charset="0"/>
                </a:rPr>
                <a:t>Quan hệ bị tham chiếu</a:t>
              </a:r>
            </a:p>
          </p:txBody>
        </p:sp>
        <p:sp>
          <p:nvSpPr>
            <p:cNvPr id="25618" name="Line 80"/>
            <p:cNvSpPr>
              <a:spLocks noChangeShapeType="1"/>
            </p:cNvSpPr>
            <p:nvPr/>
          </p:nvSpPr>
          <p:spPr bwMode="auto">
            <a:xfrm flipV="1">
              <a:off x="888" y="3408"/>
              <a:ext cx="26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00246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e)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Khóa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ngoại</a:t>
            </a:r>
            <a:endParaRPr lang="en-US" sz="3200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0F5FB-37EA-438E-94D9-D00D85EE8CD8}" type="slidenum">
              <a:rPr lang="en-US"/>
              <a:pPr>
                <a:defRPr/>
              </a:pPr>
              <a:t>74</a:t>
            </a:fld>
            <a:endParaRPr lang="en-US"/>
          </a:p>
        </p:txBody>
      </p:sp>
      <p:sp>
        <p:nvSpPr>
          <p:cNvPr id="26627" name="Rectangle 18"/>
          <p:cNvSpPr>
            <a:spLocks noGrp="1" noChangeArrowheads="1"/>
          </p:cNvSpPr>
          <p:nvPr>
            <p:ph sz="quarter" idx="1"/>
          </p:nvPr>
        </p:nvSpPr>
        <p:spPr>
          <a:xfrm>
            <a:off x="228600" y="1524000"/>
            <a:ext cx="8686800" cy="4953000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Char char="v"/>
            </a:pPr>
            <a:r>
              <a:rPr lang="en-US" sz="2400" b="0" dirty="0" err="1">
                <a:sym typeface="Symbol" pitchFamily="18" charset="2"/>
              </a:rPr>
              <a:t>Trong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một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lược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đồ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quan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hệ</a:t>
            </a:r>
            <a:r>
              <a:rPr lang="en-US" sz="2400" b="0" dirty="0">
                <a:sym typeface="Symbol" pitchFamily="18" charset="2"/>
              </a:rPr>
              <a:t>, </a:t>
            </a:r>
            <a:r>
              <a:rPr lang="en-US" sz="2400" b="0" dirty="0" err="1">
                <a:sym typeface="Symbol" pitchFamily="18" charset="2"/>
              </a:rPr>
              <a:t>một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thuộc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tính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vừa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có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thể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tham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gia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vào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khóa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chính</a:t>
            </a:r>
            <a:r>
              <a:rPr lang="en-US" sz="2400" b="0" dirty="0">
                <a:sym typeface="Symbol" pitchFamily="18" charset="2"/>
              </a:rPr>
              <a:t>, </a:t>
            </a:r>
            <a:r>
              <a:rPr lang="en-US" sz="2400" b="0" dirty="0" err="1">
                <a:sym typeface="Symbol" pitchFamily="18" charset="2"/>
              </a:rPr>
              <a:t>vừa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tham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gia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vào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khóa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ngoại</a:t>
            </a:r>
            <a:endParaRPr lang="en-US" sz="2400" b="0" dirty="0">
              <a:sym typeface="Symbol" pitchFamily="18" charset="2"/>
            </a:endParaRPr>
          </a:p>
          <a:p>
            <a:pPr algn="just" eaLnBrk="1" hangingPunct="1">
              <a:buFont typeface="Wingdings" pitchFamily="2" charset="2"/>
              <a:buChar char="v"/>
            </a:pPr>
            <a:r>
              <a:rPr lang="en-US" sz="2400" b="0" dirty="0" err="1">
                <a:sym typeface="Symbol" pitchFamily="18" charset="2"/>
              </a:rPr>
              <a:t>Khóa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ngoại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có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thể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tham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chiếu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đến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khóa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chính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trên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cùng</a:t>
            </a:r>
            <a:r>
              <a:rPr lang="en-US" sz="2400" b="0" dirty="0">
                <a:sym typeface="Symbol" pitchFamily="18" charset="2"/>
              </a:rPr>
              <a:t> 1 </a:t>
            </a:r>
            <a:r>
              <a:rPr lang="en-US" sz="2400" b="0" dirty="0" err="1">
                <a:sym typeface="Symbol" pitchFamily="18" charset="2"/>
              </a:rPr>
              <a:t>lược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đồ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quan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hệ</a:t>
            </a:r>
            <a:r>
              <a:rPr lang="en-US" sz="2400" dirty="0">
                <a:sym typeface="Symbol" pitchFamily="18" charset="2"/>
              </a:rPr>
              <a:t>.</a:t>
            </a:r>
            <a:r>
              <a:rPr lang="en-US" sz="2400" b="0" dirty="0">
                <a:sym typeface="Symbol" pitchFamily="18" charset="2"/>
              </a:rPr>
              <a:t> VD: ?</a:t>
            </a:r>
          </a:p>
          <a:p>
            <a:pPr algn="just" eaLnBrk="1" hangingPunct="1">
              <a:buFont typeface="Wingdings" pitchFamily="2" charset="2"/>
              <a:buChar char="v"/>
            </a:pPr>
            <a:r>
              <a:rPr lang="en-US" sz="2400" b="0" dirty="0" err="1">
                <a:sym typeface="Symbol" pitchFamily="18" charset="2"/>
              </a:rPr>
              <a:t>Có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thể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có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nhiều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khóa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ngoại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tham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chiếu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đến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cùng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một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khóa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chính</a:t>
            </a:r>
            <a:r>
              <a:rPr lang="en-US" sz="2400" b="0" dirty="0">
                <a:sym typeface="Symbol" pitchFamily="18" charset="2"/>
              </a:rPr>
              <a:t>. VD: ??</a:t>
            </a:r>
          </a:p>
          <a:p>
            <a:pPr algn="just" eaLnBrk="1" hangingPunct="1">
              <a:buFont typeface="Wingdings" pitchFamily="2" charset="2"/>
              <a:buChar char="v"/>
            </a:pPr>
            <a:r>
              <a:rPr lang="en-US" sz="2400" b="0" dirty="0" err="1">
                <a:sym typeface="Symbol" pitchFamily="18" charset="2"/>
              </a:rPr>
              <a:t>Ràng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buộc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tham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chiếu</a:t>
            </a:r>
            <a:r>
              <a:rPr lang="en-US" sz="2400" b="0" dirty="0">
                <a:sym typeface="Symbol" pitchFamily="18" charset="2"/>
              </a:rPr>
              <a:t> = </a:t>
            </a:r>
            <a:r>
              <a:rPr lang="en-US" sz="2400" b="0" dirty="0" err="1">
                <a:sym typeface="Symbol" pitchFamily="18" charset="2"/>
              </a:rPr>
              <a:t>Ràng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buộc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khóa</a:t>
            </a:r>
            <a:r>
              <a:rPr lang="en-US" sz="2400" b="0" dirty="0">
                <a:sym typeface="Symbol" pitchFamily="18" charset="2"/>
              </a:rPr>
              <a:t> </a:t>
            </a:r>
            <a:r>
              <a:rPr lang="en-US" sz="2400" b="0" dirty="0" err="1">
                <a:sym typeface="Symbol" pitchFamily="18" charset="2"/>
              </a:rPr>
              <a:t>ngoại</a:t>
            </a:r>
            <a:endParaRPr lang="en-US" sz="2400" b="0" dirty="0">
              <a:sym typeface="Symbol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51829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BDCE72-E4E7-4F48-BF8A-4072E497D13E}" type="slidenum">
              <a:rPr lang="en-US"/>
              <a:pPr>
                <a:defRPr/>
              </a:pPr>
              <a:t>75</a:t>
            </a:fld>
            <a:endParaRPr lang="en-US"/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9" b="2600"/>
          <a:stretch>
            <a:fillRect/>
          </a:stretch>
        </p:blipFill>
        <p:spPr bwMode="auto">
          <a:xfrm>
            <a:off x="457200" y="381000"/>
            <a:ext cx="8261773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-Point Star 5">
            <a:hlinkClick r:id="rId3" action="ppaction://hlinksldjump"/>
          </p:cNvPr>
          <p:cNvSpPr/>
          <p:nvPr/>
        </p:nvSpPr>
        <p:spPr>
          <a:xfrm>
            <a:off x="8528473" y="6019800"/>
            <a:ext cx="381000" cy="304800"/>
          </a:xfrm>
          <a:prstGeom prst="star5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2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BF041-C563-437C-B9A4-EFF31EF18A4A}" type="slidenum">
              <a:rPr lang="en-US"/>
              <a:pPr>
                <a:defRPr/>
              </a:pPr>
              <a:t>76</a:t>
            </a:fld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686800" cy="502920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sz="2400" b="1" dirty="0"/>
              <a:t>6.1. </a:t>
            </a:r>
            <a:r>
              <a:rPr lang="en-US" sz="2400" b="1" dirty="0" err="1"/>
              <a:t>Tập</a:t>
            </a:r>
            <a:r>
              <a:rPr lang="en-US" sz="2400" b="1" dirty="0"/>
              <a:t>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thể</a:t>
            </a:r>
            <a:r>
              <a:rPr lang="en-US" sz="2400" b="1" dirty="0"/>
              <a:t>: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E (</a:t>
            </a:r>
            <a:r>
              <a:rPr lang="en-US" sz="2400" dirty="0" err="1"/>
              <a:t>trừ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yếu</a:t>
            </a:r>
            <a:r>
              <a:rPr lang="en-US" sz="2400" dirty="0"/>
              <a:t>) </a:t>
            </a: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R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endParaRPr lang="en-US" sz="2400" dirty="0"/>
          </a:p>
          <a:p>
            <a:pPr>
              <a:buFont typeface="Wingdings" pitchFamily="2" charset="2"/>
              <a:buChar char="v"/>
            </a:pPr>
            <a:r>
              <a:rPr lang="en-US" sz="2400" dirty="0" err="1"/>
              <a:t>Lấy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E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R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Nếu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thì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lấy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just" eaLnBrk="1" hangingPunct="1">
              <a:buFont typeface="Wingdings" pitchFamily="2" charset="2"/>
              <a:buChar char="v"/>
            </a:pPr>
            <a:endParaRPr lang="en-US" sz="2400" dirty="0">
              <a:solidFill>
                <a:srgbClr val="777777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57256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4BF041-C563-437C-B9A4-EFF31EF18A4A}" type="slidenum">
              <a:rPr lang="en-US"/>
              <a:pPr>
                <a:defRPr/>
              </a:pPr>
              <a:t>77</a:t>
            </a:fld>
            <a:endParaRPr lang="en-US"/>
          </a:p>
        </p:txBody>
      </p:sp>
      <p:grpSp>
        <p:nvGrpSpPr>
          <p:cNvPr id="30726" name="Group 4"/>
          <p:cNvGrpSpPr>
            <a:grpSpLocks/>
          </p:cNvGrpSpPr>
          <p:nvPr/>
        </p:nvGrpSpPr>
        <p:grpSpPr bwMode="auto">
          <a:xfrm>
            <a:off x="762000" y="2049462"/>
            <a:ext cx="7467600" cy="2463800"/>
            <a:chOff x="432" y="1712"/>
            <a:chExt cx="4704" cy="1552"/>
          </a:xfrm>
        </p:grpSpPr>
        <p:grpSp>
          <p:nvGrpSpPr>
            <p:cNvPr id="30733" name="Group 5"/>
            <p:cNvGrpSpPr>
              <a:grpSpLocks/>
            </p:cNvGrpSpPr>
            <p:nvPr/>
          </p:nvGrpSpPr>
          <p:grpSpPr bwMode="auto">
            <a:xfrm>
              <a:off x="432" y="1712"/>
              <a:ext cx="2376" cy="1248"/>
              <a:chOff x="672" y="2304"/>
              <a:chExt cx="2376" cy="1248"/>
            </a:xfrm>
          </p:grpSpPr>
          <p:sp>
            <p:nvSpPr>
              <p:cNvPr id="30760" name="Text Box 6"/>
              <p:cNvSpPr txBox="1">
                <a:spLocks noChangeArrowheads="1"/>
              </p:cNvSpPr>
              <p:nvPr/>
            </p:nvSpPr>
            <p:spPr bwMode="auto">
              <a:xfrm>
                <a:off x="1472" y="2928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 charset="0"/>
                  </a:rPr>
                  <a:t>NHANVIEN</a:t>
                </a:r>
              </a:p>
            </p:txBody>
          </p:sp>
          <p:grpSp>
            <p:nvGrpSpPr>
              <p:cNvPr id="30761" name="Group 7"/>
              <p:cNvGrpSpPr>
                <a:grpSpLocks/>
              </p:cNvGrpSpPr>
              <p:nvPr/>
            </p:nvGrpSpPr>
            <p:grpSpPr bwMode="auto">
              <a:xfrm>
                <a:off x="768" y="2976"/>
                <a:ext cx="528" cy="240"/>
                <a:chOff x="192" y="1080"/>
                <a:chExt cx="528" cy="240"/>
              </a:xfrm>
            </p:grpSpPr>
            <p:sp>
              <p:nvSpPr>
                <p:cNvPr id="30786" name="Oval 8"/>
                <p:cNvSpPr>
                  <a:spLocks noChangeArrowheads="1"/>
                </p:cNvSpPr>
                <p:nvPr/>
              </p:nvSpPr>
              <p:spPr bwMode="auto">
                <a:xfrm>
                  <a:off x="192" y="108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78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92" y="1104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TENNV</a:t>
                  </a:r>
                </a:p>
              </p:txBody>
            </p:sp>
          </p:grpSp>
          <p:grpSp>
            <p:nvGrpSpPr>
              <p:cNvPr id="30762" name="Group 10"/>
              <p:cNvGrpSpPr>
                <a:grpSpLocks/>
              </p:cNvGrpSpPr>
              <p:nvPr/>
            </p:nvGrpSpPr>
            <p:grpSpPr bwMode="auto">
              <a:xfrm>
                <a:off x="1296" y="2400"/>
                <a:ext cx="576" cy="240"/>
                <a:chOff x="864" y="840"/>
                <a:chExt cx="576" cy="240"/>
              </a:xfrm>
            </p:grpSpPr>
            <p:sp>
              <p:nvSpPr>
                <p:cNvPr id="30784" name="Oval 11"/>
                <p:cNvSpPr>
                  <a:spLocks noChangeArrowheads="1"/>
                </p:cNvSpPr>
                <p:nvPr/>
              </p:nvSpPr>
              <p:spPr bwMode="auto">
                <a:xfrm>
                  <a:off x="888" y="84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78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864" y="864"/>
                  <a:ext cx="57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NS</a:t>
                  </a:r>
                </a:p>
              </p:txBody>
            </p:sp>
          </p:grpSp>
          <p:grpSp>
            <p:nvGrpSpPr>
              <p:cNvPr id="30763" name="Group 13"/>
              <p:cNvGrpSpPr>
                <a:grpSpLocks/>
              </p:cNvGrpSpPr>
              <p:nvPr/>
            </p:nvGrpSpPr>
            <p:grpSpPr bwMode="auto">
              <a:xfrm>
                <a:off x="2496" y="2400"/>
                <a:ext cx="552" cy="240"/>
                <a:chOff x="3888" y="3792"/>
                <a:chExt cx="552" cy="240"/>
              </a:xfrm>
            </p:grpSpPr>
            <p:sp>
              <p:nvSpPr>
                <p:cNvPr id="30782" name="Oval 14"/>
                <p:cNvSpPr>
                  <a:spLocks noChangeArrowheads="1"/>
                </p:cNvSpPr>
                <p:nvPr/>
              </p:nvSpPr>
              <p:spPr bwMode="auto">
                <a:xfrm>
                  <a:off x="39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78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888" y="3816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DCHI</a:t>
                  </a:r>
                </a:p>
              </p:txBody>
            </p:sp>
          </p:grpSp>
          <p:grpSp>
            <p:nvGrpSpPr>
              <p:cNvPr id="30764" name="Group 16"/>
              <p:cNvGrpSpPr>
                <a:grpSpLocks/>
              </p:cNvGrpSpPr>
              <p:nvPr/>
            </p:nvGrpSpPr>
            <p:grpSpPr bwMode="auto">
              <a:xfrm>
                <a:off x="768" y="3312"/>
                <a:ext cx="528" cy="240"/>
                <a:chOff x="168" y="1416"/>
                <a:chExt cx="528" cy="240"/>
              </a:xfrm>
            </p:grpSpPr>
            <p:sp>
              <p:nvSpPr>
                <p:cNvPr id="30780" name="Oval 17"/>
                <p:cNvSpPr>
                  <a:spLocks noChangeArrowheads="1"/>
                </p:cNvSpPr>
                <p:nvPr/>
              </p:nvSpPr>
              <p:spPr bwMode="auto">
                <a:xfrm>
                  <a:off x="168" y="141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781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48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GT</a:t>
                  </a:r>
                </a:p>
              </p:txBody>
            </p:sp>
          </p:grpSp>
          <p:grpSp>
            <p:nvGrpSpPr>
              <p:cNvPr id="30765" name="Group 19"/>
              <p:cNvGrpSpPr>
                <a:grpSpLocks/>
              </p:cNvGrpSpPr>
              <p:nvPr/>
            </p:nvGrpSpPr>
            <p:grpSpPr bwMode="auto">
              <a:xfrm>
                <a:off x="1920" y="2400"/>
                <a:ext cx="528" cy="240"/>
                <a:chOff x="3576" y="3456"/>
                <a:chExt cx="528" cy="240"/>
              </a:xfrm>
            </p:grpSpPr>
            <p:sp>
              <p:nvSpPr>
                <p:cNvPr id="30778" name="Oval 20"/>
                <p:cNvSpPr>
                  <a:spLocks noChangeArrowheads="1"/>
                </p:cNvSpPr>
                <p:nvPr/>
              </p:nvSpPr>
              <p:spPr bwMode="auto">
                <a:xfrm>
                  <a:off x="3576" y="345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77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600" y="3480"/>
                  <a:ext cx="48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LUONG</a:t>
                  </a:r>
                </a:p>
              </p:txBody>
            </p:sp>
          </p:grpSp>
          <p:grpSp>
            <p:nvGrpSpPr>
              <p:cNvPr id="30766" name="Group 22"/>
              <p:cNvGrpSpPr>
                <a:grpSpLocks/>
              </p:cNvGrpSpPr>
              <p:nvPr/>
            </p:nvGrpSpPr>
            <p:grpSpPr bwMode="auto">
              <a:xfrm>
                <a:off x="720" y="2640"/>
                <a:ext cx="528" cy="240"/>
                <a:chOff x="192" y="744"/>
                <a:chExt cx="528" cy="240"/>
              </a:xfrm>
            </p:grpSpPr>
            <p:sp>
              <p:nvSpPr>
                <p:cNvPr id="30776" name="Oval 23"/>
                <p:cNvSpPr>
                  <a:spLocks noChangeArrowheads="1"/>
                </p:cNvSpPr>
                <p:nvPr/>
              </p:nvSpPr>
              <p:spPr bwMode="auto">
                <a:xfrm>
                  <a:off x="192" y="74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77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92" y="768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ahoma" charset="0"/>
                    </a:rPr>
                    <a:t>HONV</a:t>
                  </a:r>
                </a:p>
              </p:txBody>
            </p:sp>
          </p:grpSp>
          <p:sp>
            <p:nvSpPr>
              <p:cNvPr id="30767" name="Line 25"/>
              <p:cNvSpPr>
                <a:spLocks noChangeShapeType="1"/>
              </p:cNvSpPr>
              <p:nvPr/>
            </p:nvSpPr>
            <p:spPr bwMode="auto">
              <a:xfrm flipH="1">
                <a:off x="1248" y="3168"/>
                <a:ext cx="24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68" name="Line 26"/>
              <p:cNvSpPr>
                <a:spLocks noChangeShapeType="1"/>
              </p:cNvSpPr>
              <p:nvPr/>
            </p:nvSpPr>
            <p:spPr bwMode="auto">
              <a:xfrm flipH="1">
                <a:off x="1296" y="3024"/>
                <a:ext cx="19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69" name="Line 27"/>
              <p:cNvSpPr>
                <a:spLocks noChangeShapeType="1"/>
              </p:cNvSpPr>
              <p:nvPr/>
            </p:nvSpPr>
            <p:spPr bwMode="auto">
              <a:xfrm flipH="1" flipV="1">
                <a:off x="1248" y="2784"/>
                <a:ext cx="24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70" name="Line 28"/>
              <p:cNvSpPr>
                <a:spLocks noChangeShapeType="1"/>
              </p:cNvSpPr>
              <p:nvPr/>
            </p:nvSpPr>
            <p:spPr bwMode="auto">
              <a:xfrm flipH="1" flipV="1">
                <a:off x="1584" y="264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71" name="Line 29"/>
              <p:cNvSpPr>
                <a:spLocks noChangeShapeType="1"/>
              </p:cNvSpPr>
              <p:nvPr/>
            </p:nvSpPr>
            <p:spPr bwMode="auto">
              <a:xfrm flipV="1">
                <a:off x="2016" y="2640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72" name="Line 30"/>
              <p:cNvSpPr>
                <a:spLocks noChangeShapeType="1"/>
              </p:cNvSpPr>
              <p:nvPr/>
            </p:nvSpPr>
            <p:spPr bwMode="auto">
              <a:xfrm flipV="1">
                <a:off x="2304" y="2640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73" name="Oval 31"/>
              <p:cNvSpPr>
                <a:spLocks noChangeArrowheads="1"/>
              </p:cNvSpPr>
              <p:nvPr/>
            </p:nvSpPr>
            <p:spPr bwMode="auto">
              <a:xfrm>
                <a:off x="672" y="23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74" name="Text Box 32"/>
              <p:cNvSpPr txBox="1">
                <a:spLocks noChangeArrowheads="1"/>
              </p:cNvSpPr>
              <p:nvPr/>
            </p:nvSpPr>
            <p:spPr bwMode="auto">
              <a:xfrm>
                <a:off x="696" y="23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MANV</a:t>
                </a:r>
              </a:p>
            </p:txBody>
          </p:sp>
          <p:sp>
            <p:nvSpPr>
              <p:cNvPr id="30775" name="Line 33"/>
              <p:cNvSpPr>
                <a:spLocks noChangeShapeType="1"/>
              </p:cNvSpPr>
              <p:nvPr/>
            </p:nvSpPr>
            <p:spPr bwMode="auto">
              <a:xfrm flipH="1" flipV="1">
                <a:off x="1152" y="2496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0734" name="Group 34"/>
            <p:cNvGrpSpPr>
              <a:grpSpLocks/>
            </p:cNvGrpSpPr>
            <p:nvPr/>
          </p:nvGrpSpPr>
          <p:grpSpPr bwMode="auto">
            <a:xfrm>
              <a:off x="2248" y="2240"/>
              <a:ext cx="1736" cy="432"/>
              <a:chOff x="1864" y="960"/>
              <a:chExt cx="1736" cy="432"/>
            </a:xfrm>
          </p:grpSpPr>
          <p:grpSp>
            <p:nvGrpSpPr>
              <p:cNvPr id="30755" name="Group 35"/>
              <p:cNvGrpSpPr>
                <a:grpSpLocks/>
              </p:cNvGrpSpPr>
              <p:nvPr/>
            </p:nvGrpSpPr>
            <p:grpSpPr bwMode="auto">
              <a:xfrm>
                <a:off x="2208" y="960"/>
                <a:ext cx="1056" cy="432"/>
                <a:chOff x="3360" y="2880"/>
                <a:chExt cx="1056" cy="432"/>
              </a:xfrm>
            </p:grpSpPr>
            <p:sp>
              <p:nvSpPr>
                <p:cNvPr id="30758" name="AutoShape 36"/>
                <p:cNvSpPr>
                  <a:spLocks noChangeArrowheads="1"/>
                </p:cNvSpPr>
                <p:nvPr/>
              </p:nvSpPr>
              <p:spPr bwMode="auto">
                <a:xfrm>
                  <a:off x="3360" y="2880"/>
                  <a:ext cx="1056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75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456" y="2976"/>
                  <a:ext cx="91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Lam_viec</a:t>
                  </a:r>
                </a:p>
              </p:txBody>
            </p:sp>
          </p:grpSp>
          <p:sp>
            <p:nvSpPr>
              <p:cNvPr id="30756" name="Line 38"/>
              <p:cNvSpPr>
                <a:spLocks noChangeShapeType="1"/>
              </p:cNvSpPr>
              <p:nvPr/>
            </p:nvSpPr>
            <p:spPr bwMode="auto">
              <a:xfrm>
                <a:off x="18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57" name="Line 39"/>
              <p:cNvSpPr>
                <a:spLocks noChangeShapeType="1"/>
              </p:cNvSpPr>
              <p:nvPr/>
            </p:nvSpPr>
            <p:spPr bwMode="auto">
              <a:xfrm>
                <a:off x="32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0735" name="Group 40"/>
            <p:cNvGrpSpPr>
              <a:grpSpLocks/>
            </p:cNvGrpSpPr>
            <p:nvPr/>
          </p:nvGrpSpPr>
          <p:grpSpPr bwMode="auto">
            <a:xfrm>
              <a:off x="2016" y="2576"/>
              <a:ext cx="2208" cy="688"/>
              <a:chOff x="1728" y="1824"/>
              <a:chExt cx="2208" cy="688"/>
            </a:xfrm>
          </p:grpSpPr>
          <p:grpSp>
            <p:nvGrpSpPr>
              <p:cNvPr id="30748" name="Group 41"/>
              <p:cNvGrpSpPr>
                <a:grpSpLocks/>
              </p:cNvGrpSpPr>
              <p:nvPr/>
            </p:nvGrpSpPr>
            <p:grpSpPr bwMode="auto">
              <a:xfrm>
                <a:off x="2208" y="2080"/>
                <a:ext cx="1344" cy="432"/>
                <a:chOff x="2208" y="2080"/>
                <a:chExt cx="1344" cy="432"/>
              </a:xfrm>
            </p:grpSpPr>
            <p:sp>
              <p:nvSpPr>
                <p:cNvPr id="30753" name="AutoShape 42"/>
                <p:cNvSpPr>
                  <a:spLocks noChangeArrowheads="1"/>
                </p:cNvSpPr>
                <p:nvPr/>
              </p:nvSpPr>
              <p:spPr bwMode="auto">
                <a:xfrm>
                  <a:off x="2208" y="2080"/>
                  <a:ext cx="1344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754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304" y="2176"/>
                  <a:ext cx="120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La_truong_phong</a:t>
                  </a:r>
                </a:p>
              </p:txBody>
            </p:sp>
          </p:grpSp>
          <p:sp>
            <p:nvSpPr>
              <p:cNvPr id="30749" name="Line 44"/>
              <p:cNvSpPr>
                <a:spLocks noChangeShapeType="1"/>
              </p:cNvSpPr>
              <p:nvPr/>
            </p:nvSpPr>
            <p:spPr bwMode="auto">
              <a:xfrm>
                <a:off x="1728" y="1824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50" name="Line 45"/>
              <p:cNvSpPr>
                <a:spLocks noChangeShapeType="1"/>
              </p:cNvSpPr>
              <p:nvPr/>
            </p:nvSpPr>
            <p:spPr bwMode="auto">
              <a:xfrm>
                <a:off x="3936" y="1824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51" name="Line 46"/>
              <p:cNvSpPr>
                <a:spLocks noChangeShapeType="1"/>
              </p:cNvSpPr>
              <p:nvPr/>
            </p:nvSpPr>
            <p:spPr bwMode="auto">
              <a:xfrm>
                <a:off x="1728" y="2304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52" name="Line 47"/>
              <p:cNvSpPr>
                <a:spLocks noChangeShapeType="1"/>
              </p:cNvSpPr>
              <p:nvPr/>
            </p:nvSpPr>
            <p:spPr bwMode="auto">
              <a:xfrm>
                <a:off x="3552" y="2304"/>
                <a:ext cx="3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0736" name="Text Box 48"/>
            <p:cNvSpPr txBox="1">
              <a:spLocks noChangeArrowheads="1"/>
            </p:cNvSpPr>
            <p:nvPr/>
          </p:nvSpPr>
          <p:spPr bwMode="auto">
            <a:xfrm>
              <a:off x="3984" y="2336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PHONGBAN</a:t>
              </a:r>
            </a:p>
          </p:txBody>
        </p:sp>
        <p:grpSp>
          <p:nvGrpSpPr>
            <p:cNvPr id="30737" name="Group 49"/>
            <p:cNvGrpSpPr>
              <a:grpSpLocks/>
            </p:cNvGrpSpPr>
            <p:nvPr/>
          </p:nvGrpSpPr>
          <p:grpSpPr bwMode="auto">
            <a:xfrm>
              <a:off x="4560" y="1856"/>
              <a:ext cx="576" cy="480"/>
              <a:chOff x="4272" y="1104"/>
              <a:chExt cx="576" cy="480"/>
            </a:xfrm>
          </p:grpSpPr>
          <p:sp>
            <p:nvSpPr>
              <p:cNvPr id="30745" name="Oval 50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746" name="Text Box 51"/>
              <p:cNvSpPr txBox="1">
                <a:spLocks noChangeArrowheads="1"/>
              </p:cNvSpPr>
              <p:nvPr/>
            </p:nvSpPr>
            <p:spPr bwMode="auto">
              <a:xfrm>
                <a:off x="4272" y="1128"/>
                <a:ext cx="5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MAPHG</a:t>
                </a:r>
              </a:p>
            </p:txBody>
          </p:sp>
          <p:sp>
            <p:nvSpPr>
              <p:cNvPr id="30747" name="Line 52"/>
              <p:cNvSpPr>
                <a:spLocks noChangeShapeType="1"/>
              </p:cNvSpPr>
              <p:nvPr/>
            </p:nvSpPr>
            <p:spPr bwMode="auto">
              <a:xfrm flipH="1">
                <a:off x="4368" y="1344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0738" name="Oval 53"/>
            <p:cNvSpPr>
              <a:spLocks noChangeArrowheads="1"/>
            </p:cNvSpPr>
            <p:nvPr/>
          </p:nvSpPr>
          <p:spPr bwMode="auto">
            <a:xfrm>
              <a:off x="3984" y="1856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739" name="Text Box 54"/>
            <p:cNvSpPr txBox="1">
              <a:spLocks noChangeArrowheads="1"/>
            </p:cNvSpPr>
            <p:nvPr/>
          </p:nvSpPr>
          <p:spPr bwMode="auto">
            <a:xfrm>
              <a:off x="3984" y="1880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TENPHG</a:t>
              </a:r>
            </a:p>
          </p:txBody>
        </p:sp>
        <p:sp>
          <p:nvSpPr>
            <p:cNvPr id="30740" name="Line 55"/>
            <p:cNvSpPr>
              <a:spLocks noChangeShapeType="1"/>
            </p:cNvSpPr>
            <p:nvPr/>
          </p:nvSpPr>
          <p:spPr bwMode="auto">
            <a:xfrm>
              <a:off x="4272" y="2096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741" name="Text Box 56"/>
            <p:cNvSpPr txBox="1">
              <a:spLocks noChangeArrowheads="1"/>
            </p:cNvSpPr>
            <p:nvPr/>
          </p:nvSpPr>
          <p:spPr bwMode="auto">
            <a:xfrm>
              <a:off x="2160" y="2256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  <p:sp>
          <p:nvSpPr>
            <p:cNvPr id="30742" name="Text Box 57"/>
            <p:cNvSpPr txBox="1">
              <a:spLocks noChangeArrowheads="1"/>
            </p:cNvSpPr>
            <p:nvPr/>
          </p:nvSpPr>
          <p:spPr bwMode="auto">
            <a:xfrm>
              <a:off x="3456" y="2256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(1,n)</a:t>
              </a:r>
            </a:p>
          </p:txBody>
        </p:sp>
        <p:sp>
          <p:nvSpPr>
            <p:cNvPr id="30743" name="Text Box 58"/>
            <p:cNvSpPr txBox="1">
              <a:spLocks noChangeArrowheads="1"/>
            </p:cNvSpPr>
            <p:nvPr/>
          </p:nvSpPr>
          <p:spPr bwMode="auto">
            <a:xfrm>
              <a:off x="3744" y="2864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  <p:sp>
          <p:nvSpPr>
            <p:cNvPr id="30744" name="Text Box 59"/>
            <p:cNvSpPr txBox="1">
              <a:spLocks noChangeArrowheads="1"/>
            </p:cNvSpPr>
            <p:nvPr/>
          </p:nvSpPr>
          <p:spPr bwMode="auto">
            <a:xfrm>
              <a:off x="1968" y="2864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</p:grpSp>
      <p:sp>
        <p:nvSpPr>
          <p:cNvPr id="192572" name="Text Box 60"/>
          <p:cNvSpPr txBox="1">
            <a:spLocks noChangeArrowheads="1"/>
          </p:cNvSpPr>
          <p:nvPr/>
        </p:nvSpPr>
        <p:spPr bwMode="auto">
          <a:xfrm>
            <a:off x="304800" y="5289550"/>
            <a:ext cx="7010400" cy="379412"/>
          </a:xfrm>
          <a:prstGeom prst="rect">
            <a:avLst/>
          </a:prstGeom>
          <a:solidFill>
            <a:schemeClr val="accent1">
              <a:alpha val="79999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Tahoma" charset="0"/>
              </a:rPr>
              <a:t>NHANVIEN(</a:t>
            </a:r>
            <a:r>
              <a:rPr lang="en-US" sz="1800" u="sng">
                <a:solidFill>
                  <a:srgbClr val="000000"/>
                </a:solidFill>
                <a:latin typeface="Tahoma" charset="0"/>
              </a:rPr>
              <a:t>MANV</a:t>
            </a:r>
            <a:r>
              <a:rPr lang="en-US" sz="1800">
                <a:solidFill>
                  <a:srgbClr val="000000"/>
                </a:solidFill>
                <a:latin typeface="Tahoma" charset="0"/>
              </a:rPr>
              <a:t>, TENNV, HONV, NS, DCHI, GT, LUONG)</a:t>
            </a:r>
          </a:p>
        </p:txBody>
      </p:sp>
      <p:sp>
        <p:nvSpPr>
          <p:cNvPr id="192573" name="Text Box 61"/>
          <p:cNvSpPr txBox="1">
            <a:spLocks noChangeArrowheads="1"/>
          </p:cNvSpPr>
          <p:nvPr/>
        </p:nvSpPr>
        <p:spPr bwMode="auto">
          <a:xfrm>
            <a:off x="5257800" y="4741862"/>
            <a:ext cx="3581400" cy="379413"/>
          </a:xfrm>
          <a:prstGeom prst="rect">
            <a:avLst/>
          </a:prstGeom>
          <a:solidFill>
            <a:schemeClr val="accent1">
              <a:alpha val="79999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Tahoma" charset="0"/>
              </a:rPr>
              <a:t>PHONGBAN(TENPHG, </a:t>
            </a:r>
            <a:r>
              <a:rPr lang="en-US" sz="1800" u="sng">
                <a:solidFill>
                  <a:srgbClr val="000000"/>
                </a:solidFill>
                <a:latin typeface="Tahoma" charset="0"/>
              </a:rPr>
              <a:t>MAPHG</a:t>
            </a:r>
            <a:r>
              <a:rPr lang="en-US" sz="1800">
                <a:solidFill>
                  <a:srgbClr val="000000"/>
                </a:solidFill>
                <a:latin typeface="Tahoma" charset="0"/>
              </a:rPr>
              <a:t>)</a:t>
            </a:r>
          </a:p>
        </p:txBody>
      </p:sp>
      <p:sp>
        <p:nvSpPr>
          <p:cNvPr id="192574" name="Line 62"/>
          <p:cNvSpPr>
            <a:spLocks noChangeShapeType="1"/>
          </p:cNvSpPr>
          <p:nvPr/>
        </p:nvSpPr>
        <p:spPr bwMode="auto">
          <a:xfrm flipH="1">
            <a:off x="1066800" y="3446462"/>
            <a:ext cx="1295400" cy="1905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2575" name="Line 63"/>
          <p:cNvSpPr>
            <a:spLocks noChangeShapeType="1"/>
          </p:cNvSpPr>
          <p:nvPr/>
        </p:nvSpPr>
        <p:spPr bwMode="auto">
          <a:xfrm flipH="1">
            <a:off x="6553200" y="3446462"/>
            <a:ext cx="914400" cy="1371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2576" name="AutoShape 64"/>
          <p:cNvSpPr>
            <a:spLocks noChangeArrowheads="1"/>
          </p:cNvSpPr>
          <p:nvPr/>
        </p:nvSpPr>
        <p:spPr bwMode="auto">
          <a:xfrm>
            <a:off x="6248400" y="1998662"/>
            <a:ext cx="2057400" cy="1676400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2577" name="Freeform 65"/>
          <p:cNvSpPr>
            <a:spLocks/>
          </p:cNvSpPr>
          <p:nvPr/>
        </p:nvSpPr>
        <p:spPr bwMode="auto">
          <a:xfrm>
            <a:off x="361950" y="1828800"/>
            <a:ext cx="4362450" cy="2379662"/>
          </a:xfrm>
          <a:custGeom>
            <a:avLst/>
            <a:gdLst>
              <a:gd name="T0" fmla="*/ 475462123 w 2913"/>
              <a:gd name="T1" fmla="*/ 223994208 h 1431"/>
              <a:gd name="T2" fmla="*/ 370053470 w 2913"/>
              <a:gd name="T3" fmla="*/ 447988417 h 1431"/>
              <a:gd name="T4" fmla="*/ 248944190 w 2913"/>
              <a:gd name="T5" fmla="*/ 730054027 h 1431"/>
              <a:gd name="T6" fmla="*/ 127836408 w 2913"/>
              <a:gd name="T7" fmla="*/ 1385443873 h 1431"/>
              <a:gd name="T8" fmla="*/ 35883510 w 2913"/>
              <a:gd name="T9" fmla="*/ 1797482930 h 1431"/>
              <a:gd name="T10" fmla="*/ 127836408 w 2913"/>
              <a:gd name="T11" fmla="*/ 2147483647 h 1431"/>
              <a:gd name="T12" fmla="*/ 354354341 w 2913"/>
              <a:gd name="T13" fmla="*/ 2147483647 h 1431"/>
              <a:gd name="T14" fmla="*/ 430606612 w 2913"/>
              <a:gd name="T15" fmla="*/ 2147483647 h 1431"/>
              <a:gd name="T16" fmla="*/ 811873959 w 2913"/>
              <a:gd name="T17" fmla="*/ 2147483647 h 1431"/>
              <a:gd name="T18" fmla="*/ 1009235510 w 2913"/>
              <a:gd name="T19" fmla="*/ 2147483647 h 1431"/>
              <a:gd name="T20" fmla="*/ 1388259483 w 2913"/>
              <a:gd name="T21" fmla="*/ 2147483647 h 1431"/>
              <a:gd name="T22" fmla="*/ 1617019293 w 2913"/>
              <a:gd name="T23" fmla="*/ 2147483647 h 1431"/>
              <a:gd name="T24" fmla="*/ 2147483647 w 2913"/>
              <a:gd name="T25" fmla="*/ 2147483647 h 1431"/>
              <a:gd name="T26" fmla="*/ 2147483647 w 2913"/>
              <a:gd name="T27" fmla="*/ 2147483647 h 1431"/>
              <a:gd name="T28" fmla="*/ 2147483647 w 2913"/>
              <a:gd name="T29" fmla="*/ 2147483647 h 1431"/>
              <a:gd name="T30" fmla="*/ 2147483647 w 2913"/>
              <a:gd name="T31" fmla="*/ 2147483647 h 1431"/>
              <a:gd name="T32" fmla="*/ 2147483647 w 2913"/>
              <a:gd name="T33" fmla="*/ 2147483647 h 1431"/>
              <a:gd name="T34" fmla="*/ 2147483647 w 2913"/>
              <a:gd name="T35" fmla="*/ 2147483647 h 1431"/>
              <a:gd name="T36" fmla="*/ 2147483647 w 2913"/>
              <a:gd name="T37" fmla="*/ 2147483647 h 1431"/>
              <a:gd name="T38" fmla="*/ 2147483647 w 2913"/>
              <a:gd name="T39" fmla="*/ 2147483647 h 1431"/>
              <a:gd name="T40" fmla="*/ 2147483647 w 2913"/>
              <a:gd name="T41" fmla="*/ 2147483647 h 1431"/>
              <a:gd name="T42" fmla="*/ 2147483647 w 2913"/>
              <a:gd name="T43" fmla="*/ 2134856143 h 1431"/>
              <a:gd name="T44" fmla="*/ 2147483647 w 2913"/>
              <a:gd name="T45" fmla="*/ 2040833718 h 1431"/>
              <a:gd name="T46" fmla="*/ 2147483647 w 2913"/>
              <a:gd name="T47" fmla="*/ 1872147112 h 1431"/>
              <a:gd name="T48" fmla="*/ 2147483647 w 2913"/>
              <a:gd name="T49" fmla="*/ 973406478 h 1431"/>
              <a:gd name="T50" fmla="*/ 2147483647 w 2913"/>
              <a:gd name="T51" fmla="*/ 542010841 h 1431"/>
              <a:gd name="T52" fmla="*/ 2147483647 w 2913"/>
              <a:gd name="T53" fmla="*/ 467344996 h 1431"/>
              <a:gd name="T54" fmla="*/ 1782982585 w 2913"/>
              <a:gd name="T55" fmla="*/ 431395637 h 1431"/>
              <a:gd name="T56" fmla="*/ 1206597061 w 2913"/>
              <a:gd name="T57" fmla="*/ 262709031 h 1431"/>
              <a:gd name="T58" fmla="*/ 977837252 w 2913"/>
              <a:gd name="T59" fmla="*/ 149330027 h 1431"/>
              <a:gd name="T60" fmla="*/ 885884354 w 2913"/>
              <a:gd name="T61" fmla="*/ 94022425 h 1431"/>
              <a:gd name="T62" fmla="*/ 749077443 w 2913"/>
              <a:gd name="T63" fmla="*/ 0 h 1431"/>
              <a:gd name="T64" fmla="*/ 506860381 w 2913"/>
              <a:gd name="T65" fmla="*/ 110613541 h 1431"/>
              <a:gd name="T66" fmla="*/ 475462123 w 2913"/>
              <a:gd name="T67" fmla="*/ 168686606 h 1431"/>
              <a:gd name="T68" fmla="*/ 430606612 w 2913"/>
              <a:gd name="T69" fmla="*/ 204635966 h 1431"/>
              <a:gd name="T70" fmla="*/ 414907483 w 2913"/>
              <a:gd name="T71" fmla="*/ 353965992 h 1431"/>
              <a:gd name="T72" fmla="*/ 325197959 w 2913"/>
              <a:gd name="T73" fmla="*/ 522652598 h 1431"/>
              <a:gd name="T74" fmla="*/ 278100572 w 2913"/>
              <a:gd name="T75" fmla="*/ 749412270 h 1431"/>
              <a:gd name="T76" fmla="*/ 217545932 w 2913"/>
              <a:gd name="T77" fmla="*/ 785361629 h 1431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w 2913"/>
              <a:gd name="T118" fmla="*/ 0 h 1431"/>
              <a:gd name="T119" fmla="*/ 2913 w 2913"/>
              <a:gd name="T120" fmla="*/ 1431 h 1431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T117" t="T118" r="T119" b="T120"/>
            <a:pathLst>
              <a:path w="2913" h="1431">
                <a:moveTo>
                  <a:pt x="212" y="81"/>
                </a:moveTo>
                <a:cubicBezTo>
                  <a:pt x="204" y="116"/>
                  <a:pt x="190" y="137"/>
                  <a:pt x="165" y="162"/>
                </a:cubicBezTo>
                <a:cubicBezTo>
                  <a:pt x="150" y="199"/>
                  <a:pt x="135" y="232"/>
                  <a:pt x="111" y="264"/>
                </a:cubicBezTo>
                <a:cubicBezTo>
                  <a:pt x="95" y="343"/>
                  <a:pt x="86" y="425"/>
                  <a:pt x="57" y="501"/>
                </a:cubicBezTo>
                <a:cubicBezTo>
                  <a:pt x="49" y="556"/>
                  <a:pt x="34" y="598"/>
                  <a:pt x="16" y="650"/>
                </a:cubicBezTo>
                <a:cubicBezTo>
                  <a:pt x="21" y="814"/>
                  <a:pt x="0" y="846"/>
                  <a:pt x="57" y="955"/>
                </a:cubicBezTo>
                <a:cubicBezTo>
                  <a:pt x="69" y="1022"/>
                  <a:pt x="115" y="1074"/>
                  <a:pt x="158" y="1125"/>
                </a:cubicBezTo>
                <a:cubicBezTo>
                  <a:pt x="172" y="1141"/>
                  <a:pt x="177" y="1164"/>
                  <a:pt x="192" y="1179"/>
                </a:cubicBezTo>
                <a:cubicBezTo>
                  <a:pt x="239" y="1226"/>
                  <a:pt x="308" y="1245"/>
                  <a:pt x="362" y="1280"/>
                </a:cubicBezTo>
                <a:cubicBezTo>
                  <a:pt x="397" y="1303"/>
                  <a:pt x="408" y="1329"/>
                  <a:pt x="450" y="1341"/>
                </a:cubicBezTo>
                <a:cubicBezTo>
                  <a:pt x="522" y="1362"/>
                  <a:pt x="532" y="1356"/>
                  <a:pt x="619" y="1362"/>
                </a:cubicBezTo>
                <a:cubicBezTo>
                  <a:pt x="635" y="1423"/>
                  <a:pt x="658" y="1423"/>
                  <a:pt x="721" y="1430"/>
                </a:cubicBezTo>
                <a:cubicBezTo>
                  <a:pt x="800" y="1428"/>
                  <a:pt x="879" y="1431"/>
                  <a:pt x="958" y="1423"/>
                </a:cubicBezTo>
                <a:cubicBezTo>
                  <a:pt x="1007" y="1418"/>
                  <a:pt x="1044" y="1378"/>
                  <a:pt x="1093" y="1369"/>
                </a:cubicBezTo>
                <a:cubicBezTo>
                  <a:pt x="1128" y="1354"/>
                  <a:pt x="1157" y="1347"/>
                  <a:pt x="1195" y="1341"/>
                </a:cubicBezTo>
                <a:cubicBezTo>
                  <a:pt x="1272" y="1304"/>
                  <a:pt x="1329" y="1231"/>
                  <a:pt x="1412" y="1213"/>
                </a:cubicBezTo>
                <a:cubicBezTo>
                  <a:pt x="1485" y="1175"/>
                  <a:pt x="1499" y="1053"/>
                  <a:pt x="1608" y="1050"/>
                </a:cubicBezTo>
                <a:cubicBezTo>
                  <a:pt x="1890" y="1043"/>
                  <a:pt x="2173" y="1045"/>
                  <a:pt x="2455" y="1043"/>
                </a:cubicBezTo>
                <a:cubicBezTo>
                  <a:pt x="2502" y="1028"/>
                  <a:pt x="2544" y="1005"/>
                  <a:pt x="2591" y="989"/>
                </a:cubicBezTo>
                <a:cubicBezTo>
                  <a:pt x="2635" y="945"/>
                  <a:pt x="2591" y="996"/>
                  <a:pt x="2618" y="942"/>
                </a:cubicBezTo>
                <a:cubicBezTo>
                  <a:pt x="2643" y="893"/>
                  <a:pt x="2678" y="847"/>
                  <a:pt x="2706" y="799"/>
                </a:cubicBezTo>
                <a:cubicBezTo>
                  <a:pt x="2708" y="790"/>
                  <a:pt x="2709" y="781"/>
                  <a:pt x="2713" y="772"/>
                </a:cubicBezTo>
                <a:cubicBezTo>
                  <a:pt x="2718" y="760"/>
                  <a:pt x="2728" y="750"/>
                  <a:pt x="2733" y="738"/>
                </a:cubicBezTo>
                <a:cubicBezTo>
                  <a:pt x="2740" y="718"/>
                  <a:pt x="2740" y="697"/>
                  <a:pt x="2747" y="677"/>
                </a:cubicBezTo>
                <a:cubicBezTo>
                  <a:pt x="2752" y="562"/>
                  <a:pt x="2745" y="426"/>
                  <a:pt x="2849" y="352"/>
                </a:cubicBezTo>
                <a:cubicBezTo>
                  <a:pt x="2913" y="65"/>
                  <a:pt x="2261" y="196"/>
                  <a:pt x="2252" y="196"/>
                </a:cubicBezTo>
                <a:cubicBezTo>
                  <a:pt x="2206" y="180"/>
                  <a:pt x="2144" y="170"/>
                  <a:pt x="2096" y="169"/>
                </a:cubicBezTo>
                <a:cubicBezTo>
                  <a:pt x="1662" y="163"/>
                  <a:pt x="1229" y="160"/>
                  <a:pt x="795" y="156"/>
                </a:cubicBezTo>
                <a:cubicBezTo>
                  <a:pt x="710" y="134"/>
                  <a:pt x="622" y="122"/>
                  <a:pt x="538" y="95"/>
                </a:cubicBezTo>
                <a:cubicBezTo>
                  <a:pt x="499" y="65"/>
                  <a:pt x="474" y="74"/>
                  <a:pt x="436" y="54"/>
                </a:cubicBezTo>
                <a:cubicBezTo>
                  <a:pt x="391" y="30"/>
                  <a:pt x="441" y="47"/>
                  <a:pt x="395" y="34"/>
                </a:cubicBezTo>
                <a:cubicBezTo>
                  <a:pt x="349" y="2"/>
                  <a:pt x="371" y="10"/>
                  <a:pt x="334" y="0"/>
                </a:cubicBezTo>
                <a:cubicBezTo>
                  <a:pt x="294" y="6"/>
                  <a:pt x="260" y="18"/>
                  <a:pt x="226" y="40"/>
                </a:cubicBezTo>
                <a:cubicBezTo>
                  <a:pt x="221" y="47"/>
                  <a:pt x="218" y="55"/>
                  <a:pt x="212" y="61"/>
                </a:cubicBezTo>
                <a:cubicBezTo>
                  <a:pt x="206" y="67"/>
                  <a:pt x="195" y="67"/>
                  <a:pt x="192" y="74"/>
                </a:cubicBezTo>
                <a:cubicBezTo>
                  <a:pt x="185" y="91"/>
                  <a:pt x="190" y="110"/>
                  <a:pt x="185" y="128"/>
                </a:cubicBezTo>
                <a:cubicBezTo>
                  <a:pt x="179" y="151"/>
                  <a:pt x="159" y="169"/>
                  <a:pt x="145" y="189"/>
                </a:cubicBezTo>
                <a:cubicBezTo>
                  <a:pt x="129" y="212"/>
                  <a:pt x="141" y="249"/>
                  <a:pt x="124" y="271"/>
                </a:cubicBezTo>
                <a:cubicBezTo>
                  <a:pt x="113" y="285"/>
                  <a:pt x="109" y="284"/>
                  <a:pt x="97" y="284"/>
                </a:cubicBezTo>
              </a:path>
            </a:pathLst>
          </a:cu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191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sz="3200" dirty="0"/>
          </a:p>
        </p:txBody>
      </p:sp>
      <p:sp>
        <p:nvSpPr>
          <p:cNvPr id="6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884AD1-99E0-47AC-8C76-A0E4729D35DE}" type="slidenum">
              <a:rPr lang="en-US"/>
              <a:pPr>
                <a:defRPr/>
              </a:pPr>
              <a:t>78</a:t>
            </a:fld>
            <a:endParaRPr lang="en-US"/>
          </a:p>
        </p:txBody>
      </p:sp>
      <p:sp>
        <p:nvSpPr>
          <p:cNvPr id="3174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686800" cy="18970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b="1" dirty="0"/>
              <a:t>6.2. </a:t>
            </a:r>
            <a:r>
              <a:rPr lang="en-US" sz="2400" b="1" dirty="0" err="1"/>
              <a:t>Mối</a:t>
            </a:r>
            <a:r>
              <a:rPr lang="en-US" sz="2400" b="1" dirty="0"/>
              <a:t> </a:t>
            </a:r>
            <a:r>
              <a:rPr lang="en-US" sz="2400" b="1" dirty="0" err="1"/>
              <a:t>quan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endParaRPr lang="en-US" sz="2400" b="1" dirty="0"/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    </a:t>
            </a:r>
            <a:r>
              <a:rPr lang="en-US" sz="2400" b="1" dirty="0"/>
              <a:t>a) </a:t>
            </a:r>
            <a:r>
              <a:rPr lang="en-US" sz="2400" b="1" dirty="0" err="1"/>
              <a:t>Một-Một</a:t>
            </a:r>
            <a:endParaRPr lang="en-US" sz="2400" b="1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Hoặc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thêm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vào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hệ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này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thuộc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tính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khóa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hệ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kia</a:t>
            </a:r>
            <a:endParaRPr 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Hoặc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thêm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thuộc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tính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khóa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vào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cả</a:t>
            </a:r>
            <a:r>
              <a:rPr lang="en-US" sz="2400" dirty="0">
                <a:solidFill>
                  <a:schemeClr val="tx1"/>
                </a:solidFill>
              </a:rPr>
              <a:t> 2 </a:t>
            </a:r>
            <a:r>
              <a:rPr lang="en-US" sz="2400" dirty="0" err="1">
                <a:solidFill>
                  <a:schemeClr val="tx1"/>
                </a:solidFill>
              </a:rPr>
              <a:t>quan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hệ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31750" name="Group 5"/>
          <p:cNvGrpSpPr>
            <a:grpSpLocks/>
          </p:cNvGrpSpPr>
          <p:nvPr/>
        </p:nvGrpSpPr>
        <p:grpSpPr bwMode="auto">
          <a:xfrm>
            <a:off x="762000" y="3352800"/>
            <a:ext cx="7620000" cy="2133600"/>
            <a:chOff x="480" y="1872"/>
            <a:chExt cx="4800" cy="1344"/>
          </a:xfrm>
        </p:grpSpPr>
        <p:grpSp>
          <p:nvGrpSpPr>
            <p:cNvPr id="31756" name="Group 6"/>
            <p:cNvGrpSpPr>
              <a:grpSpLocks/>
            </p:cNvGrpSpPr>
            <p:nvPr/>
          </p:nvGrpSpPr>
          <p:grpSpPr bwMode="auto">
            <a:xfrm>
              <a:off x="480" y="1872"/>
              <a:ext cx="2376" cy="1248"/>
              <a:chOff x="672" y="2304"/>
              <a:chExt cx="2376" cy="1248"/>
            </a:xfrm>
          </p:grpSpPr>
          <p:sp>
            <p:nvSpPr>
              <p:cNvPr id="31778" name="Text Box 7"/>
              <p:cNvSpPr txBox="1">
                <a:spLocks noChangeArrowheads="1"/>
              </p:cNvSpPr>
              <p:nvPr/>
            </p:nvSpPr>
            <p:spPr bwMode="auto">
              <a:xfrm>
                <a:off x="1472" y="2928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 charset="0"/>
                  </a:rPr>
                  <a:t>NHANVIEN</a:t>
                </a:r>
              </a:p>
            </p:txBody>
          </p:sp>
          <p:grpSp>
            <p:nvGrpSpPr>
              <p:cNvPr id="31779" name="Group 8"/>
              <p:cNvGrpSpPr>
                <a:grpSpLocks/>
              </p:cNvGrpSpPr>
              <p:nvPr/>
            </p:nvGrpSpPr>
            <p:grpSpPr bwMode="auto">
              <a:xfrm>
                <a:off x="768" y="2976"/>
                <a:ext cx="528" cy="240"/>
                <a:chOff x="192" y="1080"/>
                <a:chExt cx="528" cy="240"/>
              </a:xfrm>
            </p:grpSpPr>
            <p:sp>
              <p:nvSpPr>
                <p:cNvPr id="31804" name="Oval 9"/>
                <p:cNvSpPr>
                  <a:spLocks noChangeArrowheads="1"/>
                </p:cNvSpPr>
                <p:nvPr/>
              </p:nvSpPr>
              <p:spPr bwMode="auto">
                <a:xfrm>
                  <a:off x="192" y="108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805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92" y="1104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TENNV</a:t>
                  </a:r>
                </a:p>
              </p:txBody>
            </p:sp>
          </p:grpSp>
          <p:grpSp>
            <p:nvGrpSpPr>
              <p:cNvPr id="31780" name="Group 11"/>
              <p:cNvGrpSpPr>
                <a:grpSpLocks/>
              </p:cNvGrpSpPr>
              <p:nvPr/>
            </p:nvGrpSpPr>
            <p:grpSpPr bwMode="auto">
              <a:xfrm>
                <a:off x="1296" y="2400"/>
                <a:ext cx="576" cy="240"/>
                <a:chOff x="864" y="840"/>
                <a:chExt cx="576" cy="240"/>
              </a:xfrm>
            </p:grpSpPr>
            <p:sp>
              <p:nvSpPr>
                <p:cNvPr id="31802" name="Oval 12"/>
                <p:cNvSpPr>
                  <a:spLocks noChangeArrowheads="1"/>
                </p:cNvSpPr>
                <p:nvPr/>
              </p:nvSpPr>
              <p:spPr bwMode="auto">
                <a:xfrm>
                  <a:off x="888" y="84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80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864" y="864"/>
                  <a:ext cx="57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NS</a:t>
                  </a:r>
                </a:p>
              </p:txBody>
            </p:sp>
          </p:grpSp>
          <p:grpSp>
            <p:nvGrpSpPr>
              <p:cNvPr id="31781" name="Group 14"/>
              <p:cNvGrpSpPr>
                <a:grpSpLocks/>
              </p:cNvGrpSpPr>
              <p:nvPr/>
            </p:nvGrpSpPr>
            <p:grpSpPr bwMode="auto">
              <a:xfrm>
                <a:off x="2496" y="2400"/>
                <a:ext cx="552" cy="240"/>
                <a:chOff x="3888" y="3792"/>
                <a:chExt cx="552" cy="240"/>
              </a:xfrm>
            </p:grpSpPr>
            <p:sp>
              <p:nvSpPr>
                <p:cNvPr id="31800" name="Oval 15"/>
                <p:cNvSpPr>
                  <a:spLocks noChangeArrowheads="1"/>
                </p:cNvSpPr>
                <p:nvPr/>
              </p:nvSpPr>
              <p:spPr bwMode="auto">
                <a:xfrm>
                  <a:off x="39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801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888" y="3816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DCHI</a:t>
                  </a:r>
                </a:p>
              </p:txBody>
            </p:sp>
          </p:grpSp>
          <p:grpSp>
            <p:nvGrpSpPr>
              <p:cNvPr id="31782" name="Group 17"/>
              <p:cNvGrpSpPr>
                <a:grpSpLocks/>
              </p:cNvGrpSpPr>
              <p:nvPr/>
            </p:nvGrpSpPr>
            <p:grpSpPr bwMode="auto">
              <a:xfrm>
                <a:off x="768" y="3312"/>
                <a:ext cx="528" cy="240"/>
                <a:chOff x="168" y="1416"/>
                <a:chExt cx="528" cy="240"/>
              </a:xfrm>
            </p:grpSpPr>
            <p:sp>
              <p:nvSpPr>
                <p:cNvPr id="31798" name="Oval 18"/>
                <p:cNvSpPr>
                  <a:spLocks noChangeArrowheads="1"/>
                </p:cNvSpPr>
                <p:nvPr/>
              </p:nvSpPr>
              <p:spPr bwMode="auto">
                <a:xfrm>
                  <a:off x="168" y="141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799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48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GT</a:t>
                  </a:r>
                </a:p>
              </p:txBody>
            </p:sp>
          </p:grpSp>
          <p:grpSp>
            <p:nvGrpSpPr>
              <p:cNvPr id="31783" name="Group 20"/>
              <p:cNvGrpSpPr>
                <a:grpSpLocks/>
              </p:cNvGrpSpPr>
              <p:nvPr/>
            </p:nvGrpSpPr>
            <p:grpSpPr bwMode="auto">
              <a:xfrm>
                <a:off x="1920" y="2400"/>
                <a:ext cx="528" cy="240"/>
                <a:chOff x="3576" y="3456"/>
                <a:chExt cx="528" cy="240"/>
              </a:xfrm>
            </p:grpSpPr>
            <p:sp>
              <p:nvSpPr>
                <p:cNvPr id="31796" name="Oval 21"/>
                <p:cNvSpPr>
                  <a:spLocks noChangeArrowheads="1"/>
                </p:cNvSpPr>
                <p:nvPr/>
              </p:nvSpPr>
              <p:spPr bwMode="auto">
                <a:xfrm>
                  <a:off x="3576" y="345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797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600" y="3480"/>
                  <a:ext cx="48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LUONG</a:t>
                  </a:r>
                </a:p>
              </p:txBody>
            </p:sp>
          </p:grpSp>
          <p:grpSp>
            <p:nvGrpSpPr>
              <p:cNvPr id="31784" name="Group 23"/>
              <p:cNvGrpSpPr>
                <a:grpSpLocks/>
              </p:cNvGrpSpPr>
              <p:nvPr/>
            </p:nvGrpSpPr>
            <p:grpSpPr bwMode="auto">
              <a:xfrm>
                <a:off x="720" y="2640"/>
                <a:ext cx="528" cy="240"/>
                <a:chOff x="192" y="744"/>
                <a:chExt cx="528" cy="240"/>
              </a:xfrm>
            </p:grpSpPr>
            <p:sp>
              <p:nvSpPr>
                <p:cNvPr id="31794" name="Oval 24"/>
                <p:cNvSpPr>
                  <a:spLocks noChangeArrowheads="1"/>
                </p:cNvSpPr>
                <p:nvPr/>
              </p:nvSpPr>
              <p:spPr bwMode="auto">
                <a:xfrm>
                  <a:off x="192" y="74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79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92" y="768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HONV</a:t>
                  </a:r>
                </a:p>
              </p:txBody>
            </p:sp>
          </p:grpSp>
          <p:sp>
            <p:nvSpPr>
              <p:cNvPr id="31785" name="Line 26"/>
              <p:cNvSpPr>
                <a:spLocks noChangeShapeType="1"/>
              </p:cNvSpPr>
              <p:nvPr/>
            </p:nvSpPr>
            <p:spPr bwMode="auto">
              <a:xfrm flipH="1">
                <a:off x="1248" y="3168"/>
                <a:ext cx="24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86" name="Line 27"/>
              <p:cNvSpPr>
                <a:spLocks noChangeShapeType="1"/>
              </p:cNvSpPr>
              <p:nvPr/>
            </p:nvSpPr>
            <p:spPr bwMode="auto">
              <a:xfrm flipH="1">
                <a:off x="1296" y="3024"/>
                <a:ext cx="19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87" name="Line 28"/>
              <p:cNvSpPr>
                <a:spLocks noChangeShapeType="1"/>
              </p:cNvSpPr>
              <p:nvPr/>
            </p:nvSpPr>
            <p:spPr bwMode="auto">
              <a:xfrm flipH="1" flipV="1">
                <a:off x="1248" y="2784"/>
                <a:ext cx="24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88" name="Line 29"/>
              <p:cNvSpPr>
                <a:spLocks noChangeShapeType="1"/>
              </p:cNvSpPr>
              <p:nvPr/>
            </p:nvSpPr>
            <p:spPr bwMode="auto">
              <a:xfrm flipH="1" flipV="1">
                <a:off x="1584" y="264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89" name="Line 30"/>
              <p:cNvSpPr>
                <a:spLocks noChangeShapeType="1"/>
              </p:cNvSpPr>
              <p:nvPr/>
            </p:nvSpPr>
            <p:spPr bwMode="auto">
              <a:xfrm flipV="1">
                <a:off x="2016" y="2640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90" name="Line 31"/>
              <p:cNvSpPr>
                <a:spLocks noChangeShapeType="1"/>
              </p:cNvSpPr>
              <p:nvPr/>
            </p:nvSpPr>
            <p:spPr bwMode="auto">
              <a:xfrm flipV="1">
                <a:off x="2304" y="2640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91" name="Oval 32"/>
              <p:cNvSpPr>
                <a:spLocks noChangeArrowheads="1"/>
              </p:cNvSpPr>
              <p:nvPr/>
            </p:nvSpPr>
            <p:spPr bwMode="auto">
              <a:xfrm>
                <a:off x="672" y="23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92" name="Text Box 33"/>
              <p:cNvSpPr txBox="1">
                <a:spLocks noChangeArrowheads="1"/>
              </p:cNvSpPr>
              <p:nvPr/>
            </p:nvSpPr>
            <p:spPr bwMode="auto">
              <a:xfrm>
                <a:off x="696" y="23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MANV</a:t>
                </a:r>
              </a:p>
            </p:txBody>
          </p:sp>
          <p:sp>
            <p:nvSpPr>
              <p:cNvPr id="31793" name="Line 34"/>
              <p:cNvSpPr>
                <a:spLocks noChangeShapeType="1"/>
              </p:cNvSpPr>
              <p:nvPr/>
            </p:nvSpPr>
            <p:spPr bwMode="auto">
              <a:xfrm flipH="1" flipV="1">
                <a:off x="1152" y="2496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1757" name="Group 35"/>
            <p:cNvGrpSpPr>
              <a:grpSpLocks/>
            </p:cNvGrpSpPr>
            <p:nvPr/>
          </p:nvGrpSpPr>
          <p:grpSpPr bwMode="auto">
            <a:xfrm>
              <a:off x="2496" y="2832"/>
              <a:ext cx="1440" cy="384"/>
              <a:chOff x="2496" y="2416"/>
              <a:chExt cx="1440" cy="384"/>
            </a:xfrm>
          </p:grpSpPr>
          <p:sp>
            <p:nvSpPr>
              <p:cNvPr id="31776" name="AutoShape 36"/>
              <p:cNvSpPr>
                <a:spLocks noChangeArrowheads="1"/>
              </p:cNvSpPr>
              <p:nvPr/>
            </p:nvSpPr>
            <p:spPr bwMode="auto">
              <a:xfrm>
                <a:off x="2496" y="2416"/>
                <a:ext cx="1440" cy="384"/>
              </a:xfrm>
              <a:prstGeom prst="flowChartDecision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77" name="Text Box 37"/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115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Tahoma" charset="0"/>
                  </a:rPr>
                  <a:t>La_truong_phong</a:t>
                </a:r>
              </a:p>
            </p:txBody>
          </p:sp>
        </p:grpSp>
        <p:sp>
          <p:nvSpPr>
            <p:cNvPr id="31758" name="Text Box 38"/>
            <p:cNvSpPr txBox="1">
              <a:spLocks noChangeArrowheads="1"/>
            </p:cNvSpPr>
            <p:nvPr/>
          </p:nvSpPr>
          <p:spPr bwMode="auto">
            <a:xfrm>
              <a:off x="4128" y="2496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PHONGBAN</a:t>
              </a:r>
            </a:p>
          </p:txBody>
        </p:sp>
        <p:grpSp>
          <p:nvGrpSpPr>
            <p:cNvPr id="31759" name="Group 39"/>
            <p:cNvGrpSpPr>
              <a:grpSpLocks/>
            </p:cNvGrpSpPr>
            <p:nvPr/>
          </p:nvGrpSpPr>
          <p:grpSpPr bwMode="auto">
            <a:xfrm>
              <a:off x="4704" y="2016"/>
              <a:ext cx="576" cy="480"/>
              <a:chOff x="4272" y="1104"/>
              <a:chExt cx="576" cy="480"/>
            </a:xfrm>
          </p:grpSpPr>
          <p:sp>
            <p:nvSpPr>
              <p:cNvPr id="31773" name="Oval 40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74" name="Text Box 41"/>
              <p:cNvSpPr txBox="1">
                <a:spLocks noChangeArrowheads="1"/>
              </p:cNvSpPr>
              <p:nvPr/>
            </p:nvSpPr>
            <p:spPr bwMode="auto">
              <a:xfrm>
                <a:off x="4272" y="1128"/>
                <a:ext cx="5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MAPHG</a:t>
                </a:r>
              </a:p>
            </p:txBody>
          </p:sp>
          <p:sp>
            <p:nvSpPr>
              <p:cNvPr id="31775" name="Line 42"/>
              <p:cNvSpPr>
                <a:spLocks noChangeShapeType="1"/>
              </p:cNvSpPr>
              <p:nvPr/>
            </p:nvSpPr>
            <p:spPr bwMode="auto">
              <a:xfrm flipH="1">
                <a:off x="4368" y="1344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1760" name="Oval 43"/>
            <p:cNvSpPr>
              <a:spLocks noChangeArrowheads="1"/>
            </p:cNvSpPr>
            <p:nvPr/>
          </p:nvSpPr>
          <p:spPr bwMode="auto">
            <a:xfrm>
              <a:off x="4128" y="2016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761" name="Text Box 44"/>
            <p:cNvSpPr txBox="1">
              <a:spLocks noChangeArrowheads="1"/>
            </p:cNvSpPr>
            <p:nvPr/>
          </p:nvSpPr>
          <p:spPr bwMode="auto">
            <a:xfrm>
              <a:off x="4128" y="2040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TENPHG</a:t>
              </a:r>
            </a:p>
          </p:txBody>
        </p:sp>
        <p:sp>
          <p:nvSpPr>
            <p:cNvPr id="31762" name="Line 45"/>
            <p:cNvSpPr>
              <a:spLocks noChangeShapeType="1"/>
            </p:cNvSpPr>
            <p:nvPr/>
          </p:nvSpPr>
          <p:spPr bwMode="auto">
            <a:xfrm>
              <a:off x="4416" y="2256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763" name="Text Box 46"/>
            <p:cNvSpPr txBox="1">
              <a:spLocks noChangeArrowheads="1"/>
            </p:cNvSpPr>
            <p:nvPr/>
          </p:nvSpPr>
          <p:spPr bwMode="auto">
            <a:xfrm>
              <a:off x="1824" y="283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  <p:sp>
          <p:nvSpPr>
            <p:cNvPr id="31764" name="Text Box 47"/>
            <p:cNvSpPr txBox="1">
              <a:spLocks noChangeArrowheads="1"/>
            </p:cNvSpPr>
            <p:nvPr/>
          </p:nvSpPr>
          <p:spPr bwMode="auto">
            <a:xfrm>
              <a:off x="3984" y="283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  <p:sp>
          <p:nvSpPr>
            <p:cNvPr id="31765" name="Line 48"/>
            <p:cNvSpPr>
              <a:spLocks noChangeShapeType="1"/>
            </p:cNvSpPr>
            <p:nvPr/>
          </p:nvSpPr>
          <p:spPr bwMode="auto">
            <a:xfrm>
              <a:off x="1776" y="2736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766" name="Line 49"/>
            <p:cNvSpPr>
              <a:spLocks noChangeShapeType="1"/>
            </p:cNvSpPr>
            <p:nvPr/>
          </p:nvSpPr>
          <p:spPr bwMode="auto">
            <a:xfrm>
              <a:off x="1776" y="3024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767" name="Line 50"/>
            <p:cNvSpPr>
              <a:spLocks noChangeShapeType="1"/>
            </p:cNvSpPr>
            <p:nvPr/>
          </p:nvSpPr>
          <p:spPr bwMode="auto">
            <a:xfrm>
              <a:off x="4608" y="2736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768" name="Line 51"/>
            <p:cNvSpPr>
              <a:spLocks noChangeShapeType="1"/>
            </p:cNvSpPr>
            <p:nvPr/>
          </p:nvSpPr>
          <p:spPr bwMode="auto">
            <a:xfrm>
              <a:off x="3888" y="3024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1769" name="Group 52"/>
            <p:cNvGrpSpPr>
              <a:grpSpLocks/>
            </p:cNvGrpSpPr>
            <p:nvPr/>
          </p:nvGrpSpPr>
          <p:grpSpPr bwMode="auto">
            <a:xfrm>
              <a:off x="2976" y="2400"/>
              <a:ext cx="960" cy="480"/>
              <a:chOff x="2880" y="2448"/>
              <a:chExt cx="960" cy="480"/>
            </a:xfrm>
          </p:grpSpPr>
          <p:sp>
            <p:nvSpPr>
              <p:cNvPr id="31770" name="Oval 53"/>
              <p:cNvSpPr>
                <a:spLocks noChangeArrowheads="1"/>
              </p:cNvSpPr>
              <p:nvPr/>
            </p:nvSpPr>
            <p:spPr bwMode="auto">
              <a:xfrm>
                <a:off x="2880" y="2448"/>
                <a:ext cx="960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71" name="Text Box 54"/>
              <p:cNvSpPr txBox="1">
                <a:spLocks noChangeArrowheads="1"/>
              </p:cNvSpPr>
              <p:nvPr/>
            </p:nvSpPr>
            <p:spPr bwMode="auto">
              <a:xfrm>
                <a:off x="2928" y="2472"/>
                <a:ext cx="91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NG_NHANCHUC</a:t>
                </a:r>
              </a:p>
            </p:txBody>
          </p:sp>
          <p:sp>
            <p:nvSpPr>
              <p:cNvPr id="31772" name="Line 55"/>
              <p:cNvSpPr>
                <a:spLocks noChangeShapeType="1"/>
              </p:cNvSpPr>
              <p:nvPr/>
            </p:nvSpPr>
            <p:spPr bwMode="auto">
              <a:xfrm flipH="1">
                <a:off x="3168" y="2688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94616" name="Text Box 56"/>
          <p:cNvSpPr txBox="1">
            <a:spLocks noChangeArrowheads="1"/>
          </p:cNvSpPr>
          <p:nvPr/>
        </p:nvSpPr>
        <p:spPr bwMode="auto">
          <a:xfrm>
            <a:off x="1295400" y="5943600"/>
            <a:ext cx="6324600" cy="3794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Tahoma" charset="0"/>
              </a:rPr>
              <a:t>PHONGBAN(</a:t>
            </a:r>
            <a:r>
              <a:rPr lang="en-US" sz="1800" u="sng" dirty="0">
                <a:solidFill>
                  <a:srgbClr val="000000"/>
                </a:solidFill>
                <a:latin typeface="Tahoma" charset="0"/>
              </a:rPr>
              <a:t>MAPHG</a:t>
            </a:r>
            <a:r>
              <a:rPr lang="en-US" sz="1800" dirty="0">
                <a:solidFill>
                  <a:srgbClr val="000000"/>
                </a:solidFill>
                <a:latin typeface="Tahoma" charset="0"/>
              </a:rPr>
              <a:t>, TENPHG, </a:t>
            </a:r>
            <a:r>
              <a:rPr lang="en-US" sz="1800" b="1" dirty="0">
                <a:solidFill>
                  <a:srgbClr val="000000"/>
                </a:solidFill>
                <a:latin typeface="Tahoma" charset="0"/>
              </a:rPr>
              <a:t>MANV, NG_NHANCHUC</a:t>
            </a:r>
            <a:r>
              <a:rPr lang="en-US" sz="1800" dirty="0">
                <a:solidFill>
                  <a:srgbClr val="000000"/>
                </a:solidFill>
                <a:latin typeface="Tahoma" charset="0"/>
              </a:rPr>
              <a:t>)</a:t>
            </a:r>
          </a:p>
        </p:txBody>
      </p:sp>
      <p:sp>
        <p:nvSpPr>
          <p:cNvPr id="194617" name="Line 57"/>
          <p:cNvSpPr>
            <a:spLocks noChangeShapeType="1"/>
          </p:cNvSpPr>
          <p:nvPr/>
        </p:nvSpPr>
        <p:spPr bwMode="auto">
          <a:xfrm>
            <a:off x="5257800" y="5348288"/>
            <a:ext cx="266700" cy="5953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94618" name="Line 58"/>
          <p:cNvSpPr>
            <a:spLocks noChangeShapeType="1"/>
          </p:cNvSpPr>
          <p:nvPr/>
        </p:nvSpPr>
        <p:spPr bwMode="auto">
          <a:xfrm flipH="1">
            <a:off x="5029200" y="5348288"/>
            <a:ext cx="228600" cy="5953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94619" name="Line 59"/>
          <p:cNvSpPr>
            <a:spLocks noChangeShapeType="1"/>
          </p:cNvSpPr>
          <p:nvPr/>
        </p:nvSpPr>
        <p:spPr bwMode="auto">
          <a:xfrm>
            <a:off x="1447800" y="3671888"/>
            <a:ext cx="3086100" cy="227171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94620" name="Line 60"/>
          <p:cNvSpPr>
            <a:spLocks noChangeShapeType="1"/>
          </p:cNvSpPr>
          <p:nvPr/>
        </p:nvSpPr>
        <p:spPr bwMode="auto">
          <a:xfrm>
            <a:off x="5791200" y="4586288"/>
            <a:ext cx="609600" cy="135731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94726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sz="3200" dirty="0"/>
          </a:p>
        </p:txBody>
      </p:sp>
      <p:sp>
        <p:nvSpPr>
          <p:cNvPr id="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5B931C-176D-41A1-9438-AEF70F73B3D8}" type="slidenum">
              <a:rPr lang="en-US"/>
              <a:pPr>
                <a:defRPr/>
              </a:pPr>
              <a:t>79</a:t>
            </a:fld>
            <a:endParaRPr lang="en-US"/>
          </a:p>
        </p:txBody>
      </p:sp>
      <p:sp>
        <p:nvSpPr>
          <p:cNvPr id="32771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686800" cy="15160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/>
              <a:t>b) </a:t>
            </a:r>
            <a:r>
              <a:rPr lang="en-US" sz="2400" b="1" dirty="0" err="1"/>
              <a:t>Một-Nhiều</a:t>
            </a:r>
            <a:endParaRPr lang="en-US" sz="2400" b="1" dirty="0"/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Thêm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vào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quan-hệ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bên</a:t>
            </a:r>
            <a:r>
              <a:rPr lang="en-US" sz="2400" dirty="0">
                <a:solidFill>
                  <a:schemeClr val="tx1"/>
                </a:solidFill>
              </a:rPr>
              <a:t> ( - , 1) </a:t>
            </a:r>
            <a:r>
              <a:rPr lang="en-US" sz="2400" dirty="0" err="1">
                <a:solidFill>
                  <a:schemeClr val="tx1"/>
                </a:solidFill>
              </a:rPr>
              <a:t>thuộc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tính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khóa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quan-hệ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bên</a:t>
            </a:r>
            <a:r>
              <a:rPr lang="en-US" sz="2400" dirty="0">
                <a:solidFill>
                  <a:schemeClr val="tx1"/>
                </a:solidFill>
              </a:rPr>
              <a:t> (- , n )</a:t>
            </a:r>
          </a:p>
        </p:txBody>
      </p:sp>
      <p:grpSp>
        <p:nvGrpSpPr>
          <p:cNvPr id="32774" name="Group 5"/>
          <p:cNvGrpSpPr>
            <a:grpSpLocks/>
          </p:cNvGrpSpPr>
          <p:nvPr/>
        </p:nvGrpSpPr>
        <p:grpSpPr bwMode="auto">
          <a:xfrm>
            <a:off x="762000" y="3124200"/>
            <a:ext cx="7467600" cy="1981200"/>
            <a:chOff x="480" y="1664"/>
            <a:chExt cx="4704" cy="1248"/>
          </a:xfrm>
        </p:grpSpPr>
        <p:grpSp>
          <p:nvGrpSpPr>
            <p:cNvPr id="32778" name="Group 6"/>
            <p:cNvGrpSpPr>
              <a:grpSpLocks/>
            </p:cNvGrpSpPr>
            <p:nvPr/>
          </p:nvGrpSpPr>
          <p:grpSpPr bwMode="auto">
            <a:xfrm>
              <a:off x="480" y="1664"/>
              <a:ext cx="2376" cy="1248"/>
              <a:chOff x="672" y="2304"/>
              <a:chExt cx="2376" cy="1248"/>
            </a:xfrm>
          </p:grpSpPr>
          <p:sp>
            <p:nvSpPr>
              <p:cNvPr id="32795" name="Text Box 7"/>
              <p:cNvSpPr txBox="1">
                <a:spLocks noChangeArrowheads="1"/>
              </p:cNvSpPr>
              <p:nvPr/>
            </p:nvSpPr>
            <p:spPr bwMode="auto">
              <a:xfrm>
                <a:off x="1472" y="2928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 charset="0"/>
                  </a:rPr>
                  <a:t>NHANVIEN</a:t>
                </a:r>
              </a:p>
            </p:txBody>
          </p:sp>
          <p:grpSp>
            <p:nvGrpSpPr>
              <p:cNvPr id="32796" name="Group 8"/>
              <p:cNvGrpSpPr>
                <a:grpSpLocks/>
              </p:cNvGrpSpPr>
              <p:nvPr/>
            </p:nvGrpSpPr>
            <p:grpSpPr bwMode="auto">
              <a:xfrm>
                <a:off x="768" y="2976"/>
                <a:ext cx="528" cy="240"/>
                <a:chOff x="192" y="1080"/>
                <a:chExt cx="528" cy="240"/>
              </a:xfrm>
            </p:grpSpPr>
            <p:sp>
              <p:nvSpPr>
                <p:cNvPr id="32821" name="Oval 9"/>
                <p:cNvSpPr>
                  <a:spLocks noChangeArrowheads="1"/>
                </p:cNvSpPr>
                <p:nvPr/>
              </p:nvSpPr>
              <p:spPr bwMode="auto">
                <a:xfrm>
                  <a:off x="192" y="108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282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92" y="1104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TENNV</a:t>
                  </a:r>
                </a:p>
              </p:txBody>
            </p:sp>
          </p:grpSp>
          <p:grpSp>
            <p:nvGrpSpPr>
              <p:cNvPr id="32797" name="Group 11"/>
              <p:cNvGrpSpPr>
                <a:grpSpLocks/>
              </p:cNvGrpSpPr>
              <p:nvPr/>
            </p:nvGrpSpPr>
            <p:grpSpPr bwMode="auto">
              <a:xfrm>
                <a:off x="1296" y="2400"/>
                <a:ext cx="576" cy="240"/>
                <a:chOff x="864" y="840"/>
                <a:chExt cx="576" cy="240"/>
              </a:xfrm>
            </p:grpSpPr>
            <p:sp>
              <p:nvSpPr>
                <p:cNvPr id="32819" name="Oval 12"/>
                <p:cNvSpPr>
                  <a:spLocks noChangeArrowheads="1"/>
                </p:cNvSpPr>
                <p:nvPr/>
              </p:nvSpPr>
              <p:spPr bwMode="auto">
                <a:xfrm>
                  <a:off x="888" y="84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2820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864" y="864"/>
                  <a:ext cx="57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ahoma" charset="0"/>
                    </a:rPr>
                    <a:t>NS</a:t>
                  </a:r>
                </a:p>
              </p:txBody>
            </p:sp>
          </p:grpSp>
          <p:grpSp>
            <p:nvGrpSpPr>
              <p:cNvPr id="32798" name="Group 14"/>
              <p:cNvGrpSpPr>
                <a:grpSpLocks/>
              </p:cNvGrpSpPr>
              <p:nvPr/>
            </p:nvGrpSpPr>
            <p:grpSpPr bwMode="auto">
              <a:xfrm>
                <a:off x="2496" y="2400"/>
                <a:ext cx="552" cy="240"/>
                <a:chOff x="3888" y="3792"/>
                <a:chExt cx="552" cy="240"/>
              </a:xfrm>
            </p:grpSpPr>
            <p:sp>
              <p:nvSpPr>
                <p:cNvPr id="32817" name="Oval 15"/>
                <p:cNvSpPr>
                  <a:spLocks noChangeArrowheads="1"/>
                </p:cNvSpPr>
                <p:nvPr/>
              </p:nvSpPr>
              <p:spPr bwMode="auto">
                <a:xfrm>
                  <a:off x="39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2818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888" y="3816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DCHI</a:t>
                  </a:r>
                </a:p>
              </p:txBody>
            </p:sp>
          </p:grpSp>
          <p:grpSp>
            <p:nvGrpSpPr>
              <p:cNvPr id="32799" name="Group 17"/>
              <p:cNvGrpSpPr>
                <a:grpSpLocks/>
              </p:cNvGrpSpPr>
              <p:nvPr/>
            </p:nvGrpSpPr>
            <p:grpSpPr bwMode="auto">
              <a:xfrm>
                <a:off x="768" y="3312"/>
                <a:ext cx="528" cy="240"/>
                <a:chOff x="168" y="1416"/>
                <a:chExt cx="528" cy="240"/>
              </a:xfrm>
            </p:grpSpPr>
            <p:sp>
              <p:nvSpPr>
                <p:cNvPr id="32815" name="Oval 18"/>
                <p:cNvSpPr>
                  <a:spLocks noChangeArrowheads="1"/>
                </p:cNvSpPr>
                <p:nvPr/>
              </p:nvSpPr>
              <p:spPr bwMode="auto">
                <a:xfrm>
                  <a:off x="168" y="141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281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48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GT</a:t>
                  </a:r>
                </a:p>
              </p:txBody>
            </p:sp>
          </p:grpSp>
          <p:grpSp>
            <p:nvGrpSpPr>
              <p:cNvPr id="32800" name="Group 20"/>
              <p:cNvGrpSpPr>
                <a:grpSpLocks/>
              </p:cNvGrpSpPr>
              <p:nvPr/>
            </p:nvGrpSpPr>
            <p:grpSpPr bwMode="auto">
              <a:xfrm>
                <a:off x="1920" y="2400"/>
                <a:ext cx="528" cy="240"/>
                <a:chOff x="3576" y="3456"/>
                <a:chExt cx="528" cy="240"/>
              </a:xfrm>
            </p:grpSpPr>
            <p:sp>
              <p:nvSpPr>
                <p:cNvPr id="32813" name="Oval 21"/>
                <p:cNvSpPr>
                  <a:spLocks noChangeArrowheads="1"/>
                </p:cNvSpPr>
                <p:nvPr/>
              </p:nvSpPr>
              <p:spPr bwMode="auto">
                <a:xfrm>
                  <a:off x="3576" y="345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281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600" y="3480"/>
                  <a:ext cx="48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LUONG</a:t>
                  </a:r>
                </a:p>
              </p:txBody>
            </p:sp>
          </p:grpSp>
          <p:grpSp>
            <p:nvGrpSpPr>
              <p:cNvPr id="32801" name="Group 23"/>
              <p:cNvGrpSpPr>
                <a:grpSpLocks/>
              </p:cNvGrpSpPr>
              <p:nvPr/>
            </p:nvGrpSpPr>
            <p:grpSpPr bwMode="auto">
              <a:xfrm>
                <a:off x="720" y="2640"/>
                <a:ext cx="528" cy="240"/>
                <a:chOff x="192" y="744"/>
                <a:chExt cx="528" cy="240"/>
              </a:xfrm>
            </p:grpSpPr>
            <p:sp>
              <p:nvSpPr>
                <p:cNvPr id="32811" name="Oval 24"/>
                <p:cNvSpPr>
                  <a:spLocks noChangeArrowheads="1"/>
                </p:cNvSpPr>
                <p:nvPr/>
              </p:nvSpPr>
              <p:spPr bwMode="auto">
                <a:xfrm>
                  <a:off x="192" y="74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2812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92" y="768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HONV</a:t>
                  </a:r>
                </a:p>
              </p:txBody>
            </p:sp>
          </p:grpSp>
          <p:sp>
            <p:nvSpPr>
              <p:cNvPr id="32802" name="Line 26"/>
              <p:cNvSpPr>
                <a:spLocks noChangeShapeType="1"/>
              </p:cNvSpPr>
              <p:nvPr/>
            </p:nvSpPr>
            <p:spPr bwMode="auto">
              <a:xfrm flipH="1">
                <a:off x="1248" y="3168"/>
                <a:ext cx="24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3" name="Line 27"/>
              <p:cNvSpPr>
                <a:spLocks noChangeShapeType="1"/>
              </p:cNvSpPr>
              <p:nvPr/>
            </p:nvSpPr>
            <p:spPr bwMode="auto">
              <a:xfrm flipH="1">
                <a:off x="1296" y="3024"/>
                <a:ext cx="19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4" name="Line 28"/>
              <p:cNvSpPr>
                <a:spLocks noChangeShapeType="1"/>
              </p:cNvSpPr>
              <p:nvPr/>
            </p:nvSpPr>
            <p:spPr bwMode="auto">
              <a:xfrm flipH="1" flipV="1">
                <a:off x="1248" y="2784"/>
                <a:ext cx="24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5" name="Line 29"/>
              <p:cNvSpPr>
                <a:spLocks noChangeShapeType="1"/>
              </p:cNvSpPr>
              <p:nvPr/>
            </p:nvSpPr>
            <p:spPr bwMode="auto">
              <a:xfrm flipH="1" flipV="1">
                <a:off x="1584" y="264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6" name="Line 30"/>
              <p:cNvSpPr>
                <a:spLocks noChangeShapeType="1"/>
              </p:cNvSpPr>
              <p:nvPr/>
            </p:nvSpPr>
            <p:spPr bwMode="auto">
              <a:xfrm flipV="1">
                <a:off x="2016" y="2640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7" name="Line 31"/>
              <p:cNvSpPr>
                <a:spLocks noChangeShapeType="1"/>
              </p:cNvSpPr>
              <p:nvPr/>
            </p:nvSpPr>
            <p:spPr bwMode="auto">
              <a:xfrm flipV="1">
                <a:off x="2304" y="2640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8" name="Oval 32"/>
              <p:cNvSpPr>
                <a:spLocks noChangeArrowheads="1"/>
              </p:cNvSpPr>
              <p:nvPr/>
            </p:nvSpPr>
            <p:spPr bwMode="auto">
              <a:xfrm>
                <a:off x="672" y="23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9" name="Text Box 33"/>
              <p:cNvSpPr txBox="1">
                <a:spLocks noChangeArrowheads="1"/>
              </p:cNvSpPr>
              <p:nvPr/>
            </p:nvSpPr>
            <p:spPr bwMode="auto">
              <a:xfrm>
                <a:off x="696" y="23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MANV</a:t>
                </a:r>
              </a:p>
            </p:txBody>
          </p:sp>
          <p:sp>
            <p:nvSpPr>
              <p:cNvPr id="32810" name="Line 34"/>
              <p:cNvSpPr>
                <a:spLocks noChangeShapeType="1"/>
              </p:cNvSpPr>
              <p:nvPr/>
            </p:nvSpPr>
            <p:spPr bwMode="auto">
              <a:xfrm flipH="1" flipV="1">
                <a:off x="1152" y="2496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2779" name="Group 35"/>
            <p:cNvGrpSpPr>
              <a:grpSpLocks/>
            </p:cNvGrpSpPr>
            <p:nvPr/>
          </p:nvGrpSpPr>
          <p:grpSpPr bwMode="auto">
            <a:xfrm>
              <a:off x="2296" y="2192"/>
              <a:ext cx="1736" cy="432"/>
              <a:chOff x="1864" y="960"/>
              <a:chExt cx="1736" cy="432"/>
            </a:xfrm>
          </p:grpSpPr>
          <p:grpSp>
            <p:nvGrpSpPr>
              <p:cNvPr id="32790" name="Group 36"/>
              <p:cNvGrpSpPr>
                <a:grpSpLocks/>
              </p:cNvGrpSpPr>
              <p:nvPr/>
            </p:nvGrpSpPr>
            <p:grpSpPr bwMode="auto">
              <a:xfrm>
                <a:off x="2208" y="960"/>
                <a:ext cx="1056" cy="432"/>
                <a:chOff x="3360" y="2880"/>
                <a:chExt cx="1056" cy="432"/>
              </a:xfrm>
            </p:grpSpPr>
            <p:sp>
              <p:nvSpPr>
                <p:cNvPr id="32793" name="AutoShape 37"/>
                <p:cNvSpPr>
                  <a:spLocks noChangeArrowheads="1"/>
                </p:cNvSpPr>
                <p:nvPr/>
              </p:nvSpPr>
              <p:spPr bwMode="auto">
                <a:xfrm>
                  <a:off x="3360" y="2880"/>
                  <a:ext cx="1056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2794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456" y="2976"/>
                  <a:ext cx="91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Lam_viec</a:t>
                  </a:r>
                </a:p>
              </p:txBody>
            </p:sp>
          </p:grpSp>
          <p:sp>
            <p:nvSpPr>
              <p:cNvPr id="32791" name="Line 39"/>
              <p:cNvSpPr>
                <a:spLocks noChangeShapeType="1"/>
              </p:cNvSpPr>
              <p:nvPr/>
            </p:nvSpPr>
            <p:spPr bwMode="auto">
              <a:xfrm>
                <a:off x="18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92" name="Line 40"/>
              <p:cNvSpPr>
                <a:spLocks noChangeShapeType="1"/>
              </p:cNvSpPr>
              <p:nvPr/>
            </p:nvSpPr>
            <p:spPr bwMode="auto">
              <a:xfrm>
                <a:off x="3264" y="118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2780" name="Text Box 41"/>
            <p:cNvSpPr txBox="1">
              <a:spLocks noChangeArrowheads="1"/>
            </p:cNvSpPr>
            <p:nvPr/>
          </p:nvSpPr>
          <p:spPr bwMode="auto">
            <a:xfrm>
              <a:off x="4032" y="2288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PHONGBAN</a:t>
              </a:r>
            </a:p>
          </p:txBody>
        </p:sp>
        <p:grpSp>
          <p:nvGrpSpPr>
            <p:cNvPr id="32781" name="Group 42"/>
            <p:cNvGrpSpPr>
              <a:grpSpLocks/>
            </p:cNvGrpSpPr>
            <p:nvPr/>
          </p:nvGrpSpPr>
          <p:grpSpPr bwMode="auto">
            <a:xfrm>
              <a:off x="4608" y="1808"/>
              <a:ext cx="576" cy="480"/>
              <a:chOff x="4272" y="1104"/>
              <a:chExt cx="576" cy="480"/>
            </a:xfrm>
          </p:grpSpPr>
          <p:sp>
            <p:nvSpPr>
              <p:cNvPr id="32787" name="Oval 43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8" name="Text Box 44"/>
              <p:cNvSpPr txBox="1">
                <a:spLocks noChangeArrowheads="1"/>
              </p:cNvSpPr>
              <p:nvPr/>
            </p:nvSpPr>
            <p:spPr bwMode="auto">
              <a:xfrm>
                <a:off x="4272" y="1128"/>
                <a:ext cx="5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MAPHG</a:t>
                </a:r>
              </a:p>
            </p:txBody>
          </p:sp>
          <p:sp>
            <p:nvSpPr>
              <p:cNvPr id="32789" name="Line 45"/>
              <p:cNvSpPr>
                <a:spLocks noChangeShapeType="1"/>
              </p:cNvSpPr>
              <p:nvPr/>
            </p:nvSpPr>
            <p:spPr bwMode="auto">
              <a:xfrm flipH="1">
                <a:off x="4368" y="1344"/>
                <a:ext cx="9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2782" name="Oval 46"/>
            <p:cNvSpPr>
              <a:spLocks noChangeArrowheads="1"/>
            </p:cNvSpPr>
            <p:nvPr/>
          </p:nvSpPr>
          <p:spPr bwMode="auto">
            <a:xfrm>
              <a:off x="4032" y="1808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3" name="Text Box 47"/>
            <p:cNvSpPr txBox="1">
              <a:spLocks noChangeArrowheads="1"/>
            </p:cNvSpPr>
            <p:nvPr/>
          </p:nvSpPr>
          <p:spPr bwMode="auto">
            <a:xfrm>
              <a:off x="4032" y="183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TENPHG</a:t>
              </a:r>
            </a:p>
          </p:txBody>
        </p:sp>
        <p:sp>
          <p:nvSpPr>
            <p:cNvPr id="32784" name="Line 48"/>
            <p:cNvSpPr>
              <a:spLocks noChangeShapeType="1"/>
            </p:cNvSpPr>
            <p:nvPr/>
          </p:nvSpPr>
          <p:spPr bwMode="auto">
            <a:xfrm>
              <a:off x="4320" y="2048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5" name="Text Box 49"/>
            <p:cNvSpPr txBox="1">
              <a:spLocks noChangeArrowheads="1"/>
            </p:cNvSpPr>
            <p:nvPr/>
          </p:nvSpPr>
          <p:spPr bwMode="auto">
            <a:xfrm>
              <a:off x="2208" y="2208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  <p:sp>
          <p:nvSpPr>
            <p:cNvPr id="32786" name="Text Box 50"/>
            <p:cNvSpPr txBox="1">
              <a:spLocks noChangeArrowheads="1"/>
            </p:cNvSpPr>
            <p:nvPr/>
          </p:nvSpPr>
          <p:spPr bwMode="auto">
            <a:xfrm>
              <a:off x="3504" y="2208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(1,n)</a:t>
              </a:r>
            </a:p>
          </p:txBody>
        </p:sp>
      </p:grpSp>
      <p:sp>
        <p:nvSpPr>
          <p:cNvPr id="196659" name="Text Box 51"/>
          <p:cNvSpPr txBox="1">
            <a:spLocks noChangeArrowheads="1"/>
          </p:cNvSpPr>
          <p:nvPr/>
        </p:nvSpPr>
        <p:spPr bwMode="auto">
          <a:xfrm>
            <a:off x="1371600" y="5486400"/>
            <a:ext cx="7467600" cy="37941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Tahoma" charset="0"/>
              </a:rPr>
              <a:t>NHANVIEN(</a:t>
            </a:r>
            <a:r>
              <a:rPr lang="en-US" sz="1800" u="sng">
                <a:solidFill>
                  <a:srgbClr val="000000"/>
                </a:solidFill>
                <a:latin typeface="Tahoma" charset="0"/>
              </a:rPr>
              <a:t>MANV</a:t>
            </a:r>
            <a:r>
              <a:rPr lang="en-US" sz="1800">
                <a:solidFill>
                  <a:srgbClr val="000000"/>
                </a:solidFill>
                <a:latin typeface="Tahoma" charset="0"/>
              </a:rPr>
              <a:t>, TENNV, HONV, NS, DCHI, GT, LUONG, </a:t>
            </a:r>
            <a:r>
              <a:rPr lang="en-US" sz="1800" b="1">
                <a:solidFill>
                  <a:srgbClr val="000000"/>
                </a:solidFill>
                <a:latin typeface="Tahoma" charset="0"/>
              </a:rPr>
              <a:t>MAPHG</a:t>
            </a:r>
            <a:r>
              <a:rPr lang="en-US" sz="1800">
                <a:solidFill>
                  <a:srgbClr val="000000"/>
                </a:solidFill>
                <a:latin typeface="Tahoma" charset="0"/>
              </a:rPr>
              <a:t>)</a:t>
            </a:r>
          </a:p>
        </p:txBody>
      </p:sp>
      <p:sp>
        <p:nvSpPr>
          <p:cNvPr id="196660" name="Line 52"/>
          <p:cNvSpPr>
            <a:spLocks noChangeShapeType="1"/>
          </p:cNvSpPr>
          <p:nvPr/>
        </p:nvSpPr>
        <p:spPr bwMode="auto">
          <a:xfrm>
            <a:off x="5486400" y="4419600"/>
            <a:ext cx="2286000" cy="1143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6661" name="Line 53"/>
          <p:cNvSpPr>
            <a:spLocks noChangeShapeType="1"/>
          </p:cNvSpPr>
          <p:nvPr/>
        </p:nvSpPr>
        <p:spPr bwMode="auto">
          <a:xfrm flipH="1">
            <a:off x="7848600" y="3733800"/>
            <a:ext cx="152400" cy="17526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9903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sz="3200" dirty="0"/>
          </a:p>
        </p:txBody>
      </p:sp>
      <p:sp>
        <p:nvSpPr>
          <p:cNvPr id="6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E05980-3B7A-4983-BA76-2B2EBE116C18}" type="slidenum">
              <a:rPr lang="en-US"/>
              <a:pPr>
                <a:defRPr/>
              </a:pPr>
              <a:t>80</a:t>
            </a:fld>
            <a:endParaRPr lang="en-US"/>
          </a:p>
        </p:txBody>
      </p:sp>
      <p:sp>
        <p:nvSpPr>
          <p:cNvPr id="33795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04800" y="1371600"/>
            <a:ext cx="8534400" cy="1955800"/>
          </a:xfrm>
        </p:spPr>
        <p:txBody>
          <a:bodyPr>
            <a:normAutofit lnSpcReduction="10000"/>
          </a:bodyPr>
          <a:lstStyle/>
          <a:p>
            <a:pPr marL="0" indent="0" algn="just" eaLnBrk="1" hangingPunct="1">
              <a:buFont typeface="Wingdings" pitchFamily="2" charset="2"/>
              <a:buNone/>
            </a:pPr>
            <a:r>
              <a:rPr lang="en-US" sz="2400" b="1" dirty="0"/>
              <a:t>c) </a:t>
            </a:r>
            <a:r>
              <a:rPr lang="en-US" sz="2400" b="1" dirty="0" err="1"/>
              <a:t>Nhiều-Nhiều</a:t>
            </a:r>
            <a:endParaRPr lang="en-US" sz="2400" b="1" dirty="0"/>
          </a:p>
          <a:p>
            <a:pPr lvl="1" algn="just" eaLnBrk="1" hangingPunct="1">
              <a:buFont typeface="Wingdings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Tạo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một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hệ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mới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có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lvl="2" algn="just" eaLnBrk="1" hangingPunct="1"/>
            <a:r>
              <a:rPr lang="en-US" sz="2200" dirty="0" err="1"/>
              <a:t>Tên</a:t>
            </a:r>
            <a:r>
              <a:rPr lang="en-US" sz="2200" dirty="0"/>
              <a:t> </a:t>
            </a:r>
            <a:r>
              <a:rPr lang="en-US" sz="2200" dirty="0" err="1"/>
              <a:t>quan</a:t>
            </a:r>
            <a:r>
              <a:rPr lang="en-US" sz="2200" dirty="0"/>
              <a:t> </a:t>
            </a:r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tên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mối</a:t>
            </a:r>
            <a:r>
              <a:rPr lang="en-US" sz="2200" dirty="0"/>
              <a:t> </a:t>
            </a:r>
            <a:r>
              <a:rPr lang="en-US" sz="2200" dirty="0" err="1"/>
              <a:t>quan</a:t>
            </a:r>
            <a:r>
              <a:rPr lang="en-US" sz="2200" dirty="0"/>
              <a:t> </a:t>
            </a:r>
            <a:r>
              <a:rPr lang="en-US" sz="2200" dirty="0" err="1"/>
              <a:t>hệ</a:t>
            </a:r>
            <a:endParaRPr lang="en-US" sz="2200" dirty="0"/>
          </a:p>
          <a:p>
            <a:pPr lvl="2" algn="just" eaLnBrk="1" hangingPunct="1"/>
            <a:r>
              <a:rPr lang="en-US" sz="2200" dirty="0" err="1"/>
              <a:t>Thuộc</a:t>
            </a:r>
            <a:r>
              <a:rPr lang="en-US" sz="2200" dirty="0"/>
              <a:t> </a:t>
            </a:r>
            <a:r>
              <a:rPr lang="en-US" sz="2200" dirty="0" err="1"/>
              <a:t>tính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những</a:t>
            </a:r>
            <a:r>
              <a:rPr lang="en-US" sz="2200" dirty="0"/>
              <a:t> </a:t>
            </a:r>
            <a:r>
              <a:rPr lang="en-US" sz="2200" dirty="0" err="1"/>
              <a:t>thuộc</a:t>
            </a:r>
            <a:r>
              <a:rPr lang="en-US" sz="2200" dirty="0"/>
              <a:t> </a:t>
            </a:r>
            <a:r>
              <a:rPr lang="en-US" sz="2200" dirty="0" err="1"/>
              <a:t>tính</a:t>
            </a:r>
            <a:r>
              <a:rPr lang="en-US" sz="2200" dirty="0"/>
              <a:t> </a:t>
            </a:r>
            <a:r>
              <a:rPr lang="en-US" sz="2200" dirty="0" err="1"/>
              <a:t>khóa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tập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thể</a:t>
            </a:r>
            <a:r>
              <a:rPr lang="en-US" sz="2200" dirty="0"/>
              <a:t> </a:t>
            </a:r>
            <a:r>
              <a:rPr lang="en-US" sz="2200" dirty="0" err="1"/>
              <a:t>liên</a:t>
            </a:r>
            <a:r>
              <a:rPr lang="en-US" sz="2200" dirty="0"/>
              <a:t> </a:t>
            </a:r>
            <a:r>
              <a:rPr lang="en-US" sz="2200" dirty="0" err="1"/>
              <a:t>quan</a:t>
            </a:r>
            <a:endParaRPr lang="en-US" sz="2200" dirty="0">
              <a:solidFill>
                <a:srgbClr val="777777"/>
              </a:solidFill>
            </a:endParaRPr>
          </a:p>
        </p:txBody>
      </p:sp>
      <p:grpSp>
        <p:nvGrpSpPr>
          <p:cNvPr id="33798" name="Group 5"/>
          <p:cNvGrpSpPr>
            <a:grpSpLocks/>
          </p:cNvGrpSpPr>
          <p:nvPr/>
        </p:nvGrpSpPr>
        <p:grpSpPr bwMode="auto">
          <a:xfrm>
            <a:off x="5486400" y="3708400"/>
            <a:ext cx="2819400" cy="1295400"/>
            <a:chOff x="3456" y="2256"/>
            <a:chExt cx="1776" cy="816"/>
          </a:xfrm>
        </p:grpSpPr>
        <p:sp>
          <p:nvSpPr>
            <p:cNvPr id="33848" name="Text Box 6"/>
            <p:cNvSpPr txBox="1">
              <a:spLocks noChangeArrowheads="1"/>
            </p:cNvSpPr>
            <p:nvPr/>
          </p:nvSpPr>
          <p:spPr bwMode="auto">
            <a:xfrm>
              <a:off x="3456" y="2641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DEAN</a:t>
              </a:r>
            </a:p>
          </p:txBody>
        </p:sp>
        <p:grpSp>
          <p:nvGrpSpPr>
            <p:cNvPr id="33849" name="Group 7"/>
            <p:cNvGrpSpPr>
              <a:grpSpLocks/>
            </p:cNvGrpSpPr>
            <p:nvPr/>
          </p:nvGrpSpPr>
          <p:grpSpPr bwMode="auto">
            <a:xfrm>
              <a:off x="4656" y="2832"/>
              <a:ext cx="528" cy="240"/>
              <a:chOff x="2112" y="3792"/>
              <a:chExt cx="528" cy="240"/>
            </a:xfrm>
          </p:grpSpPr>
          <p:sp>
            <p:nvSpPr>
              <p:cNvPr id="33859" name="Oval 8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60" name="Text Box 9"/>
              <p:cNvSpPr txBox="1">
                <a:spLocks noChangeArrowheads="1"/>
              </p:cNvSpPr>
              <p:nvPr/>
            </p:nvSpPr>
            <p:spPr bwMode="auto">
              <a:xfrm>
                <a:off x="2112" y="3816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TENDA</a:t>
                </a:r>
              </a:p>
            </p:txBody>
          </p:sp>
        </p:grpSp>
        <p:grpSp>
          <p:nvGrpSpPr>
            <p:cNvPr id="33850" name="Group 10"/>
            <p:cNvGrpSpPr>
              <a:grpSpLocks/>
            </p:cNvGrpSpPr>
            <p:nvPr/>
          </p:nvGrpSpPr>
          <p:grpSpPr bwMode="auto">
            <a:xfrm>
              <a:off x="4560" y="2256"/>
              <a:ext cx="672" cy="240"/>
              <a:chOff x="3120" y="3816"/>
              <a:chExt cx="672" cy="240"/>
            </a:xfrm>
          </p:grpSpPr>
          <p:sp>
            <p:nvSpPr>
              <p:cNvPr id="33857" name="Oval 11"/>
              <p:cNvSpPr>
                <a:spLocks noChangeArrowheads="1"/>
              </p:cNvSpPr>
              <p:nvPr/>
            </p:nvSpPr>
            <p:spPr bwMode="auto">
              <a:xfrm>
                <a:off x="3120" y="3816"/>
                <a:ext cx="672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58" name="Text Box 12"/>
              <p:cNvSpPr txBox="1">
                <a:spLocks noChangeArrowheads="1"/>
              </p:cNvSpPr>
              <p:nvPr/>
            </p:nvSpPr>
            <p:spPr bwMode="auto">
              <a:xfrm>
                <a:off x="3120" y="3840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DDIEM_DA</a:t>
                </a:r>
              </a:p>
            </p:txBody>
          </p:sp>
        </p:grpSp>
        <p:sp>
          <p:nvSpPr>
            <p:cNvPr id="33851" name="Line 13"/>
            <p:cNvSpPr>
              <a:spLocks noChangeShapeType="1"/>
            </p:cNvSpPr>
            <p:nvPr/>
          </p:nvSpPr>
          <p:spPr bwMode="auto">
            <a:xfrm flipV="1">
              <a:off x="4464" y="2448"/>
              <a:ext cx="14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52" name="Line 14"/>
            <p:cNvSpPr>
              <a:spLocks noChangeShapeType="1"/>
            </p:cNvSpPr>
            <p:nvPr/>
          </p:nvSpPr>
          <p:spPr bwMode="auto">
            <a:xfrm>
              <a:off x="4464" y="2832"/>
              <a:ext cx="192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3853" name="Group 15"/>
            <p:cNvGrpSpPr>
              <a:grpSpLocks/>
            </p:cNvGrpSpPr>
            <p:nvPr/>
          </p:nvGrpSpPr>
          <p:grpSpPr bwMode="auto">
            <a:xfrm>
              <a:off x="4656" y="2544"/>
              <a:ext cx="528" cy="240"/>
              <a:chOff x="2112" y="3792"/>
              <a:chExt cx="528" cy="240"/>
            </a:xfrm>
          </p:grpSpPr>
          <p:sp>
            <p:nvSpPr>
              <p:cNvPr id="33855" name="Oval 16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56" name="Text Box 17"/>
              <p:cNvSpPr txBox="1">
                <a:spLocks noChangeArrowheads="1"/>
              </p:cNvSpPr>
              <p:nvPr/>
            </p:nvSpPr>
            <p:spPr bwMode="auto">
              <a:xfrm>
                <a:off x="2112" y="3816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MADA</a:t>
                </a:r>
              </a:p>
            </p:txBody>
          </p:sp>
        </p:grpSp>
        <p:sp>
          <p:nvSpPr>
            <p:cNvPr id="33854" name="Line 18"/>
            <p:cNvSpPr>
              <a:spLocks noChangeShapeType="1"/>
            </p:cNvSpPr>
            <p:nvPr/>
          </p:nvSpPr>
          <p:spPr bwMode="auto">
            <a:xfrm flipV="1">
              <a:off x="4464" y="2640"/>
              <a:ext cx="192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3799" name="Group 19"/>
          <p:cNvGrpSpPr>
            <a:grpSpLocks/>
          </p:cNvGrpSpPr>
          <p:nvPr/>
        </p:nvGrpSpPr>
        <p:grpSpPr bwMode="auto">
          <a:xfrm>
            <a:off x="762000" y="3327400"/>
            <a:ext cx="3771900" cy="1981200"/>
            <a:chOff x="672" y="2304"/>
            <a:chExt cx="2376" cy="1248"/>
          </a:xfrm>
        </p:grpSpPr>
        <p:sp>
          <p:nvSpPr>
            <p:cNvPr id="33820" name="Text Box 20"/>
            <p:cNvSpPr txBox="1">
              <a:spLocks noChangeArrowheads="1"/>
            </p:cNvSpPr>
            <p:nvPr/>
          </p:nvSpPr>
          <p:spPr bwMode="auto">
            <a:xfrm>
              <a:off x="1472" y="2928"/>
              <a:ext cx="1008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NHANVIEN</a:t>
              </a:r>
            </a:p>
          </p:txBody>
        </p:sp>
        <p:grpSp>
          <p:nvGrpSpPr>
            <p:cNvPr id="33821" name="Group 21"/>
            <p:cNvGrpSpPr>
              <a:grpSpLocks/>
            </p:cNvGrpSpPr>
            <p:nvPr/>
          </p:nvGrpSpPr>
          <p:grpSpPr bwMode="auto">
            <a:xfrm>
              <a:off x="768" y="2976"/>
              <a:ext cx="528" cy="240"/>
              <a:chOff x="192" y="1080"/>
              <a:chExt cx="528" cy="240"/>
            </a:xfrm>
          </p:grpSpPr>
          <p:sp>
            <p:nvSpPr>
              <p:cNvPr id="33846" name="Oval 22"/>
              <p:cNvSpPr>
                <a:spLocks noChangeArrowheads="1"/>
              </p:cNvSpPr>
              <p:nvPr/>
            </p:nvSpPr>
            <p:spPr bwMode="auto">
              <a:xfrm>
                <a:off x="192" y="108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47" name="Text Box 23"/>
              <p:cNvSpPr txBox="1">
                <a:spLocks noChangeArrowheads="1"/>
              </p:cNvSpPr>
              <p:nvPr/>
            </p:nvSpPr>
            <p:spPr bwMode="auto">
              <a:xfrm>
                <a:off x="192" y="1104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TENNV</a:t>
                </a:r>
              </a:p>
            </p:txBody>
          </p:sp>
        </p:grpSp>
        <p:grpSp>
          <p:nvGrpSpPr>
            <p:cNvPr id="33822" name="Group 24"/>
            <p:cNvGrpSpPr>
              <a:grpSpLocks/>
            </p:cNvGrpSpPr>
            <p:nvPr/>
          </p:nvGrpSpPr>
          <p:grpSpPr bwMode="auto">
            <a:xfrm>
              <a:off x="1296" y="2400"/>
              <a:ext cx="576" cy="240"/>
              <a:chOff x="864" y="840"/>
              <a:chExt cx="576" cy="240"/>
            </a:xfrm>
          </p:grpSpPr>
          <p:sp>
            <p:nvSpPr>
              <p:cNvPr id="33844" name="Oval 25"/>
              <p:cNvSpPr>
                <a:spLocks noChangeArrowheads="1"/>
              </p:cNvSpPr>
              <p:nvPr/>
            </p:nvSpPr>
            <p:spPr bwMode="auto">
              <a:xfrm>
                <a:off x="888" y="84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45" name="Text Box 26"/>
              <p:cNvSpPr txBox="1">
                <a:spLocks noChangeArrowheads="1"/>
              </p:cNvSpPr>
              <p:nvPr/>
            </p:nvSpPr>
            <p:spPr bwMode="auto">
              <a:xfrm>
                <a:off x="864" y="864"/>
                <a:ext cx="5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NGSINH</a:t>
                </a:r>
              </a:p>
            </p:txBody>
          </p:sp>
        </p:grpSp>
        <p:grpSp>
          <p:nvGrpSpPr>
            <p:cNvPr id="33823" name="Group 27"/>
            <p:cNvGrpSpPr>
              <a:grpSpLocks/>
            </p:cNvGrpSpPr>
            <p:nvPr/>
          </p:nvGrpSpPr>
          <p:grpSpPr bwMode="auto">
            <a:xfrm>
              <a:off x="2496" y="2400"/>
              <a:ext cx="552" cy="240"/>
              <a:chOff x="3888" y="3792"/>
              <a:chExt cx="552" cy="240"/>
            </a:xfrm>
          </p:grpSpPr>
          <p:sp>
            <p:nvSpPr>
              <p:cNvPr id="33842" name="Oval 28"/>
              <p:cNvSpPr>
                <a:spLocks noChangeArrowheads="1"/>
              </p:cNvSpPr>
              <p:nvPr/>
            </p:nvSpPr>
            <p:spPr bwMode="auto">
              <a:xfrm>
                <a:off x="3912" y="3792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43" name="Text Box 29"/>
              <p:cNvSpPr txBox="1">
                <a:spLocks noChangeArrowheads="1"/>
              </p:cNvSpPr>
              <p:nvPr/>
            </p:nvSpPr>
            <p:spPr bwMode="auto">
              <a:xfrm>
                <a:off x="3888" y="3816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DCHI</a:t>
                </a:r>
              </a:p>
            </p:txBody>
          </p:sp>
        </p:grpSp>
        <p:grpSp>
          <p:nvGrpSpPr>
            <p:cNvPr id="33824" name="Group 30"/>
            <p:cNvGrpSpPr>
              <a:grpSpLocks/>
            </p:cNvGrpSpPr>
            <p:nvPr/>
          </p:nvGrpSpPr>
          <p:grpSpPr bwMode="auto">
            <a:xfrm>
              <a:off x="768" y="3312"/>
              <a:ext cx="528" cy="240"/>
              <a:chOff x="168" y="1416"/>
              <a:chExt cx="528" cy="240"/>
            </a:xfrm>
          </p:grpSpPr>
          <p:sp>
            <p:nvSpPr>
              <p:cNvPr id="33840" name="Oval 31"/>
              <p:cNvSpPr>
                <a:spLocks noChangeArrowheads="1"/>
              </p:cNvSpPr>
              <p:nvPr/>
            </p:nvSpPr>
            <p:spPr bwMode="auto">
              <a:xfrm>
                <a:off x="168" y="141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41" name="Text Box 32"/>
              <p:cNvSpPr txBox="1">
                <a:spLocks noChangeArrowheads="1"/>
              </p:cNvSpPr>
              <p:nvPr/>
            </p:nvSpPr>
            <p:spPr bwMode="auto">
              <a:xfrm>
                <a:off x="192" y="1440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PHAI</a:t>
                </a:r>
              </a:p>
            </p:txBody>
          </p:sp>
        </p:grpSp>
        <p:grpSp>
          <p:nvGrpSpPr>
            <p:cNvPr id="33825" name="Group 33"/>
            <p:cNvGrpSpPr>
              <a:grpSpLocks/>
            </p:cNvGrpSpPr>
            <p:nvPr/>
          </p:nvGrpSpPr>
          <p:grpSpPr bwMode="auto">
            <a:xfrm>
              <a:off x="1920" y="2400"/>
              <a:ext cx="528" cy="240"/>
              <a:chOff x="3576" y="3456"/>
              <a:chExt cx="528" cy="240"/>
            </a:xfrm>
          </p:grpSpPr>
          <p:sp>
            <p:nvSpPr>
              <p:cNvPr id="33838" name="Oval 34"/>
              <p:cNvSpPr>
                <a:spLocks noChangeArrowheads="1"/>
              </p:cNvSpPr>
              <p:nvPr/>
            </p:nvSpPr>
            <p:spPr bwMode="auto">
              <a:xfrm>
                <a:off x="3576" y="345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39" name="Text Box 35"/>
              <p:cNvSpPr txBox="1">
                <a:spLocks noChangeArrowheads="1"/>
              </p:cNvSpPr>
              <p:nvPr/>
            </p:nvSpPr>
            <p:spPr bwMode="auto">
              <a:xfrm>
                <a:off x="3600" y="3480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LUONG</a:t>
                </a:r>
              </a:p>
            </p:txBody>
          </p:sp>
        </p:grpSp>
        <p:grpSp>
          <p:nvGrpSpPr>
            <p:cNvPr id="33826" name="Group 36"/>
            <p:cNvGrpSpPr>
              <a:grpSpLocks/>
            </p:cNvGrpSpPr>
            <p:nvPr/>
          </p:nvGrpSpPr>
          <p:grpSpPr bwMode="auto">
            <a:xfrm>
              <a:off x="720" y="2640"/>
              <a:ext cx="528" cy="240"/>
              <a:chOff x="192" y="744"/>
              <a:chExt cx="528" cy="240"/>
            </a:xfrm>
          </p:grpSpPr>
          <p:sp>
            <p:nvSpPr>
              <p:cNvPr id="33836" name="Oval 37"/>
              <p:cNvSpPr>
                <a:spLocks noChangeArrowheads="1"/>
              </p:cNvSpPr>
              <p:nvPr/>
            </p:nvSpPr>
            <p:spPr bwMode="auto">
              <a:xfrm>
                <a:off x="192" y="74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37" name="Text Box 38"/>
              <p:cNvSpPr txBox="1">
                <a:spLocks noChangeArrowheads="1"/>
              </p:cNvSpPr>
              <p:nvPr/>
            </p:nvSpPr>
            <p:spPr bwMode="auto">
              <a:xfrm>
                <a:off x="192" y="768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HONV</a:t>
                </a:r>
              </a:p>
            </p:txBody>
          </p:sp>
        </p:grpSp>
        <p:sp>
          <p:nvSpPr>
            <p:cNvPr id="33827" name="Line 39"/>
            <p:cNvSpPr>
              <a:spLocks noChangeShapeType="1"/>
            </p:cNvSpPr>
            <p:nvPr/>
          </p:nvSpPr>
          <p:spPr bwMode="auto">
            <a:xfrm flipH="1">
              <a:off x="1248" y="3168"/>
              <a:ext cx="24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28" name="Line 40"/>
            <p:cNvSpPr>
              <a:spLocks noChangeShapeType="1"/>
            </p:cNvSpPr>
            <p:nvPr/>
          </p:nvSpPr>
          <p:spPr bwMode="auto">
            <a:xfrm flipH="1">
              <a:off x="1296" y="3024"/>
              <a:ext cx="19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29" name="Line 41"/>
            <p:cNvSpPr>
              <a:spLocks noChangeShapeType="1"/>
            </p:cNvSpPr>
            <p:nvPr/>
          </p:nvSpPr>
          <p:spPr bwMode="auto">
            <a:xfrm flipH="1" flipV="1">
              <a:off x="1248" y="2784"/>
              <a:ext cx="24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30" name="Line 42"/>
            <p:cNvSpPr>
              <a:spLocks noChangeShapeType="1"/>
            </p:cNvSpPr>
            <p:nvPr/>
          </p:nvSpPr>
          <p:spPr bwMode="auto">
            <a:xfrm flipH="1" flipV="1">
              <a:off x="1584" y="2640"/>
              <a:ext cx="9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831" name="Line 43"/>
            <p:cNvSpPr>
              <a:spLocks noChangeShapeType="1"/>
            </p:cNvSpPr>
            <p:nvPr/>
          </p:nvSpPr>
          <p:spPr bwMode="auto">
            <a:xfrm flipV="1">
              <a:off x="2016" y="2640"/>
              <a:ext cx="19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832" name="Line 44"/>
            <p:cNvSpPr>
              <a:spLocks noChangeShapeType="1"/>
            </p:cNvSpPr>
            <p:nvPr/>
          </p:nvSpPr>
          <p:spPr bwMode="auto">
            <a:xfrm flipV="1">
              <a:off x="2304" y="2640"/>
              <a:ext cx="43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833" name="Oval 45"/>
            <p:cNvSpPr>
              <a:spLocks noChangeArrowheads="1"/>
            </p:cNvSpPr>
            <p:nvPr/>
          </p:nvSpPr>
          <p:spPr bwMode="auto">
            <a:xfrm>
              <a:off x="672" y="2304"/>
              <a:ext cx="528" cy="24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834" name="Text Box 46"/>
            <p:cNvSpPr txBox="1">
              <a:spLocks noChangeArrowheads="1"/>
            </p:cNvSpPr>
            <p:nvPr/>
          </p:nvSpPr>
          <p:spPr bwMode="auto">
            <a:xfrm>
              <a:off x="696" y="2304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 u="sng">
                  <a:solidFill>
                    <a:srgbClr val="000000"/>
                  </a:solidFill>
                  <a:latin typeface="Tahoma" charset="0"/>
                </a:rPr>
                <a:t>MANV</a:t>
              </a:r>
            </a:p>
          </p:txBody>
        </p:sp>
        <p:sp>
          <p:nvSpPr>
            <p:cNvPr id="33835" name="Line 47"/>
            <p:cNvSpPr>
              <a:spLocks noChangeShapeType="1"/>
            </p:cNvSpPr>
            <p:nvPr/>
          </p:nvSpPr>
          <p:spPr bwMode="auto">
            <a:xfrm flipH="1" flipV="1">
              <a:off x="1152" y="2496"/>
              <a:ext cx="43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3800" name="Group 48"/>
          <p:cNvGrpSpPr>
            <a:grpSpLocks/>
          </p:cNvGrpSpPr>
          <p:nvPr/>
        </p:nvGrpSpPr>
        <p:grpSpPr bwMode="auto">
          <a:xfrm>
            <a:off x="2819400" y="4343400"/>
            <a:ext cx="3429000" cy="1219200"/>
            <a:chOff x="1776" y="2736"/>
            <a:chExt cx="2160" cy="768"/>
          </a:xfrm>
        </p:grpSpPr>
        <p:grpSp>
          <p:nvGrpSpPr>
            <p:cNvPr id="33805" name="Group 49"/>
            <p:cNvGrpSpPr>
              <a:grpSpLocks/>
            </p:cNvGrpSpPr>
            <p:nvPr/>
          </p:nvGrpSpPr>
          <p:grpSpPr bwMode="auto">
            <a:xfrm>
              <a:off x="1776" y="2960"/>
              <a:ext cx="2160" cy="544"/>
              <a:chOff x="1728" y="2928"/>
              <a:chExt cx="2160" cy="544"/>
            </a:xfrm>
          </p:grpSpPr>
          <p:grpSp>
            <p:nvGrpSpPr>
              <p:cNvPr id="33811" name="Group 50"/>
              <p:cNvGrpSpPr>
                <a:grpSpLocks/>
              </p:cNvGrpSpPr>
              <p:nvPr/>
            </p:nvGrpSpPr>
            <p:grpSpPr bwMode="auto">
              <a:xfrm>
                <a:off x="2256" y="3040"/>
                <a:ext cx="1056" cy="432"/>
                <a:chOff x="1248" y="2400"/>
                <a:chExt cx="1056" cy="432"/>
              </a:xfrm>
            </p:grpSpPr>
            <p:sp>
              <p:nvSpPr>
                <p:cNvPr id="33818" name="AutoShape 51"/>
                <p:cNvSpPr>
                  <a:spLocks noChangeArrowheads="1"/>
                </p:cNvSpPr>
                <p:nvPr/>
              </p:nvSpPr>
              <p:spPr bwMode="auto">
                <a:xfrm>
                  <a:off x="1248" y="2400"/>
                  <a:ext cx="1056" cy="432"/>
                </a:xfrm>
                <a:prstGeom prst="flowChartDecision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19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344" y="2496"/>
                  <a:ext cx="91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Phan_cong</a:t>
                  </a:r>
                </a:p>
              </p:txBody>
            </p:sp>
          </p:grpSp>
          <p:sp>
            <p:nvSpPr>
              <p:cNvPr id="33812" name="Line 53"/>
              <p:cNvSpPr>
                <a:spLocks noChangeShapeType="1"/>
              </p:cNvSpPr>
              <p:nvPr/>
            </p:nvSpPr>
            <p:spPr bwMode="auto">
              <a:xfrm>
                <a:off x="1728" y="3264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13" name="Line 54"/>
              <p:cNvSpPr>
                <a:spLocks noChangeShapeType="1"/>
              </p:cNvSpPr>
              <p:nvPr/>
            </p:nvSpPr>
            <p:spPr bwMode="auto">
              <a:xfrm>
                <a:off x="1728" y="292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14" name="Line 55"/>
              <p:cNvSpPr>
                <a:spLocks noChangeShapeType="1"/>
              </p:cNvSpPr>
              <p:nvPr/>
            </p:nvSpPr>
            <p:spPr bwMode="auto">
              <a:xfrm>
                <a:off x="3312" y="3264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15" name="Line 56"/>
              <p:cNvSpPr>
                <a:spLocks noChangeShapeType="1"/>
              </p:cNvSpPr>
              <p:nvPr/>
            </p:nvSpPr>
            <p:spPr bwMode="auto">
              <a:xfrm>
                <a:off x="3840" y="292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816" name="Text Box 57"/>
              <p:cNvSpPr txBox="1">
                <a:spLocks noChangeArrowheads="1"/>
              </p:cNvSpPr>
              <p:nvPr/>
            </p:nvSpPr>
            <p:spPr bwMode="auto">
              <a:xfrm>
                <a:off x="1776" y="3072"/>
                <a:ext cx="72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ahoma" charset="0"/>
                  </a:rPr>
                  <a:t>(1,n)</a:t>
                </a:r>
              </a:p>
            </p:txBody>
          </p:sp>
          <p:sp>
            <p:nvSpPr>
              <p:cNvPr id="33817" name="Text Box 58"/>
              <p:cNvSpPr txBox="1">
                <a:spLocks noChangeArrowheads="1"/>
              </p:cNvSpPr>
              <p:nvPr/>
            </p:nvSpPr>
            <p:spPr bwMode="auto">
              <a:xfrm>
                <a:off x="3168" y="3072"/>
                <a:ext cx="72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(1,n)</a:t>
                </a:r>
              </a:p>
            </p:txBody>
          </p:sp>
        </p:grpSp>
        <p:grpSp>
          <p:nvGrpSpPr>
            <p:cNvPr id="33806" name="Group 59"/>
            <p:cNvGrpSpPr>
              <a:grpSpLocks/>
            </p:cNvGrpSpPr>
            <p:nvPr/>
          </p:nvGrpSpPr>
          <p:grpSpPr bwMode="auto">
            <a:xfrm>
              <a:off x="2688" y="2736"/>
              <a:ext cx="672" cy="416"/>
              <a:chOff x="2688" y="2736"/>
              <a:chExt cx="672" cy="416"/>
            </a:xfrm>
          </p:grpSpPr>
          <p:grpSp>
            <p:nvGrpSpPr>
              <p:cNvPr id="33807" name="Group 60"/>
              <p:cNvGrpSpPr>
                <a:grpSpLocks/>
              </p:cNvGrpSpPr>
              <p:nvPr/>
            </p:nvGrpSpPr>
            <p:grpSpPr bwMode="auto">
              <a:xfrm>
                <a:off x="2688" y="2736"/>
                <a:ext cx="672" cy="240"/>
                <a:chOff x="2784" y="2448"/>
                <a:chExt cx="672" cy="240"/>
              </a:xfrm>
            </p:grpSpPr>
            <p:sp>
              <p:nvSpPr>
                <p:cNvPr id="33809" name="Oval 61"/>
                <p:cNvSpPr>
                  <a:spLocks noChangeArrowheads="1"/>
                </p:cNvSpPr>
                <p:nvPr/>
              </p:nvSpPr>
              <p:spPr bwMode="auto">
                <a:xfrm>
                  <a:off x="2784" y="2448"/>
                  <a:ext cx="672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810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784" y="2472"/>
                  <a:ext cx="67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THOIGIAN</a:t>
                  </a:r>
                </a:p>
              </p:txBody>
            </p:sp>
          </p:grpSp>
          <p:sp>
            <p:nvSpPr>
              <p:cNvPr id="33808" name="Line 63"/>
              <p:cNvSpPr>
                <a:spLocks noChangeShapeType="1"/>
              </p:cNvSpPr>
              <p:nvPr/>
            </p:nvSpPr>
            <p:spPr bwMode="auto">
              <a:xfrm flipV="1">
                <a:off x="3024" y="2976"/>
                <a:ext cx="144" cy="1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98720" name="Text Box 64"/>
          <p:cNvSpPr txBox="1">
            <a:spLocks noChangeArrowheads="1"/>
          </p:cNvSpPr>
          <p:nvPr/>
        </p:nvSpPr>
        <p:spPr bwMode="auto">
          <a:xfrm>
            <a:off x="2514600" y="6019800"/>
            <a:ext cx="4343400" cy="37941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Tahoma" charset="0"/>
              </a:rPr>
              <a:t>PHANCONG(</a:t>
            </a:r>
            <a:r>
              <a:rPr lang="en-US" sz="1800" u="sng">
                <a:solidFill>
                  <a:srgbClr val="000000"/>
                </a:solidFill>
                <a:latin typeface="Tahoma" charset="0"/>
              </a:rPr>
              <a:t>MANV, MADA</a:t>
            </a:r>
            <a:r>
              <a:rPr lang="en-US" sz="1800">
                <a:solidFill>
                  <a:srgbClr val="000000"/>
                </a:solidFill>
                <a:latin typeface="Tahoma" charset="0"/>
              </a:rPr>
              <a:t>, THOIGIAN)</a:t>
            </a:r>
          </a:p>
        </p:txBody>
      </p:sp>
      <p:sp>
        <p:nvSpPr>
          <p:cNvPr id="198721" name="Line 65"/>
          <p:cNvSpPr>
            <a:spLocks noChangeShapeType="1"/>
          </p:cNvSpPr>
          <p:nvPr/>
        </p:nvSpPr>
        <p:spPr bwMode="auto">
          <a:xfrm flipH="1">
            <a:off x="3505200" y="5410200"/>
            <a:ext cx="838200" cy="609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8722" name="Line 66"/>
          <p:cNvSpPr>
            <a:spLocks noChangeShapeType="1"/>
          </p:cNvSpPr>
          <p:nvPr/>
        </p:nvSpPr>
        <p:spPr bwMode="auto">
          <a:xfrm>
            <a:off x="1295400" y="3657600"/>
            <a:ext cx="2743200" cy="24384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8723" name="Line 67"/>
          <p:cNvSpPr>
            <a:spLocks noChangeShapeType="1"/>
          </p:cNvSpPr>
          <p:nvPr/>
        </p:nvSpPr>
        <p:spPr bwMode="auto">
          <a:xfrm flipH="1">
            <a:off x="5029200" y="4495800"/>
            <a:ext cx="2438400" cy="1524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62101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sz="3200" dirty="0"/>
          </a:p>
        </p:txBody>
      </p:sp>
      <p:sp>
        <p:nvSpPr>
          <p:cNvPr id="6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2731E-81A2-4CA1-A6A4-C22150D70B66}" type="slidenum">
              <a:rPr lang="en-US"/>
              <a:pPr>
                <a:defRPr/>
              </a:pPr>
              <a:t>81</a:t>
            </a:fld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371600"/>
            <a:ext cx="8686800" cy="50292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2400" b="1" dirty="0"/>
              <a:t>6.3.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thể</a:t>
            </a:r>
            <a:r>
              <a:rPr lang="en-US" sz="2400" b="1" dirty="0"/>
              <a:t> </a:t>
            </a:r>
            <a:r>
              <a:rPr lang="en-US" sz="2400" b="1" dirty="0" err="1"/>
              <a:t>yếu</a:t>
            </a:r>
            <a:endParaRPr lang="en-US" sz="2400" b="1" dirty="0"/>
          </a:p>
          <a:p>
            <a:pPr lvl="1" eaLnBrk="1" hangingPunct="1">
              <a:buFont typeface="Wingdings" pitchFamily="2" charset="2"/>
              <a:buChar char="Ø"/>
            </a:pP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</a:p>
          <a:p>
            <a:pPr lvl="2" eaLnBrk="1" hangingPunct="1"/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cùng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yếu</a:t>
            </a:r>
            <a:endParaRPr lang="en-US" sz="2000" dirty="0"/>
          </a:p>
          <a:p>
            <a:pPr lvl="2" eaLnBrk="1" hangingPunct="1"/>
            <a:r>
              <a:rPr lang="en-US" sz="2000" dirty="0" err="1"/>
              <a:t>Thêm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liên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endParaRPr lang="en-US" sz="2000" dirty="0"/>
          </a:p>
        </p:txBody>
      </p:sp>
      <p:sp>
        <p:nvSpPr>
          <p:cNvPr id="200737" name="Text Box 33"/>
          <p:cNvSpPr txBox="1">
            <a:spLocks noChangeArrowheads="1"/>
          </p:cNvSpPr>
          <p:nvPr/>
        </p:nvSpPr>
        <p:spPr bwMode="auto">
          <a:xfrm>
            <a:off x="1295400" y="6019800"/>
            <a:ext cx="6324600" cy="37941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>
                <a:solidFill>
                  <a:srgbClr val="FF0000"/>
                </a:solidFill>
                <a:latin typeface="Arial" charset="0"/>
                <a:sym typeface="Wingdings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Tahoma" charset="0"/>
              </a:rPr>
              <a:t>THANNHAN(</a:t>
            </a:r>
            <a:r>
              <a:rPr lang="en-US" sz="1800" b="1" u="sng">
                <a:solidFill>
                  <a:srgbClr val="000000"/>
                </a:solidFill>
                <a:latin typeface="Tahoma" charset="0"/>
              </a:rPr>
              <a:t>MANV</a:t>
            </a:r>
            <a:r>
              <a:rPr lang="en-US" sz="1800" u="sng">
                <a:solidFill>
                  <a:srgbClr val="000000"/>
                </a:solidFill>
                <a:latin typeface="Tahoma" charset="0"/>
              </a:rPr>
              <a:t>, TENTN</a:t>
            </a:r>
            <a:r>
              <a:rPr lang="en-US" sz="1800">
                <a:solidFill>
                  <a:srgbClr val="000000"/>
                </a:solidFill>
                <a:latin typeface="Tahoma" charset="0"/>
              </a:rPr>
              <a:t>, GT, NS, QUANHE)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87400" y="3124200"/>
            <a:ext cx="7137400" cy="2743200"/>
            <a:chOff x="787400" y="3124200"/>
            <a:chExt cx="7137400" cy="2743200"/>
          </a:xfrm>
        </p:grpSpPr>
        <p:grpSp>
          <p:nvGrpSpPr>
            <p:cNvPr id="34822" name="Group 4"/>
            <p:cNvGrpSpPr>
              <a:grpSpLocks/>
            </p:cNvGrpSpPr>
            <p:nvPr/>
          </p:nvGrpSpPr>
          <p:grpSpPr bwMode="auto">
            <a:xfrm>
              <a:off x="787400" y="3124200"/>
              <a:ext cx="3771900" cy="1981200"/>
              <a:chOff x="672" y="2304"/>
              <a:chExt cx="2376" cy="1248"/>
            </a:xfrm>
          </p:grpSpPr>
          <p:sp>
            <p:nvSpPr>
              <p:cNvPr id="34849" name="Text Box 5"/>
              <p:cNvSpPr txBox="1">
                <a:spLocks noChangeArrowheads="1"/>
              </p:cNvSpPr>
              <p:nvPr/>
            </p:nvSpPr>
            <p:spPr bwMode="auto">
              <a:xfrm>
                <a:off x="1472" y="2928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 charset="0"/>
                  </a:rPr>
                  <a:t>NHANVIEN</a:t>
                </a:r>
              </a:p>
            </p:txBody>
          </p:sp>
          <p:grpSp>
            <p:nvGrpSpPr>
              <p:cNvPr id="34850" name="Group 6"/>
              <p:cNvGrpSpPr>
                <a:grpSpLocks/>
              </p:cNvGrpSpPr>
              <p:nvPr/>
            </p:nvGrpSpPr>
            <p:grpSpPr bwMode="auto">
              <a:xfrm>
                <a:off x="768" y="2976"/>
                <a:ext cx="528" cy="240"/>
                <a:chOff x="192" y="1080"/>
                <a:chExt cx="528" cy="240"/>
              </a:xfrm>
            </p:grpSpPr>
            <p:sp>
              <p:nvSpPr>
                <p:cNvPr id="34875" name="Oval 7"/>
                <p:cNvSpPr>
                  <a:spLocks noChangeArrowheads="1"/>
                </p:cNvSpPr>
                <p:nvPr/>
              </p:nvSpPr>
              <p:spPr bwMode="auto">
                <a:xfrm>
                  <a:off x="192" y="108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7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92" y="1104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TENNV</a:t>
                  </a:r>
                </a:p>
              </p:txBody>
            </p:sp>
          </p:grpSp>
          <p:grpSp>
            <p:nvGrpSpPr>
              <p:cNvPr id="34851" name="Group 9"/>
              <p:cNvGrpSpPr>
                <a:grpSpLocks/>
              </p:cNvGrpSpPr>
              <p:nvPr/>
            </p:nvGrpSpPr>
            <p:grpSpPr bwMode="auto">
              <a:xfrm>
                <a:off x="1296" y="2400"/>
                <a:ext cx="576" cy="240"/>
                <a:chOff x="864" y="840"/>
                <a:chExt cx="576" cy="240"/>
              </a:xfrm>
            </p:grpSpPr>
            <p:sp>
              <p:nvSpPr>
                <p:cNvPr id="34873" name="Oval 10"/>
                <p:cNvSpPr>
                  <a:spLocks noChangeArrowheads="1"/>
                </p:cNvSpPr>
                <p:nvPr/>
              </p:nvSpPr>
              <p:spPr bwMode="auto">
                <a:xfrm>
                  <a:off x="888" y="840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7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864" y="864"/>
                  <a:ext cx="57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NS</a:t>
                  </a:r>
                </a:p>
              </p:txBody>
            </p:sp>
          </p:grpSp>
          <p:grpSp>
            <p:nvGrpSpPr>
              <p:cNvPr id="34852" name="Group 12"/>
              <p:cNvGrpSpPr>
                <a:grpSpLocks/>
              </p:cNvGrpSpPr>
              <p:nvPr/>
            </p:nvGrpSpPr>
            <p:grpSpPr bwMode="auto">
              <a:xfrm>
                <a:off x="2496" y="2400"/>
                <a:ext cx="552" cy="240"/>
                <a:chOff x="3888" y="3792"/>
                <a:chExt cx="552" cy="240"/>
              </a:xfrm>
            </p:grpSpPr>
            <p:sp>
              <p:nvSpPr>
                <p:cNvPr id="34871" name="Oval 13"/>
                <p:cNvSpPr>
                  <a:spLocks noChangeArrowheads="1"/>
                </p:cNvSpPr>
                <p:nvPr/>
              </p:nvSpPr>
              <p:spPr bwMode="auto">
                <a:xfrm>
                  <a:off x="3912" y="3792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7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888" y="3816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DCHI</a:t>
                  </a:r>
                </a:p>
              </p:txBody>
            </p:sp>
          </p:grpSp>
          <p:grpSp>
            <p:nvGrpSpPr>
              <p:cNvPr id="34853" name="Group 15"/>
              <p:cNvGrpSpPr>
                <a:grpSpLocks/>
              </p:cNvGrpSpPr>
              <p:nvPr/>
            </p:nvGrpSpPr>
            <p:grpSpPr bwMode="auto">
              <a:xfrm>
                <a:off x="768" y="3312"/>
                <a:ext cx="528" cy="240"/>
                <a:chOff x="168" y="1416"/>
                <a:chExt cx="528" cy="240"/>
              </a:xfrm>
            </p:grpSpPr>
            <p:sp>
              <p:nvSpPr>
                <p:cNvPr id="34869" name="Oval 16"/>
                <p:cNvSpPr>
                  <a:spLocks noChangeArrowheads="1"/>
                </p:cNvSpPr>
                <p:nvPr/>
              </p:nvSpPr>
              <p:spPr bwMode="auto">
                <a:xfrm>
                  <a:off x="168" y="141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7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92" y="1440"/>
                  <a:ext cx="48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GT</a:t>
                  </a:r>
                </a:p>
              </p:txBody>
            </p:sp>
          </p:grpSp>
          <p:grpSp>
            <p:nvGrpSpPr>
              <p:cNvPr id="34854" name="Group 18"/>
              <p:cNvGrpSpPr>
                <a:grpSpLocks/>
              </p:cNvGrpSpPr>
              <p:nvPr/>
            </p:nvGrpSpPr>
            <p:grpSpPr bwMode="auto">
              <a:xfrm>
                <a:off x="1920" y="2400"/>
                <a:ext cx="528" cy="240"/>
                <a:chOff x="3576" y="3456"/>
                <a:chExt cx="528" cy="240"/>
              </a:xfrm>
            </p:grpSpPr>
            <p:sp>
              <p:nvSpPr>
                <p:cNvPr id="34867" name="Oval 19"/>
                <p:cNvSpPr>
                  <a:spLocks noChangeArrowheads="1"/>
                </p:cNvSpPr>
                <p:nvPr/>
              </p:nvSpPr>
              <p:spPr bwMode="auto">
                <a:xfrm>
                  <a:off x="3576" y="3456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6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600" y="3480"/>
                  <a:ext cx="48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LUONG</a:t>
                  </a:r>
                </a:p>
              </p:txBody>
            </p:sp>
          </p:grpSp>
          <p:grpSp>
            <p:nvGrpSpPr>
              <p:cNvPr id="34855" name="Group 21"/>
              <p:cNvGrpSpPr>
                <a:grpSpLocks/>
              </p:cNvGrpSpPr>
              <p:nvPr/>
            </p:nvGrpSpPr>
            <p:grpSpPr bwMode="auto">
              <a:xfrm>
                <a:off x="720" y="2640"/>
                <a:ext cx="528" cy="240"/>
                <a:chOff x="192" y="744"/>
                <a:chExt cx="528" cy="240"/>
              </a:xfrm>
            </p:grpSpPr>
            <p:sp>
              <p:nvSpPr>
                <p:cNvPr id="34865" name="Oval 22"/>
                <p:cNvSpPr>
                  <a:spLocks noChangeArrowheads="1"/>
                </p:cNvSpPr>
                <p:nvPr/>
              </p:nvSpPr>
              <p:spPr bwMode="auto">
                <a:xfrm>
                  <a:off x="192" y="74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6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92" y="768"/>
                  <a:ext cx="52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>
                      <a:solidFill>
                        <a:srgbClr val="000000"/>
                      </a:solidFill>
                      <a:latin typeface="Tahoma" charset="0"/>
                    </a:rPr>
                    <a:t>HONV</a:t>
                  </a:r>
                </a:p>
              </p:txBody>
            </p:sp>
          </p:grpSp>
          <p:sp>
            <p:nvSpPr>
              <p:cNvPr id="34856" name="Line 24"/>
              <p:cNvSpPr>
                <a:spLocks noChangeShapeType="1"/>
              </p:cNvSpPr>
              <p:nvPr/>
            </p:nvSpPr>
            <p:spPr bwMode="auto">
              <a:xfrm flipH="1">
                <a:off x="1248" y="3168"/>
                <a:ext cx="24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57" name="Line 25"/>
              <p:cNvSpPr>
                <a:spLocks noChangeShapeType="1"/>
              </p:cNvSpPr>
              <p:nvPr/>
            </p:nvSpPr>
            <p:spPr bwMode="auto">
              <a:xfrm flipH="1">
                <a:off x="1296" y="3024"/>
                <a:ext cx="192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58" name="Line 26"/>
              <p:cNvSpPr>
                <a:spLocks noChangeShapeType="1"/>
              </p:cNvSpPr>
              <p:nvPr/>
            </p:nvSpPr>
            <p:spPr bwMode="auto">
              <a:xfrm flipH="1" flipV="1">
                <a:off x="1248" y="2784"/>
                <a:ext cx="24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59" name="Line 27"/>
              <p:cNvSpPr>
                <a:spLocks noChangeShapeType="1"/>
              </p:cNvSpPr>
              <p:nvPr/>
            </p:nvSpPr>
            <p:spPr bwMode="auto">
              <a:xfrm flipH="1" flipV="1">
                <a:off x="1584" y="264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60" name="Line 28"/>
              <p:cNvSpPr>
                <a:spLocks noChangeShapeType="1"/>
              </p:cNvSpPr>
              <p:nvPr/>
            </p:nvSpPr>
            <p:spPr bwMode="auto">
              <a:xfrm flipV="1">
                <a:off x="2016" y="2640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61" name="Line 29"/>
              <p:cNvSpPr>
                <a:spLocks noChangeShapeType="1"/>
              </p:cNvSpPr>
              <p:nvPr/>
            </p:nvSpPr>
            <p:spPr bwMode="auto">
              <a:xfrm flipV="1">
                <a:off x="2304" y="2640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62" name="Oval 30"/>
              <p:cNvSpPr>
                <a:spLocks noChangeArrowheads="1"/>
              </p:cNvSpPr>
              <p:nvPr/>
            </p:nvSpPr>
            <p:spPr bwMode="auto">
              <a:xfrm>
                <a:off x="672" y="2304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63" name="Text Box 31"/>
              <p:cNvSpPr txBox="1">
                <a:spLocks noChangeArrowheads="1"/>
              </p:cNvSpPr>
              <p:nvPr/>
            </p:nvSpPr>
            <p:spPr bwMode="auto">
              <a:xfrm>
                <a:off x="696" y="2304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MANV</a:t>
                </a:r>
              </a:p>
            </p:txBody>
          </p:sp>
          <p:sp>
            <p:nvSpPr>
              <p:cNvPr id="34864" name="Line 32"/>
              <p:cNvSpPr>
                <a:spLocks noChangeShapeType="1"/>
              </p:cNvSpPr>
              <p:nvPr/>
            </p:nvSpPr>
            <p:spPr bwMode="auto">
              <a:xfrm flipH="1" flipV="1">
                <a:off x="1152" y="2496"/>
                <a:ext cx="43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4824" name="Text Box 34"/>
            <p:cNvSpPr txBox="1">
              <a:spLocks noChangeArrowheads="1"/>
            </p:cNvSpPr>
            <p:nvPr/>
          </p:nvSpPr>
          <p:spPr bwMode="auto">
            <a:xfrm>
              <a:off x="4900613" y="5233988"/>
              <a:ext cx="1600200" cy="404812"/>
            </a:xfrm>
            <a:prstGeom prst="rect">
              <a:avLst/>
            </a:prstGeom>
            <a:noFill/>
            <a:ln w="38100" cmpd="dbl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THANNHAN</a:t>
              </a:r>
            </a:p>
          </p:txBody>
        </p:sp>
        <p:sp>
          <p:nvSpPr>
            <p:cNvPr id="34825" name="Oval 35"/>
            <p:cNvSpPr>
              <a:spLocks noChangeArrowheads="1"/>
            </p:cNvSpPr>
            <p:nvPr/>
          </p:nvSpPr>
          <p:spPr bwMode="auto">
            <a:xfrm>
              <a:off x="7072313" y="5486400"/>
              <a:ext cx="838200" cy="38100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26" name="Text Box 36"/>
            <p:cNvSpPr txBox="1">
              <a:spLocks noChangeArrowheads="1"/>
            </p:cNvSpPr>
            <p:nvPr/>
          </p:nvSpPr>
          <p:spPr bwMode="auto">
            <a:xfrm>
              <a:off x="7086600" y="5524500"/>
              <a:ext cx="838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 u="sng">
                  <a:solidFill>
                    <a:srgbClr val="000000"/>
                  </a:solidFill>
                  <a:latin typeface="Tahoma" charset="0"/>
                </a:rPr>
                <a:t>TENTN</a:t>
              </a:r>
            </a:p>
          </p:txBody>
        </p:sp>
        <p:sp>
          <p:nvSpPr>
            <p:cNvPr id="34827" name="Oval 37"/>
            <p:cNvSpPr>
              <a:spLocks noChangeArrowheads="1"/>
            </p:cNvSpPr>
            <p:nvPr/>
          </p:nvSpPr>
          <p:spPr bwMode="auto">
            <a:xfrm>
              <a:off x="7072313" y="5029200"/>
              <a:ext cx="838200" cy="38100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28" name="Text Box 38"/>
            <p:cNvSpPr txBox="1">
              <a:spLocks noChangeArrowheads="1"/>
            </p:cNvSpPr>
            <p:nvPr/>
          </p:nvSpPr>
          <p:spPr bwMode="auto">
            <a:xfrm>
              <a:off x="7072313" y="5067300"/>
              <a:ext cx="838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GT</a:t>
              </a:r>
            </a:p>
          </p:txBody>
        </p:sp>
        <p:sp>
          <p:nvSpPr>
            <p:cNvPr id="34829" name="Oval 39"/>
            <p:cNvSpPr>
              <a:spLocks noChangeArrowheads="1"/>
            </p:cNvSpPr>
            <p:nvPr/>
          </p:nvSpPr>
          <p:spPr bwMode="auto">
            <a:xfrm>
              <a:off x="7072313" y="4572000"/>
              <a:ext cx="838200" cy="38100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30" name="Text Box 40"/>
            <p:cNvSpPr txBox="1">
              <a:spLocks noChangeArrowheads="1"/>
            </p:cNvSpPr>
            <p:nvPr/>
          </p:nvSpPr>
          <p:spPr bwMode="auto">
            <a:xfrm>
              <a:off x="7072313" y="4610100"/>
              <a:ext cx="838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NS</a:t>
              </a:r>
            </a:p>
          </p:txBody>
        </p:sp>
        <p:sp>
          <p:nvSpPr>
            <p:cNvPr id="34831" name="Oval 41"/>
            <p:cNvSpPr>
              <a:spLocks noChangeArrowheads="1"/>
            </p:cNvSpPr>
            <p:nvPr/>
          </p:nvSpPr>
          <p:spPr bwMode="auto">
            <a:xfrm>
              <a:off x="7034213" y="4114800"/>
              <a:ext cx="838200" cy="38100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32" name="Text Box 42"/>
            <p:cNvSpPr txBox="1">
              <a:spLocks noChangeArrowheads="1"/>
            </p:cNvSpPr>
            <p:nvPr/>
          </p:nvSpPr>
          <p:spPr bwMode="auto">
            <a:xfrm>
              <a:off x="6996113" y="4152900"/>
              <a:ext cx="914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  <a:latin typeface="Tahoma" charset="0"/>
                </a:rPr>
                <a:t>QUANHE</a:t>
              </a:r>
            </a:p>
          </p:txBody>
        </p:sp>
        <p:sp>
          <p:nvSpPr>
            <p:cNvPr id="34833" name="Line 43"/>
            <p:cNvSpPr>
              <a:spLocks noChangeShapeType="1"/>
            </p:cNvSpPr>
            <p:nvPr/>
          </p:nvSpPr>
          <p:spPr bwMode="auto">
            <a:xfrm flipV="1">
              <a:off x="6462713" y="4419600"/>
              <a:ext cx="60960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34" name="Line 44"/>
            <p:cNvSpPr>
              <a:spLocks noChangeShapeType="1"/>
            </p:cNvSpPr>
            <p:nvPr/>
          </p:nvSpPr>
          <p:spPr bwMode="auto">
            <a:xfrm flipV="1">
              <a:off x="6500813" y="4800600"/>
              <a:ext cx="571500" cy="533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35" name="Line 45"/>
            <p:cNvSpPr>
              <a:spLocks noChangeShapeType="1"/>
            </p:cNvSpPr>
            <p:nvPr/>
          </p:nvSpPr>
          <p:spPr bwMode="auto">
            <a:xfrm flipV="1">
              <a:off x="6500813" y="5257800"/>
              <a:ext cx="5715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36" name="Line 46"/>
            <p:cNvSpPr>
              <a:spLocks noChangeShapeType="1"/>
            </p:cNvSpPr>
            <p:nvPr/>
          </p:nvSpPr>
          <p:spPr bwMode="auto">
            <a:xfrm>
              <a:off x="6500813" y="5562600"/>
              <a:ext cx="5715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4837" name="Group 47"/>
            <p:cNvGrpSpPr>
              <a:grpSpLocks/>
            </p:cNvGrpSpPr>
            <p:nvPr/>
          </p:nvGrpSpPr>
          <p:grpSpPr bwMode="auto">
            <a:xfrm>
              <a:off x="3681413" y="3962400"/>
              <a:ext cx="2895600" cy="1295400"/>
              <a:chOff x="2472" y="2832"/>
              <a:chExt cx="1824" cy="816"/>
            </a:xfrm>
          </p:grpSpPr>
          <p:grpSp>
            <p:nvGrpSpPr>
              <p:cNvPr id="34842" name="Group 48"/>
              <p:cNvGrpSpPr>
                <a:grpSpLocks/>
              </p:cNvGrpSpPr>
              <p:nvPr/>
            </p:nvGrpSpPr>
            <p:grpSpPr bwMode="auto">
              <a:xfrm>
                <a:off x="3096" y="2880"/>
                <a:ext cx="1200" cy="384"/>
                <a:chOff x="3744" y="2496"/>
                <a:chExt cx="1200" cy="384"/>
              </a:xfrm>
            </p:grpSpPr>
            <p:sp>
              <p:nvSpPr>
                <p:cNvPr id="34847" name="AutoShape 49"/>
                <p:cNvSpPr>
                  <a:spLocks noChangeArrowheads="1"/>
                </p:cNvSpPr>
                <p:nvPr/>
              </p:nvSpPr>
              <p:spPr bwMode="auto">
                <a:xfrm>
                  <a:off x="3744" y="2496"/>
                  <a:ext cx="1200" cy="384"/>
                </a:xfrm>
                <a:prstGeom prst="flowChartDecision">
                  <a:avLst/>
                </a:prstGeom>
                <a:noFill/>
                <a:ln w="38100" cmpd="dbl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48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840" y="2576"/>
                  <a:ext cx="105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 cmpd="dbl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600">
                      <a:solidFill>
                        <a:srgbClr val="000000"/>
                      </a:solidFill>
                      <a:latin typeface="Tahoma" charset="0"/>
                    </a:rPr>
                    <a:t>Co_than_nhan</a:t>
                  </a:r>
                </a:p>
              </p:txBody>
            </p:sp>
          </p:grpSp>
          <p:sp>
            <p:nvSpPr>
              <p:cNvPr id="34843" name="Line 51"/>
              <p:cNvSpPr>
                <a:spLocks noChangeShapeType="1"/>
              </p:cNvSpPr>
              <p:nvPr/>
            </p:nvSpPr>
            <p:spPr bwMode="auto">
              <a:xfrm>
                <a:off x="2472" y="307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44" name="Line 52"/>
              <p:cNvSpPr>
                <a:spLocks noChangeShapeType="1"/>
              </p:cNvSpPr>
              <p:nvPr/>
            </p:nvSpPr>
            <p:spPr bwMode="auto">
              <a:xfrm>
                <a:off x="3704" y="3264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45" name="Text Box 53"/>
              <p:cNvSpPr txBox="1">
                <a:spLocks noChangeArrowheads="1"/>
              </p:cNvSpPr>
              <p:nvPr/>
            </p:nvSpPr>
            <p:spPr bwMode="auto">
              <a:xfrm>
                <a:off x="3264" y="3312"/>
                <a:ext cx="4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(1,1)</a:t>
                </a:r>
              </a:p>
            </p:txBody>
          </p:sp>
          <p:sp>
            <p:nvSpPr>
              <p:cNvPr id="34846" name="Text Box 54"/>
              <p:cNvSpPr txBox="1">
                <a:spLocks noChangeArrowheads="1"/>
              </p:cNvSpPr>
              <p:nvPr/>
            </p:nvSpPr>
            <p:spPr bwMode="auto">
              <a:xfrm>
                <a:off x="2592" y="2832"/>
                <a:ext cx="43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(1,n)</a:t>
                </a:r>
              </a:p>
            </p:txBody>
          </p:sp>
        </p:grpSp>
      </p:grpSp>
      <p:sp>
        <p:nvSpPr>
          <p:cNvPr id="200759" name="Line 55"/>
          <p:cNvSpPr>
            <a:spLocks noChangeShapeType="1"/>
          </p:cNvSpPr>
          <p:nvPr/>
        </p:nvSpPr>
        <p:spPr bwMode="auto">
          <a:xfrm flipH="1">
            <a:off x="2209800" y="5486400"/>
            <a:ext cx="25146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0760" name="AutoShape 56"/>
          <p:cNvSpPr>
            <a:spLocks noChangeArrowheads="1"/>
          </p:cNvSpPr>
          <p:nvPr/>
        </p:nvSpPr>
        <p:spPr bwMode="auto">
          <a:xfrm>
            <a:off x="4724400" y="5029200"/>
            <a:ext cx="2057400" cy="914400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0761" name="Line 57"/>
          <p:cNvSpPr>
            <a:spLocks noChangeShapeType="1"/>
          </p:cNvSpPr>
          <p:nvPr/>
        </p:nvSpPr>
        <p:spPr bwMode="auto">
          <a:xfrm>
            <a:off x="1600200" y="3505200"/>
            <a:ext cx="1447800" cy="25908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0762" name="Line 58"/>
          <p:cNvSpPr>
            <a:spLocks noChangeShapeType="1"/>
          </p:cNvSpPr>
          <p:nvPr/>
        </p:nvSpPr>
        <p:spPr bwMode="auto">
          <a:xfrm flipH="1">
            <a:off x="3962400" y="5791200"/>
            <a:ext cx="3048000" cy="3048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16411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9080" y="1444752"/>
            <a:ext cx="8503920" cy="472744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/>
              <a:t>6.4. </a:t>
            </a:r>
            <a:r>
              <a:rPr lang="en-US" sz="2400" b="1" dirty="0" err="1"/>
              <a:t>Thuộc</a:t>
            </a:r>
            <a:r>
              <a:rPr lang="en-US" sz="2400" b="1" dirty="0"/>
              <a:t> </a:t>
            </a:r>
            <a:r>
              <a:rPr lang="en-US" sz="2400" b="1" dirty="0" err="1"/>
              <a:t>tính</a:t>
            </a:r>
            <a:r>
              <a:rPr lang="en-US" sz="2400" b="1" dirty="0"/>
              <a:t> </a:t>
            </a:r>
            <a:r>
              <a:rPr lang="en-US" sz="2400" b="1" dirty="0" err="1"/>
              <a:t>đa</a:t>
            </a:r>
            <a:r>
              <a:rPr lang="en-US" sz="2400" b="1" dirty="0"/>
              <a:t> </a:t>
            </a:r>
            <a:r>
              <a:rPr lang="en-US" sz="2400" b="1" dirty="0" err="1"/>
              <a:t>trị</a:t>
            </a:r>
            <a:endParaRPr lang="en-US" sz="2400" dirty="0"/>
          </a:p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A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E,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E_A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E.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đó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sz="2400" dirty="0"/>
              <a:t>2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cũng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200" dirty="0"/>
              <a:t>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032164" y="4340363"/>
            <a:ext cx="4104477" cy="1597165"/>
            <a:chOff x="1621409" y="3346727"/>
            <a:chExt cx="4104477" cy="1597165"/>
          </a:xfrm>
        </p:grpSpPr>
        <p:sp>
          <p:nvSpPr>
            <p:cNvPr id="6" name="Rectangle 5"/>
            <p:cNvSpPr/>
            <p:nvPr/>
          </p:nvSpPr>
          <p:spPr>
            <a:xfrm>
              <a:off x="1621409" y="4413528"/>
              <a:ext cx="2116709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solidFill>
                    <a:schemeClr val="tx1"/>
                  </a:solidFill>
                  <a:latin typeface="Verdana" pitchFamily="34" charset="0"/>
                </a:rPr>
                <a:t>NhanVien</a:t>
              </a:r>
              <a:endParaRPr lang="en-US" sz="2000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222564" y="3346727"/>
              <a:ext cx="914400" cy="457200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206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u="sng" dirty="0" err="1"/>
                <a:t>MaNV</a:t>
              </a:r>
              <a:endParaRPr lang="en-US" sz="1200" b="1" u="sng" dirty="0"/>
            </a:p>
          </p:txBody>
        </p:sp>
        <p:cxnSp>
          <p:nvCxnSpPr>
            <p:cNvPr id="8" name="Straight Connector 7"/>
            <p:cNvCxnSpPr>
              <a:stCxn id="7" idx="4"/>
              <a:endCxn id="6" idx="0"/>
            </p:cNvCxnSpPr>
            <p:nvPr/>
          </p:nvCxnSpPr>
          <p:spPr>
            <a:xfrm>
              <a:off x="2679764" y="3803927"/>
              <a:ext cx="0" cy="60960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4201886" y="4340364"/>
              <a:ext cx="1524000" cy="60352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63500" cmpd="dbl">
              <a:solidFill>
                <a:srgbClr val="00206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/>
                <a:t>DChi</a:t>
              </a:r>
              <a:endParaRPr lang="en-US" sz="1200" b="1" dirty="0"/>
            </a:p>
          </p:txBody>
        </p:sp>
        <p:cxnSp>
          <p:nvCxnSpPr>
            <p:cNvPr id="10" name="Straight Connector 9"/>
            <p:cNvCxnSpPr>
              <a:stCxn id="9" idx="2"/>
              <a:endCxn id="6" idx="3"/>
            </p:cNvCxnSpPr>
            <p:nvPr/>
          </p:nvCxnSpPr>
          <p:spPr>
            <a:xfrm flipH="1">
              <a:off x="3738118" y="4642128"/>
              <a:ext cx="46376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 Box 55"/>
          <p:cNvSpPr txBox="1">
            <a:spLocks noChangeArrowheads="1"/>
          </p:cNvSpPr>
          <p:nvPr/>
        </p:nvSpPr>
        <p:spPr bwMode="auto">
          <a:xfrm>
            <a:off x="2819400" y="4568963"/>
            <a:ext cx="6324600" cy="6463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/>
              <a:t>NHANVIEN (</a:t>
            </a:r>
            <a:r>
              <a:rPr lang="en-US" u="sng" dirty="0"/>
              <a:t>MANV</a:t>
            </a:r>
            <a:r>
              <a:rPr lang="en-US" dirty="0"/>
              <a:t>,….)</a:t>
            </a:r>
          </a:p>
          <a:p>
            <a:pPr algn="ctr"/>
            <a:r>
              <a:rPr lang="en-US" dirty="0"/>
              <a:t>NHANVIEN_DCHI (</a:t>
            </a:r>
            <a:r>
              <a:rPr lang="en-US" u="sng" dirty="0"/>
              <a:t>MANV, DCHI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57601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dirty="0"/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D2F84D-E344-4889-9196-5898F6B1B7BA}" type="slidenum">
              <a:rPr lang="en-US"/>
              <a:pPr>
                <a:defRPr/>
              </a:pPr>
              <a:t>83</a:t>
            </a:fld>
            <a:endParaRPr lang="en-US"/>
          </a:p>
        </p:txBody>
      </p:sp>
      <p:sp>
        <p:nvSpPr>
          <p:cNvPr id="3686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686800" cy="156527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/>
              <a:t>6.5. </a:t>
            </a:r>
            <a:r>
              <a:rPr lang="en-US" sz="2400" b="1" dirty="0" err="1"/>
              <a:t>Liên</a:t>
            </a:r>
            <a:r>
              <a:rPr lang="en-US" sz="2400" b="1" dirty="0"/>
              <a:t> </a:t>
            </a:r>
            <a:r>
              <a:rPr lang="en-US" sz="2400" b="1" dirty="0" err="1"/>
              <a:t>kết</a:t>
            </a:r>
            <a:r>
              <a:rPr lang="en-US" sz="2400" b="1" dirty="0"/>
              <a:t> </a:t>
            </a:r>
            <a:r>
              <a:rPr lang="en-US" sz="2400" b="1" dirty="0" err="1"/>
              <a:t>đa</a:t>
            </a:r>
            <a:r>
              <a:rPr lang="en-US" sz="2400" b="1" dirty="0"/>
              <a:t> </a:t>
            </a:r>
            <a:r>
              <a:rPr lang="en-US" sz="2400" b="1" dirty="0" err="1"/>
              <a:t>ngôi</a:t>
            </a:r>
            <a:r>
              <a:rPr lang="en-US" sz="2400" b="1" dirty="0"/>
              <a:t> (n&gt;2)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v"/>
            </a:pP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cùng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</a:t>
            </a:r>
            <a:r>
              <a:rPr lang="en-US" sz="2000" dirty="0" err="1"/>
              <a:t>mối</a:t>
            </a:r>
            <a:r>
              <a:rPr lang="en-US" sz="2000" dirty="0"/>
              <a:t> </a:t>
            </a:r>
            <a:r>
              <a:rPr lang="en-US" sz="2000" dirty="0" err="1"/>
              <a:t>liên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đa</a:t>
            </a:r>
            <a:r>
              <a:rPr lang="en-US" sz="2000" dirty="0"/>
              <a:t> </a:t>
            </a:r>
            <a:r>
              <a:rPr lang="en-US" sz="2000" dirty="0" err="1"/>
              <a:t>ngôi</a:t>
            </a:r>
            <a:endParaRPr lang="en-US" sz="2000" dirty="0"/>
          </a:p>
          <a:p>
            <a:pPr lvl="2" eaLnBrk="1" hangingPunct="1">
              <a:lnSpc>
                <a:spcPct val="90000"/>
              </a:lnSpc>
            </a:pP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tổ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tham</a:t>
            </a:r>
            <a:r>
              <a:rPr lang="en-US" sz="2000" dirty="0"/>
              <a:t> </a:t>
            </a:r>
            <a:r>
              <a:rPr lang="en-US" sz="2000" dirty="0" err="1"/>
              <a:t>gia</a:t>
            </a:r>
            <a:r>
              <a:rPr lang="en-US" sz="2000" dirty="0"/>
              <a:t> </a:t>
            </a:r>
            <a:r>
              <a:rPr lang="en-US" sz="2000" dirty="0" err="1"/>
              <a:t>liên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endParaRPr lang="en-US" sz="2000" dirty="0"/>
          </a:p>
        </p:txBody>
      </p:sp>
      <p:grpSp>
        <p:nvGrpSpPr>
          <p:cNvPr id="36870" name="Group 42"/>
          <p:cNvGrpSpPr>
            <a:grpSpLocks/>
          </p:cNvGrpSpPr>
          <p:nvPr/>
        </p:nvGrpSpPr>
        <p:grpSpPr bwMode="auto">
          <a:xfrm>
            <a:off x="381000" y="2819400"/>
            <a:ext cx="8610600" cy="3567113"/>
            <a:chOff x="96" y="1776"/>
            <a:chExt cx="5424" cy="2247"/>
          </a:xfrm>
        </p:grpSpPr>
        <p:sp>
          <p:nvSpPr>
            <p:cNvPr id="36871" name="Text Box 5"/>
            <p:cNvSpPr txBox="1">
              <a:spLocks noChangeArrowheads="1"/>
            </p:cNvSpPr>
            <p:nvPr/>
          </p:nvSpPr>
          <p:spPr bwMode="auto">
            <a:xfrm>
              <a:off x="96" y="3120"/>
              <a:ext cx="1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 dirty="0">
                  <a:solidFill>
                    <a:srgbClr val="000000"/>
                  </a:solidFill>
                  <a:latin typeface="Tahoma" charset="0"/>
                </a:rPr>
                <a:t>NHACUNGCAP(</a:t>
              </a:r>
              <a:r>
                <a:rPr lang="en-US" sz="1800" u="sng" dirty="0">
                  <a:solidFill>
                    <a:srgbClr val="000000"/>
                  </a:solidFill>
                  <a:latin typeface="Tahoma" charset="0"/>
                </a:rPr>
                <a:t>MANCC</a:t>
              </a:r>
              <a:r>
                <a:rPr lang="en-US" sz="1800" dirty="0">
                  <a:solidFill>
                    <a:srgbClr val="000000"/>
                  </a:solidFill>
                  <a:latin typeface="Tahoma" charset="0"/>
                </a:rPr>
                <a:t>,…)</a:t>
              </a:r>
            </a:p>
          </p:txBody>
        </p:sp>
        <p:sp>
          <p:nvSpPr>
            <p:cNvPr id="36872" name="Text Box 6"/>
            <p:cNvSpPr txBox="1">
              <a:spLocks noChangeArrowheads="1"/>
            </p:cNvSpPr>
            <p:nvPr/>
          </p:nvSpPr>
          <p:spPr bwMode="auto">
            <a:xfrm>
              <a:off x="4368" y="2832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DEAN(</a:t>
              </a:r>
              <a:r>
                <a:rPr lang="en-US" sz="1800" u="sng">
                  <a:solidFill>
                    <a:srgbClr val="000000"/>
                  </a:solidFill>
                  <a:latin typeface="Tahoma" charset="0"/>
                </a:rPr>
                <a:t>MADA</a:t>
              </a: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,…)</a:t>
              </a:r>
            </a:p>
          </p:txBody>
        </p:sp>
        <p:sp>
          <p:nvSpPr>
            <p:cNvPr id="36873" name="Text Box 7"/>
            <p:cNvSpPr txBox="1">
              <a:spLocks noChangeArrowheads="1"/>
            </p:cNvSpPr>
            <p:nvPr/>
          </p:nvSpPr>
          <p:spPr bwMode="auto">
            <a:xfrm>
              <a:off x="2400" y="3312"/>
              <a:ext cx="13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THIETBI(</a:t>
              </a:r>
              <a:r>
                <a:rPr lang="en-US" sz="1800" u="sng">
                  <a:solidFill>
                    <a:srgbClr val="000000"/>
                  </a:solidFill>
                  <a:latin typeface="Tahoma" charset="0"/>
                </a:rPr>
                <a:t>MATB</a:t>
              </a: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,…)</a:t>
              </a:r>
            </a:p>
          </p:txBody>
        </p:sp>
        <p:grpSp>
          <p:nvGrpSpPr>
            <p:cNvPr id="36874" name="Group 8"/>
            <p:cNvGrpSpPr>
              <a:grpSpLocks/>
            </p:cNvGrpSpPr>
            <p:nvPr/>
          </p:nvGrpSpPr>
          <p:grpSpPr bwMode="auto">
            <a:xfrm>
              <a:off x="384" y="1776"/>
              <a:ext cx="4752" cy="1344"/>
              <a:chOff x="432" y="1776"/>
              <a:chExt cx="4752" cy="1344"/>
            </a:xfrm>
          </p:grpSpPr>
          <p:sp>
            <p:nvSpPr>
              <p:cNvPr id="36879" name="Text Box 9"/>
              <p:cNvSpPr txBox="1">
                <a:spLocks noChangeArrowheads="1"/>
              </p:cNvSpPr>
              <p:nvPr/>
            </p:nvSpPr>
            <p:spPr bwMode="auto">
              <a:xfrm>
                <a:off x="1323" y="2256"/>
                <a:ext cx="960" cy="22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Tahoma" charset="0"/>
                  </a:rPr>
                  <a:t>NHACUNGCAP</a:t>
                </a:r>
              </a:p>
            </p:txBody>
          </p:sp>
          <p:sp>
            <p:nvSpPr>
              <p:cNvPr id="36880" name="Oval 10"/>
              <p:cNvSpPr>
                <a:spLocks noChangeArrowheads="1"/>
              </p:cNvSpPr>
              <p:nvPr/>
            </p:nvSpPr>
            <p:spPr bwMode="auto">
              <a:xfrm>
                <a:off x="432" y="2208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81" name="Text Box 11"/>
              <p:cNvSpPr txBox="1">
                <a:spLocks noChangeArrowheads="1"/>
              </p:cNvSpPr>
              <p:nvPr/>
            </p:nvSpPr>
            <p:spPr bwMode="auto">
              <a:xfrm>
                <a:off x="456" y="2208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MANCC</a:t>
                </a:r>
              </a:p>
            </p:txBody>
          </p:sp>
          <p:sp>
            <p:nvSpPr>
              <p:cNvPr id="36882" name="Line 12"/>
              <p:cNvSpPr>
                <a:spLocks noChangeShapeType="1"/>
              </p:cNvSpPr>
              <p:nvPr/>
            </p:nvSpPr>
            <p:spPr bwMode="auto">
              <a:xfrm flipH="1" flipV="1">
                <a:off x="982" y="2352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36883" name="Group 13"/>
              <p:cNvGrpSpPr>
                <a:grpSpLocks/>
              </p:cNvGrpSpPr>
              <p:nvPr/>
            </p:nvGrpSpPr>
            <p:grpSpPr bwMode="auto">
              <a:xfrm>
                <a:off x="2296" y="2160"/>
                <a:ext cx="1736" cy="432"/>
                <a:chOff x="1864" y="960"/>
                <a:chExt cx="1736" cy="432"/>
              </a:xfrm>
            </p:grpSpPr>
            <p:grpSp>
              <p:nvGrpSpPr>
                <p:cNvPr id="36900" name="Group 14"/>
                <p:cNvGrpSpPr>
                  <a:grpSpLocks/>
                </p:cNvGrpSpPr>
                <p:nvPr/>
              </p:nvGrpSpPr>
              <p:grpSpPr bwMode="auto">
                <a:xfrm>
                  <a:off x="2208" y="960"/>
                  <a:ext cx="1056" cy="432"/>
                  <a:chOff x="3360" y="2880"/>
                  <a:chExt cx="1056" cy="432"/>
                </a:xfrm>
              </p:grpSpPr>
              <p:sp>
                <p:nvSpPr>
                  <p:cNvPr id="36903" name="AutoShape 15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2880"/>
                    <a:ext cx="1056" cy="432"/>
                  </a:xfrm>
                  <a:prstGeom prst="flowChartDecision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6904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6" y="2976"/>
                    <a:ext cx="91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1pPr>
                    <a:lvl2pPr marL="742950" indent="-285750" eaLnBrk="0" hangingPunct="0"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2pPr>
                    <a:lvl3pPr marL="1143000" indent="-228600" eaLnBrk="0" hangingPunct="0"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3pPr>
                    <a:lvl4pPr marL="1600200" indent="-228600" eaLnBrk="0" hangingPunct="0"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4pPr>
                    <a:lvl5pPr marL="2057400" indent="-228600" eaLnBrk="0" hangingPunct="0"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5pPr>
                    <a:lvl6pPr marL="2514600" indent="-228600"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Font typeface="Wingdings" pitchFamily="2" charset="2"/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6pPr>
                    <a:lvl7pPr marL="2971800" indent="-228600"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Font typeface="Wingdings" pitchFamily="2" charset="2"/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7pPr>
                    <a:lvl8pPr marL="3429000" indent="-228600"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Font typeface="Wingdings" pitchFamily="2" charset="2"/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8pPr>
                    <a:lvl9pPr marL="3886200" indent="-228600"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Font typeface="Wingdings" pitchFamily="2" charset="2"/>
                      <a:defRPr sz="3200">
                        <a:solidFill>
                          <a:srgbClr val="FF0000"/>
                        </a:solidFill>
                        <a:latin typeface="Arial" charset="0"/>
                        <a:sym typeface="Wingdings" pitchFamily="2" charset="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sz="1600">
                        <a:solidFill>
                          <a:srgbClr val="000000"/>
                        </a:solidFill>
                        <a:latin typeface="Tahoma" charset="0"/>
                      </a:rPr>
                      <a:t>Cung_cap</a:t>
                    </a:r>
                  </a:p>
                </p:txBody>
              </p:sp>
            </p:grpSp>
            <p:sp>
              <p:nvSpPr>
                <p:cNvPr id="36901" name="Line 17"/>
                <p:cNvSpPr>
                  <a:spLocks noChangeShapeType="1"/>
                </p:cNvSpPr>
                <p:nvPr/>
              </p:nvSpPr>
              <p:spPr bwMode="auto">
                <a:xfrm>
                  <a:off x="1864" y="1184"/>
                  <a:ext cx="33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6902" name="Line 18"/>
                <p:cNvSpPr>
                  <a:spLocks noChangeShapeType="1"/>
                </p:cNvSpPr>
                <p:nvPr/>
              </p:nvSpPr>
              <p:spPr bwMode="auto">
                <a:xfrm>
                  <a:off x="3264" y="1184"/>
                  <a:ext cx="33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6884" name="Text Box 19"/>
              <p:cNvSpPr txBox="1">
                <a:spLocks noChangeArrowheads="1"/>
              </p:cNvSpPr>
              <p:nvPr/>
            </p:nvSpPr>
            <p:spPr bwMode="auto">
              <a:xfrm>
                <a:off x="4032" y="2256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 charset="0"/>
                  </a:rPr>
                  <a:t>DEAN</a:t>
                </a:r>
              </a:p>
            </p:txBody>
          </p:sp>
          <p:grpSp>
            <p:nvGrpSpPr>
              <p:cNvPr id="36885" name="Group 20"/>
              <p:cNvGrpSpPr>
                <a:grpSpLocks/>
              </p:cNvGrpSpPr>
              <p:nvPr/>
            </p:nvGrpSpPr>
            <p:grpSpPr bwMode="auto">
              <a:xfrm>
                <a:off x="4608" y="1776"/>
                <a:ext cx="576" cy="480"/>
                <a:chOff x="4272" y="1104"/>
                <a:chExt cx="576" cy="480"/>
              </a:xfrm>
            </p:grpSpPr>
            <p:sp>
              <p:nvSpPr>
                <p:cNvPr id="36897" name="Oval 21"/>
                <p:cNvSpPr>
                  <a:spLocks noChangeArrowheads="1"/>
                </p:cNvSpPr>
                <p:nvPr/>
              </p:nvSpPr>
              <p:spPr bwMode="auto">
                <a:xfrm>
                  <a:off x="4272" y="1104"/>
                  <a:ext cx="528" cy="240"/>
                </a:xfrm>
                <a:prstGeom prst="ellips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689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272" y="1128"/>
                  <a:ext cx="576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1pPr>
                  <a:lvl2pPr marL="742950" indent="-28575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2pPr>
                  <a:lvl3pPr marL="11430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3pPr>
                  <a:lvl4pPr marL="16002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4pPr>
                  <a:lvl5pPr marL="2057400" indent="-228600" eaLnBrk="0" hangingPunct="0"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Font typeface="Wingdings" pitchFamily="2" charset="2"/>
                    <a:defRPr sz="3200">
                      <a:solidFill>
                        <a:srgbClr val="FF0000"/>
                      </a:solidFill>
                      <a:latin typeface="Arial" charset="0"/>
                      <a:sym typeface="Wingdings" pitchFamily="2" charset="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sz="1400" u="sng">
                      <a:solidFill>
                        <a:srgbClr val="000000"/>
                      </a:solidFill>
                      <a:latin typeface="Tahoma" charset="0"/>
                    </a:rPr>
                    <a:t>MADA</a:t>
                  </a:r>
                </a:p>
              </p:txBody>
            </p:sp>
            <p:sp>
              <p:nvSpPr>
                <p:cNvPr id="36899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4368" y="1344"/>
                  <a:ext cx="96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6886" name="Oval 24"/>
              <p:cNvSpPr>
                <a:spLocks noChangeArrowheads="1"/>
              </p:cNvSpPr>
              <p:nvPr/>
            </p:nvSpPr>
            <p:spPr bwMode="auto">
              <a:xfrm>
                <a:off x="4032" y="1776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87" name="Text Box 25"/>
              <p:cNvSpPr txBox="1">
                <a:spLocks noChangeArrowheads="1"/>
              </p:cNvSpPr>
              <p:nvPr/>
            </p:nvSpPr>
            <p:spPr bwMode="auto">
              <a:xfrm>
                <a:off x="4032" y="1800"/>
                <a:ext cx="5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TENDA</a:t>
                </a:r>
              </a:p>
            </p:txBody>
          </p:sp>
          <p:sp>
            <p:nvSpPr>
              <p:cNvPr id="36888" name="Line 26"/>
              <p:cNvSpPr>
                <a:spLocks noChangeShapeType="1"/>
              </p:cNvSpPr>
              <p:nvPr/>
            </p:nvSpPr>
            <p:spPr bwMode="auto">
              <a:xfrm>
                <a:off x="4320" y="2016"/>
                <a:ext cx="144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89" name="Text Box 27"/>
              <p:cNvSpPr txBox="1">
                <a:spLocks noChangeArrowheads="1"/>
              </p:cNvSpPr>
              <p:nvPr/>
            </p:nvSpPr>
            <p:spPr bwMode="auto">
              <a:xfrm>
                <a:off x="2640" y="2880"/>
                <a:ext cx="1008" cy="239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ahoma" charset="0"/>
                  </a:rPr>
                  <a:t>THIETBI</a:t>
                </a:r>
              </a:p>
            </p:txBody>
          </p:sp>
          <p:sp>
            <p:nvSpPr>
              <p:cNvPr id="36890" name="Line 28"/>
              <p:cNvSpPr>
                <a:spLocks noChangeShapeType="1"/>
              </p:cNvSpPr>
              <p:nvPr/>
            </p:nvSpPr>
            <p:spPr bwMode="auto">
              <a:xfrm>
                <a:off x="3168" y="2592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91" name="Text Box 29"/>
              <p:cNvSpPr txBox="1">
                <a:spLocks noChangeArrowheads="1"/>
              </p:cNvSpPr>
              <p:nvPr/>
            </p:nvSpPr>
            <p:spPr bwMode="auto">
              <a:xfrm>
                <a:off x="1824" y="2880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 u="sng">
                    <a:solidFill>
                      <a:srgbClr val="000000"/>
                    </a:solidFill>
                    <a:latin typeface="Tahoma" charset="0"/>
                  </a:rPr>
                  <a:t>MATB</a:t>
                </a:r>
              </a:p>
            </p:txBody>
          </p:sp>
          <p:sp>
            <p:nvSpPr>
              <p:cNvPr id="36892" name="Line 30"/>
              <p:cNvSpPr>
                <a:spLocks noChangeShapeType="1"/>
              </p:cNvSpPr>
              <p:nvPr/>
            </p:nvSpPr>
            <p:spPr bwMode="auto">
              <a:xfrm flipH="1" flipV="1">
                <a:off x="2304" y="302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93" name="Oval 31"/>
              <p:cNvSpPr>
                <a:spLocks noChangeArrowheads="1"/>
              </p:cNvSpPr>
              <p:nvPr/>
            </p:nvSpPr>
            <p:spPr bwMode="auto">
              <a:xfrm>
                <a:off x="1776" y="2880"/>
                <a:ext cx="528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94" name="Text Box 32"/>
              <p:cNvSpPr txBox="1">
                <a:spLocks noChangeArrowheads="1"/>
              </p:cNvSpPr>
              <p:nvPr/>
            </p:nvSpPr>
            <p:spPr bwMode="auto">
              <a:xfrm>
                <a:off x="2496" y="1824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defRPr sz="3200">
                    <a:solidFill>
                      <a:srgbClr val="FF0000"/>
                    </a:solidFill>
                    <a:latin typeface="Arial" charset="0"/>
                    <a:sym typeface="Wingdings" pitchFamily="2" charset="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Tahoma" charset="0"/>
                  </a:rPr>
                  <a:t>SOLUONG</a:t>
                </a:r>
              </a:p>
            </p:txBody>
          </p:sp>
          <p:sp>
            <p:nvSpPr>
              <p:cNvPr id="36895" name="Line 33"/>
              <p:cNvSpPr>
                <a:spLocks noChangeShapeType="1"/>
              </p:cNvSpPr>
              <p:nvPr/>
            </p:nvSpPr>
            <p:spPr bwMode="auto">
              <a:xfrm>
                <a:off x="2784" y="2040"/>
                <a:ext cx="144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96" name="Oval 34"/>
              <p:cNvSpPr>
                <a:spLocks noChangeArrowheads="1"/>
              </p:cNvSpPr>
              <p:nvPr/>
            </p:nvSpPr>
            <p:spPr bwMode="auto">
              <a:xfrm>
                <a:off x="2503" y="1804"/>
                <a:ext cx="576" cy="24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6875" name="Text Box 35"/>
            <p:cNvSpPr txBox="1">
              <a:spLocks noChangeArrowheads="1"/>
            </p:cNvSpPr>
            <p:nvPr/>
          </p:nvSpPr>
          <p:spPr bwMode="auto">
            <a:xfrm>
              <a:off x="1680" y="3792"/>
              <a:ext cx="3216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CUNGCAP(</a:t>
              </a:r>
              <a:r>
                <a:rPr lang="en-US" sz="1800" u="sng">
                  <a:solidFill>
                    <a:srgbClr val="000000"/>
                  </a:solidFill>
                  <a:latin typeface="Tahoma" charset="0"/>
                </a:rPr>
                <a:t>MANCC, MATB, MADA</a:t>
              </a:r>
              <a:r>
                <a:rPr lang="en-US" sz="1800">
                  <a:solidFill>
                    <a:srgbClr val="000000"/>
                  </a:solidFill>
                  <a:latin typeface="Tahoma" charset="0"/>
                </a:rPr>
                <a:t>, SOLUONG)</a:t>
              </a:r>
            </a:p>
          </p:txBody>
        </p:sp>
        <p:sp>
          <p:nvSpPr>
            <p:cNvPr id="36876" name="Line 36"/>
            <p:cNvSpPr>
              <a:spLocks noChangeShapeType="1"/>
            </p:cNvSpPr>
            <p:nvPr/>
          </p:nvSpPr>
          <p:spPr bwMode="auto">
            <a:xfrm>
              <a:off x="1392" y="3360"/>
              <a:ext cx="1248" cy="432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877" name="Line 37"/>
            <p:cNvSpPr>
              <a:spLocks noChangeShapeType="1"/>
            </p:cNvSpPr>
            <p:nvPr/>
          </p:nvSpPr>
          <p:spPr bwMode="auto">
            <a:xfrm>
              <a:off x="3216" y="3504"/>
              <a:ext cx="48" cy="288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878" name="Line 38"/>
            <p:cNvSpPr>
              <a:spLocks noChangeShapeType="1"/>
            </p:cNvSpPr>
            <p:nvPr/>
          </p:nvSpPr>
          <p:spPr bwMode="auto">
            <a:xfrm flipH="1">
              <a:off x="3648" y="3072"/>
              <a:ext cx="1248" cy="768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11648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6.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Chuyển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đổi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ERD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sym typeface="Wingdings" pitchFamily="2" charset="2"/>
              </a:rPr>
              <a:t>sang RDM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31EA4-F857-4235-B777-C28246AF02BF}" type="slidenum">
              <a:rPr lang="en-US"/>
              <a:pPr>
                <a:defRPr/>
              </a:pPr>
              <a:t>84</a:t>
            </a:fld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4800" y="1447800"/>
            <a:ext cx="4262438" cy="4800600"/>
          </a:xfrm>
        </p:spPr>
        <p:txBody>
          <a:bodyPr/>
          <a:lstStyle/>
          <a:p>
            <a:pPr marL="457200" lvl="1" indent="0" algn="ctr" eaLnBrk="1" hangingPunct="1">
              <a:buNone/>
            </a:pPr>
            <a:r>
              <a:rPr lang="en-US" sz="2400" b="1" dirty="0"/>
              <a:t>ERD</a:t>
            </a:r>
          </a:p>
          <a:p>
            <a:pPr marL="457200" lvl="1" indent="0" eaLnBrk="1" hangingPunct="1"/>
            <a:r>
              <a:rPr lang="en-US" sz="2000" dirty="0" err="1"/>
              <a:t>Loại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1:1, 1:N</a:t>
            </a:r>
          </a:p>
          <a:p>
            <a:pPr marL="457200" lvl="1" indent="0" eaLnBrk="1" hangingPunct="1"/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N:M</a:t>
            </a:r>
          </a:p>
          <a:p>
            <a:pPr marL="457200" lvl="1" indent="0" eaLnBrk="1" hangingPunct="1"/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đa</a:t>
            </a:r>
            <a:r>
              <a:rPr lang="en-US" sz="2000" dirty="0"/>
              <a:t> </a:t>
            </a:r>
            <a:r>
              <a:rPr lang="en-US" sz="2000" dirty="0" err="1"/>
              <a:t>ngôi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phức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đa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khóa</a:t>
            </a:r>
            <a:endParaRPr lang="en-US" sz="2000" dirty="0"/>
          </a:p>
        </p:txBody>
      </p:sp>
      <p:sp>
        <p:nvSpPr>
          <p:cNvPr id="37892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33912" y="1447800"/>
            <a:ext cx="4281487" cy="4719638"/>
          </a:xfrm>
        </p:spPr>
        <p:txBody>
          <a:bodyPr/>
          <a:lstStyle/>
          <a:p>
            <a:pPr marL="457200" lvl="1" indent="0" algn="ctr" eaLnBrk="1" hangingPunct="1">
              <a:buNone/>
            </a:pPr>
            <a:r>
              <a:rPr lang="en-US" sz="2400" b="1" dirty="0"/>
              <a:t>RDM</a:t>
            </a:r>
          </a:p>
          <a:p>
            <a:pPr marL="457200" lvl="1" indent="0" eaLnBrk="1" hangingPunct="1"/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ngoài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2 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ngoài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n 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ngoài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ngoài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Miền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endParaRPr lang="en-US" sz="2000" dirty="0"/>
          </a:p>
          <a:p>
            <a:pPr marL="457200" lvl="1" indent="0" eaLnBrk="1" hangingPunct="1"/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(</a:t>
            </a:r>
            <a:r>
              <a:rPr lang="en-US" sz="2000" dirty="0" err="1"/>
              <a:t>khóa</a:t>
            </a:r>
            <a:r>
              <a:rPr lang="en-US" sz="2000" dirty="0"/>
              <a:t> </a:t>
            </a:r>
            <a:r>
              <a:rPr lang="en-US" sz="2000" dirty="0" err="1"/>
              <a:t>dự</a:t>
            </a:r>
            <a:r>
              <a:rPr lang="en-US" sz="2000" dirty="0"/>
              <a:t> </a:t>
            </a:r>
            <a:r>
              <a:rPr lang="en-US" sz="2000" dirty="0" err="1"/>
              <a:t>tuyển</a:t>
            </a:r>
            <a:r>
              <a:rPr lang="en-US" sz="2000" dirty="0"/>
              <a:t>)</a:t>
            </a:r>
          </a:p>
        </p:txBody>
      </p:sp>
      <p:sp>
        <p:nvSpPr>
          <p:cNvPr id="37895" name="AutoShape 5"/>
          <p:cNvSpPr>
            <a:spLocks noChangeArrowheads="1"/>
          </p:cNvSpPr>
          <p:nvPr/>
        </p:nvSpPr>
        <p:spPr bwMode="auto">
          <a:xfrm rot="5400000">
            <a:off x="4089472" y="2802731"/>
            <a:ext cx="1019175" cy="747713"/>
          </a:xfrm>
          <a:prstGeom prst="upArrow">
            <a:avLst>
              <a:gd name="adj1" fmla="val 44563"/>
              <a:gd name="adj2" fmla="val 34265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33207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D35E3F-8C85-4B6F-9E56-1DBC864AE93F}" type="slidenum">
              <a:rPr lang="en-US"/>
              <a:pPr>
                <a:defRPr/>
              </a:pPr>
              <a:t>85</a:t>
            </a:fld>
            <a:endParaRPr lang="en-US"/>
          </a:p>
        </p:txBody>
      </p:sp>
      <p:grpSp>
        <p:nvGrpSpPr>
          <p:cNvPr id="38917" name="Group 77"/>
          <p:cNvGrpSpPr>
            <a:grpSpLocks/>
          </p:cNvGrpSpPr>
          <p:nvPr/>
        </p:nvGrpSpPr>
        <p:grpSpPr bwMode="auto">
          <a:xfrm>
            <a:off x="322527" y="609600"/>
            <a:ext cx="8516673" cy="5410200"/>
            <a:chOff x="412" y="816"/>
            <a:chExt cx="5012" cy="3264"/>
          </a:xfrm>
        </p:grpSpPr>
        <p:sp>
          <p:nvSpPr>
            <p:cNvPr id="38918" name="Line 3"/>
            <p:cNvSpPr>
              <a:spLocks noChangeShapeType="1"/>
            </p:cNvSpPr>
            <p:nvPr/>
          </p:nvSpPr>
          <p:spPr bwMode="auto">
            <a:xfrm>
              <a:off x="1329" y="1458"/>
              <a:ext cx="328" cy="3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19" name="Rectangle 4"/>
            <p:cNvSpPr>
              <a:spLocks noChangeArrowheads="1"/>
            </p:cNvSpPr>
            <p:nvPr/>
          </p:nvSpPr>
          <p:spPr bwMode="auto">
            <a:xfrm>
              <a:off x="1574" y="1777"/>
              <a:ext cx="986" cy="2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NHÂNVIÊN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0" name="Rectangle 5"/>
            <p:cNvSpPr>
              <a:spLocks noChangeArrowheads="1"/>
            </p:cNvSpPr>
            <p:nvPr/>
          </p:nvSpPr>
          <p:spPr bwMode="auto">
            <a:xfrm>
              <a:off x="4201" y="1777"/>
              <a:ext cx="738" cy="2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ĐƠNVỊ</a:t>
              </a:r>
              <a:endParaRPr lang="en-US" sz="1800">
                <a:solidFill>
                  <a:srgbClr val="000000"/>
                </a:solidFill>
                <a:latin typeface="Tahoma" charset="0"/>
                <a:ea typeface="Batang" pitchFamily="18" charset="-127"/>
                <a:cs typeface="Times New Roman" pitchFamily="18" charset="0"/>
              </a:endParaRPr>
            </a:p>
          </p:txBody>
        </p:sp>
        <p:sp>
          <p:nvSpPr>
            <p:cNvPr id="38921" name="Rectangle 6"/>
            <p:cNvSpPr>
              <a:spLocks noChangeArrowheads="1"/>
            </p:cNvSpPr>
            <p:nvPr/>
          </p:nvSpPr>
          <p:spPr bwMode="auto">
            <a:xfrm>
              <a:off x="904" y="3311"/>
              <a:ext cx="985" cy="256"/>
            </a:xfrm>
            <a:prstGeom prst="rect">
              <a:avLst/>
            </a:prstGeom>
            <a:solidFill>
              <a:srgbClr val="FFFFFF"/>
            </a:solidFill>
            <a:ln w="38100" cmpd="dbl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CON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2" name="Rectangle 7"/>
            <p:cNvSpPr>
              <a:spLocks noChangeArrowheads="1"/>
            </p:cNvSpPr>
            <p:nvPr/>
          </p:nvSpPr>
          <p:spPr bwMode="auto">
            <a:xfrm>
              <a:off x="4192" y="3256"/>
              <a:ext cx="821" cy="2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DỰÁN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3" name="AutoShape 8"/>
            <p:cNvSpPr>
              <a:spLocks noChangeArrowheads="1"/>
            </p:cNvSpPr>
            <p:nvPr/>
          </p:nvSpPr>
          <p:spPr bwMode="auto">
            <a:xfrm>
              <a:off x="2805" y="1393"/>
              <a:ext cx="903" cy="257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Quảnlý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4" name="AutoShape 9"/>
            <p:cNvSpPr>
              <a:spLocks noChangeArrowheads="1"/>
            </p:cNvSpPr>
            <p:nvPr/>
          </p:nvSpPr>
          <p:spPr bwMode="auto">
            <a:xfrm>
              <a:off x="2888" y="2163"/>
              <a:ext cx="984" cy="25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0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Làmviệccho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5" name="AutoShape 10"/>
            <p:cNvSpPr>
              <a:spLocks noChangeArrowheads="1"/>
            </p:cNvSpPr>
            <p:nvPr/>
          </p:nvSpPr>
          <p:spPr bwMode="auto">
            <a:xfrm>
              <a:off x="4201" y="2547"/>
              <a:ext cx="902" cy="321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Kiểm soát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6" name="AutoShape 11"/>
            <p:cNvSpPr>
              <a:spLocks noChangeArrowheads="1"/>
            </p:cNvSpPr>
            <p:nvPr/>
          </p:nvSpPr>
          <p:spPr bwMode="auto">
            <a:xfrm>
              <a:off x="2915" y="2932"/>
              <a:ext cx="903" cy="321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Làmviệc</a:t>
              </a:r>
              <a:r>
                <a:rPr lang="en-US" altLang="ko-KR" sz="8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 trên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7" name="AutoShape 12"/>
            <p:cNvSpPr>
              <a:spLocks noChangeArrowheads="1"/>
            </p:cNvSpPr>
            <p:nvPr/>
          </p:nvSpPr>
          <p:spPr bwMode="auto">
            <a:xfrm>
              <a:off x="744" y="2355"/>
              <a:ext cx="984" cy="321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Giám sát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8" name="AutoShape 13"/>
            <p:cNvSpPr>
              <a:spLocks noChangeArrowheads="1"/>
            </p:cNvSpPr>
            <p:nvPr/>
          </p:nvSpPr>
          <p:spPr bwMode="auto">
            <a:xfrm>
              <a:off x="1634" y="2497"/>
              <a:ext cx="984" cy="384"/>
            </a:xfrm>
            <a:prstGeom prst="diamond">
              <a:avLst/>
            </a:prstGeom>
            <a:solidFill>
              <a:srgbClr val="FFFFFF"/>
            </a:solidFill>
            <a:ln w="38100" cmpd="dbl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2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Có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29" name="Line 14"/>
            <p:cNvSpPr>
              <a:spLocks noChangeShapeType="1"/>
            </p:cNvSpPr>
            <p:nvPr/>
          </p:nvSpPr>
          <p:spPr bwMode="auto">
            <a:xfrm>
              <a:off x="2067" y="1777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0" name="Line 15"/>
            <p:cNvSpPr>
              <a:spLocks noChangeShapeType="1"/>
            </p:cNvSpPr>
            <p:nvPr/>
          </p:nvSpPr>
          <p:spPr bwMode="auto">
            <a:xfrm flipV="1">
              <a:off x="2560" y="1521"/>
              <a:ext cx="245" cy="25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Line 16"/>
            <p:cNvSpPr>
              <a:spLocks noChangeShapeType="1"/>
            </p:cNvSpPr>
            <p:nvPr/>
          </p:nvSpPr>
          <p:spPr bwMode="auto">
            <a:xfrm>
              <a:off x="3708" y="1521"/>
              <a:ext cx="493" cy="25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2" name="Line 17"/>
            <p:cNvSpPr>
              <a:spLocks noChangeShapeType="1"/>
            </p:cNvSpPr>
            <p:nvPr/>
          </p:nvSpPr>
          <p:spPr bwMode="auto">
            <a:xfrm>
              <a:off x="2560" y="2034"/>
              <a:ext cx="328" cy="25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3" name="Line 18"/>
            <p:cNvSpPr>
              <a:spLocks noChangeShapeType="1"/>
            </p:cNvSpPr>
            <p:nvPr/>
          </p:nvSpPr>
          <p:spPr bwMode="auto">
            <a:xfrm flipV="1">
              <a:off x="3872" y="2034"/>
              <a:ext cx="329" cy="25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4" name="Line 19"/>
            <p:cNvSpPr>
              <a:spLocks noChangeShapeType="1"/>
            </p:cNvSpPr>
            <p:nvPr/>
          </p:nvSpPr>
          <p:spPr bwMode="auto">
            <a:xfrm>
              <a:off x="2314" y="2034"/>
              <a:ext cx="625" cy="10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5" name="Line 20"/>
            <p:cNvSpPr>
              <a:spLocks noChangeShapeType="1"/>
            </p:cNvSpPr>
            <p:nvPr/>
          </p:nvSpPr>
          <p:spPr bwMode="auto">
            <a:xfrm>
              <a:off x="3763" y="3094"/>
              <a:ext cx="690" cy="162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6" name="Line 21"/>
            <p:cNvSpPr>
              <a:spLocks noChangeShapeType="1"/>
            </p:cNvSpPr>
            <p:nvPr/>
          </p:nvSpPr>
          <p:spPr bwMode="auto">
            <a:xfrm flipV="1">
              <a:off x="836" y="2034"/>
              <a:ext cx="738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7" name="Line 22"/>
            <p:cNvSpPr>
              <a:spLocks noChangeShapeType="1"/>
            </p:cNvSpPr>
            <p:nvPr/>
          </p:nvSpPr>
          <p:spPr bwMode="auto">
            <a:xfrm flipV="1">
              <a:off x="1657" y="2034"/>
              <a:ext cx="82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Line 23"/>
            <p:cNvSpPr>
              <a:spLocks noChangeShapeType="1"/>
            </p:cNvSpPr>
            <p:nvPr/>
          </p:nvSpPr>
          <p:spPr bwMode="auto">
            <a:xfrm>
              <a:off x="2067" y="2034"/>
              <a:ext cx="37" cy="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9" name="Line 24"/>
            <p:cNvSpPr>
              <a:spLocks noChangeShapeType="1"/>
            </p:cNvSpPr>
            <p:nvPr/>
          </p:nvSpPr>
          <p:spPr bwMode="auto">
            <a:xfrm flipH="1">
              <a:off x="1373" y="2877"/>
              <a:ext cx="731" cy="434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0" name="Line 25"/>
            <p:cNvSpPr>
              <a:spLocks noChangeShapeType="1"/>
            </p:cNvSpPr>
            <p:nvPr/>
          </p:nvSpPr>
          <p:spPr bwMode="auto">
            <a:xfrm>
              <a:off x="4529" y="2034"/>
              <a:ext cx="82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1" name="Line 26"/>
            <p:cNvSpPr>
              <a:spLocks noChangeShapeType="1"/>
            </p:cNvSpPr>
            <p:nvPr/>
          </p:nvSpPr>
          <p:spPr bwMode="auto">
            <a:xfrm>
              <a:off x="4611" y="2868"/>
              <a:ext cx="51" cy="388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2" name="Oval 27"/>
            <p:cNvSpPr>
              <a:spLocks noChangeArrowheads="1"/>
            </p:cNvSpPr>
            <p:nvPr/>
          </p:nvSpPr>
          <p:spPr bwMode="auto">
            <a:xfrm>
              <a:off x="3979" y="1266"/>
              <a:ext cx="40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 u="sng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Mãsố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43" name="Oval 28"/>
            <p:cNvSpPr>
              <a:spLocks noChangeArrowheads="1"/>
            </p:cNvSpPr>
            <p:nvPr/>
          </p:nvSpPr>
          <p:spPr bwMode="auto">
            <a:xfrm>
              <a:off x="4416" y="1265"/>
              <a:ext cx="410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 u="sng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Tên 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44" name="Oval 29"/>
            <p:cNvSpPr>
              <a:spLocks noChangeArrowheads="1"/>
            </p:cNvSpPr>
            <p:nvPr/>
          </p:nvSpPr>
          <p:spPr bwMode="auto">
            <a:xfrm>
              <a:off x="4853" y="1281"/>
              <a:ext cx="571" cy="257"/>
            </a:xfrm>
            <a:prstGeom prst="ellipse">
              <a:avLst/>
            </a:prstGeom>
            <a:solidFill>
              <a:srgbClr val="FFFFFF"/>
            </a:solidFill>
            <a:ln w="38100" cmpd="dbl">
              <a:solidFill>
                <a:srgbClr val="000000"/>
              </a:solidFill>
              <a:round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Địađiểm</a:t>
              </a:r>
              <a:endParaRPr lang="en-US" sz="1800">
                <a:solidFill>
                  <a:srgbClr val="000000"/>
                </a:solidFill>
                <a:latin typeface="Tahoma" charset="0"/>
                <a:ea typeface="Batang" pitchFamily="18" charset="-127"/>
                <a:cs typeface="Times New Roman" pitchFamily="18" charset="0"/>
              </a:endParaRPr>
            </a:p>
          </p:txBody>
        </p:sp>
        <p:sp>
          <p:nvSpPr>
            <p:cNvPr id="38945" name="Oval 30"/>
            <p:cNvSpPr>
              <a:spLocks noChangeArrowheads="1"/>
            </p:cNvSpPr>
            <p:nvPr/>
          </p:nvSpPr>
          <p:spPr bwMode="auto">
            <a:xfrm>
              <a:off x="919" y="1265"/>
              <a:ext cx="492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Họtên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46" name="Oval 31"/>
            <p:cNvSpPr>
              <a:spLocks noChangeArrowheads="1"/>
            </p:cNvSpPr>
            <p:nvPr/>
          </p:nvSpPr>
          <p:spPr bwMode="auto">
            <a:xfrm>
              <a:off x="672" y="1714"/>
              <a:ext cx="493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 u="sng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Mã số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47" name="Oval 32"/>
            <p:cNvSpPr>
              <a:spLocks noChangeArrowheads="1"/>
            </p:cNvSpPr>
            <p:nvPr/>
          </p:nvSpPr>
          <p:spPr bwMode="auto">
            <a:xfrm>
              <a:off x="590" y="816"/>
              <a:ext cx="575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Họ</a:t>
              </a: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đ</a:t>
              </a: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ệm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48" name="Oval 33"/>
            <p:cNvSpPr>
              <a:spLocks noChangeArrowheads="1"/>
            </p:cNvSpPr>
            <p:nvPr/>
          </p:nvSpPr>
          <p:spPr bwMode="auto">
            <a:xfrm>
              <a:off x="1165" y="816"/>
              <a:ext cx="492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Tên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49" name="Oval 34"/>
            <p:cNvSpPr>
              <a:spLocks noChangeArrowheads="1"/>
            </p:cNvSpPr>
            <p:nvPr/>
          </p:nvSpPr>
          <p:spPr bwMode="auto">
            <a:xfrm>
              <a:off x="1302" y="1072"/>
              <a:ext cx="601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0800" rIns="0" bIns="1080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Ngàysinh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50" name="Oval 35"/>
            <p:cNvSpPr>
              <a:spLocks noChangeArrowheads="1"/>
            </p:cNvSpPr>
            <p:nvPr/>
          </p:nvSpPr>
          <p:spPr bwMode="auto">
            <a:xfrm>
              <a:off x="2395" y="1137"/>
              <a:ext cx="439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Lương</a:t>
              </a:r>
              <a:endParaRPr lang="en-US" sz="1800">
                <a:solidFill>
                  <a:srgbClr val="000000"/>
                </a:solidFill>
                <a:latin typeface="Tahoma" charset="0"/>
                <a:ea typeface="Batang" pitchFamily="18" charset="-127"/>
                <a:cs typeface="Times New Roman" pitchFamily="18" charset="0"/>
              </a:endParaRPr>
            </a:p>
          </p:txBody>
        </p:sp>
        <p:sp>
          <p:nvSpPr>
            <p:cNvPr id="38951" name="Oval 36"/>
            <p:cNvSpPr>
              <a:spLocks noChangeArrowheads="1"/>
            </p:cNvSpPr>
            <p:nvPr/>
          </p:nvSpPr>
          <p:spPr bwMode="auto">
            <a:xfrm>
              <a:off x="1903" y="1137"/>
              <a:ext cx="492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Giớitính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52" name="Oval 37"/>
            <p:cNvSpPr>
              <a:spLocks noChangeArrowheads="1"/>
            </p:cNvSpPr>
            <p:nvPr/>
          </p:nvSpPr>
          <p:spPr bwMode="auto">
            <a:xfrm>
              <a:off x="2834" y="1137"/>
              <a:ext cx="437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Địachỉ</a:t>
              </a:r>
              <a:endParaRPr lang="en-US" sz="1800">
                <a:solidFill>
                  <a:srgbClr val="000000"/>
                </a:solidFill>
                <a:latin typeface="Tahoma" charset="0"/>
                <a:ea typeface="Batang" pitchFamily="18" charset="-127"/>
                <a:cs typeface="Times New Roman" pitchFamily="18" charset="0"/>
              </a:endParaRPr>
            </a:p>
          </p:txBody>
        </p:sp>
        <p:sp>
          <p:nvSpPr>
            <p:cNvPr id="38953" name="Oval 38"/>
            <p:cNvSpPr>
              <a:spLocks noChangeArrowheads="1"/>
            </p:cNvSpPr>
            <p:nvPr/>
          </p:nvSpPr>
          <p:spPr bwMode="auto">
            <a:xfrm>
              <a:off x="3298" y="1072"/>
              <a:ext cx="734" cy="1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Ngày bắ</a:t>
              </a: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t đ</a:t>
              </a: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ầu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54" name="Oval 39"/>
            <p:cNvSpPr>
              <a:spLocks noChangeArrowheads="1"/>
            </p:cNvSpPr>
            <p:nvPr/>
          </p:nvSpPr>
          <p:spPr bwMode="auto">
            <a:xfrm>
              <a:off x="3134" y="2611"/>
              <a:ext cx="492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Sốgiờ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55" name="Oval 40"/>
            <p:cNvSpPr>
              <a:spLocks noChangeArrowheads="1"/>
            </p:cNvSpPr>
            <p:nvPr/>
          </p:nvSpPr>
          <p:spPr bwMode="auto">
            <a:xfrm>
              <a:off x="412" y="3824"/>
              <a:ext cx="57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Tên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56" name="Oval 41"/>
            <p:cNvSpPr>
              <a:spLocks noChangeArrowheads="1"/>
            </p:cNvSpPr>
            <p:nvPr/>
          </p:nvSpPr>
          <p:spPr bwMode="auto">
            <a:xfrm>
              <a:off x="1068" y="3824"/>
              <a:ext cx="657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Ngàysinh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57" name="Oval 42"/>
            <p:cNvSpPr>
              <a:spLocks noChangeArrowheads="1"/>
            </p:cNvSpPr>
            <p:nvPr/>
          </p:nvSpPr>
          <p:spPr bwMode="auto">
            <a:xfrm>
              <a:off x="1806" y="3824"/>
              <a:ext cx="57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rIns="0"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Giớitính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58" name="Oval 43"/>
            <p:cNvSpPr>
              <a:spLocks noChangeArrowheads="1"/>
            </p:cNvSpPr>
            <p:nvPr/>
          </p:nvSpPr>
          <p:spPr bwMode="auto">
            <a:xfrm>
              <a:off x="3454" y="3705"/>
              <a:ext cx="574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 u="sng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Tên 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59" name="Oval 44"/>
            <p:cNvSpPr>
              <a:spLocks noChangeArrowheads="1"/>
            </p:cNvSpPr>
            <p:nvPr/>
          </p:nvSpPr>
          <p:spPr bwMode="auto">
            <a:xfrm>
              <a:off x="4110" y="3705"/>
              <a:ext cx="57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 u="sng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</a:rPr>
                <a:t>Mãsố</a:t>
              </a:r>
              <a:endParaRPr lang="en-US" sz="1800">
                <a:solidFill>
                  <a:srgbClr val="000000"/>
                </a:solidFill>
                <a:latin typeface="Tahoma" charset="0"/>
              </a:endParaRPr>
            </a:p>
          </p:txBody>
        </p:sp>
        <p:sp>
          <p:nvSpPr>
            <p:cNvPr id="38960" name="Oval 45"/>
            <p:cNvSpPr>
              <a:spLocks noChangeArrowheads="1"/>
            </p:cNvSpPr>
            <p:nvPr/>
          </p:nvSpPr>
          <p:spPr bwMode="auto">
            <a:xfrm>
              <a:off x="4766" y="3705"/>
              <a:ext cx="657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1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Địađiểm</a:t>
              </a:r>
              <a:r>
                <a:rPr lang="en-US" altLang="ko-KR" sz="1000">
                  <a:solidFill>
                    <a:srgbClr val="000000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 </a:t>
              </a:r>
              <a:endParaRPr lang="en-US" sz="1800">
                <a:solidFill>
                  <a:srgbClr val="000000"/>
                </a:solidFill>
                <a:latin typeface="Tahoma" charset="0"/>
                <a:ea typeface="Batang" pitchFamily="18" charset="-127"/>
                <a:cs typeface="Times New Roman" pitchFamily="18" charset="0"/>
              </a:endParaRPr>
            </a:p>
          </p:txBody>
        </p:sp>
        <p:sp>
          <p:nvSpPr>
            <p:cNvPr id="38961" name="Line 46"/>
            <p:cNvSpPr>
              <a:spLocks noChangeShapeType="1"/>
            </p:cNvSpPr>
            <p:nvPr/>
          </p:nvSpPr>
          <p:spPr bwMode="auto">
            <a:xfrm>
              <a:off x="1165" y="1842"/>
              <a:ext cx="4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2" name="Line 47"/>
            <p:cNvSpPr>
              <a:spLocks noChangeShapeType="1"/>
            </p:cNvSpPr>
            <p:nvPr/>
          </p:nvSpPr>
          <p:spPr bwMode="auto">
            <a:xfrm>
              <a:off x="836" y="1008"/>
              <a:ext cx="247" cy="2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3" name="Line 48"/>
            <p:cNvSpPr>
              <a:spLocks noChangeShapeType="1"/>
            </p:cNvSpPr>
            <p:nvPr/>
          </p:nvSpPr>
          <p:spPr bwMode="auto">
            <a:xfrm flipH="1">
              <a:off x="1165" y="1008"/>
              <a:ext cx="164" cy="2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4" name="Line 49"/>
            <p:cNvSpPr>
              <a:spLocks noChangeShapeType="1"/>
            </p:cNvSpPr>
            <p:nvPr/>
          </p:nvSpPr>
          <p:spPr bwMode="auto">
            <a:xfrm>
              <a:off x="1657" y="1329"/>
              <a:ext cx="82" cy="4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5" name="Line 50"/>
            <p:cNvSpPr>
              <a:spLocks noChangeShapeType="1"/>
            </p:cNvSpPr>
            <p:nvPr/>
          </p:nvSpPr>
          <p:spPr bwMode="auto">
            <a:xfrm flipH="1">
              <a:off x="1903" y="1393"/>
              <a:ext cx="83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6" name="Line 51"/>
            <p:cNvSpPr>
              <a:spLocks noChangeShapeType="1"/>
            </p:cNvSpPr>
            <p:nvPr/>
          </p:nvSpPr>
          <p:spPr bwMode="auto">
            <a:xfrm flipH="1">
              <a:off x="2177" y="1393"/>
              <a:ext cx="328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7" name="Line 52"/>
            <p:cNvSpPr>
              <a:spLocks noChangeShapeType="1"/>
            </p:cNvSpPr>
            <p:nvPr/>
          </p:nvSpPr>
          <p:spPr bwMode="auto">
            <a:xfrm flipH="1">
              <a:off x="2286" y="1329"/>
              <a:ext cx="575" cy="4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8" name="Line 53"/>
            <p:cNvSpPr>
              <a:spLocks noChangeShapeType="1"/>
            </p:cNvSpPr>
            <p:nvPr/>
          </p:nvSpPr>
          <p:spPr bwMode="auto">
            <a:xfrm flipH="1">
              <a:off x="3462" y="1265"/>
              <a:ext cx="164" cy="1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9" name="Line 54"/>
            <p:cNvSpPr>
              <a:spLocks noChangeShapeType="1"/>
            </p:cNvSpPr>
            <p:nvPr/>
          </p:nvSpPr>
          <p:spPr bwMode="auto">
            <a:xfrm>
              <a:off x="4201" y="1521"/>
              <a:ext cx="246" cy="2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0" name="Line 55"/>
            <p:cNvSpPr>
              <a:spLocks noChangeShapeType="1"/>
            </p:cNvSpPr>
            <p:nvPr/>
          </p:nvSpPr>
          <p:spPr bwMode="auto">
            <a:xfrm>
              <a:off x="4611" y="1458"/>
              <a:ext cx="0" cy="3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1" name="Line 56"/>
            <p:cNvSpPr>
              <a:spLocks noChangeShapeType="1"/>
            </p:cNvSpPr>
            <p:nvPr/>
          </p:nvSpPr>
          <p:spPr bwMode="auto">
            <a:xfrm flipH="1">
              <a:off x="4775" y="1538"/>
              <a:ext cx="298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2" name="Line 57"/>
            <p:cNvSpPr>
              <a:spLocks noChangeShapeType="1"/>
            </p:cNvSpPr>
            <p:nvPr/>
          </p:nvSpPr>
          <p:spPr bwMode="auto">
            <a:xfrm>
              <a:off x="3381" y="2803"/>
              <a:ext cx="0" cy="1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3" name="Line 58"/>
            <p:cNvSpPr>
              <a:spLocks noChangeShapeType="1"/>
            </p:cNvSpPr>
            <p:nvPr/>
          </p:nvSpPr>
          <p:spPr bwMode="auto">
            <a:xfrm flipH="1">
              <a:off x="739" y="3567"/>
              <a:ext cx="411" cy="2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4" name="Line 59"/>
            <p:cNvSpPr>
              <a:spLocks noChangeShapeType="1"/>
            </p:cNvSpPr>
            <p:nvPr/>
          </p:nvSpPr>
          <p:spPr bwMode="auto">
            <a:xfrm>
              <a:off x="1315" y="3567"/>
              <a:ext cx="81" cy="2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5" name="Line 60"/>
            <p:cNvSpPr>
              <a:spLocks noChangeShapeType="1"/>
            </p:cNvSpPr>
            <p:nvPr/>
          </p:nvSpPr>
          <p:spPr bwMode="auto">
            <a:xfrm>
              <a:off x="1396" y="3567"/>
              <a:ext cx="574" cy="2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6" name="Line 61"/>
            <p:cNvSpPr>
              <a:spLocks noChangeShapeType="1"/>
            </p:cNvSpPr>
            <p:nvPr/>
          </p:nvSpPr>
          <p:spPr bwMode="auto">
            <a:xfrm flipH="1">
              <a:off x="3864" y="3513"/>
              <a:ext cx="411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7" name="Line 62"/>
            <p:cNvSpPr>
              <a:spLocks noChangeShapeType="1"/>
            </p:cNvSpPr>
            <p:nvPr/>
          </p:nvSpPr>
          <p:spPr bwMode="auto">
            <a:xfrm flipH="1">
              <a:off x="4439" y="3513"/>
              <a:ext cx="81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8" name="Line 63"/>
            <p:cNvSpPr>
              <a:spLocks noChangeShapeType="1"/>
            </p:cNvSpPr>
            <p:nvPr/>
          </p:nvSpPr>
          <p:spPr bwMode="auto">
            <a:xfrm>
              <a:off x="4685" y="3513"/>
              <a:ext cx="328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9" name="Text Box 64"/>
            <p:cNvSpPr txBox="1">
              <a:spLocks noChangeArrowheads="1"/>
            </p:cNvSpPr>
            <p:nvPr/>
          </p:nvSpPr>
          <p:spPr bwMode="auto">
            <a:xfrm>
              <a:off x="4000" y="2160"/>
              <a:ext cx="30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(1,N)</a:t>
              </a:r>
            </a:p>
          </p:txBody>
        </p:sp>
        <p:sp>
          <p:nvSpPr>
            <p:cNvPr id="38980" name="Text Box 65"/>
            <p:cNvSpPr txBox="1">
              <a:spLocks noChangeArrowheads="1"/>
            </p:cNvSpPr>
            <p:nvPr/>
          </p:nvSpPr>
          <p:spPr bwMode="auto">
            <a:xfrm>
              <a:off x="4671" y="2928"/>
              <a:ext cx="291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  <p:sp>
          <p:nvSpPr>
            <p:cNvPr id="38981" name="Text Box 66"/>
            <p:cNvSpPr txBox="1">
              <a:spLocks noChangeArrowheads="1"/>
            </p:cNvSpPr>
            <p:nvPr/>
          </p:nvSpPr>
          <p:spPr bwMode="auto">
            <a:xfrm>
              <a:off x="2703" y="2016"/>
              <a:ext cx="291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  <p:sp>
          <p:nvSpPr>
            <p:cNvPr id="38982" name="Text Box 67"/>
            <p:cNvSpPr txBox="1">
              <a:spLocks noChangeArrowheads="1"/>
            </p:cNvSpPr>
            <p:nvPr/>
          </p:nvSpPr>
          <p:spPr bwMode="auto">
            <a:xfrm>
              <a:off x="1647" y="2160"/>
              <a:ext cx="29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(0,1)</a:t>
              </a:r>
            </a:p>
          </p:txBody>
        </p:sp>
        <p:sp>
          <p:nvSpPr>
            <p:cNvPr id="38983" name="Text Box 68"/>
            <p:cNvSpPr txBox="1">
              <a:spLocks noChangeArrowheads="1"/>
            </p:cNvSpPr>
            <p:nvPr/>
          </p:nvSpPr>
          <p:spPr bwMode="auto">
            <a:xfrm>
              <a:off x="4576" y="2160"/>
              <a:ext cx="30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(0,N)</a:t>
              </a:r>
            </a:p>
          </p:txBody>
        </p:sp>
        <p:sp>
          <p:nvSpPr>
            <p:cNvPr id="38984" name="Text Box 69"/>
            <p:cNvSpPr txBox="1">
              <a:spLocks noChangeArrowheads="1"/>
            </p:cNvSpPr>
            <p:nvPr/>
          </p:nvSpPr>
          <p:spPr bwMode="auto">
            <a:xfrm>
              <a:off x="2608" y="2496"/>
              <a:ext cx="302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(1,N)</a:t>
              </a:r>
            </a:p>
          </p:txBody>
        </p:sp>
        <p:sp>
          <p:nvSpPr>
            <p:cNvPr id="38985" name="Text Box 70"/>
            <p:cNvSpPr txBox="1">
              <a:spLocks noChangeArrowheads="1"/>
            </p:cNvSpPr>
            <p:nvPr/>
          </p:nvSpPr>
          <p:spPr bwMode="auto">
            <a:xfrm>
              <a:off x="3905" y="2976"/>
              <a:ext cx="30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(1,N)</a:t>
              </a:r>
            </a:p>
          </p:txBody>
        </p:sp>
        <p:sp>
          <p:nvSpPr>
            <p:cNvPr id="38986" name="Text Box 71"/>
            <p:cNvSpPr txBox="1">
              <a:spLocks noChangeArrowheads="1"/>
            </p:cNvSpPr>
            <p:nvPr/>
          </p:nvSpPr>
          <p:spPr bwMode="auto">
            <a:xfrm>
              <a:off x="2032" y="2208"/>
              <a:ext cx="30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(0,N)</a:t>
              </a:r>
            </a:p>
          </p:txBody>
        </p:sp>
        <p:sp>
          <p:nvSpPr>
            <p:cNvPr id="38987" name="Text Box 72"/>
            <p:cNvSpPr txBox="1">
              <a:spLocks noChangeArrowheads="1"/>
            </p:cNvSpPr>
            <p:nvPr/>
          </p:nvSpPr>
          <p:spPr bwMode="auto">
            <a:xfrm>
              <a:off x="1744" y="3072"/>
              <a:ext cx="291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(1,1)</a:t>
              </a:r>
            </a:p>
          </p:txBody>
        </p:sp>
        <p:sp>
          <p:nvSpPr>
            <p:cNvPr id="38988" name="Text Box 73"/>
            <p:cNvSpPr txBox="1">
              <a:spLocks noChangeArrowheads="1"/>
            </p:cNvSpPr>
            <p:nvPr/>
          </p:nvSpPr>
          <p:spPr bwMode="auto">
            <a:xfrm>
              <a:off x="1025" y="2064"/>
              <a:ext cx="302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(0,N)</a:t>
              </a:r>
            </a:p>
          </p:txBody>
        </p:sp>
        <p:sp>
          <p:nvSpPr>
            <p:cNvPr id="38989" name="Text Box 74"/>
            <p:cNvSpPr txBox="1">
              <a:spLocks noChangeArrowheads="1"/>
            </p:cNvSpPr>
            <p:nvPr/>
          </p:nvSpPr>
          <p:spPr bwMode="auto">
            <a:xfrm>
              <a:off x="2655" y="1632"/>
              <a:ext cx="291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1pPr>
              <a:lvl2pPr marL="742950" indent="-28575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2pPr>
              <a:lvl3pPr marL="11430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3pPr>
              <a:lvl4pPr marL="16002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4pPr>
              <a:lvl5pPr marL="2057400" indent="-228600" eaLnBrk="0" hangingPunct="0"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defRPr sz="3200">
                  <a:solidFill>
                    <a:srgbClr val="FF0000"/>
                  </a:solidFill>
                  <a:latin typeface="Arial" charset="0"/>
                  <a:sym typeface="Wingdings" pitchFamily="2" charset="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Tahoma" charset="0"/>
                </a:rPr>
                <a:t>(0,1)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737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Welcome">
      <a:dk1>
        <a:sysClr val="windowText" lastClr="000000"/>
      </a:dk1>
      <a:lt1>
        <a:sysClr val="window" lastClr="FFFFFF"/>
      </a:lt1>
      <a:dk2>
        <a:srgbClr val="00272B"/>
      </a:dk2>
      <a:lt2>
        <a:srgbClr val="F7F7FF"/>
      </a:lt2>
      <a:accent1>
        <a:srgbClr val="006AED"/>
      </a:accent1>
      <a:accent2>
        <a:srgbClr val="0087BF"/>
      </a:accent2>
      <a:accent3>
        <a:srgbClr val="5D974B"/>
      </a:accent3>
      <a:accent4>
        <a:srgbClr val="9DBB3F"/>
      </a:accent4>
      <a:accent5>
        <a:srgbClr val="C77CC7"/>
      </a:accent5>
      <a:accent6>
        <a:srgbClr val="996699"/>
      </a:accent6>
      <a:hlink>
        <a:srgbClr val="E78707"/>
      </a:hlink>
      <a:folHlink>
        <a:srgbClr val="C618BA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4123</TotalTime>
  <Words>5555</Words>
  <Application>Microsoft Office PowerPoint</Application>
  <PresentationFormat>On-screen Show (4:3)</PresentationFormat>
  <Paragraphs>1265</Paragraphs>
  <Slides>85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5" baseType="lpstr">
      <vt:lpstr>Arial</vt:lpstr>
      <vt:lpstr>Calibri</vt:lpstr>
      <vt:lpstr>Cambria</vt:lpstr>
      <vt:lpstr>Tahoma</vt:lpstr>
      <vt:lpstr>Times New Roman</vt:lpstr>
      <vt:lpstr>Verdana</vt:lpstr>
      <vt:lpstr>Wingdings</vt:lpstr>
      <vt:lpstr>Wingdings 2</vt:lpstr>
      <vt:lpstr>Civic</vt:lpstr>
      <vt:lpstr>Visio</vt:lpstr>
      <vt:lpstr>CƠ SỞ DỮ LIỆU</vt:lpstr>
      <vt:lpstr>Nội dung</vt:lpstr>
      <vt:lpstr>1. Khái niệm mô hình dữ liệu</vt:lpstr>
      <vt:lpstr>1.1. Các mức của mô hình dữ liệu</vt:lpstr>
      <vt:lpstr>1.2. Các loại mô hình dữ liệu</vt:lpstr>
      <vt:lpstr>1.3. Một vài mô hình dữ liệu</vt:lpstr>
      <vt:lpstr>Mô hình phân cấp (Hierarchical data model)</vt:lpstr>
      <vt:lpstr>Mô hình phân cấp (Hierarchical data model)</vt:lpstr>
      <vt:lpstr>Mô hình phân cấp (Hierarchical data model)</vt:lpstr>
      <vt:lpstr>Mô hình dữ liệu mạng (Network data model)</vt:lpstr>
      <vt:lpstr>Mô hình dữ liệu mạng (Network data model)</vt:lpstr>
      <vt:lpstr>Mô hình dữ liệu mạng (Network data model)</vt:lpstr>
      <vt:lpstr>1.4. Lược đồ CSDL </vt:lpstr>
      <vt:lpstr>1.4. Lược đồ CSDL </vt:lpstr>
      <vt:lpstr>2. Quá trình thiết kế và cài đặt CSDL</vt:lpstr>
      <vt:lpstr>PowerPoint Presentation</vt:lpstr>
      <vt:lpstr>2. Quá trình thiết kế và cài đặt CSDL</vt:lpstr>
      <vt:lpstr>3. Mô hình thực thể kết hợp</vt:lpstr>
      <vt:lpstr>3.1. Thực thể</vt:lpstr>
      <vt:lpstr>3.1. Thực thể</vt:lpstr>
      <vt:lpstr>3.2. Thuộc tính</vt:lpstr>
      <vt:lpstr>3.2. Thuộc tính</vt:lpstr>
      <vt:lpstr>3.2. Thuộc tính</vt:lpstr>
      <vt:lpstr>3.3. Thuộc tính khóa</vt:lpstr>
      <vt:lpstr>3.3. Thuộc tính khóa</vt:lpstr>
      <vt:lpstr>3.4. Mối kết hợp</vt:lpstr>
      <vt:lpstr>3.4. Mối kết hợp</vt:lpstr>
      <vt:lpstr>3.5. Bản số các mối kết hợp</vt:lpstr>
      <vt:lpstr>3.5. Bản số các mối kết hợp</vt:lpstr>
      <vt:lpstr>Mối kết hợp 1 – 1  </vt:lpstr>
      <vt:lpstr>PowerPoint Presentation</vt:lpstr>
      <vt:lpstr>Mối kết hợp 1 – n </vt:lpstr>
      <vt:lpstr>PowerPoint Presentation</vt:lpstr>
      <vt:lpstr>Mối kết hợp n – n </vt:lpstr>
      <vt:lpstr>Mối kết hợp vòng</vt:lpstr>
      <vt:lpstr>3.6. Thực Thể Yếu</vt:lpstr>
      <vt:lpstr>PowerPoint Presentation</vt:lpstr>
      <vt:lpstr>3.7. Lược đồ ER</vt:lpstr>
      <vt:lpstr>3.7. Lược đồ ER</vt:lpstr>
      <vt:lpstr>3.7. Lược đồ ER</vt:lpstr>
      <vt:lpstr>3.7. Lược đồ ER</vt:lpstr>
      <vt:lpstr>Các bước tạo ERD</vt:lpstr>
      <vt:lpstr>PowerPoint Presentation</vt:lpstr>
      <vt:lpstr>PowerPoint Presentation</vt:lpstr>
      <vt:lpstr>ERD  Bảng</vt:lpstr>
      <vt:lpstr>ERD  Bảng</vt:lpstr>
      <vt:lpstr>ERD  Bảng</vt:lpstr>
      <vt:lpstr>ERD  Bảng</vt:lpstr>
      <vt:lpstr>ERD  Bảng</vt:lpstr>
      <vt:lpstr>4. Mô hình dữ liệu quan hệ RDM (RELATIONAL DATA MODEL) </vt:lpstr>
      <vt:lpstr>4.1. Các khái niệm của mô hình quan hệ</vt:lpstr>
      <vt:lpstr>4.1. Các khái niệm của mô hình quan hệ</vt:lpstr>
      <vt:lpstr>4.1. Các khái niệm của mô hình quan hệ</vt:lpstr>
      <vt:lpstr>4.1. Các khái niệm của mô hình quan hệ</vt:lpstr>
      <vt:lpstr>4.1. Các khái niệm của mô hình quan hệ</vt:lpstr>
      <vt:lpstr>4.1. Các khái niệm của mô hình quan hệ</vt:lpstr>
      <vt:lpstr>4.1. Các khái niệm của mô hình quan hệ</vt:lpstr>
      <vt:lpstr>4.1. Các khái niệm của mô hình quan hệ</vt:lpstr>
      <vt:lpstr>Ghi chú</vt:lpstr>
      <vt:lpstr>Tính chất của quan hệ</vt:lpstr>
      <vt:lpstr>Tính chất của quan hệ</vt:lpstr>
      <vt:lpstr>4.1. Định nghĩa theo toán học: Lược đồ quan hệ</vt:lpstr>
      <vt:lpstr>4.1. Định nghĩa theo toán học: Lược đồ quan hệ</vt:lpstr>
      <vt:lpstr>4.2. Định nghĩa theo toán học: Quan hệ</vt:lpstr>
      <vt:lpstr>4.2. Định nghĩa theo toán học: Quan hệ</vt:lpstr>
      <vt:lpstr>5. Các khái niệm về khóa</vt:lpstr>
      <vt:lpstr>a) Siêu khóa</vt:lpstr>
      <vt:lpstr>b) Khóa</vt:lpstr>
      <vt:lpstr>c) Khóa chính</vt:lpstr>
      <vt:lpstr>c) Khóa chính</vt:lpstr>
      <vt:lpstr>c) Khóa chính</vt:lpstr>
      <vt:lpstr>d) Tham chiếu</vt:lpstr>
      <vt:lpstr>e) Khóa ngoại</vt:lpstr>
      <vt:lpstr>e) Khóa ngoại</vt:lpstr>
      <vt:lpstr>PowerPoint Presentation</vt:lpstr>
      <vt:lpstr>6. Chuyển đổi ERD sang RDM</vt:lpstr>
      <vt:lpstr>6. Chuyển đổi ERD sang RDM</vt:lpstr>
      <vt:lpstr>6. Chuyển đổi ERD sang RDM</vt:lpstr>
      <vt:lpstr>6. Chuyển đổi ERD sang RDM</vt:lpstr>
      <vt:lpstr>6. Chuyển đổi ERD sang RDM</vt:lpstr>
      <vt:lpstr>6. Chuyển đổi ERD sang RDM</vt:lpstr>
      <vt:lpstr>6. Chuyển đổi ERD sang RDM</vt:lpstr>
      <vt:lpstr>6. Chuyển đổi ERD sang RDM</vt:lpstr>
      <vt:lpstr>6. Chuyển đổi ERD sang RDM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THÔNG TIN  DOANH NGHIỆP</dc:title>
  <dc:creator>Tri</dc:creator>
  <cp:lastModifiedBy>khoa truong.tan</cp:lastModifiedBy>
  <cp:revision>78</cp:revision>
  <dcterms:created xsi:type="dcterms:W3CDTF">2006-08-16T00:00:00Z</dcterms:created>
  <dcterms:modified xsi:type="dcterms:W3CDTF">2020-03-19T00:14:12Z</dcterms:modified>
</cp:coreProperties>
</file>