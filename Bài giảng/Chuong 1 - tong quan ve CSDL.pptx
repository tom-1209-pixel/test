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6" r:id="rId2"/>
    <p:sldId id="263" r:id="rId3"/>
    <p:sldId id="264" r:id="rId4"/>
    <p:sldId id="265" r:id="rId5"/>
    <p:sldId id="262" r:id="rId6"/>
    <p:sldId id="257" r:id="rId7"/>
    <p:sldId id="266" r:id="rId8"/>
    <p:sldId id="268" r:id="rId9"/>
    <p:sldId id="269" r:id="rId10"/>
    <p:sldId id="279" r:id="rId11"/>
    <p:sldId id="271" r:id="rId12"/>
    <p:sldId id="272" r:id="rId13"/>
    <p:sldId id="273" r:id="rId14"/>
    <p:sldId id="274" r:id="rId15"/>
    <p:sldId id="293" r:id="rId16"/>
    <p:sldId id="295" r:id="rId17"/>
    <p:sldId id="296" r:id="rId18"/>
    <p:sldId id="297" r:id="rId19"/>
    <p:sldId id="299" r:id="rId20"/>
    <p:sldId id="280" r:id="rId21"/>
    <p:sldId id="278" r:id="rId22"/>
    <p:sldId id="277" r:id="rId23"/>
    <p:sldId id="282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9" autoAdjust="0"/>
    <p:restoredTop sz="80249" autoAdjust="0"/>
  </p:normalViewPr>
  <p:slideViewPr>
    <p:cSldViewPr>
      <p:cViewPr varScale="1">
        <p:scale>
          <a:sx n="66" d="100"/>
          <a:sy n="66" d="100"/>
        </p:scale>
        <p:origin x="185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ED888-D991-4773-B1F0-5CFA0B9EFB8D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AD2C0-57EA-42D6-8A5C-133B52C664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47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sng" dirty="0" err="1">
                <a:solidFill>
                  <a:schemeClr val="tx2"/>
                </a:solidFill>
              </a:rPr>
              <a:t>Điểm</a:t>
            </a:r>
            <a:r>
              <a:rPr lang="en-US" sz="1200" b="1" u="sng" dirty="0">
                <a:solidFill>
                  <a:schemeClr val="tx2"/>
                </a:solidFill>
              </a:rPr>
              <a:t> </a:t>
            </a:r>
            <a:r>
              <a:rPr lang="en-US" sz="1200" b="1" u="sng" dirty="0" err="1">
                <a:solidFill>
                  <a:schemeClr val="tx2"/>
                </a:solidFill>
              </a:rPr>
              <a:t>khác</a:t>
            </a:r>
            <a:r>
              <a:rPr lang="en-US" sz="1200" b="1" u="sng" dirty="0">
                <a:solidFill>
                  <a:schemeClr val="tx2"/>
                </a:solidFill>
              </a:rPr>
              <a:t> </a:t>
            </a:r>
            <a:r>
              <a:rPr lang="en-US" sz="1200" b="1" u="sng" dirty="0" err="1">
                <a:solidFill>
                  <a:schemeClr val="tx2"/>
                </a:solidFill>
              </a:rPr>
              <a:t>nhau</a:t>
            </a:r>
            <a:r>
              <a:rPr lang="en-US" sz="1200" b="1" u="sng" dirty="0">
                <a:solidFill>
                  <a:schemeClr val="tx2"/>
                </a:solidFill>
              </a:rPr>
              <a:t> </a:t>
            </a:r>
            <a:r>
              <a:rPr lang="en-US" sz="1200" b="1" u="sng" dirty="0" err="1">
                <a:solidFill>
                  <a:schemeClr val="tx2"/>
                </a:solidFill>
              </a:rPr>
              <a:t>nổi</a:t>
            </a:r>
            <a:r>
              <a:rPr lang="en-US" sz="1200" b="1" u="sng" dirty="0">
                <a:solidFill>
                  <a:schemeClr val="tx2"/>
                </a:solidFill>
              </a:rPr>
              <a:t> </a:t>
            </a:r>
            <a:r>
              <a:rPr lang="en-US" sz="1200" b="1" u="sng" dirty="0" err="1">
                <a:solidFill>
                  <a:schemeClr val="tx2"/>
                </a:solidFill>
              </a:rPr>
              <a:t>bật</a:t>
            </a:r>
            <a:r>
              <a:rPr lang="en-US" sz="1200" b="1" u="sng" dirty="0">
                <a:solidFill>
                  <a:schemeClr val="tx2"/>
                </a:solidFill>
              </a:rPr>
              <a:t> </a:t>
            </a:r>
            <a:r>
              <a:rPr lang="en-US" sz="1200" b="1" u="sng" dirty="0" err="1">
                <a:solidFill>
                  <a:schemeClr val="tx2"/>
                </a:solidFill>
              </a:rPr>
              <a:t>giữa</a:t>
            </a:r>
            <a:r>
              <a:rPr lang="en-US" sz="1200" b="1" u="sng" dirty="0">
                <a:solidFill>
                  <a:schemeClr val="tx2"/>
                </a:solidFill>
              </a:rPr>
              <a:t> CSDL </a:t>
            </a:r>
            <a:r>
              <a:rPr lang="en-US" sz="1200" b="1" u="sng" dirty="0" err="1">
                <a:solidFill>
                  <a:schemeClr val="tx2"/>
                </a:solidFill>
              </a:rPr>
              <a:t>và</a:t>
            </a:r>
            <a:r>
              <a:rPr lang="en-US" sz="1200" b="1" u="sng" dirty="0">
                <a:solidFill>
                  <a:schemeClr val="tx2"/>
                </a:solidFill>
              </a:rPr>
              <a:t> </a:t>
            </a:r>
            <a:r>
              <a:rPr lang="en-US" sz="1200" b="1" u="sng" dirty="0" err="1">
                <a:solidFill>
                  <a:schemeClr val="tx2"/>
                </a:solidFill>
              </a:rPr>
              <a:t>hệ</a:t>
            </a:r>
            <a:r>
              <a:rPr lang="en-US" sz="1200" b="1" u="sng" dirty="0">
                <a:solidFill>
                  <a:schemeClr val="tx2"/>
                </a:solidFill>
              </a:rPr>
              <a:t> </a:t>
            </a:r>
            <a:r>
              <a:rPr lang="en-US" sz="1200" b="1" u="sng" dirty="0" err="1">
                <a:solidFill>
                  <a:schemeClr val="tx2"/>
                </a:solidFill>
              </a:rPr>
              <a:t>thống</a:t>
            </a:r>
            <a:r>
              <a:rPr lang="en-US" sz="1200" b="1" u="sng" dirty="0">
                <a:solidFill>
                  <a:schemeClr val="tx2"/>
                </a:solidFill>
              </a:rPr>
              <a:t> File</a:t>
            </a:r>
            <a:r>
              <a:rPr lang="en-US" sz="1200" u="sng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 : 	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dữ</a:t>
            </a:r>
            <a:r>
              <a:rPr lang="en-US" sz="1200" dirty="0"/>
              <a:t> </a:t>
            </a:r>
            <a:r>
              <a:rPr lang="en-US" sz="1200" dirty="0" err="1"/>
              <a:t>liệu</a:t>
            </a:r>
            <a:r>
              <a:rPr lang="en-US" sz="1200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 CSDL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lưu</a:t>
            </a:r>
            <a:r>
              <a:rPr lang="en-US" sz="1200" dirty="0"/>
              <a:t> </a:t>
            </a:r>
            <a:r>
              <a:rPr lang="en-US" sz="1200" dirty="0" err="1"/>
              <a:t>trữ</a:t>
            </a:r>
            <a:r>
              <a:rPr lang="en-US" sz="1200" dirty="0"/>
              <a:t> </a:t>
            </a:r>
            <a:r>
              <a:rPr lang="en-US" sz="1200" dirty="0" err="1"/>
              <a:t>tại</a:t>
            </a:r>
            <a:r>
              <a:rPr lang="en-US" sz="1200" dirty="0"/>
              <a:t> </a:t>
            </a:r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vị</a:t>
            </a:r>
            <a:r>
              <a:rPr lang="en-US" sz="1200" dirty="0"/>
              <a:t> </a:t>
            </a:r>
            <a:r>
              <a:rPr lang="en-US" sz="1200" dirty="0" err="1"/>
              <a:t>trí</a:t>
            </a:r>
            <a:r>
              <a:rPr lang="en-US" sz="1200" dirty="0"/>
              <a:t>.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cùng</a:t>
            </a:r>
            <a:r>
              <a:rPr lang="en-US" sz="1200" dirty="0"/>
              <a:t> </a:t>
            </a:r>
            <a:r>
              <a:rPr lang="en-US" sz="1200" dirty="0" err="1"/>
              <a:t>một</a:t>
            </a:r>
            <a:r>
              <a:rPr lang="en-US" sz="1200" dirty="0"/>
              <a:t> CSDL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thể</a:t>
            </a:r>
            <a:r>
              <a:rPr lang="en-US" sz="1200" dirty="0"/>
              <a:t> 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nhiều</a:t>
            </a:r>
            <a:r>
              <a:rPr lang="en-US" sz="1200" dirty="0"/>
              <a:t> </a:t>
            </a:r>
            <a:r>
              <a:rPr lang="en-US" sz="1200" dirty="0" err="1"/>
              <a:t>người</a:t>
            </a:r>
            <a:r>
              <a:rPr lang="en-US" sz="1200" dirty="0"/>
              <a:t> </a:t>
            </a:r>
            <a:r>
              <a:rPr lang="en-US" sz="1200" dirty="0" err="1"/>
              <a:t>sử</a:t>
            </a:r>
            <a:r>
              <a:rPr lang="en-US" sz="1200" dirty="0"/>
              <a:t> </a:t>
            </a:r>
            <a:r>
              <a:rPr lang="en-US" sz="1200" dirty="0" err="1"/>
              <a:t>dụng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phục</a:t>
            </a:r>
            <a:r>
              <a:rPr lang="en-US" sz="1200" dirty="0"/>
              <a:t> </a:t>
            </a:r>
            <a:r>
              <a:rPr lang="en-US" sz="1200" dirty="0" err="1"/>
              <a:t>vụ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nhiều</a:t>
            </a:r>
            <a:r>
              <a:rPr lang="en-US" sz="1200" dirty="0"/>
              <a:t> </a:t>
            </a:r>
            <a:r>
              <a:rPr lang="en-US" sz="1200" dirty="0" err="1"/>
              <a:t>mục</a:t>
            </a:r>
            <a:r>
              <a:rPr lang="en-US" sz="1200" dirty="0"/>
              <a:t> </a:t>
            </a:r>
            <a:r>
              <a:rPr lang="en-US" sz="1200" dirty="0" err="1"/>
              <a:t>đích</a:t>
            </a:r>
            <a:r>
              <a:rPr lang="en-US" sz="1200" dirty="0"/>
              <a:t> </a:t>
            </a:r>
            <a:r>
              <a:rPr lang="en-US" sz="1200" dirty="0" err="1"/>
              <a:t>khác</a:t>
            </a:r>
            <a:r>
              <a:rPr lang="en-US" sz="1200" dirty="0"/>
              <a:t> </a:t>
            </a:r>
            <a:r>
              <a:rPr lang="en-US" sz="1200" dirty="0" err="1"/>
              <a:t>nhau</a:t>
            </a:r>
            <a:r>
              <a:rPr 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200" dirty="0" err="1">
                <a:latin typeface="Times New Roman" pitchFamily="18" charset="0"/>
                <a:cs typeface="Arial" pitchFamily="34" charset="0"/>
              </a:rPr>
              <a:t>Một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CSDL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là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độc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lập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dữ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liệu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nếu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nó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có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hoặc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có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thể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có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khả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năng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phát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triển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mà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không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ảnh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hưởng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tới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các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hệ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ứng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dụng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.</a:t>
            </a:r>
          </a:p>
          <a:p>
            <a:pPr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200" dirty="0">
                <a:latin typeface="Times New Roman" pitchFamily="18" charset="0"/>
                <a:cs typeface="Arial" pitchFamily="34" charset="0"/>
              </a:rPr>
              <a:t> 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Tính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độc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lập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dữ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liệu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là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"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tính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bất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biến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của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các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hệ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ứng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dụng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đối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với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các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thay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đổi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trong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cấu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trúc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lưu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trữ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và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chiến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lược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truy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nhập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"</a:t>
            </a:r>
          </a:p>
          <a:p>
            <a:pPr>
              <a:spcBef>
                <a:spcPct val="60000"/>
              </a:spcBef>
            </a:pPr>
            <a:r>
              <a:rPr lang="en-US" sz="1200" b="1" dirty="0" err="1">
                <a:solidFill>
                  <a:schemeClr val="tx2"/>
                </a:solidFill>
                <a:effectLst/>
              </a:rPr>
              <a:t>Độc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lập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dữ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liệu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mức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vật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lý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: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Có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thể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tổ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chức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lại</a:t>
            </a:r>
            <a:r>
              <a:rPr lang="en-US" sz="1200" dirty="0">
                <a:effectLst/>
              </a:rPr>
              <a:t> CSDL </a:t>
            </a:r>
            <a:r>
              <a:rPr lang="en-US" sz="1200" dirty="0" err="1">
                <a:effectLst/>
              </a:rPr>
              <a:t>vật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lý</a:t>
            </a:r>
            <a:r>
              <a:rPr lang="en-US" sz="1200" dirty="0">
                <a:effectLst/>
              </a:rPr>
              <a:t> (</a:t>
            </a:r>
            <a:r>
              <a:rPr lang="en-US" sz="1200" dirty="0" err="1">
                <a:effectLst/>
              </a:rPr>
              <a:t>như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thay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đổi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tổ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chức</a:t>
            </a:r>
            <a:r>
              <a:rPr lang="en-US" sz="1200" dirty="0">
                <a:effectLst/>
              </a:rPr>
              <a:t>, </a:t>
            </a:r>
            <a:r>
              <a:rPr lang="en-US" sz="1200" dirty="0" err="1">
                <a:effectLst/>
              </a:rPr>
              <a:t>cấu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trúc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dữ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liệu</a:t>
            </a:r>
            <a:r>
              <a:rPr lang="en-US" sz="1200" dirty="0">
                <a:effectLst/>
              </a:rPr>
              <a:t>) </a:t>
            </a:r>
            <a:r>
              <a:rPr lang="en-US" sz="1200" dirty="0" err="1">
                <a:effectLst/>
              </a:rPr>
              <a:t>để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làm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thay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đổi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hiệu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quả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tính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toán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của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chương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trình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ứng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dụng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nhưng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không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đòi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hỏi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phải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viết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lại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chương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trình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ứng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dụng</a:t>
            </a:r>
            <a:r>
              <a:rPr lang="en-US" sz="1200" dirty="0">
                <a:effectLst/>
              </a:rPr>
              <a:t>.</a:t>
            </a:r>
          </a:p>
          <a:p>
            <a:pPr>
              <a:spcBef>
                <a:spcPct val="60000"/>
              </a:spcBef>
            </a:pPr>
            <a:r>
              <a:rPr lang="en-US" sz="1200" b="1" dirty="0" err="1">
                <a:solidFill>
                  <a:schemeClr val="tx2"/>
                </a:solidFill>
                <a:effectLst/>
              </a:rPr>
              <a:t>Độc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lập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dữ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liệu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mức</a:t>
            </a:r>
            <a:r>
              <a:rPr lang="en-US" sz="11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logic:</a:t>
            </a:r>
            <a:r>
              <a:rPr lang="en-US" sz="1200" dirty="0">
                <a:effectLst/>
              </a:rPr>
              <a:t>  </a:t>
            </a:r>
            <a:r>
              <a:rPr lang="en-US" sz="1200" dirty="0" err="1">
                <a:effectLst/>
              </a:rPr>
              <a:t>Có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thể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thay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đổi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lược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đồ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khái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niệm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như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thêm</a:t>
            </a:r>
            <a:r>
              <a:rPr lang="en-US" sz="1200" dirty="0">
                <a:effectLst/>
              </a:rPr>
              <a:t>, </a:t>
            </a:r>
            <a:r>
              <a:rPr lang="en-US" sz="1200" dirty="0" err="1">
                <a:effectLst/>
              </a:rPr>
              <a:t>xoá</a:t>
            </a:r>
            <a:r>
              <a:rPr lang="en-US" sz="1200" dirty="0">
                <a:effectLst/>
              </a:rPr>
              <a:t> , </a:t>
            </a:r>
            <a:r>
              <a:rPr lang="en-US" sz="1200" dirty="0" err="1">
                <a:effectLst/>
              </a:rPr>
              <a:t>bớt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thông</a:t>
            </a:r>
            <a:r>
              <a:rPr lang="en-US" sz="1200" dirty="0">
                <a:effectLst/>
              </a:rPr>
              <a:t> tin </a:t>
            </a:r>
            <a:r>
              <a:rPr lang="en-US" sz="1200" dirty="0" err="1">
                <a:effectLst/>
              </a:rPr>
              <a:t>của</a:t>
            </a:r>
            <a:r>
              <a:rPr lang="en-US" sz="1200" dirty="0">
                <a:effectLst/>
              </a:rPr>
              <a:t> 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thực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thể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đang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tồn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tại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trong</a:t>
            </a:r>
            <a:r>
              <a:rPr lang="en-US" sz="1200" dirty="0">
                <a:effectLst/>
              </a:rPr>
              <a:t> CSDL </a:t>
            </a:r>
            <a:r>
              <a:rPr lang="en-US" sz="1200" dirty="0" err="1">
                <a:effectLst/>
              </a:rPr>
              <a:t>nhưng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không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làm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ảnh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hưởng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tới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lược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đồ</a:t>
            </a:r>
            <a:r>
              <a:rPr lang="en-US" sz="1200" dirty="0">
                <a:effectLst/>
              </a:rPr>
              <a:t> con, do </a:t>
            </a:r>
            <a:r>
              <a:rPr lang="en-US" sz="1200" dirty="0" err="1">
                <a:effectLst/>
              </a:rPr>
              <a:t>đó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không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cần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phải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viết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lại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chương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trình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ứng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dụng</a:t>
            </a:r>
            <a:r>
              <a:rPr lang="en-US" sz="1200" dirty="0">
                <a:effectLst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200" dirty="0" err="1">
                <a:latin typeface="Times New Roman" pitchFamily="18" charset="0"/>
                <a:cs typeface="Arial" pitchFamily="34" charset="0"/>
              </a:rPr>
              <a:t>Một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CSDL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là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độc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lập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dữ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liệu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nếu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nó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có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hoặc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có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thể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có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khả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năng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phát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triển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mà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không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ảnh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hưởng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tới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các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hệ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ứng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dụng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.</a:t>
            </a:r>
          </a:p>
          <a:p>
            <a:pPr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200" dirty="0">
                <a:latin typeface="Times New Roman" pitchFamily="18" charset="0"/>
                <a:cs typeface="Arial" pitchFamily="34" charset="0"/>
              </a:rPr>
              <a:t> 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Tính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độc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lập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dữ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liệu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là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"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tính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bất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biến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của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các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hệ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ứng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dụng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đối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với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các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thay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đổi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trong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cấu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trúc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lưu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trữ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và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chiến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lược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truy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1200" dirty="0" err="1">
                <a:latin typeface="Times New Roman" pitchFamily="18" charset="0"/>
                <a:cs typeface="Arial" pitchFamily="34" charset="0"/>
              </a:rPr>
              <a:t>nhập</a:t>
            </a:r>
            <a:r>
              <a:rPr lang="en-US" sz="1200" dirty="0">
                <a:latin typeface="Times New Roman" pitchFamily="18" charset="0"/>
                <a:cs typeface="Arial" pitchFamily="34" charset="0"/>
              </a:rPr>
              <a:t>"</a:t>
            </a:r>
          </a:p>
          <a:p>
            <a:pPr>
              <a:spcBef>
                <a:spcPct val="60000"/>
              </a:spcBef>
            </a:pPr>
            <a:r>
              <a:rPr lang="en-US" sz="1200" b="1" dirty="0" err="1">
                <a:solidFill>
                  <a:schemeClr val="tx2"/>
                </a:solidFill>
                <a:effectLst/>
              </a:rPr>
              <a:t>Độc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lập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dữ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liệu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mức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vật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lý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: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Có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thể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tổ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chức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lại</a:t>
            </a:r>
            <a:r>
              <a:rPr lang="en-US" sz="1200" dirty="0">
                <a:effectLst/>
              </a:rPr>
              <a:t> CSDL </a:t>
            </a:r>
            <a:r>
              <a:rPr lang="en-US" sz="1200" dirty="0" err="1">
                <a:effectLst/>
              </a:rPr>
              <a:t>vật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lý</a:t>
            </a:r>
            <a:r>
              <a:rPr lang="en-US" sz="1200" dirty="0">
                <a:effectLst/>
              </a:rPr>
              <a:t> (</a:t>
            </a:r>
            <a:r>
              <a:rPr lang="en-US" sz="1200" dirty="0" err="1">
                <a:effectLst/>
              </a:rPr>
              <a:t>như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thay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đổi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tổ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chức</a:t>
            </a:r>
            <a:r>
              <a:rPr lang="en-US" sz="1200" dirty="0">
                <a:effectLst/>
              </a:rPr>
              <a:t>, </a:t>
            </a:r>
            <a:r>
              <a:rPr lang="en-US" sz="1200" dirty="0" err="1">
                <a:effectLst/>
              </a:rPr>
              <a:t>cấu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trúc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dữ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liệu</a:t>
            </a:r>
            <a:r>
              <a:rPr lang="en-US" sz="1200" dirty="0">
                <a:effectLst/>
              </a:rPr>
              <a:t>) </a:t>
            </a:r>
            <a:r>
              <a:rPr lang="en-US" sz="1200" dirty="0" err="1">
                <a:effectLst/>
              </a:rPr>
              <a:t>để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làm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thay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đổi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hiệu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quả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tính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toán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của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chương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trình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ứng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dụng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nhưng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không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đòi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hỏi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phải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viết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lại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chương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trình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ứng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dụng</a:t>
            </a:r>
            <a:r>
              <a:rPr lang="en-US" sz="1200" dirty="0">
                <a:effectLst/>
              </a:rPr>
              <a:t>.</a:t>
            </a:r>
          </a:p>
          <a:p>
            <a:pPr>
              <a:spcBef>
                <a:spcPct val="60000"/>
              </a:spcBef>
            </a:pPr>
            <a:r>
              <a:rPr lang="en-US" sz="1200" b="1" dirty="0" err="1">
                <a:solidFill>
                  <a:schemeClr val="tx2"/>
                </a:solidFill>
                <a:effectLst/>
              </a:rPr>
              <a:t>Độc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lập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dữ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liệu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  </a:t>
            </a:r>
            <a:r>
              <a:rPr lang="en-US" sz="1200" b="1" dirty="0" err="1">
                <a:solidFill>
                  <a:schemeClr val="tx2"/>
                </a:solidFill>
                <a:effectLst/>
              </a:rPr>
              <a:t>mức</a:t>
            </a:r>
            <a:r>
              <a:rPr lang="en-US" sz="1100" b="1" dirty="0">
                <a:solidFill>
                  <a:schemeClr val="tx2"/>
                </a:solidFill>
                <a:effectLst/>
              </a:rPr>
              <a:t> </a:t>
            </a:r>
            <a:r>
              <a:rPr lang="en-US" sz="1200" b="1" dirty="0">
                <a:solidFill>
                  <a:schemeClr val="tx2"/>
                </a:solidFill>
                <a:effectLst/>
              </a:rPr>
              <a:t>logic:</a:t>
            </a:r>
            <a:r>
              <a:rPr lang="en-US" sz="1200" dirty="0">
                <a:effectLst/>
              </a:rPr>
              <a:t>  </a:t>
            </a:r>
            <a:r>
              <a:rPr lang="en-US" sz="1200" dirty="0" err="1">
                <a:effectLst/>
              </a:rPr>
              <a:t>Có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thể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thay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đổi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lược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đồ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khái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niệm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như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thêm</a:t>
            </a:r>
            <a:r>
              <a:rPr lang="en-US" sz="1200" dirty="0">
                <a:effectLst/>
              </a:rPr>
              <a:t>, </a:t>
            </a:r>
            <a:r>
              <a:rPr lang="en-US" sz="1200" dirty="0" err="1">
                <a:effectLst/>
              </a:rPr>
              <a:t>xoá</a:t>
            </a:r>
            <a:r>
              <a:rPr lang="en-US" sz="1200" dirty="0">
                <a:effectLst/>
              </a:rPr>
              <a:t> , </a:t>
            </a:r>
            <a:r>
              <a:rPr lang="en-US" sz="1200" dirty="0" err="1">
                <a:effectLst/>
              </a:rPr>
              <a:t>bớt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thông</a:t>
            </a:r>
            <a:r>
              <a:rPr lang="en-US" sz="1200" dirty="0">
                <a:effectLst/>
              </a:rPr>
              <a:t> tin </a:t>
            </a:r>
            <a:r>
              <a:rPr lang="en-US" sz="1200" dirty="0" err="1">
                <a:effectLst/>
              </a:rPr>
              <a:t>của</a:t>
            </a:r>
            <a:r>
              <a:rPr lang="en-US" sz="1200" dirty="0">
                <a:effectLst/>
              </a:rPr>
              <a:t> 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thực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thể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đang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tồn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tại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trong</a:t>
            </a:r>
            <a:r>
              <a:rPr lang="en-US" sz="1200" dirty="0">
                <a:effectLst/>
              </a:rPr>
              <a:t> CSDL </a:t>
            </a:r>
            <a:r>
              <a:rPr lang="en-US" sz="1200" dirty="0" err="1">
                <a:effectLst/>
              </a:rPr>
              <a:t>nhưng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không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làm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ảnh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hưởng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tới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lược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đồ</a:t>
            </a:r>
            <a:r>
              <a:rPr lang="en-US" sz="1200" dirty="0">
                <a:effectLst/>
              </a:rPr>
              <a:t> con, do </a:t>
            </a:r>
            <a:r>
              <a:rPr lang="en-US" sz="1200" dirty="0" err="1">
                <a:effectLst/>
              </a:rPr>
              <a:t>đó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không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cần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phải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viết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lại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các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chương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trình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ứng</a:t>
            </a:r>
            <a:r>
              <a:rPr lang="en-US" sz="1200" dirty="0">
                <a:effectLst/>
              </a:rPr>
              <a:t> </a:t>
            </a:r>
            <a:r>
              <a:rPr lang="en-US" sz="1200" dirty="0" err="1">
                <a:effectLst/>
              </a:rPr>
              <a:t>dụng</a:t>
            </a:r>
            <a:r>
              <a:rPr lang="en-US" sz="1200" dirty="0">
                <a:effectLst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AD2C0-57EA-42D6-8A5C-133B52C664A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2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8710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6386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358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01972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9875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82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1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/>
              <a:t>Nguyễn Thị Uyên Nhi  - Khoa CNTT</a:t>
            </a:r>
          </a:p>
        </p:txBody>
      </p:sp>
    </p:spTree>
    <p:extLst>
      <p:ext uri="{BB962C8B-B14F-4D97-AF65-F5344CB8AC3E}">
        <p14:creationId xmlns:p14="http://schemas.microsoft.com/office/powerpoint/2010/main" val="1000859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/>
              <a:t>Nguyễn Thị Uyên Nhi  - Khoa CNTT</a:t>
            </a:r>
          </a:p>
        </p:txBody>
      </p:sp>
    </p:spTree>
    <p:extLst>
      <p:ext uri="{BB962C8B-B14F-4D97-AF65-F5344CB8AC3E}">
        <p14:creationId xmlns:p14="http://schemas.microsoft.com/office/powerpoint/2010/main" val="285785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963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8/13/2014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Nguyễn Thị Uyên Nhi  - Khoa CNTT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6209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r>
              <a:rPr lang="en-US"/>
              <a:t>8/13/2014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Nguyễn Thị Uyên Nhi  - Khoa CNTT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275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47800" y="5943600"/>
            <a:ext cx="6400800" cy="533400"/>
          </a:xfrm>
        </p:spPr>
        <p:txBody>
          <a:bodyPr>
            <a:normAutofit/>
          </a:bodyPr>
          <a:lstStyle/>
          <a:p>
            <a:r>
              <a:rPr lang="en-US" sz="2400" dirty="0"/>
              <a:t>KHOA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nghệ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990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CƠ SỞ DỮ LIỆU</a:t>
            </a:r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1371600" y="-76200"/>
            <a:ext cx="64008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BÀI GIẢNG</a:t>
            </a:r>
          </a:p>
        </p:txBody>
      </p:sp>
      <p:sp>
        <p:nvSpPr>
          <p:cNvPr id="9" name="Title 5"/>
          <p:cNvSpPr txBox="1">
            <a:spLocks/>
          </p:cNvSpPr>
          <p:nvPr/>
        </p:nvSpPr>
        <p:spPr>
          <a:xfrm>
            <a:off x="685800" y="2819400"/>
            <a:ext cx="7772400" cy="13716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</a:t>
            </a:r>
          </a:p>
          <a:p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TỔNG QUAN VỀ CƠ SỞ DỮ LIỆU</a:t>
            </a:r>
          </a:p>
        </p:txBody>
      </p:sp>
    </p:spTree>
    <p:extLst>
      <p:ext uri="{BB962C8B-B14F-4D97-AF65-F5344CB8AC3E}">
        <p14:creationId xmlns:p14="http://schemas.microsoft.com/office/powerpoint/2010/main" val="351861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marL="365760" indent="-283464">
              <a:lnSpc>
                <a:spcPct val="90000"/>
              </a:lnSpc>
              <a:buNone/>
              <a:defRPr/>
            </a:pPr>
            <a:r>
              <a:rPr lang="en-US" sz="2400" b="1" dirty="0"/>
              <a:t>a) </a:t>
            </a:r>
            <a:r>
              <a:rPr lang="vi-VN" sz="2400" b="1" dirty="0">
                <a:latin typeface="Cambria" pitchFamily="18" charset="0"/>
              </a:rPr>
              <a:t>Dữ liệu</a:t>
            </a:r>
            <a:r>
              <a:rPr lang="en-US" sz="2400" b="1" dirty="0">
                <a:latin typeface="Cambria" pitchFamily="18" charset="0"/>
              </a:rPr>
              <a:t> </a:t>
            </a:r>
            <a:r>
              <a:rPr lang="en-US" sz="2400" b="1" dirty="0"/>
              <a:t>(Data)</a:t>
            </a:r>
            <a:endParaRPr lang="vi-VN" sz="2400" b="1" dirty="0"/>
          </a:p>
          <a:p>
            <a:pPr marL="745236" lvl="1" indent="-342900" algn="just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 err="1">
                <a:solidFill>
                  <a:schemeClr val="tx1"/>
                </a:solidFill>
              </a:rPr>
              <a:t>Dữ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liệu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là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các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giá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trị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phản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ánh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về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sự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vật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hiện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tượng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trong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thế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giới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khách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quan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marL="745236" lvl="1" indent="-342900" algn="just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vi-VN" sz="2400" dirty="0">
                <a:solidFill>
                  <a:schemeClr val="tx1"/>
                </a:solidFill>
                <a:latin typeface="Cambria" pitchFamily="18" charset="0"/>
              </a:rPr>
              <a:t>Dữ liệu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là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vi-VN" sz="2400" dirty="0">
                <a:solidFill>
                  <a:schemeClr val="tx1"/>
                </a:solidFill>
                <a:latin typeface="Cambria" pitchFamily="18" charset="0"/>
              </a:rPr>
              <a:t>các giá trị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thô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chưa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có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ý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nghĩa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với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người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sử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dụng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.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Có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thể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là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một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tập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hợp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các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giá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trị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mà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không</a:t>
            </a:r>
            <a:r>
              <a:rPr lang="vi-VN" sz="2400" dirty="0">
                <a:solidFill>
                  <a:schemeClr val="tx1"/>
                </a:solidFill>
                <a:latin typeface="Cambria" pitchFamily="18" charset="0"/>
              </a:rPr>
              <a:t> biết được sự liên hệ giữa chúng</a:t>
            </a:r>
            <a:endParaRPr lang="en-US" sz="2400" dirty="0">
              <a:solidFill>
                <a:schemeClr val="tx1"/>
              </a:solidFill>
              <a:latin typeface="Cambria" pitchFamily="18" charset="0"/>
            </a:endParaRPr>
          </a:p>
          <a:p>
            <a:pPr marL="1001268" lvl="2" indent="-342900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vi-VN" i="1" dirty="0">
                <a:latin typeface="Cambria" pitchFamily="18" charset="0"/>
              </a:rPr>
              <a:t>Ví dụ: Nguyễn Văn Nam, 845102, 14 / 10 / 02, 18</a:t>
            </a:r>
            <a:endParaRPr lang="en-US" dirty="0">
              <a:latin typeface="Cambria" pitchFamily="18" charset="0"/>
            </a:endParaRPr>
          </a:p>
          <a:p>
            <a:pPr marL="745236" lvl="1" indent="-342900" algn="just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vi-VN" sz="2400" dirty="0">
                <a:solidFill>
                  <a:schemeClr val="tx1"/>
                </a:solidFill>
                <a:latin typeface="Cambria" pitchFamily="18" charset="0"/>
              </a:rPr>
              <a:t>Dữ liệu có thể biểu diễn dưới nhiều dạng khác nhau </a:t>
            </a:r>
            <a:r>
              <a:rPr lang="vi-VN" sz="2400" i="1" dirty="0">
                <a:solidFill>
                  <a:schemeClr val="tx1"/>
                </a:solidFill>
                <a:latin typeface="Cambria" pitchFamily="18" charset="0"/>
              </a:rPr>
              <a:t>(âm thanh, văn bản, hình ảnh, v.v...)</a:t>
            </a:r>
            <a:endParaRPr lang="en-US" sz="2400" dirty="0">
              <a:solidFill>
                <a:schemeClr val="tx1"/>
              </a:solidFill>
              <a:latin typeface="Cambria" pitchFamily="18" charset="0"/>
            </a:endParaRPr>
          </a:p>
          <a:p>
            <a:pPr marL="745236" lvl="1" indent="-342900" algn="just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2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loại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dữ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mbria" pitchFamily="18" charset="0"/>
              </a:rPr>
              <a:t>liệu</a:t>
            </a:r>
            <a:r>
              <a:rPr lang="en-US" sz="2400" dirty="0">
                <a:solidFill>
                  <a:schemeClr val="tx1"/>
                </a:solidFill>
                <a:latin typeface="Cambria" pitchFamily="18" charset="0"/>
              </a:rPr>
              <a:t>:</a:t>
            </a:r>
            <a:endParaRPr lang="en-US" dirty="0">
              <a:solidFill>
                <a:schemeClr val="tx1"/>
              </a:solidFill>
              <a:latin typeface="Cambria" pitchFamily="18" charset="0"/>
            </a:endParaRP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Cambria" pitchFamily="18" charset="0"/>
              </a:rPr>
              <a:t>Tĩnh</a:t>
            </a:r>
            <a:r>
              <a:rPr lang="en-US" dirty="0">
                <a:latin typeface="Cambria" pitchFamily="18" charset="0"/>
              </a:rPr>
              <a:t>: </a:t>
            </a:r>
            <a:r>
              <a:rPr lang="en-US" dirty="0" err="1">
                <a:latin typeface="Cambria" pitchFamily="18" charset="0"/>
              </a:rPr>
              <a:t>Tên</a:t>
            </a:r>
            <a:r>
              <a:rPr lang="en-US" dirty="0">
                <a:latin typeface="Cambria" pitchFamily="18" charset="0"/>
              </a:rPr>
              <a:t>, </a:t>
            </a:r>
            <a:r>
              <a:rPr lang="en-US" dirty="0" err="1">
                <a:latin typeface="Cambria" pitchFamily="18" charset="0"/>
              </a:rPr>
              <a:t>tuổi</a:t>
            </a:r>
            <a:r>
              <a:rPr lang="en-US" dirty="0">
                <a:latin typeface="Cambria" pitchFamily="18" charset="0"/>
              </a:rPr>
              <a:t>, </a:t>
            </a:r>
            <a:r>
              <a:rPr lang="en-US" dirty="0" err="1">
                <a:latin typeface="Cambria" pitchFamily="18" charset="0"/>
              </a:rPr>
              <a:t>địa</a:t>
            </a:r>
            <a:r>
              <a:rPr lang="en-US" dirty="0">
                <a:latin typeface="Cambria" pitchFamily="18" charset="0"/>
              </a:rPr>
              <a:t> </a:t>
            </a:r>
            <a:r>
              <a:rPr lang="en-US" dirty="0" err="1">
                <a:latin typeface="Cambria" pitchFamily="18" charset="0"/>
              </a:rPr>
              <a:t>chỉ</a:t>
            </a:r>
            <a:r>
              <a:rPr lang="en-US" dirty="0">
                <a:latin typeface="Cambria" pitchFamily="18" charset="0"/>
              </a:rPr>
              <a:t>…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Cambria" pitchFamily="18" charset="0"/>
              </a:rPr>
              <a:t>Động</a:t>
            </a:r>
            <a:r>
              <a:rPr lang="en-US" dirty="0">
                <a:latin typeface="Cambria" pitchFamily="18" charset="0"/>
              </a:rPr>
              <a:t>: </a:t>
            </a:r>
            <a:r>
              <a:rPr lang="en-US" dirty="0" err="1">
                <a:latin typeface="Cambria" pitchFamily="18" charset="0"/>
              </a:rPr>
              <a:t>Doanh</a:t>
            </a:r>
            <a:r>
              <a:rPr lang="en-US" dirty="0">
                <a:latin typeface="Cambria" pitchFamily="18" charset="0"/>
              </a:rPr>
              <a:t> </a:t>
            </a:r>
            <a:r>
              <a:rPr lang="en-US" dirty="0" err="1">
                <a:latin typeface="Cambria" pitchFamily="18" charset="0"/>
              </a:rPr>
              <a:t>thu</a:t>
            </a:r>
            <a:r>
              <a:rPr lang="en-US" dirty="0">
                <a:latin typeface="Cambria" pitchFamily="18" charset="0"/>
              </a:rPr>
              <a:t>, </a:t>
            </a:r>
            <a:r>
              <a:rPr lang="en-US" dirty="0" err="1">
                <a:latin typeface="Cambria" pitchFamily="18" charset="0"/>
              </a:rPr>
              <a:t>số</a:t>
            </a:r>
            <a:r>
              <a:rPr lang="en-US" dirty="0">
                <a:latin typeface="Cambria" pitchFamily="18" charset="0"/>
              </a:rPr>
              <a:t> </a:t>
            </a:r>
            <a:r>
              <a:rPr lang="en-US" dirty="0" err="1">
                <a:latin typeface="Cambria" pitchFamily="18" charset="0"/>
              </a:rPr>
              <a:t>lượng</a:t>
            </a:r>
            <a:r>
              <a:rPr lang="en-US" dirty="0">
                <a:latin typeface="Cambria" pitchFamily="18" charset="0"/>
              </a:rPr>
              <a:t> </a:t>
            </a:r>
            <a:r>
              <a:rPr lang="en-US" dirty="0" err="1">
                <a:latin typeface="Cambria" pitchFamily="18" charset="0"/>
              </a:rPr>
              <a:t>kho</a:t>
            </a:r>
            <a:r>
              <a:rPr lang="en-US" dirty="0">
                <a:latin typeface="Cambria" pitchFamily="18" charset="0"/>
              </a:rPr>
              <a:t>…</a:t>
            </a:r>
          </a:p>
          <a:p>
            <a:pPr marL="502920" lvl="3" algn="just">
              <a:lnSpc>
                <a:spcPct val="150000"/>
              </a:lnSpc>
              <a:buFont typeface="Wingdings" pitchFamily="2" charset="2"/>
              <a:buChar char="v"/>
            </a:pP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9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marL="365760" indent="-283464">
              <a:lnSpc>
                <a:spcPct val="90000"/>
              </a:lnSpc>
              <a:buNone/>
              <a:defRPr/>
            </a:pPr>
            <a:r>
              <a:rPr lang="en-US" sz="2400" b="1" dirty="0"/>
              <a:t>b) </a:t>
            </a:r>
            <a:r>
              <a:rPr lang="en-US" sz="2400" b="1" dirty="0" err="1">
                <a:latin typeface="Cambria" pitchFamily="18" charset="0"/>
              </a:rPr>
              <a:t>Thông</a:t>
            </a:r>
            <a:r>
              <a:rPr lang="en-US" sz="2400" b="1" dirty="0">
                <a:latin typeface="Cambria" pitchFamily="18" charset="0"/>
              </a:rPr>
              <a:t> tin</a:t>
            </a:r>
            <a:endParaRPr lang="vi-VN" sz="2400" b="1" dirty="0"/>
          </a:p>
          <a:p>
            <a:pPr lvl="1" algn="just">
              <a:buFont typeface="Wingdings" pitchFamily="2" charset="2"/>
              <a:buChar char="Ø"/>
            </a:pP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3300"/>
                </a:solidFill>
              </a:rPr>
              <a:t>ý </a:t>
            </a:r>
            <a:r>
              <a:rPr lang="en-US" sz="2400" dirty="0" err="1">
                <a:solidFill>
                  <a:srgbClr val="FF3300"/>
                </a:solidFill>
              </a:rPr>
              <a:t>nghĩa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rút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qua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FF3300"/>
                </a:solidFill>
              </a:rPr>
              <a:t>xử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lý</a:t>
            </a:r>
            <a:r>
              <a:rPr lang="en-US" sz="2400" dirty="0"/>
              <a:t> (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,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, v.v..),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FF3300"/>
                </a:solidFill>
              </a:rPr>
              <a:t>mục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đích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cụ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thể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vi-VN" sz="2400" dirty="0"/>
              <a:t>Thông tin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vi-VN" sz="2400" dirty="0"/>
              <a:t>gồm nhiều giá trị dữ liệu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sao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nó</a:t>
            </a:r>
            <a:r>
              <a:rPr lang="en-US" sz="2400" dirty="0"/>
              <a:t> </a:t>
            </a:r>
            <a:r>
              <a:rPr lang="en-US" sz="2400" dirty="0" err="1"/>
              <a:t>mang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3300"/>
                </a:solidFill>
              </a:rPr>
              <a:t>ý </a:t>
            </a:r>
            <a:r>
              <a:rPr lang="en-US" sz="2400" dirty="0" err="1">
                <a:solidFill>
                  <a:srgbClr val="FF3300"/>
                </a:solidFill>
              </a:rPr>
              <a:t>nghĩa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cho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một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đối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tượng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cụ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thể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rgbClr val="FF3300"/>
                </a:solidFill>
              </a:rPr>
              <a:t>trong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một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ngữ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cảnh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cụ</a:t>
            </a:r>
            <a:r>
              <a:rPr lang="en-US" sz="2400" dirty="0">
                <a:solidFill>
                  <a:srgbClr val="FF3300"/>
                </a:solidFill>
              </a:rPr>
              <a:t> </a:t>
            </a:r>
            <a:r>
              <a:rPr lang="en-US" sz="2400" dirty="0" err="1">
                <a:solidFill>
                  <a:srgbClr val="FF3300"/>
                </a:solidFill>
              </a:rPr>
              <a:t>thể</a:t>
            </a:r>
            <a:r>
              <a:rPr lang="en-US" sz="2400" dirty="0"/>
              <a:t>.</a:t>
            </a:r>
          </a:p>
          <a:p>
            <a:pPr lvl="2" algn="just">
              <a:buFont typeface="Wingdings" pitchFamily="2" charset="2"/>
              <a:buChar char="§"/>
            </a:pPr>
            <a:r>
              <a:rPr lang="en-US" sz="2200" dirty="0"/>
              <a:t>V</a:t>
            </a:r>
            <a:r>
              <a:rPr lang="vi-VN" sz="2200" dirty="0"/>
              <a:t>í dụ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vi-VN" sz="2200" dirty="0"/>
              <a:t>dữ liệu trên có thông tin như sau:Thủ kho Nguyễn Văn Nam xuất mặt hàng có danh mục là 845102 vào ngày 14/10/ 02 với số lượng 18</a:t>
            </a:r>
            <a:r>
              <a:rPr lang="en-US" sz="2200" dirty="0"/>
              <a:t>.</a:t>
            </a:r>
            <a:endParaRPr lang="vi-VN" sz="2200" dirty="0"/>
          </a:p>
          <a:p>
            <a:pPr marL="502920" lvl="3" algn="just">
              <a:lnSpc>
                <a:spcPct val="150000"/>
              </a:lnSpc>
              <a:buFont typeface="Wingdings" pitchFamily="2" charset="2"/>
              <a:buChar char="v"/>
            </a:pPr>
            <a:endParaRPr lang="en-US" sz="2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3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58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2400" b="1" dirty="0"/>
              <a:t>c) QUÁ TRÌNH TẠO RA THÔNG TIN</a:t>
            </a:r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lvl="1">
              <a:buFont typeface="Wingdings" pitchFamily="2" charset="2"/>
              <a:buChar char="Ø"/>
            </a:pPr>
            <a:r>
              <a:rPr lang="en-US" sz="2400" dirty="0" err="1"/>
              <a:t>Thông</a:t>
            </a:r>
            <a:r>
              <a:rPr lang="en-US" sz="2400" dirty="0"/>
              <a:t> tin =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+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endParaRPr lang="en-US" sz="2400" dirty="0"/>
          </a:p>
          <a:p>
            <a:pPr lvl="1">
              <a:buFont typeface="Wingdings" pitchFamily="2" charset="2"/>
              <a:buChar char="Ø"/>
            </a:pP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~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  <a:p>
            <a:pPr marL="502920" lvl="3" algn="just">
              <a:lnSpc>
                <a:spcPct val="150000"/>
              </a:lnSpc>
              <a:buFont typeface="Wingdings" pitchFamily="2" charset="2"/>
              <a:buChar char="v"/>
            </a:pPr>
            <a:endParaRPr lang="en-US" sz="2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4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3509" y="2172831"/>
            <a:ext cx="1752600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DỮ LIỆU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4709" y="2172831"/>
            <a:ext cx="1752600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THÔNG TIN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9109" y="2172831"/>
            <a:ext cx="1752600" cy="685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QUÁ TRÌNH XỬ LÝ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66109" y="2401431"/>
            <a:ext cx="1143000" cy="22860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5361709" y="2401431"/>
            <a:ext cx="1143000" cy="22860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09109" y="3011031"/>
            <a:ext cx="1676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66688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loại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166688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Sắp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xếp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166688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Tổng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hợp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166688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Tính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toán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166688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Chọn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lựa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28509" y="3011031"/>
            <a:ext cx="2209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34950" algn="just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Tài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đã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xử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lý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234950" algn="just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Thông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tin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có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định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dạng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234950" algn="just">
              <a:buFont typeface="Wingdings" pitchFamily="2" charset="2"/>
              <a:buChar char="§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DL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trong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ngữ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cảnh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234950" algn="just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Giá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trị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hữu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234950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Giá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trị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vô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hình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7309" y="3011031"/>
            <a:ext cx="2286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166688" algn="just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kí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tư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số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  <a:p>
            <a:pPr indent="166688" algn="just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thô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166688" algn="just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Thông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tin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không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định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dạng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indent="166688" algn="just">
              <a:buFont typeface="Wingdings" pitchFamily="2" charset="2"/>
              <a:buChar char="§"/>
            </a:pP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chung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</a:rPr>
              <a:t>chung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8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5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sp>
        <p:nvSpPr>
          <p:cNvPr id="6" name="Smiley Face 5"/>
          <p:cNvSpPr/>
          <p:nvPr/>
        </p:nvSpPr>
        <p:spPr>
          <a:xfrm>
            <a:off x="1676400" y="3276600"/>
            <a:ext cx="1981200" cy="1981200"/>
          </a:xfrm>
          <a:prstGeom prst="smileyFac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4191000" y="1600200"/>
            <a:ext cx="4114800" cy="1600200"/>
          </a:xfrm>
          <a:prstGeom prst="cloudCallout">
            <a:avLst>
              <a:gd name="adj1" fmla="val -60227"/>
              <a:gd name="adj2" fmla="val 84722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Times New Roman" pitchFamily="18" charset="0"/>
              </a:rPr>
              <a:t>Tại</a:t>
            </a: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itchFamily="18" charset="0"/>
              </a:rPr>
              <a:t>sao</a:t>
            </a: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itchFamily="18" charset="0"/>
              </a:rPr>
              <a:t>cần</a:t>
            </a: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itchFamily="18" charset="0"/>
              </a:rPr>
              <a:t>phải</a:t>
            </a: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itchFamily="18" charset="0"/>
              </a:rPr>
              <a:t>có</a:t>
            </a: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Times New Roman" pitchFamily="18" charset="0"/>
              </a:rPr>
              <a:t>một</a:t>
            </a:r>
            <a:r>
              <a:rPr lang="en-US" sz="2800" b="1" dirty="0">
                <a:solidFill>
                  <a:schemeClr val="bg1"/>
                </a:solidFill>
                <a:latin typeface="Times New Roman" pitchFamily="18" charset="0"/>
              </a:rPr>
              <a:t> CSDL?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090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Clr>
                <a:schemeClr val="tx2"/>
              </a:buClr>
              <a:buSzPct val="75000"/>
              <a:buFont typeface="Wingdings" pitchFamily="2" charset="2"/>
              <a:buChar char="v"/>
            </a:pPr>
            <a:r>
              <a:rPr lang="en-US" sz="2400" b="1" dirty="0" err="1">
                <a:latin typeface="Times New Roman" pitchFamily="18" charset="0"/>
              </a:rPr>
              <a:t>Hệ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</a:rPr>
              <a:t>thống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</a:rPr>
              <a:t>các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</a:rPr>
              <a:t>tập</a:t>
            </a:r>
            <a:r>
              <a:rPr lang="en-US" sz="2400" b="1" dirty="0">
                <a:latin typeface="Times New Roman" pitchFamily="18" charset="0"/>
              </a:rPr>
              <a:t> tin </a:t>
            </a:r>
            <a:r>
              <a:rPr lang="en-US" sz="2400" b="1" dirty="0" err="1">
                <a:latin typeface="Times New Roman" pitchFamily="18" charset="0"/>
              </a:rPr>
              <a:t>cổ</a:t>
            </a:r>
            <a:r>
              <a:rPr lang="en-US" sz="2400" b="1" dirty="0">
                <a:latin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</a:rPr>
              <a:t>điển</a:t>
            </a:r>
            <a:r>
              <a:rPr lang="en-US" sz="2400" b="1" dirty="0">
                <a:latin typeface="Times New Roman" pitchFamily="18" charset="0"/>
              </a:rPr>
              <a:t> : </a:t>
            </a:r>
            <a:r>
              <a:rPr lang="en-US" sz="2400" dirty="0" err="1">
                <a:latin typeface="Times New Roman" pitchFamily="18" charset="0"/>
              </a:rPr>
              <a:t>Được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tổ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chức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riêng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rẽ</a:t>
            </a:r>
            <a:r>
              <a:rPr lang="en-US" sz="2400" dirty="0">
                <a:latin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</a:rPr>
              <a:t>phục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vụ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mục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đích</a:t>
            </a:r>
            <a:r>
              <a:rPr lang="en-US" sz="2400" dirty="0">
                <a:latin typeface="Times New Roman" pitchFamily="18" charset="0"/>
              </a:rPr>
              <a:t> hay </a:t>
            </a:r>
            <a:r>
              <a:rPr lang="en-US" sz="2400" dirty="0" err="1">
                <a:latin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bộ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phận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đó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doanh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nghiệp</a:t>
            </a:r>
            <a:r>
              <a:rPr lang="en-US" sz="2400" dirty="0">
                <a:latin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buClr>
                <a:schemeClr val="tx2"/>
              </a:buClr>
              <a:buSzPct val="75000"/>
            </a:pPr>
            <a:endParaRPr lang="en-US" sz="2400" dirty="0"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sz="2400" u="sng" dirty="0" err="1">
                <a:solidFill>
                  <a:schemeClr val="tx2"/>
                </a:solidFill>
                <a:latin typeface="Times New Roman" pitchFamily="18" charset="0"/>
              </a:rPr>
              <a:t>Nhược</a:t>
            </a:r>
            <a:r>
              <a:rPr lang="en-US" sz="2400" u="sng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sz="2400" u="sng" dirty="0" err="1">
                <a:solidFill>
                  <a:schemeClr val="tx2"/>
                </a:solidFill>
                <a:latin typeface="Times New Roman" pitchFamily="18" charset="0"/>
              </a:rPr>
              <a:t>điểm</a:t>
            </a:r>
            <a:r>
              <a:rPr lang="en-US" sz="2400" u="sng" dirty="0">
                <a:solidFill>
                  <a:schemeClr val="tx2"/>
                </a:solidFill>
                <a:latin typeface="Times New Roman" pitchFamily="18" charset="0"/>
              </a:rPr>
              <a:t>:</a:t>
            </a:r>
            <a:r>
              <a:rPr lang="en-US" sz="2400" dirty="0">
                <a:latin typeface="Times New Roman" pitchFamily="18" charset="0"/>
              </a:rPr>
              <a:t>  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sz="2400" dirty="0">
                <a:latin typeface="Times New Roman" pitchFamily="18" charset="0"/>
              </a:rPr>
              <a:t>		- </a:t>
            </a:r>
            <a:r>
              <a:rPr lang="en-US" sz="2400" dirty="0" err="1">
                <a:latin typeface="Times New Roman" pitchFamily="18" charset="0"/>
              </a:rPr>
              <a:t>Tính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phụ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thuộc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giữa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chương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dữ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liệu</a:t>
            </a:r>
            <a:r>
              <a:rPr lang="en-US" sz="2400" dirty="0">
                <a:latin typeface="Times New Roman" pitchFamily="18" charset="0"/>
              </a:rPr>
              <a:t> .</a:t>
            </a: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sz="2400" dirty="0">
                <a:latin typeface="Times New Roman" pitchFamily="18" charset="0"/>
              </a:rPr>
              <a:t>		- </a:t>
            </a:r>
            <a:r>
              <a:rPr lang="en-US" sz="2400" dirty="0" err="1">
                <a:latin typeface="Times New Roman" pitchFamily="18" charset="0"/>
              </a:rPr>
              <a:t>Lưu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trữ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trùng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lặp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dữ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liệu</a:t>
            </a:r>
            <a:endParaRPr lang="en-US" sz="2400" dirty="0"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sz="2400" dirty="0">
                <a:latin typeface="Times New Roman" pitchFamily="18" charset="0"/>
              </a:rPr>
              <a:t>		- </a:t>
            </a:r>
            <a:r>
              <a:rPr lang="en-US" sz="2400" dirty="0" err="1">
                <a:latin typeface="Times New Roman" pitchFamily="18" charset="0"/>
              </a:rPr>
              <a:t>Việc</a:t>
            </a:r>
            <a:r>
              <a:rPr lang="en-US" sz="2400" dirty="0">
                <a:latin typeface="Times New Roman" pitchFamily="18" charset="0"/>
              </a:rPr>
              <a:t> chia </a:t>
            </a:r>
            <a:r>
              <a:rPr lang="en-US" sz="2400" dirty="0" err="1">
                <a:latin typeface="Times New Roman" pitchFamily="18" charset="0"/>
              </a:rPr>
              <a:t>sẻ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dữ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liệu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bị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hạn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chế</a:t>
            </a:r>
            <a:endParaRPr lang="en-US" sz="2400" dirty="0"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sz="2400" dirty="0">
                <a:latin typeface="Times New Roman" pitchFamily="18" charset="0"/>
              </a:rPr>
              <a:t>		- </a:t>
            </a:r>
            <a:r>
              <a:rPr lang="en-US" sz="2400" dirty="0" err="1">
                <a:latin typeface="Times New Roman" pitchFamily="18" charset="0"/>
              </a:rPr>
              <a:t>Tốn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thời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gian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xây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dựng</a:t>
            </a:r>
            <a:endParaRPr lang="en-US" sz="2400" dirty="0">
              <a:latin typeface="Times New Roman" pitchFamily="18" charset="0"/>
            </a:endParaRPr>
          </a:p>
          <a:p>
            <a:pPr marL="0" indent="0">
              <a:lnSpc>
                <a:spcPct val="90000"/>
              </a:lnSpc>
              <a:buClr>
                <a:schemeClr val="tx2"/>
              </a:buClr>
              <a:buSzPct val="75000"/>
              <a:buNone/>
            </a:pPr>
            <a:r>
              <a:rPr lang="en-US" sz="2400" dirty="0">
                <a:latin typeface="Times New Roman" pitchFamily="18" charset="0"/>
              </a:rPr>
              <a:t>		- Chi </a:t>
            </a:r>
            <a:r>
              <a:rPr lang="en-US" sz="2400" dirty="0" err="1">
                <a:latin typeface="Times New Roman" pitchFamily="18" charset="0"/>
              </a:rPr>
              <a:t>phí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cho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bảo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trì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chương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lớn</a:t>
            </a:r>
            <a:endParaRPr lang="en-US" sz="2400" dirty="0">
              <a:latin typeface="Times New Roman" pitchFamily="18" charset="0"/>
            </a:endParaRPr>
          </a:p>
          <a:p>
            <a:pPr marL="502920" lvl="3" algn="just">
              <a:lnSpc>
                <a:spcPct val="150000"/>
              </a:lnSpc>
              <a:buFont typeface="Wingdings" pitchFamily="2" charset="2"/>
              <a:buChar char="v"/>
            </a:pPr>
            <a:endParaRPr lang="en-US" sz="2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6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59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71600"/>
            <a:ext cx="8610600" cy="4953000"/>
          </a:xfrm>
        </p:spPr>
        <p:txBody>
          <a:bodyPr>
            <a:normAutofit/>
          </a:bodyPr>
          <a:lstStyle/>
          <a:p>
            <a:pPr marL="365760" indent="-283464">
              <a:lnSpc>
                <a:spcPct val="90000"/>
              </a:lnSpc>
              <a:buNone/>
              <a:defRPr/>
            </a:pPr>
            <a:r>
              <a:rPr lang="en-US" sz="2400" b="1" dirty="0"/>
              <a:t>d) </a:t>
            </a:r>
            <a:r>
              <a:rPr lang="en-US" sz="2400" b="1" dirty="0" err="1">
                <a:latin typeface="Cambria" pitchFamily="18" charset="0"/>
              </a:rPr>
              <a:t>Cơ</a:t>
            </a:r>
            <a:r>
              <a:rPr lang="en-US" sz="2400" b="1" dirty="0">
                <a:latin typeface="Cambria" pitchFamily="18" charset="0"/>
              </a:rPr>
              <a:t> </a:t>
            </a:r>
            <a:r>
              <a:rPr lang="en-US" sz="2400" b="1" dirty="0" err="1">
                <a:latin typeface="Cambria" pitchFamily="18" charset="0"/>
              </a:rPr>
              <a:t>sở</a:t>
            </a:r>
            <a:r>
              <a:rPr lang="en-US" sz="2400" b="1" dirty="0">
                <a:latin typeface="Cambria" pitchFamily="18" charset="0"/>
              </a:rPr>
              <a:t> </a:t>
            </a:r>
            <a:r>
              <a:rPr lang="en-US" sz="2400" b="1" dirty="0" err="1">
                <a:latin typeface="Cambria" pitchFamily="18" charset="0"/>
              </a:rPr>
              <a:t>dữ</a:t>
            </a:r>
            <a:r>
              <a:rPr lang="en-US" sz="2400" b="1" dirty="0">
                <a:latin typeface="Cambria" pitchFamily="18" charset="0"/>
              </a:rPr>
              <a:t> </a:t>
            </a:r>
            <a:r>
              <a:rPr lang="en-US" sz="2400" b="1" dirty="0" err="1">
                <a:latin typeface="Cambria" pitchFamily="18" charset="0"/>
              </a:rPr>
              <a:t>liệu</a:t>
            </a:r>
            <a:endParaRPr lang="vi-VN" sz="2400" b="1" dirty="0"/>
          </a:p>
          <a:p>
            <a:pPr>
              <a:buFont typeface="Wingdings" pitchFamily="2" charset="2"/>
              <a:buChar char="v"/>
            </a:pPr>
            <a:r>
              <a:rPr lang="en-US" sz="2400" b="1" dirty="0" err="1"/>
              <a:t>Định</a:t>
            </a:r>
            <a:r>
              <a:rPr lang="en-US" sz="2400" b="1" dirty="0"/>
              <a:t> </a:t>
            </a:r>
            <a:r>
              <a:rPr lang="en-US" sz="2400" b="1" dirty="0" err="1"/>
              <a:t>nghĩa</a:t>
            </a:r>
            <a:r>
              <a:rPr lang="en-US" sz="2400" b="1" dirty="0"/>
              <a:t>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mối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Biểu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diễn</a:t>
            </a:r>
            <a:r>
              <a:rPr lang="en-US" dirty="0">
                <a:solidFill>
                  <a:schemeClr val="tx1"/>
                </a:solidFill>
              </a:rPr>
              <a:t> 1 </a:t>
            </a:r>
            <a:r>
              <a:rPr lang="en-US" dirty="0" err="1">
                <a:solidFill>
                  <a:schemeClr val="tx1"/>
                </a:solidFill>
              </a:rPr>
              <a:t>phần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thế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thực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hợp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cấu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trúc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Được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thiết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kế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xây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dựng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mục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đích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cụ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thể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2400" b="1" dirty="0" err="1"/>
              <a:t>Mục</a:t>
            </a:r>
            <a:r>
              <a:rPr lang="en-US" sz="2400" b="1" dirty="0"/>
              <a:t> </a:t>
            </a:r>
            <a:r>
              <a:rPr lang="en-US" sz="2400" b="1" dirty="0" err="1"/>
              <a:t>đích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Nhằm</a:t>
            </a:r>
            <a:r>
              <a:rPr lang="en-US" sz="2400" dirty="0"/>
              <a:t> </a:t>
            </a:r>
            <a:r>
              <a:rPr lang="en-US" sz="2400" dirty="0" err="1"/>
              <a:t>thoả</a:t>
            </a:r>
            <a:r>
              <a:rPr lang="en-US" sz="2400" dirty="0"/>
              <a:t> </a:t>
            </a:r>
            <a:r>
              <a:rPr lang="en-US" sz="2400" dirty="0" err="1"/>
              <a:t>mãn</a:t>
            </a:r>
            <a:r>
              <a:rPr lang="en-US" sz="2400" dirty="0"/>
              <a:t> </a:t>
            </a:r>
            <a:r>
              <a:rPr lang="en-US" sz="2400" dirty="0" err="1"/>
              <a:t>nhu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thác</a:t>
            </a:r>
            <a:r>
              <a:rPr lang="en-US" sz="2400" dirty="0"/>
              <a:t> 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hay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đích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.</a:t>
            </a:r>
          </a:p>
          <a:p>
            <a:pPr marL="502920" lvl="3" algn="just">
              <a:lnSpc>
                <a:spcPct val="150000"/>
              </a:lnSpc>
              <a:buFont typeface="Wingdings" pitchFamily="2" charset="2"/>
              <a:buChar char="v"/>
            </a:pPr>
            <a:endParaRPr lang="en-US" sz="26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7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60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 err="1"/>
              <a:t>Tiêu</a:t>
            </a:r>
            <a:r>
              <a:rPr lang="en-US" sz="2400" b="1" dirty="0"/>
              <a:t> </a:t>
            </a:r>
            <a:r>
              <a:rPr lang="en-US" sz="2400" b="1" dirty="0" err="1"/>
              <a:t>chuẩn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</a:t>
            </a:r>
            <a:r>
              <a:rPr lang="en-US" sz="2400" b="1" dirty="0" err="1"/>
              <a:t>một</a:t>
            </a:r>
            <a:r>
              <a:rPr lang="en-US" sz="2400" b="1" dirty="0"/>
              <a:t> CSDL: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mật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lập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Tránh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thừa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thông</a:t>
            </a:r>
            <a:r>
              <a:rPr lang="en-US" dirty="0">
                <a:solidFill>
                  <a:schemeClr val="tx1"/>
                </a:solidFill>
              </a:rPr>
              <a:t> tin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năng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phục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hồi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gặp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cố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tốt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đảm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bảo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chế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độ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8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6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/>
              <a:t> </a:t>
            </a:r>
            <a:r>
              <a:rPr lang="en-US" sz="2400" b="1" dirty="0" err="1"/>
              <a:t>Các</a:t>
            </a:r>
            <a:r>
              <a:rPr lang="en-US" sz="2400" b="1" dirty="0"/>
              <a:t> </a:t>
            </a:r>
            <a:r>
              <a:rPr lang="en-US" sz="2400" b="1" dirty="0" err="1"/>
              <a:t>đối</a:t>
            </a:r>
            <a:r>
              <a:rPr lang="en-US" sz="2400" b="1" dirty="0"/>
              <a:t> </a:t>
            </a:r>
            <a:r>
              <a:rPr lang="en-US" sz="2400" b="1" dirty="0" err="1"/>
              <a:t>tượng</a:t>
            </a:r>
            <a:r>
              <a:rPr lang="en-US" sz="2400" b="1" dirty="0"/>
              <a:t> </a:t>
            </a:r>
            <a:r>
              <a:rPr lang="en-US" sz="2400" b="1" dirty="0" err="1"/>
              <a:t>sử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r>
              <a:rPr lang="en-US" sz="2400" b="1" dirty="0"/>
              <a:t> CSDL: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sử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dụng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chuyên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lĩnh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vực</a:t>
            </a:r>
            <a:r>
              <a:rPr lang="en-US" dirty="0">
                <a:solidFill>
                  <a:schemeClr val="tx1"/>
                </a:solidFill>
              </a:rPr>
              <a:t> tin </a:t>
            </a:r>
            <a:r>
              <a:rPr lang="en-US" dirty="0" err="1">
                <a:solidFill>
                  <a:schemeClr val="tx1"/>
                </a:solidFill>
              </a:rPr>
              <a:t>học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chuyên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viên</a:t>
            </a:r>
            <a:r>
              <a:rPr lang="en-US" dirty="0">
                <a:solidFill>
                  <a:schemeClr val="tx1"/>
                </a:solidFill>
              </a:rPr>
              <a:t>  tin </a:t>
            </a:r>
            <a:r>
              <a:rPr lang="en-US" dirty="0" err="1">
                <a:solidFill>
                  <a:schemeClr val="tx1"/>
                </a:solidFill>
              </a:rPr>
              <a:t>học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thác</a:t>
            </a:r>
            <a:r>
              <a:rPr lang="en-US" dirty="0">
                <a:solidFill>
                  <a:schemeClr val="tx1"/>
                </a:solidFill>
              </a:rPr>
              <a:t> CSDL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trị</a:t>
            </a:r>
            <a:r>
              <a:rPr lang="en-US" dirty="0">
                <a:solidFill>
                  <a:schemeClr val="tx1"/>
                </a:solidFill>
              </a:rPr>
              <a:t> CSDL: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tổ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chức</a:t>
            </a:r>
            <a:r>
              <a:rPr lang="en-US" dirty="0">
                <a:solidFill>
                  <a:schemeClr val="tx1"/>
                </a:solidFill>
              </a:rPr>
              <a:t> CSDL, </a:t>
            </a:r>
            <a:r>
              <a:rPr lang="en-US" dirty="0" err="1">
                <a:solidFill>
                  <a:schemeClr val="tx1"/>
                </a:solidFill>
              </a:rPr>
              <a:t>cấp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quyền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hạn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giải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quyết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tranh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chấp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gặp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cố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9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56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Giới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thiệu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về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sở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dữ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liệu</a:t>
            </a:r>
            <a:endParaRPr lang="en-US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/>
              <a:t> </a:t>
            </a:r>
            <a:r>
              <a:rPr lang="en-US" sz="2400" b="1" dirty="0" err="1"/>
              <a:t>Ví</a:t>
            </a:r>
            <a:r>
              <a:rPr lang="en-US" sz="2400" b="1" dirty="0"/>
              <a:t> </a:t>
            </a:r>
            <a:r>
              <a:rPr lang="en-US" sz="2400" b="1" dirty="0" err="1"/>
              <a:t>dụ</a:t>
            </a:r>
            <a:r>
              <a:rPr lang="en-US" sz="2400" b="1" dirty="0"/>
              <a:t> CSDL: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10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386466"/>
              </p:ext>
            </p:extLst>
          </p:nvPr>
        </p:nvGraphicFramePr>
        <p:xfrm>
          <a:off x="1524000" y="2209800"/>
          <a:ext cx="6096000" cy="110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SINHVIEN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TEN</a:t>
                      </a:r>
                      <a:r>
                        <a:rPr lang="en-US" b="1" baseline="0" dirty="0"/>
                        <a:t>SV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</a:t>
                      </a:r>
                      <a:r>
                        <a:rPr lang="en-US" b="1" baseline="0" dirty="0"/>
                        <a:t>SV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</a:t>
                      </a:r>
                      <a:r>
                        <a:rPr lang="en-US" b="1" baseline="0" dirty="0"/>
                        <a:t>SINH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Hoang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1002013105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1002013303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537510"/>
              </p:ext>
            </p:extLst>
          </p:nvPr>
        </p:nvGraphicFramePr>
        <p:xfrm>
          <a:off x="1143000" y="3733800"/>
          <a:ext cx="6781801" cy="110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MONHOC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TEN</a:t>
                      </a:r>
                      <a:r>
                        <a:rPr lang="en-US" b="1" baseline="0" dirty="0"/>
                        <a:t>MH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Cơ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sở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dữ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liệu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841107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HTTT DN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841048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20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 err="1"/>
              <a:t>Tiếp</a:t>
            </a:r>
            <a:r>
              <a:rPr lang="en-US" sz="2400" b="1" dirty="0"/>
              <a:t> </a:t>
            </a:r>
            <a:r>
              <a:rPr lang="en-US" sz="2400" b="1" dirty="0" err="1"/>
              <a:t>cận</a:t>
            </a:r>
            <a:r>
              <a:rPr lang="en-US" sz="2400" b="1" dirty="0"/>
              <a:t> </a:t>
            </a:r>
            <a:r>
              <a:rPr lang="en-US" sz="2400" b="1" dirty="0" err="1"/>
              <a:t>theo</a:t>
            </a:r>
            <a:r>
              <a:rPr lang="en-US" sz="2400" b="1" dirty="0"/>
              <a:t> </a:t>
            </a:r>
            <a:r>
              <a:rPr lang="en-US" sz="2400" b="1" dirty="0" err="1"/>
              <a:t>tập</a:t>
            </a:r>
            <a:r>
              <a:rPr lang="en-US" sz="2400" b="1" dirty="0"/>
              <a:t> tin</a:t>
            </a:r>
          </a:p>
          <a:p>
            <a:pPr marL="0" indent="0">
              <a:buNone/>
            </a:pP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hình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11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90600" y="2470666"/>
            <a:ext cx="6705600" cy="3200400"/>
            <a:chOff x="685800" y="2165866"/>
            <a:chExt cx="6705600" cy="3200400"/>
          </a:xfrm>
        </p:grpSpPr>
        <p:sp>
          <p:nvSpPr>
            <p:cNvPr id="7" name="TextBox 6"/>
            <p:cNvSpPr txBox="1"/>
            <p:nvPr/>
          </p:nvSpPr>
          <p:spPr>
            <a:xfrm>
              <a:off x="685800" y="2286000"/>
              <a:ext cx="1905000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Ứng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 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3505200"/>
              <a:ext cx="1905000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Ứng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 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4876800"/>
              <a:ext cx="1905000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Ứng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 3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77343" y="2286000"/>
              <a:ext cx="914400" cy="29601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 err="1"/>
                <a:t>Hệ</a:t>
              </a:r>
              <a:endParaRPr lang="en-US" dirty="0"/>
            </a:p>
            <a:p>
              <a:pPr algn="ctr"/>
              <a:r>
                <a:rPr lang="en-US" dirty="0" err="1"/>
                <a:t>Thống</a:t>
              </a:r>
              <a:endParaRPr lang="en-US" dirty="0"/>
            </a:p>
            <a:p>
              <a:pPr algn="ctr"/>
              <a:r>
                <a:rPr lang="en-US" dirty="0" err="1"/>
                <a:t>Quản</a:t>
              </a:r>
              <a:endParaRPr lang="en-US" dirty="0"/>
            </a:p>
            <a:p>
              <a:pPr algn="ctr"/>
              <a:r>
                <a:rPr lang="en-US" dirty="0" err="1"/>
                <a:t>Lý</a:t>
              </a:r>
              <a:endParaRPr lang="en-US" dirty="0"/>
            </a:p>
            <a:p>
              <a:pPr algn="ctr"/>
              <a:r>
                <a:rPr lang="en-US" dirty="0" err="1"/>
                <a:t>Tập</a:t>
              </a:r>
              <a:endParaRPr lang="en-US" dirty="0"/>
            </a:p>
            <a:p>
              <a:pPr algn="ctr"/>
              <a:r>
                <a:rPr lang="en-US" dirty="0"/>
                <a:t>Tin</a:t>
              </a:r>
            </a:p>
          </p:txBody>
        </p:sp>
        <p:sp>
          <p:nvSpPr>
            <p:cNvPr id="11" name="Folded Corner 10"/>
            <p:cNvSpPr/>
            <p:nvPr/>
          </p:nvSpPr>
          <p:spPr>
            <a:xfrm>
              <a:off x="5519057" y="2165866"/>
              <a:ext cx="1219200" cy="609600"/>
            </a:xfrm>
            <a:prstGeom prst="foldedCorner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Tập</a:t>
              </a:r>
              <a:r>
                <a:rPr lang="en-US" dirty="0"/>
                <a:t> tin</a:t>
              </a:r>
            </a:p>
          </p:txBody>
        </p:sp>
        <p:sp>
          <p:nvSpPr>
            <p:cNvPr id="12" name="Folded Corner 11"/>
            <p:cNvSpPr/>
            <p:nvPr/>
          </p:nvSpPr>
          <p:spPr>
            <a:xfrm>
              <a:off x="6172200" y="3276600"/>
              <a:ext cx="1219200" cy="609600"/>
            </a:xfrm>
            <a:prstGeom prst="foldedCorner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Tập</a:t>
              </a:r>
              <a:r>
                <a:rPr lang="en-US" dirty="0"/>
                <a:t> tin</a:t>
              </a:r>
            </a:p>
          </p:txBody>
        </p:sp>
        <p:sp>
          <p:nvSpPr>
            <p:cNvPr id="13" name="Folded Corner 12"/>
            <p:cNvSpPr/>
            <p:nvPr/>
          </p:nvSpPr>
          <p:spPr>
            <a:xfrm>
              <a:off x="5867400" y="4756666"/>
              <a:ext cx="1219200" cy="609600"/>
            </a:xfrm>
            <a:prstGeom prst="foldedCorner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Tập</a:t>
              </a:r>
              <a:r>
                <a:rPr lang="en-US" dirty="0"/>
                <a:t> tin</a:t>
              </a:r>
            </a:p>
          </p:txBody>
        </p:sp>
        <p:cxnSp>
          <p:nvCxnSpPr>
            <p:cNvPr id="14" name="Straight Arrow Connector 13"/>
            <p:cNvCxnSpPr>
              <a:stCxn id="7" idx="3"/>
            </p:cNvCxnSpPr>
            <p:nvPr/>
          </p:nvCxnSpPr>
          <p:spPr>
            <a:xfrm>
              <a:off x="2590800" y="2470666"/>
              <a:ext cx="1186543" cy="501134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3"/>
            </p:cNvCxnSpPr>
            <p:nvPr/>
          </p:nvCxnSpPr>
          <p:spPr>
            <a:xfrm flipV="1">
              <a:off x="2590800" y="3505200"/>
              <a:ext cx="1186543" cy="184666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3"/>
            </p:cNvCxnSpPr>
            <p:nvPr/>
          </p:nvCxnSpPr>
          <p:spPr>
            <a:xfrm flipV="1">
              <a:off x="2590800" y="4495800"/>
              <a:ext cx="1186543" cy="565666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endCxn id="11" idx="1"/>
            </p:cNvCxnSpPr>
            <p:nvPr/>
          </p:nvCxnSpPr>
          <p:spPr>
            <a:xfrm>
              <a:off x="4691743" y="2470666"/>
              <a:ext cx="827314" cy="0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4691743" y="3597142"/>
              <a:ext cx="1480457" cy="0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13" idx="1"/>
            </p:cNvCxnSpPr>
            <p:nvPr/>
          </p:nvCxnSpPr>
          <p:spPr>
            <a:xfrm>
              <a:off x="4691743" y="5050189"/>
              <a:ext cx="1175657" cy="11277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647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 err="1"/>
              <a:t>Tiếp</a:t>
            </a:r>
            <a:r>
              <a:rPr lang="en-US" sz="2400" b="1" dirty="0"/>
              <a:t> </a:t>
            </a:r>
            <a:r>
              <a:rPr lang="en-US" sz="2400" b="1" dirty="0" err="1"/>
              <a:t>cận</a:t>
            </a:r>
            <a:r>
              <a:rPr lang="en-US" sz="2400" b="1" dirty="0"/>
              <a:t> </a:t>
            </a:r>
            <a:r>
              <a:rPr lang="en-US" sz="2400" b="1" dirty="0" err="1"/>
              <a:t>theo</a:t>
            </a:r>
            <a:r>
              <a:rPr lang="en-US" sz="2400" b="1" dirty="0"/>
              <a:t> </a:t>
            </a:r>
            <a:r>
              <a:rPr lang="en-US" sz="2400" b="1" dirty="0" err="1"/>
              <a:t>tập</a:t>
            </a:r>
            <a:r>
              <a:rPr lang="en-US" sz="2400" b="1" dirty="0"/>
              <a:t> tin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Mỗi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người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tin </a:t>
            </a:r>
            <a:r>
              <a:rPr lang="en-US" dirty="0" err="1">
                <a:solidFill>
                  <a:schemeClr val="tx1"/>
                </a:solidFill>
              </a:rPr>
              <a:t>với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thông</a:t>
            </a:r>
            <a:r>
              <a:rPr lang="en-US" dirty="0">
                <a:solidFill>
                  <a:schemeClr val="tx1"/>
                </a:solidFill>
              </a:rPr>
              <a:t> tin </a:t>
            </a:r>
            <a:r>
              <a:rPr lang="en-US" dirty="0" err="1">
                <a:solidFill>
                  <a:schemeClr val="tx1"/>
                </a:solidFill>
              </a:rPr>
              <a:t>theo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cầu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riêng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dễ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trùng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lặp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Dễ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thiếu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quán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Chia </a:t>
            </a:r>
            <a:r>
              <a:rPr lang="en-US" dirty="0" err="1">
                <a:solidFill>
                  <a:schemeClr val="tx1"/>
                </a:solidFill>
              </a:rPr>
              <a:t>sẻ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khăn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Truy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xuất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khó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Khó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khôi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phục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cố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12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58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 err="1"/>
              <a:t>Tiếp</a:t>
            </a:r>
            <a:r>
              <a:rPr lang="en-US" sz="2400" b="1" dirty="0"/>
              <a:t> </a:t>
            </a:r>
            <a:r>
              <a:rPr lang="en-US" sz="2400" b="1" dirty="0" err="1"/>
              <a:t>cận</a:t>
            </a:r>
            <a:r>
              <a:rPr lang="en-US" sz="2400" b="1" dirty="0"/>
              <a:t> </a:t>
            </a:r>
            <a:r>
              <a:rPr lang="en-US" sz="2400" b="1" dirty="0" err="1"/>
              <a:t>theo</a:t>
            </a:r>
            <a:r>
              <a:rPr lang="en-US" sz="2400" b="1" dirty="0"/>
              <a:t> CSDL</a:t>
            </a:r>
          </a:p>
          <a:p>
            <a:pPr marL="0" indent="0">
              <a:buNone/>
            </a:pP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hình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13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996043" y="2602468"/>
            <a:ext cx="7391400" cy="2960132"/>
            <a:chOff x="685800" y="2286000"/>
            <a:chExt cx="7391400" cy="2960132"/>
          </a:xfrm>
        </p:grpSpPr>
        <p:sp>
          <p:nvSpPr>
            <p:cNvPr id="21" name="TextBox 20"/>
            <p:cNvSpPr txBox="1"/>
            <p:nvPr/>
          </p:nvSpPr>
          <p:spPr>
            <a:xfrm>
              <a:off x="685800" y="2286000"/>
              <a:ext cx="1905000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Ứng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 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5800" y="3505200"/>
              <a:ext cx="1905000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Ứng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 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5800" y="4876800"/>
              <a:ext cx="1905000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Ứng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 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777343" y="2286000"/>
              <a:ext cx="914400" cy="29601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 err="1"/>
                <a:t>Hệ</a:t>
              </a:r>
              <a:endParaRPr lang="en-US" dirty="0"/>
            </a:p>
            <a:p>
              <a:pPr algn="ctr"/>
              <a:r>
                <a:rPr lang="en-US" dirty="0" err="1"/>
                <a:t>Quản</a:t>
              </a:r>
              <a:endParaRPr lang="en-US" dirty="0"/>
            </a:p>
            <a:p>
              <a:pPr algn="ctr"/>
              <a:r>
                <a:rPr lang="en-US" dirty="0" err="1"/>
                <a:t>Trị</a:t>
              </a:r>
              <a:endParaRPr lang="en-US" dirty="0"/>
            </a:p>
            <a:p>
              <a:pPr algn="ctr"/>
              <a:r>
                <a:rPr lang="en-US" dirty="0"/>
                <a:t>CSDL</a:t>
              </a:r>
            </a:p>
          </p:txBody>
        </p:sp>
        <p:cxnSp>
          <p:nvCxnSpPr>
            <p:cNvPr id="25" name="Straight Arrow Connector 24"/>
            <p:cNvCxnSpPr>
              <a:stCxn id="21" idx="3"/>
            </p:cNvCxnSpPr>
            <p:nvPr/>
          </p:nvCxnSpPr>
          <p:spPr>
            <a:xfrm>
              <a:off x="2590800" y="2470666"/>
              <a:ext cx="1186543" cy="501134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2" idx="3"/>
            </p:cNvCxnSpPr>
            <p:nvPr/>
          </p:nvCxnSpPr>
          <p:spPr>
            <a:xfrm flipV="1">
              <a:off x="2590800" y="3505200"/>
              <a:ext cx="1186543" cy="184666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3" idx="3"/>
            </p:cNvCxnSpPr>
            <p:nvPr/>
          </p:nvCxnSpPr>
          <p:spPr>
            <a:xfrm flipV="1">
              <a:off x="2590800" y="4495800"/>
              <a:ext cx="1186543" cy="565666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24" idx="3"/>
              <a:endCxn id="29" idx="2"/>
            </p:cNvCxnSpPr>
            <p:nvPr/>
          </p:nvCxnSpPr>
          <p:spPr>
            <a:xfrm>
              <a:off x="4691743" y="3766066"/>
              <a:ext cx="1480457" cy="0"/>
            </a:xfrm>
            <a:prstGeom prst="straightConnector1">
              <a:avLst/>
            </a:prstGeom>
            <a:ln w="381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lowchart: Magnetic Disk 28"/>
            <p:cNvSpPr/>
            <p:nvPr/>
          </p:nvSpPr>
          <p:spPr>
            <a:xfrm>
              <a:off x="6172200" y="3232666"/>
              <a:ext cx="1905000" cy="1066800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CSDL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575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 err="1"/>
              <a:t>Ưu</a:t>
            </a:r>
            <a:r>
              <a:rPr lang="en-US" sz="2400" b="1" dirty="0"/>
              <a:t> </a:t>
            </a:r>
            <a:r>
              <a:rPr lang="en-US" sz="2400" b="1" dirty="0" err="1"/>
              <a:t>điểm</a:t>
            </a:r>
            <a:r>
              <a:rPr lang="en-US" sz="2400" b="1" dirty="0"/>
              <a:t>: </a:t>
            </a:r>
          </a:p>
          <a:p>
            <a:pPr marL="662940" lvl="2" indent="-342900">
              <a:buClr>
                <a:schemeClr val="accent1"/>
              </a:buClr>
              <a:buSzPct val="85000"/>
              <a:buFont typeface="Wingdings" pitchFamily="2" charset="2"/>
              <a:buChar char="Ø"/>
            </a:pPr>
            <a:r>
              <a:rPr lang="en-US" sz="2200" dirty="0" err="1">
                <a:solidFill>
                  <a:schemeClr val="tx1"/>
                </a:solidFill>
              </a:rPr>
              <a:t>Tối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thiểu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hoá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dư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thừa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thông</a:t>
            </a:r>
            <a:r>
              <a:rPr lang="en-US" sz="2200" dirty="0">
                <a:solidFill>
                  <a:schemeClr val="tx1"/>
                </a:solidFill>
              </a:rPr>
              <a:t> tin</a:t>
            </a:r>
          </a:p>
          <a:p>
            <a:pPr marL="662940" lvl="2" indent="-342900">
              <a:buClr>
                <a:schemeClr val="accent1"/>
              </a:buClr>
              <a:buSzPct val="85000"/>
              <a:buFont typeface="Wingdings" pitchFamily="2" charset="2"/>
              <a:buChar char="Ø"/>
            </a:pPr>
            <a:r>
              <a:rPr lang="en-US" sz="2200" b="1" dirty="0" err="1">
                <a:solidFill>
                  <a:schemeClr val="tx1"/>
                </a:solidFill>
              </a:rPr>
              <a:t>Tính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độc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lập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chương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trình</a:t>
            </a:r>
            <a:r>
              <a:rPr lang="en-US" sz="2200" b="1" dirty="0">
                <a:solidFill>
                  <a:schemeClr val="tx1"/>
                </a:solidFill>
              </a:rPr>
              <a:t>- </a:t>
            </a:r>
            <a:r>
              <a:rPr lang="en-US" sz="2200" b="1" dirty="0" err="1">
                <a:solidFill>
                  <a:schemeClr val="tx1"/>
                </a:solidFill>
              </a:rPr>
              <a:t>ứng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dụng</a:t>
            </a:r>
            <a:endParaRPr lang="en-US" sz="2200" b="1" dirty="0">
              <a:solidFill>
                <a:schemeClr val="tx1"/>
              </a:solidFill>
            </a:endParaRPr>
          </a:p>
          <a:p>
            <a:pPr marL="662940" lvl="2" indent="-342900">
              <a:buClr>
                <a:schemeClr val="accent1"/>
              </a:buClr>
              <a:buSzPct val="85000"/>
              <a:buFont typeface="Wingdings" pitchFamily="2" charset="2"/>
              <a:buChar char="Ø"/>
            </a:pPr>
            <a:r>
              <a:rPr lang="en-US" sz="2200" dirty="0" err="1">
                <a:solidFill>
                  <a:schemeClr val="tx1"/>
                </a:solidFill>
              </a:rPr>
              <a:t>Nâng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cao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tính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nhất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quán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dữ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liệu</a:t>
            </a:r>
            <a:endParaRPr lang="en-US" sz="2200" dirty="0">
              <a:solidFill>
                <a:schemeClr val="tx1"/>
              </a:solidFill>
            </a:endParaRPr>
          </a:p>
          <a:p>
            <a:pPr marL="662940" lvl="2" indent="-342900">
              <a:buClr>
                <a:schemeClr val="accent1"/>
              </a:buClr>
              <a:buSzPct val="85000"/>
              <a:buFont typeface="Wingdings" pitchFamily="2" charset="2"/>
              <a:buChar char="Ø"/>
            </a:pPr>
            <a:r>
              <a:rPr lang="en-US" sz="2200" dirty="0" err="1">
                <a:solidFill>
                  <a:schemeClr val="tx1"/>
                </a:solidFill>
              </a:rPr>
              <a:t>Nâng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cao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tính</a:t>
            </a:r>
            <a:r>
              <a:rPr lang="en-US" sz="2200" dirty="0">
                <a:solidFill>
                  <a:schemeClr val="tx1"/>
                </a:solidFill>
              </a:rPr>
              <a:t> chia </a:t>
            </a:r>
            <a:r>
              <a:rPr lang="en-US" sz="2200" dirty="0" err="1">
                <a:solidFill>
                  <a:schemeClr val="tx1"/>
                </a:solidFill>
              </a:rPr>
              <a:t>sẻ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dữ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liệu</a:t>
            </a:r>
            <a:endParaRPr lang="en-US" sz="2200" dirty="0">
              <a:solidFill>
                <a:schemeClr val="tx1"/>
              </a:solidFill>
            </a:endParaRPr>
          </a:p>
          <a:p>
            <a:pPr marL="662940" lvl="2" indent="-342900">
              <a:buClr>
                <a:schemeClr val="accent1"/>
              </a:buClr>
              <a:buSzPct val="85000"/>
              <a:buFont typeface="Wingdings" pitchFamily="2" charset="2"/>
              <a:buChar char="Ø"/>
            </a:pPr>
            <a:r>
              <a:rPr lang="en-US" sz="2200" dirty="0" err="1">
                <a:solidFill>
                  <a:schemeClr val="tx1"/>
                </a:solidFill>
              </a:rPr>
              <a:t>Nâng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cao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chất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lượng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dữ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liệu</a:t>
            </a:r>
            <a:endParaRPr lang="en-US" sz="2200" dirty="0">
              <a:solidFill>
                <a:schemeClr val="tx1"/>
              </a:solidFill>
            </a:endParaRPr>
          </a:p>
          <a:p>
            <a:pPr marL="662940" lvl="2" indent="-342900">
              <a:buClr>
                <a:schemeClr val="accent1"/>
              </a:buClr>
              <a:buSzPct val="85000"/>
              <a:buFont typeface="Wingdings" pitchFamily="2" charset="2"/>
              <a:buChar char="Ø"/>
            </a:pPr>
            <a:r>
              <a:rPr lang="en-US" sz="2200" dirty="0" err="1">
                <a:solidFill>
                  <a:schemeClr val="tx1"/>
                </a:solidFill>
              </a:rPr>
              <a:t>Nâng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cao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khả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năng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truy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cập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và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trả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lại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dữ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liệu</a:t>
            </a:r>
            <a:endParaRPr lang="en-US" sz="2200" dirty="0">
              <a:solidFill>
                <a:schemeClr val="tx1"/>
              </a:solidFill>
            </a:endParaRPr>
          </a:p>
          <a:p>
            <a:pPr marL="662940" lvl="2" indent="-342900">
              <a:buClr>
                <a:schemeClr val="accent1"/>
              </a:buClr>
              <a:buSzPct val="85000"/>
              <a:buFont typeface="Wingdings" pitchFamily="2" charset="2"/>
              <a:buChar char="Ø"/>
            </a:pPr>
            <a:r>
              <a:rPr lang="en-US" sz="2200" dirty="0" err="1">
                <a:solidFill>
                  <a:schemeClr val="tx1"/>
                </a:solidFill>
              </a:rPr>
              <a:t>Giảm</a:t>
            </a:r>
            <a:r>
              <a:rPr lang="en-US" sz="2200" dirty="0">
                <a:solidFill>
                  <a:schemeClr val="tx1"/>
                </a:solidFill>
              </a:rPr>
              <a:t> chi </a:t>
            </a:r>
            <a:r>
              <a:rPr lang="en-US" sz="2200" dirty="0" err="1">
                <a:solidFill>
                  <a:schemeClr val="tx1"/>
                </a:solidFill>
              </a:rPr>
              <a:t>phí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bảo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trì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chương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trình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14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60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 err="1"/>
              <a:t>Đặc</a:t>
            </a:r>
            <a:r>
              <a:rPr lang="en-US" sz="2400" b="1" dirty="0"/>
              <a:t> </a:t>
            </a:r>
            <a:r>
              <a:rPr lang="en-US" sz="2400" b="1" dirty="0" err="1"/>
              <a:t>tính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CSDL: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trừu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quán</a:t>
            </a:r>
            <a:endParaRPr lang="en-US" dirty="0"/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>
              <a:buFont typeface="Wingdings" pitchFamily="2" charset="2"/>
              <a:buChar char="v"/>
            </a:pP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15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66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</a:rPr>
              <a:t>Tính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tự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mô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tả</a:t>
            </a:r>
            <a:endParaRPr lang="en-US" b="1" dirty="0">
              <a:solidFill>
                <a:schemeClr val="tx1"/>
              </a:solidFill>
            </a:endParaRPr>
          </a:p>
          <a:p>
            <a:pPr lvl="1" algn="just">
              <a:buFont typeface="Wingdings" pitchFamily="2" charset="2"/>
              <a:buChar char="ü"/>
            </a:pPr>
            <a:r>
              <a:rPr lang="en-US" dirty="0" err="1"/>
              <a:t>Hệ</a:t>
            </a:r>
            <a:r>
              <a:rPr lang="en-US" dirty="0"/>
              <a:t> CSDL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CSDL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u="sng" dirty="0" err="1"/>
              <a:t>định</a:t>
            </a:r>
            <a:r>
              <a:rPr lang="en-US" u="sng" dirty="0"/>
              <a:t> </a:t>
            </a:r>
            <a:r>
              <a:rPr lang="en-US" u="sng" dirty="0" err="1"/>
              <a:t>nghĩa</a:t>
            </a:r>
            <a:r>
              <a:rPr lang="en-US" u="sng" dirty="0"/>
              <a:t> </a:t>
            </a:r>
            <a:r>
              <a:rPr lang="en-US" u="sng" dirty="0" err="1"/>
              <a:t>đầy</a:t>
            </a:r>
            <a:r>
              <a:rPr lang="en-US" u="sng" dirty="0"/>
              <a:t> </a:t>
            </a:r>
            <a:r>
              <a:rPr lang="en-US" u="sng" dirty="0" err="1"/>
              <a:t>đủ</a:t>
            </a:r>
            <a:r>
              <a:rPr lang="en-US" dirty="0"/>
              <a:t> (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CSDL</a:t>
            </a:r>
          </a:p>
          <a:p>
            <a:pPr lvl="1" algn="just">
              <a:buFont typeface="Wingdings" pitchFamily="2" charset="2"/>
              <a:buChar char="ü"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u="sng" dirty="0"/>
              <a:t>catalog:</a:t>
            </a:r>
            <a:r>
              <a:rPr lang="en-US" dirty="0"/>
              <a:t> </a:t>
            </a:r>
            <a:r>
              <a:rPr lang="en-US" dirty="0" err="1">
                <a:solidFill>
                  <a:schemeClr val="tx1"/>
                </a:solidFill>
              </a:rPr>
              <a:t>Chứa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thông</a:t>
            </a:r>
            <a:r>
              <a:rPr lang="en-US" dirty="0">
                <a:solidFill>
                  <a:schemeClr val="tx1"/>
                </a:solidFill>
              </a:rPr>
              <a:t> tin </a:t>
            </a:r>
            <a:r>
              <a:rPr lang="en-US" dirty="0" err="1">
                <a:solidFill>
                  <a:schemeClr val="tx1"/>
                </a:solidFill>
              </a:rPr>
              <a:t>về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cấu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trúc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tin, </a:t>
            </a:r>
            <a:r>
              <a:rPr lang="en-US" dirty="0" err="1">
                <a:solidFill>
                  <a:schemeClr val="tx1"/>
                </a:solidFill>
              </a:rPr>
              <a:t>kiểu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dạng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lưu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của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mỗi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thành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phần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những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ràng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buộc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dữ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liệu</a:t>
            </a:r>
            <a:endParaRPr lang="en-US" dirty="0">
              <a:solidFill>
                <a:schemeClr val="tx1"/>
              </a:solidFill>
            </a:endParaRPr>
          </a:p>
          <a:p>
            <a:pPr lvl="1" algn="just">
              <a:buFont typeface="Wingdings" pitchFamily="2" charset="2"/>
              <a:buChar char="ü"/>
            </a:pP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catalog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meta-data</a:t>
            </a:r>
          </a:p>
          <a:p>
            <a:pPr>
              <a:buFont typeface="Wingdings" pitchFamily="2" charset="2"/>
              <a:buChar char="v"/>
            </a:pP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16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08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</a:rPr>
              <a:t>Tính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độc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lập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giữa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chương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trình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và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dữ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liệu</a:t>
            </a:r>
            <a:endParaRPr lang="en-US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sz="2400" dirty="0"/>
              <a:t>	</a:t>
            </a:r>
            <a:r>
              <a:rPr lang="en-US" sz="2200" dirty="0" err="1"/>
              <a:t>Vì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 </a:t>
            </a:r>
            <a:r>
              <a:rPr lang="en-US" sz="2200" dirty="0" err="1"/>
              <a:t>nghĩa</a:t>
            </a:r>
            <a:r>
              <a:rPr lang="en-US" sz="2200" dirty="0"/>
              <a:t> </a:t>
            </a:r>
            <a:r>
              <a:rPr lang="en-US" sz="2200" dirty="0" err="1"/>
              <a:t>về</a:t>
            </a:r>
            <a:r>
              <a:rPr lang="en-US" sz="2200" dirty="0"/>
              <a:t> </a:t>
            </a:r>
            <a:r>
              <a:rPr lang="en-US" sz="2200" dirty="0" err="1"/>
              <a:t>cấu</a:t>
            </a:r>
            <a:r>
              <a:rPr lang="en-US" sz="2200" dirty="0"/>
              <a:t> </a:t>
            </a:r>
            <a:r>
              <a:rPr lang="en-US" sz="2200" dirty="0" err="1"/>
              <a:t>trúc</a:t>
            </a:r>
            <a:r>
              <a:rPr lang="en-US" sz="2200" dirty="0"/>
              <a:t> CSDL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lưu</a:t>
            </a:r>
            <a:r>
              <a:rPr lang="en-US" sz="2200" dirty="0"/>
              <a:t> </a:t>
            </a:r>
            <a:r>
              <a:rPr lang="en-US" sz="2200" dirty="0" err="1"/>
              <a:t>trữ</a:t>
            </a:r>
            <a:r>
              <a:rPr lang="en-US" sz="2200" dirty="0"/>
              <a:t> </a:t>
            </a:r>
            <a:r>
              <a:rPr lang="en-US" sz="2200" dirty="0" err="1"/>
              <a:t>trong</a:t>
            </a:r>
            <a:r>
              <a:rPr lang="en-US" sz="2200" dirty="0"/>
              <a:t> catalog </a:t>
            </a:r>
            <a:r>
              <a:rPr lang="en-US" sz="2200" dirty="0" err="1"/>
              <a:t>nên</a:t>
            </a:r>
            <a:r>
              <a:rPr lang="en-US" sz="2200" dirty="0"/>
              <a:t> </a:t>
            </a:r>
            <a:r>
              <a:rPr lang="en-US" sz="2200" dirty="0" err="1"/>
              <a:t>khi</a:t>
            </a:r>
            <a:r>
              <a:rPr lang="en-US" sz="2200" dirty="0"/>
              <a:t> </a:t>
            </a:r>
            <a:r>
              <a:rPr lang="en-US" sz="2200" dirty="0" err="1"/>
              <a:t>có</a:t>
            </a:r>
            <a:r>
              <a:rPr lang="en-US" sz="2200" dirty="0"/>
              <a:t> </a:t>
            </a:r>
            <a:r>
              <a:rPr lang="en-US" sz="2200" dirty="0" err="1"/>
              <a:t>thay</a:t>
            </a:r>
            <a:r>
              <a:rPr lang="en-US" sz="2200" dirty="0"/>
              <a:t> </a:t>
            </a:r>
            <a:r>
              <a:rPr lang="en-US" sz="2200" dirty="0" err="1"/>
              <a:t>đổi</a:t>
            </a:r>
            <a:r>
              <a:rPr lang="en-US" sz="2200" dirty="0"/>
              <a:t> </a:t>
            </a:r>
            <a:r>
              <a:rPr lang="en-US" sz="2200" u="sng" dirty="0" err="1"/>
              <a:t>nhỏ</a:t>
            </a:r>
            <a:r>
              <a:rPr lang="en-US" sz="2200" dirty="0"/>
              <a:t> </a:t>
            </a:r>
            <a:r>
              <a:rPr lang="en-US" sz="2200" dirty="0" err="1"/>
              <a:t>về</a:t>
            </a:r>
            <a:r>
              <a:rPr lang="en-US" sz="2200" dirty="0"/>
              <a:t> </a:t>
            </a:r>
            <a:r>
              <a:rPr lang="en-US" sz="2200" dirty="0" err="1"/>
              <a:t>cấu</a:t>
            </a:r>
            <a:r>
              <a:rPr lang="en-US" sz="2200" dirty="0"/>
              <a:t> </a:t>
            </a:r>
            <a:r>
              <a:rPr lang="en-US" sz="2200" dirty="0" err="1"/>
              <a:t>trúc</a:t>
            </a:r>
            <a:r>
              <a:rPr lang="en-US" sz="2200" dirty="0"/>
              <a:t> ta </a:t>
            </a:r>
            <a:r>
              <a:rPr lang="en-US" sz="2200" dirty="0" err="1"/>
              <a:t>ít</a:t>
            </a:r>
            <a:r>
              <a:rPr lang="en-US" sz="2200" dirty="0"/>
              <a:t> </a:t>
            </a:r>
            <a:r>
              <a:rPr lang="en-US" sz="2200" dirty="0" err="1"/>
              <a:t>phải</a:t>
            </a:r>
            <a:r>
              <a:rPr lang="en-US" sz="2200" dirty="0"/>
              <a:t> </a:t>
            </a:r>
            <a:r>
              <a:rPr lang="en-US" sz="2200" dirty="0" err="1"/>
              <a:t>sửa</a:t>
            </a:r>
            <a:r>
              <a:rPr lang="en-US" sz="2200" dirty="0"/>
              <a:t> </a:t>
            </a:r>
            <a:r>
              <a:rPr lang="en-US" sz="2200" dirty="0" err="1"/>
              <a:t>lại</a:t>
            </a:r>
            <a:r>
              <a:rPr lang="en-US" sz="2200" dirty="0"/>
              <a:t> </a:t>
            </a:r>
            <a:r>
              <a:rPr lang="en-US" sz="2200" dirty="0" err="1"/>
              <a:t>chương</a:t>
            </a:r>
            <a:r>
              <a:rPr lang="en-US" sz="2200" dirty="0"/>
              <a:t> </a:t>
            </a:r>
            <a:r>
              <a:rPr lang="en-US" sz="2200" dirty="0" err="1"/>
              <a:t>trình</a:t>
            </a:r>
            <a:r>
              <a:rPr lang="en-US" sz="2200" dirty="0"/>
              <a:t> </a:t>
            </a:r>
          </a:p>
          <a:p>
            <a:pPr>
              <a:buFont typeface="Wingdings" pitchFamily="2" charset="2"/>
              <a:buChar char="v"/>
            </a:pPr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17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2362200" y="3278188"/>
            <a:ext cx="3429000" cy="1293812"/>
            <a:chOff x="1872" y="2352"/>
            <a:chExt cx="2160" cy="815"/>
          </a:xfrm>
        </p:grpSpPr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1872" y="2640"/>
              <a:ext cx="67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/>
                <a:t>Độc lập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2784" y="2352"/>
              <a:ext cx="1056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/>
                <a:t>Chương trình</a:t>
              </a: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2784" y="2928"/>
              <a:ext cx="1056" cy="23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/>
                <a:t>Dữ liệu</a:t>
              </a: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2592" y="2784"/>
              <a:ext cx="14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67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</a:rPr>
              <a:t>Tính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trừu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tượng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dữ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liệu</a:t>
            </a:r>
            <a:endParaRPr lang="en-US" b="1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HQT CSDL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diễn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mức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trữ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trừu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giúp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độc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liệu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trừu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liệu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</a:rPr>
              <a:t>Tính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nhất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quán</a:t>
            </a:r>
            <a:endParaRPr lang="en-US" b="1" dirty="0">
              <a:solidFill>
                <a:schemeClr val="tx1"/>
              </a:solidFill>
            </a:endParaRPr>
          </a:p>
          <a:p>
            <a:pPr lvl="1">
              <a:buFont typeface="Wingdings" pitchFamily="2" charset="2"/>
              <a:buChar char="ü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nhất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tình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trùng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lắp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tin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khiển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truy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lý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tranh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chấp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liệu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đảm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luôn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mọi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điểm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18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74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Quá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trình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phát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triển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b="1" dirty="0" err="1">
                <a:solidFill>
                  <a:schemeClr val="tx1"/>
                </a:solidFill>
              </a:rPr>
              <a:t>Các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cách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nhìn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dữ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liệu</a:t>
            </a:r>
            <a:r>
              <a:rPr lang="en-US" sz="2200" b="1" dirty="0">
                <a:solidFill>
                  <a:schemeClr val="tx1"/>
                </a:solidFill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Hỗ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trợ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nhìn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liệu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CSDL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dụng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Mỗi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đòi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nhìn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(view)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CSDL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nhìn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CSDL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xuất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CSDL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19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02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quản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trị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2400" b="1" dirty="0" err="1"/>
              <a:t>Khái</a:t>
            </a:r>
            <a:r>
              <a:rPr lang="en-US" sz="2400" b="1" dirty="0"/>
              <a:t> </a:t>
            </a:r>
            <a:r>
              <a:rPr lang="en-US" sz="2400" b="1" dirty="0" err="1"/>
              <a:t>niệm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 QT CSDL: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Hệ</a:t>
            </a:r>
            <a:r>
              <a:rPr lang="en-US" sz="2400" dirty="0"/>
              <a:t> QTCSDL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 </a:t>
            </a:r>
            <a:r>
              <a:rPr lang="en-US" sz="2400" dirty="0" err="1"/>
              <a:t>trữ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.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CSDL </a:t>
            </a: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, </a:t>
            </a: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,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chia </a:t>
            </a:r>
            <a:r>
              <a:rPr lang="en-US" sz="2400" dirty="0" err="1"/>
              <a:t>sẻ</a:t>
            </a:r>
            <a:r>
              <a:rPr lang="en-US" sz="2400" dirty="0"/>
              <a:t> CSDL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QT CSDL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cài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dựa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cụ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hỗ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r>
              <a:rPr lang="en-US" sz="2400" dirty="0"/>
              <a:t>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thao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.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sz="2400" dirty="0"/>
              <a:t>    - VD : FOXPRO, ACCESS, ORACLE, SQL SERVER…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endParaRPr lang="en-US" sz="2400" dirty="0"/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20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88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Hệ</a:t>
            </a:r>
            <a:r>
              <a:rPr lang="en-US" sz="2400" dirty="0"/>
              <a:t> CSDL = CSDL +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CSDL + Ng</a:t>
            </a:r>
            <a:r>
              <a:rPr lang="vi-VN" sz="2400" dirty="0"/>
              <a:t>ườ</a:t>
            </a:r>
            <a:r>
              <a:rPr lang="en-US" sz="2400" dirty="0"/>
              <a:t>i </a:t>
            </a:r>
            <a:r>
              <a:rPr lang="en-US" sz="2400" dirty="0" err="1"/>
              <a:t>dùng</a:t>
            </a:r>
            <a:r>
              <a:rPr lang="en-US" sz="2400" dirty="0"/>
              <a:t> +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cứng</a:t>
            </a:r>
            <a:r>
              <a:rPr lang="en-US" sz="2400" dirty="0"/>
              <a:t>.</a:t>
            </a:r>
          </a:p>
          <a:p>
            <a:pPr algn="just">
              <a:buFont typeface="Wingdings" pitchFamily="2" charset="2"/>
              <a:buChar char="v"/>
            </a:pP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quản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trị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21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828800" y="1981200"/>
            <a:ext cx="4892040" cy="4267200"/>
            <a:chOff x="1828800" y="1981200"/>
            <a:chExt cx="4892040" cy="4267200"/>
          </a:xfrm>
        </p:grpSpPr>
        <p:grpSp>
          <p:nvGrpSpPr>
            <p:cNvPr id="23" name="Group 22"/>
            <p:cNvGrpSpPr/>
            <p:nvPr/>
          </p:nvGrpSpPr>
          <p:grpSpPr>
            <a:xfrm>
              <a:off x="4168140" y="1981200"/>
              <a:ext cx="266700" cy="571500"/>
              <a:chOff x="4168140" y="2209800"/>
              <a:chExt cx="266700" cy="571500"/>
            </a:xfrm>
          </p:grpSpPr>
          <p:sp>
            <p:nvSpPr>
              <p:cNvPr id="8" name="Smiley Face 7"/>
              <p:cNvSpPr/>
              <p:nvPr/>
            </p:nvSpPr>
            <p:spPr>
              <a:xfrm>
                <a:off x="4191000" y="2209800"/>
                <a:ext cx="182880" cy="182880"/>
              </a:xfrm>
              <a:prstGeom prst="smileyFac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4282440" y="2392680"/>
                <a:ext cx="0" cy="27432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4168140" y="2514600"/>
                <a:ext cx="228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H="1">
                <a:off x="4168140" y="2667000"/>
                <a:ext cx="114300" cy="114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H="1" flipV="1">
                <a:off x="4282440" y="2667000"/>
                <a:ext cx="152400" cy="114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/>
            <p:cNvSpPr/>
            <p:nvPr/>
          </p:nvSpPr>
          <p:spPr>
            <a:xfrm>
              <a:off x="3444240" y="2971800"/>
              <a:ext cx="1676400" cy="5334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Giao</a:t>
              </a:r>
              <a:r>
                <a:rPr lang="en-US" dirty="0"/>
                <a:t> </a:t>
              </a:r>
              <a:r>
                <a:rPr lang="en-US" dirty="0" err="1"/>
                <a:t>diện</a:t>
              </a:r>
              <a:r>
                <a:rPr lang="en-US" dirty="0"/>
                <a:t> </a:t>
              </a:r>
              <a:r>
                <a:rPr lang="en-US" dirty="0" err="1"/>
                <a:t>ứng</a:t>
              </a:r>
              <a:r>
                <a:rPr lang="en-US" dirty="0"/>
                <a:t> </a:t>
              </a:r>
              <a:r>
                <a:rPr lang="en-US" dirty="0" err="1"/>
                <a:t>dụng</a:t>
              </a:r>
              <a:r>
                <a:rPr lang="en-US" dirty="0"/>
                <a:t>/ </a:t>
              </a:r>
              <a:r>
                <a:rPr lang="en-US" dirty="0" err="1"/>
                <a:t>truy</a:t>
              </a:r>
              <a:r>
                <a:rPr lang="en-US" dirty="0"/>
                <a:t> </a:t>
              </a:r>
              <a:r>
                <a:rPr lang="en-US" dirty="0" err="1"/>
                <a:t>vấn</a:t>
              </a:r>
              <a:endParaRPr lang="en-US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429000" y="3733800"/>
              <a:ext cx="1676400" cy="5334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Xử</a:t>
              </a:r>
              <a:r>
                <a:rPr lang="en-US" dirty="0"/>
                <a:t> </a:t>
              </a:r>
              <a:r>
                <a:rPr lang="en-US" dirty="0" err="1"/>
                <a:t>lý</a:t>
              </a:r>
              <a:r>
                <a:rPr lang="en-US" dirty="0"/>
                <a:t> </a:t>
              </a:r>
              <a:r>
                <a:rPr lang="en-US" dirty="0" err="1"/>
                <a:t>truy</a:t>
              </a:r>
              <a:r>
                <a:rPr lang="en-US" dirty="0"/>
                <a:t> </a:t>
              </a:r>
              <a:r>
                <a:rPr lang="en-US" dirty="0" err="1"/>
                <a:t>vấn</a:t>
              </a:r>
              <a:endParaRPr lang="en-US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429000" y="4495800"/>
              <a:ext cx="1676400" cy="53340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Truy</a:t>
              </a:r>
              <a:r>
                <a:rPr lang="en-US" dirty="0"/>
                <a:t> </a:t>
              </a:r>
              <a:r>
                <a:rPr lang="en-US" dirty="0" err="1"/>
                <a:t>xuất</a:t>
              </a:r>
              <a:r>
                <a:rPr lang="en-US" dirty="0"/>
                <a:t> </a:t>
              </a:r>
            </a:p>
            <a:p>
              <a:pPr algn="ctr"/>
              <a:r>
                <a:rPr lang="en-US" dirty="0" err="1"/>
                <a:t>dữ</a:t>
              </a:r>
              <a:r>
                <a:rPr lang="en-US" dirty="0"/>
                <a:t> </a:t>
              </a:r>
              <a:r>
                <a:rPr lang="en-US" dirty="0" err="1"/>
                <a:t>liệu</a:t>
              </a:r>
              <a:endParaRPr lang="en-US" dirty="0"/>
            </a:p>
          </p:txBody>
        </p:sp>
        <p:sp>
          <p:nvSpPr>
            <p:cNvPr id="26" name="Flowchart: Magnetic Disk 25"/>
            <p:cNvSpPr/>
            <p:nvPr/>
          </p:nvSpPr>
          <p:spPr>
            <a:xfrm>
              <a:off x="1828800" y="5638800"/>
              <a:ext cx="1600200" cy="609600"/>
            </a:xfrm>
            <a:prstGeom prst="flowChartMagneticDisk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ĐN CSDL</a:t>
              </a:r>
            </a:p>
          </p:txBody>
        </p:sp>
        <p:sp>
          <p:nvSpPr>
            <p:cNvPr id="27" name="Flowchart: Magnetic Disk 26"/>
            <p:cNvSpPr/>
            <p:nvPr/>
          </p:nvSpPr>
          <p:spPr>
            <a:xfrm>
              <a:off x="5120640" y="5638800"/>
              <a:ext cx="1600200" cy="609600"/>
            </a:xfrm>
            <a:prstGeom prst="flowChartMagneticDisk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CSDL</a:t>
              </a:r>
            </a:p>
          </p:txBody>
        </p:sp>
        <p:cxnSp>
          <p:nvCxnSpPr>
            <p:cNvPr id="29" name="Straight Arrow Connector 28"/>
            <p:cNvCxnSpPr>
              <a:endCxn id="22" idx="0"/>
            </p:cNvCxnSpPr>
            <p:nvPr/>
          </p:nvCxnSpPr>
          <p:spPr>
            <a:xfrm>
              <a:off x="4282440" y="2552700"/>
              <a:ext cx="0" cy="4191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4282440" y="3550920"/>
              <a:ext cx="0" cy="18288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267200" y="4312920"/>
              <a:ext cx="0" cy="18288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6" idx="1"/>
            </p:cNvCxnSpPr>
            <p:nvPr/>
          </p:nvCxnSpPr>
          <p:spPr>
            <a:xfrm flipV="1">
              <a:off x="2628900" y="5029200"/>
              <a:ext cx="1539240" cy="60960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4373880" y="5029200"/>
              <a:ext cx="1539240" cy="60960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/>
            <p:cNvSpPr/>
            <p:nvPr/>
          </p:nvSpPr>
          <p:spPr>
            <a:xfrm>
              <a:off x="2133600" y="3642360"/>
              <a:ext cx="4191000" cy="169164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189805" y="3677334"/>
              <a:ext cx="8781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err="1"/>
                <a:t>Hệ</a:t>
              </a:r>
              <a:r>
                <a:rPr lang="en-US" b="1" dirty="0"/>
                <a:t> QT </a:t>
              </a:r>
            </a:p>
            <a:p>
              <a:pPr algn="ctr"/>
              <a:r>
                <a:rPr lang="en-US" b="1" dirty="0"/>
                <a:t>CSDL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44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quản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trị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en-US" sz="2400" b="1" dirty="0" err="1"/>
              <a:t>Tính</a:t>
            </a:r>
            <a:r>
              <a:rPr lang="en-US" sz="2400" b="1" dirty="0"/>
              <a:t> </a:t>
            </a:r>
            <a:r>
              <a:rPr lang="en-US" sz="2400" b="1" dirty="0" err="1"/>
              <a:t>năng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 QT CSDL: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/>
              <a:t>Hạn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trùng</a:t>
            </a:r>
            <a:r>
              <a:rPr lang="en-US" sz="2400" dirty="0"/>
              <a:t> </a:t>
            </a:r>
            <a:r>
              <a:rPr lang="en-US" sz="2400" dirty="0" err="1"/>
              <a:t>lặp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chia </a:t>
            </a:r>
            <a:r>
              <a:rPr lang="en-US" sz="2400" dirty="0" err="1"/>
              <a:t>sẻ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quyền</a:t>
            </a:r>
            <a:r>
              <a:rPr lang="en-US" sz="2400" dirty="0"/>
              <a:t>,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khoản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/>
              <a:t>Đảm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sao</a:t>
            </a:r>
            <a:r>
              <a:rPr lang="en-US" sz="2400" dirty="0"/>
              <a:t> </a:t>
            </a:r>
            <a:r>
              <a:rPr lang="en-US" sz="2400" dirty="0" err="1"/>
              <a:t>lưu</a:t>
            </a:r>
            <a:r>
              <a:rPr lang="en-US" sz="2400" dirty="0"/>
              <a:t>, backup.</a:t>
            </a:r>
          </a:p>
          <a:p>
            <a:pPr algn="just">
              <a:buFont typeface="Wingdings" pitchFamily="2" charset="2"/>
              <a:buChar char="v"/>
            </a:pP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đảm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an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bí</a:t>
            </a:r>
            <a:r>
              <a:rPr lang="en-US" sz="2400" dirty="0"/>
              <a:t> </a:t>
            </a:r>
            <a:r>
              <a:rPr lang="en-US" sz="2400" dirty="0" err="1"/>
              <a:t>mật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DL 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thao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22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30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quản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trị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LcParenR" startAt="3"/>
            </a:pPr>
            <a:r>
              <a:rPr lang="en-US" sz="2400" b="1" dirty="0" err="1"/>
              <a:t>Kiến</a:t>
            </a:r>
            <a:r>
              <a:rPr lang="en-US" sz="2400" b="1" dirty="0"/>
              <a:t> </a:t>
            </a:r>
            <a:r>
              <a:rPr lang="en-US" sz="2400" b="1" dirty="0" err="1"/>
              <a:t>trúc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 QT CSDL: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23</a:t>
            </a:fld>
            <a:endParaRPr lang="en-US" dirty="0">
              <a:solidFill>
                <a:srgbClr val="5D974B">
                  <a:shade val="75000"/>
                </a:srgbClr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28600" y="1981200"/>
            <a:ext cx="8694325" cy="4255532"/>
            <a:chOff x="228600" y="1981200"/>
            <a:chExt cx="8694325" cy="4255532"/>
          </a:xfrm>
        </p:grpSpPr>
        <p:sp>
          <p:nvSpPr>
            <p:cNvPr id="7" name="Rectangle 2"/>
            <p:cNvSpPr>
              <a:spLocks noChangeArrowheads="1"/>
            </p:cNvSpPr>
            <p:nvPr/>
          </p:nvSpPr>
          <p:spPr bwMode="auto">
            <a:xfrm>
              <a:off x="4800600" y="2476500"/>
              <a:ext cx="1661948" cy="25146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sz="2400" b="1">
                  <a:solidFill>
                    <a:schemeClr val="tx2"/>
                  </a:solidFill>
                  <a:latin typeface="Times New Roman" pitchFamily="18" charset="0"/>
                  <a:cs typeface="Arial" pitchFamily="34" charset="0"/>
                </a:rPr>
                <a:t>CSDL </a:t>
              </a:r>
            </a:p>
            <a:p>
              <a:pPr algn="ctr"/>
              <a:r>
                <a:rPr lang="en-US" sz="2400" b="1">
                  <a:solidFill>
                    <a:schemeClr val="tx2"/>
                  </a:solidFill>
                  <a:latin typeface="Times New Roman" pitchFamily="18" charset="0"/>
                  <a:cs typeface="Arial" pitchFamily="34" charset="0"/>
                </a:rPr>
                <a:t>mức</a:t>
              </a:r>
            </a:p>
            <a:p>
              <a:pPr algn="ctr"/>
              <a:r>
                <a:rPr lang="en-US" sz="2400" b="1">
                  <a:solidFill>
                    <a:schemeClr val="tx2"/>
                  </a:solidFill>
                  <a:latin typeface="Times New Roman" pitchFamily="18" charset="0"/>
                  <a:cs typeface="Arial" pitchFamily="34" charset="0"/>
                </a:rPr>
                <a:t> khái </a:t>
              </a:r>
            </a:p>
            <a:p>
              <a:pPr algn="ctr"/>
              <a:r>
                <a:rPr lang="en-US" sz="2400" b="1">
                  <a:solidFill>
                    <a:schemeClr val="tx2"/>
                  </a:solidFill>
                  <a:latin typeface="Times New Roman" pitchFamily="18" charset="0"/>
                  <a:cs typeface="Arial" pitchFamily="34" charset="0"/>
                </a:rPr>
                <a:t>niệm</a:t>
              </a:r>
              <a:r>
                <a:rPr lang="en-US" sz="2400">
                  <a:latin typeface="Times New Roman" pitchFamily="18" charset="0"/>
                  <a:cs typeface="Arial" pitchFamily="34" charset="0"/>
                </a:rPr>
                <a:t> </a:t>
              </a:r>
            </a:p>
          </p:txBody>
        </p:sp>
        <p:sp>
          <p:nvSpPr>
            <p:cNvPr id="8" name="Text Box 3"/>
            <p:cNvSpPr txBox="1">
              <a:spLocks noChangeArrowheads="1"/>
            </p:cNvSpPr>
            <p:nvPr/>
          </p:nvSpPr>
          <p:spPr bwMode="auto">
            <a:xfrm>
              <a:off x="228600" y="3467100"/>
              <a:ext cx="339944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sz="2400">
                <a:latin typeface="Times New Roman" pitchFamily="18" charset="0"/>
                <a:cs typeface="Arial" pitchFamily="34" charset="0"/>
              </a:endParaRPr>
            </a:p>
          </p:txBody>
        </p:sp>
        <p:grpSp>
          <p:nvGrpSpPr>
            <p:cNvPr id="9" name="Group 4"/>
            <p:cNvGrpSpPr>
              <a:grpSpLocks/>
            </p:cNvGrpSpPr>
            <p:nvPr/>
          </p:nvGrpSpPr>
          <p:grpSpPr bwMode="auto">
            <a:xfrm>
              <a:off x="228600" y="2400300"/>
              <a:ext cx="8610339" cy="2654300"/>
              <a:chOff x="0" y="288"/>
              <a:chExt cx="5471" cy="1680"/>
            </a:xfrm>
          </p:grpSpPr>
          <p:sp>
            <p:nvSpPr>
              <p:cNvPr id="15" name="Rectangle 5"/>
              <p:cNvSpPr>
                <a:spLocks noChangeArrowheads="1"/>
              </p:cNvSpPr>
              <p:nvPr/>
            </p:nvSpPr>
            <p:spPr bwMode="auto">
              <a:xfrm>
                <a:off x="1296" y="288"/>
                <a:ext cx="816" cy="33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b="1" dirty="0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View 1</a:t>
                </a:r>
              </a:p>
            </p:txBody>
          </p:sp>
          <p:sp>
            <p:nvSpPr>
              <p:cNvPr id="16" name="Rectangle 6"/>
              <p:cNvSpPr>
                <a:spLocks noChangeArrowheads="1"/>
              </p:cNvSpPr>
              <p:nvPr/>
            </p:nvSpPr>
            <p:spPr bwMode="auto">
              <a:xfrm>
                <a:off x="1296" y="864"/>
                <a:ext cx="816" cy="33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b="1" dirty="0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View 2</a:t>
                </a:r>
              </a:p>
            </p:txBody>
          </p:sp>
          <p:sp>
            <p:nvSpPr>
              <p:cNvPr id="17" name="Rectangle 7"/>
              <p:cNvSpPr>
                <a:spLocks noChangeArrowheads="1"/>
              </p:cNvSpPr>
              <p:nvPr/>
            </p:nvSpPr>
            <p:spPr bwMode="auto">
              <a:xfrm>
                <a:off x="1307" y="1584"/>
                <a:ext cx="816" cy="33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b="1" dirty="0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View k</a:t>
                </a:r>
              </a:p>
            </p:txBody>
          </p:sp>
          <p:sp>
            <p:nvSpPr>
              <p:cNvPr id="18" name="Rectangle 8"/>
              <p:cNvSpPr>
                <a:spLocks noChangeArrowheads="1"/>
              </p:cNvSpPr>
              <p:nvPr/>
            </p:nvSpPr>
            <p:spPr bwMode="auto">
              <a:xfrm>
                <a:off x="4463" y="336"/>
                <a:ext cx="1008" cy="1632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/>
                <a:r>
                  <a:rPr lang="en-US" sz="2400" b="1" dirty="0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CSDL</a:t>
                </a:r>
              </a:p>
              <a:p>
                <a:pPr algn="ctr"/>
                <a:r>
                  <a:rPr lang="en-US" sz="2400" b="1" dirty="0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 </a:t>
                </a:r>
                <a:r>
                  <a:rPr lang="en-US" sz="2400" b="1" dirty="0" err="1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mức</a:t>
                </a:r>
                <a:r>
                  <a:rPr lang="en-US" sz="2400" b="1" dirty="0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 </a:t>
                </a:r>
              </a:p>
              <a:p>
                <a:pPr algn="ctr"/>
                <a:r>
                  <a:rPr lang="en-US" sz="2400" b="1" dirty="0" err="1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vật</a:t>
                </a:r>
                <a:endParaRPr lang="en-US" sz="2400" b="1" dirty="0">
                  <a:solidFill>
                    <a:schemeClr val="tx2"/>
                  </a:solidFill>
                  <a:latin typeface="Times New Roman" pitchFamily="18" charset="0"/>
                  <a:cs typeface="Arial" pitchFamily="34" charset="0"/>
                </a:endParaRPr>
              </a:p>
              <a:p>
                <a:pPr algn="ctr"/>
                <a:r>
                  <a:rPr lang="en-US" sz="2400" b="1" dirty="0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 </a:t>
                </a:r>
                <a:r>
                  <a:rPr lang="en-US" sz="2400" b="1" dirty="0" err="1">
                    <a:solidFill>
                      <a:schemeClr val="tx2"/>
                    </a:solidFill>
                    <a:latin typeface="Times New Roman" pitchFamily="18" charset="0"/>
                    <a:cs typeface="Arial" pitchFamily="34" charset="0"/>
                  </a:rPr>
                  <a:t>lý</a:t>
                </a:r>
                <a:endParaRPr lang="en-US" sz="2400" b="1" dirty="0">
                  <a:solidFill>
                    <a:schemeClr val="tx2"/>
                  </a:solidFill>
                  <a:latin typeface="Times New Roman" pitchFamily="18" charset="0"/>
                  <a:cs typeface="Arial" pitchFamily="34" charset="0"/>
                </a:endParaRPr>
              </a:p>
            </p:txBody>
          </p:sp>
          <p:sp>
            <p:nvSpPr>
              <p:cNvPr id="19" name="Line 9"/>
              <p:cNvSpPr>
                <a:spLocks noChangeShapeType="1"/>
              </p:cNvSpPr>
              <p:nvPr/>
            </p:nvSpPr>
            <p:spPr bwMode="auto">
              <a:xfrm>
                <a:off x="2112" y="456"/>
                <a:ext cx="793" cy="57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" name="Line 10"/>
              <p:cNvSpPr>
                <a:spLocks noChangeShapeType="1"/>
              </p:cNvSpPr>
              <p:nvPr/>
            </p:nvSpPr>
            <p:spPr bwMode="auto">
              <a:xfrm>
                <a:off x="2112" y="1056"/>
                <a:ext cx="768" cy="9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1" name="Line 11"/>
              <p:cNvSpPr>
                <a:spLocks noChangeShapeType="1"/>
              </p:cNvSpPr>
              <p:nvPr/>
            </p:nvSpPr>
            <p:spPr bwMode="auto">
              <a:xfrm flipV="1">
                <a:off x="2112" y="1248"/>
                <a:ext cx="768" cy="50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" name="Line 12"/>
              <p:cNvSpPr>
                <a:spLocks noChangeShapeType="1"/>
              </p:cNvSpPr>
              <p:nvPr/>
            </p:nvSpPr>
            <p:spPr bwMode="auto">
              <a:xfrm>
                <a:off x="3936" y="1056"/>
                <a:ext cx="527" cy="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>
                <a:off x="768" y="480"/>
                <a:ext cx="38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775" y="1056"/>
                <a:ext cx="384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>
                <a:off x="775" y="1728"/>
                <a:ext cx="33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arrow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" name="Text Box 16"/>
              <p:cNvSpPr txBox="1">
                <a:spLocks noChangeArrowheads="1"/>
              </p:cNvSpPr>
              <p:nvPr/>
            </p:nvSpPr>
            <p:spPr bwMode="auto">
              <a:xfrm>
                <a:off x="0" y="1200"/>
                <a:ext cx="2208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dirty="0">
                    <a:latin typeface="Times New Roman" pitchFamily="18" charset="0"/>
                    <a:cs typeface="Arial" pitchFamily="34" charset="0"/>
                  </a:rPr>
                  <a:t>    ……              ………….</a:t>
                </a:r>
              </a:p>
            </p:txBody>
          </p:sp>
          <p:sp>
            <p:nvSpPr>
              <p:cNvPr id="27" name="Text Box 17"/>
              <p:cNvSpPr txBox="1">
                <a:spLocks noChangeArrowheads="1"/>
              </p:cNvSpPr>
              <p:nvPr/>
            </p:nvSpPr>
            <p:spPr bwMode="auto">
              <a:xfrm>
                <a:off x="0" y="312"/>
                <a:ext cx="768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dirty="0">
                    <a:latin typeface="Times New Roman" pitchFamily="18" charset="0"/>
                    <a:cs typeface="Arial" pitchFamily="34" charset="0"/>
                  </a:rPr>
                  <a:t>User 1</a:t>
                </a:r>
              </a:p>
            </p:txBody>
          </p:sp>
          <p:sp>
            <p:nvSpPr>
              <p:cNvPr id="28" name="Text Box 18"/>
              <p:cNvSpPr txBox="1">
                <a:spLocks noChangeArrowheads="1"/>
              </p:cNvSpPr>
              <p:nvPr/>
            </p:nvSpPr>
            <p:spPr bwMode="auto">
              <a:xfrm>
                <a:off x="0" y="911"/>
                <a:ext cx="768" cy="2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dirty="0">
                    <a:latin typeface="Times New Roman" pitchFamily="18" charset="0"/>
                    <a:cs typeface="Arial" pitchFamily="34" charset="0"/>
                  </a:rPr>
                  <a:t>User 2</a:t>
                </a:r>
              </a:p>
            </p:txBody>
          </p:sp>
          <p:sp>
            <p:nvSpPr>
              <p:cNvPr id="29" name="Text Box 19"/>
              <p:cNvSpPr txBox="1">
                <a:spLocks noChangeArrowheads="1"/>
              </p:cNvSpPr>
              <p:nvPr/>
            </p:nvSpPr>
            <p:spPr bwMode="auto">
              <a:xfrm>
                <a:off x="0" y="1584"/>
                <a:ext cx="768" cy="2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dirty="0">
                    <a:latin typeface="Times New Roman" pitchFamily="18" charset="0"/>
                    <a:cs typeface="Arial" pitchFamily="34" charset="0"/>
                  </a:rPr>
                  <a:t>User k</a:t>
                </a:r>
              </a:p>
            </p:txBody>
          </p:sp>
        </p:grpSp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2192721" y="5143500"/>
              <a:ext cx="166194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 err="1">
                  <a:latin typeface="Times New Roman" pitchFamily="18" charset="0"/>
                  <a:cs typeface="Arial" pitchFamily="34" charset="0"/>
                </a:rPr>
                <a:t>Mức</a:t>
              </a:r>
              <a:r>
                <a:rPr lang="en-US" sz="2400" b="1" dirty="0">
                  <a:latin typeface="Times New Roman" pitchFamily="18" charset="0"/>
                  <a:cs typeface="Arial" pitchFamily="34" charset="0"/>
                </a:rPr>
                <a:t> </a:t>
              </a:r>
              <a:r>
                <a:rPr lang="en-US" sz="2400" b="1" dirty="0" err="1">
                  <a:latin typeface="Times New Roman" pitchFamily="18" charset="0"/>
                  <a:cs typeface="Arial" pitchFamily="34" charset="0"/>
                </a:rPr>
                <a:t>ngoài</a:t>
              </a:r>
              <a:r>
                <a:rPr lang="en-US" sz="2400" b="1" dirty="0">
                  <a:latin typeface="Times New Roman" pitchFamily="18" charset="0"/>
                  <a:cs typeface="Arial" pitchFamily="34" charset="0"/>
                </a:rPr>
                <a:t> </a:t>
              </a:r>
            </a:p>
          </p:txBody>
        </p:sp>
        <p:sp>
          <p:nvSpPr>
            <p:cNvPr id="11" name="Text Box 21"/>
            <p:cNvSpPr txBox="1">
              <a:spLocks noChangeArrowheads="1"/>
            </p:cNvSpPr>
            <p:nvPr/>
          </p:nvSpPr>
          <p:spPr bwMode="auto">
            <a:xfrm>
              <a:off x="4459014" y="5372100"/>
              <a:ext cx="2115207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sz="2400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12" name="Text Box 22"/>
            <p:cNvSpPr txBox="1">
              <a:spLocks noChangeArrowheads="1"/>
            </p:cNvSpPr>
            <p:nvPr/>
          </p:nvSpPr>
          <p:spPr bwMode="auto">
            <a:xfrm>
              <a:off x="4610100" y="5067300"/>
              <a:ext cx="1813034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sz="2400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4685643" y="5143500"/>
              <a:ext cx="224855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 err="1">
                  <a:latin typeface="Times New Roman" pitchFamily="18" charset="0"/>
                  <a:cs typeface="Arial" pitchFamily="34" charset="0"/>
                </a:rPr>
                <a:t>Mức</a:t>
              </a:r>
              <a:r>
                <a:rPr lang="en-US" sz="2400" b="1" dirty="0">
                  <a:latin typeface="Times New Roman" pitchFamily="18" charset="0"/>
                  <a:cs typeface="Arial" pitchFamily="34" charset="0"/>
                </a:rPr>
                <a:t> </a:t>
              </a:r>
              <a:r>
                <a:rPr lang="en-US" sz="2400" b="1" dirty="0" err="1">
                  <a:latin typeface="Times New Roman" pitchFamily="18" charset="0"/>
                  <a:cs typeface="Arial" pitchFamily="34" charset="0"/>
                </a:rPr>
                <a:t>trung</a:t>
              </a:r>
              <a:r>
                <a:rPr lang="en-US" sz="2400" b="1" dirty="0">
                  <a:latin typeface="Times New Roman" pitchFamily="18" charset="0"/>
                  <a:cs typeface="Arial" pitchFamily="34" charset="0"/>
                </a:rPr>
                <a:t> </a:t>
              </a:r>
              <a:r>
                <a:rPr lang="en-US" sz="2400" b="1" dirty="0" err="1">
                  <a:latin typeface="Times New Roman" pitchFamily="18" charset="0"/>
                  <a:cs typeface="Arial" pitchFamily="34" charset="0"/>
                </a:rPr>
                <a:t>gian</a:t>
              </a:r>
              <a:endParaRPr lang="en-US" sz="2400" b="1" dirty="0">
                <a:latin typeface="Times New Roman" pitchFamily="18" charset="0"/>
                <a:cs typeface="Arial" pitchFamily="34" charset="0"/>
              </a:endParaRPr>
            </a:p>
          </p:txBody>
        </p:sp>
        <p:sp>
          <p:nvSpPr>
            <p:cNvPr id="14" name="Text Box 24"/>
            <p:cNvSpPr txBox="1">
              <a:spLocks noChangeArrowheads="1"/>
            </p:cNvSpPr>
            <p:nvPr/>
          </p:nvSpPr>
          <p:spPr bwMode="auto">
            <a:xfrm>
              <a:off x="7260977" y="5147965"/>
              <a:ext cx="166194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dirty="0" err="1">
                  <a:latin typeface="Times New Roman" pitchFamily="18" charset="0"/>
                  <a:cs typeface="Arial" pitchFamily="34" charset="0"/>
                </a:rPr>
                <a:t>Mức</a:t>
              </a:r>
              <a:r>
                <a:rPr lang="en-US" sz="2400" b="1" dirty="0">
                  <a:latin typeface="Times New Roman" pitchFamily="18" charset="0"/>
                  <a:cs typeface="Arial" pitchFamily="34" charset="0"/>
                </a:rPr>
                <a:t> </a:t>
              </a:r>
              <a:r>
                <a:rPr lang="en-US" sz="2400" b="1" dirty="0" err="1">
                  <a:latin typeface="Times New Roman" pitchFamily="18" charset="0"/>
                  <a:cs typeface="Arial" pitchFamily="34" charset="0"/>
                </a:rPr>
                <a:t>vật</a:t>
              </a:r>
              <a:r>
                <a:rPr lang="en-US" sz="2400" b="1" dirty="0">
                  <a:latin typeface="Times New Roman" pitchFamily="18" charset="0"/>
                  <a:cs typeface="Arial" pitchFamily="34" charset="0"/>
                </a:rPr>
                <a:t> </a:t>
              </a:r>
              <a:r>
                <a:rPr lang="en-US" sz="2400" b="1" dirty="0" err="1">
                  <a:latin typeface="Times New Roman" pitchFamily="18" charset="0"/>
                  <a:cs typeface="Arial" pitchFamily="34" charset="0"/>
                </a:rPr>
                <a:t>lý</a:t>
              </a:r>
              <a:endParaRPr lang="en-US" sz="2400" b="1" dirty="0">
                <a:latin typeface="Times New Roman" pitchFamily="18" charset="0"/>
                <a:cs typeface="Arial" pitchFamily="34" charset="0"/>
              </a:endParaRP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4156841" y="1981200"/>
              <a:ext cx="0" cy="384810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858000" y="1981200"/>
              <a:ext cx="0" cy="384810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3452564" y="5867400"/>
              <a:ext cx="14478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Ánh</a:t>
              </a:r>
              <a:r>
                <a:rPr lang="en-US" dirty="0"/>
                <a:t> </a:t>
              </a:r>
              <a:r>
                <a:rPr lang="en-US" dirty="0" err="1"/>
                <a:t>xạ</a:t>
              </a:r>
              <a:r>
                <a:rPr lang="en-US" dirty="0"/>
                <a:t> </a:t>
              </a:r>
              <a:r>
                <a:rPr lang="en-US" dirty="0" err="1"/>
                <a:t>ngoài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041631" y="5867400"/>
              <a:ext cx="1442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Ánh</a:t>
              </a:r>
              <a:r>
                <a:rPr lang="en-US" dirty="0"/>
                <a:t> </a:t>
              </a:r>
              <a:r>
                <a:rPr lang="en-US" dirty="0" err="1"/>
                <a:t>xạ</a:t>
              </a:r>
              <a:r>
                <a:rPr lang="en-US" dirty="0"/>
                <a:t> </a:t>
              </a:r>
              <a:r>
                <a:rPr lang="en-US" dirty="0" err="1"/>
                <a:t>trong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4777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Hệ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quản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trị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>
            <a:normAutofit/>
          </a:bodyPr>
          <a:lstStyle/>
          <a:p>
            <a:pPr lvl="1"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Mức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ngoài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: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tập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tất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cả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các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liệu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mà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người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sử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dụng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cụ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thể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có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thể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 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nhìn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thấy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và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được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phép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truy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cập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mức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của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người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sử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dụng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và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các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chương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trình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ứng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dụng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.</a:t>
            </a:r>
          </a:p>
          <a:p>
            <a:pPr lvl="1"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Mức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quan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niệm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mức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trung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gian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) :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giải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quyết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vấn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đề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lưu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liệu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loại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gì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lưu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bao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nhiêu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mối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quan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hệ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trong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CSDL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và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mối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quan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hệ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giữa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các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loại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liệu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này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như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thế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nào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?</a:t>
            </a:r>
          </a:p>
          <a:p>
            <a:pPr lvl="1" algn="just">
              <a:spcBef>
                <a:spcPct val="50000"/>
              </a:spcBef>
              <a:buFont typeface="Wingdings" pitchFamily="2" charset="2"/>
              <a:buChar char="Ø"/>
            </a:pP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Mức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trong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mức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vật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cs typeface="Arial" pitchFamily="34" charset="0"/>
              </a:rPr>
              <a:t>lý</a:t>
            </a:r>
            <a:r>
              <a:rPr lang="en-US" b="1" dirty="0">
                <a:solidFill>
                  <a:schemeClr val="tx1"/>
                </a:solidFill>
                <a:cs typeface="Arial" pitchFamily="34" charset="0"/>
              </a:rPr>
              <a:t>):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Đây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mức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lưu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liệu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. 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Mục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đích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của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mức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này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giải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quyết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vấn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đề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liệu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gì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dữ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liệu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được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lưu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trữ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như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thế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nào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và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nhằm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mục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đích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cs typeface="Arial" pitchFamily="34" charset="0"/>
              </a:rPr>
              <a:t>gì</a:t>
            </a:r>
            <a:r>
              <a:rPr lang="en-US" dirty="0">
                <a:solidFill>
                  <a:schemeClr val="tx1"/>
                </a:solidFill>
                <a:cs typeface="Arial" pitchFamily="34" charset="0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5D974B">
                    <a:shade val="75000"/>
                  </a:srgbClr>
                </a:solidFill>
              </a:rPr>
              <a:pPr/>
              <a:t>24</a:t>
            </a:fld>
            <a:endParaRPr lang="en-US">
              <a:solidFill>
                <a:srgbClr val="5D974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24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Welcome">
      <a:dk1>
        <a:sysClr val="windowText" lastClr="000000"/>
      </a:dk1>
      <a:lt1>
        <a:sysClr val="window" lastClr="FFFFFF"/>
      </a:lt1>
      <a:dk2>
        <a:srgbClr val="00272B"/>
      </a:dk2>
      <a:lt2>
        <a:srgbClr val="F7F7FF"/>
      </a:lt2>
      <a:accent1>
        <a:srgbClr val="006AED"/>
      </a:accent1>
      <a:accent2>
        <a:srgbClr val="0087BF"/>
      </a:accent2>
      <a:accent3>
        <a:srgbClr val="5D974B"/>
      </a:accent3>
      <a:accent4>
        <a:srgbClr val="9DBB3F"/>
      </a:accent4>
      <a:accent5>
        <a:srgbClr val="C77CC7"/>
      </a:accent5>
      <a:accent6>
        <a:srgbClr val="996699"/>
      </a:accent6>
      <a:hlink>
        <a:srgbClr val="E78707"/>
      </a:hlink>
      <a:folHlink>
        <a:srgbClr val="C618BA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2109</Words>
  <Application>Microsoft Office PowerPoint</Application>
  <PresentationFormat>On-screen Show (4:3)</PresentationFormat>
  <Paragraphs>283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Calibri</vt:lpstr>
      <vt:lpstr>Cambria</vt:lpstr>
      <vt:lpstr>Tahoma</vt:lpstr>
      <vt:lpstr>Times New Roman</vt:lpstr>
      <vt:lpstr>Wingdings</vt:lpstr>
      <vt:lpstr>Wingdings 2</vt:lpstr>
      <vt:lpstr>Civic</vt:lpstr>
      <vt:lpstr>CƠ SỞ DỮ LIỆU</vt:lpstr>
      <vt:lpstr>1. Giới thiệu về Cơ sở dữ liệu</vt:lpstr>
      <vt:lpstr>1. Giới thiệu về Cơ sở dữ liệu</vt:lpstr>
      <vt:lpstr>1. Giới thiệu về Cơ sở dữ liệu</vt:lpstr>
      <vt:lpstr>1. Giới thiệu về Cơ sở dữ liệu</vt:lpstr>
      <vt:lpstr>1. Giới thiệu về Cơ sở dữ liệu</vt:lpstr>
      <vt:lpstr>1. Giới thiệu về Cơ sở dữ liệu</vt:lpstr>
      <vt:lpstr>1. Giới thiệu về Cơ sở dữ liệu</vt:lpstr>
      <vt:lpstr>1. Giới thiệu về Cơ sở dữ liệu</vt:lpstr>
      <vt:lpstr>1. Giới thiệu về Cơ sở dữ liệu</vt:lpstr>
      <vt:lpstr>2. Quá trình phát triển của CSDL</vt:lpstr>
      <vt:lpstr>2. Quá trình phát triển của CSDL</vt:lpstr>
      <vt:lpstr>2. Quá trình phát triển của CSDL</vt:lpstr>
      <vt:lpstr>2. Quá trình phát triển của CSDL</vt:lpstr>
      <vt:lpstr>2. Quá trình phát triển của CSDL</vt:lpstr>
      <vt:lpstr>2. Quá trình phát triển của CSDL</vt:lpstr>
      <vt:lpstr>2. Quá trình phát triển của CSDL</vt:lpstr>
      <vt:lpstr>2. Quá trình phát triển của CSDL</vt:lpstr>
      <vt:lpstr>2. Quá trình phát triển của CSDL</vt:lpstr>
      <vt:lpstr>3. Hệ quản trị CSDL</vt:lpstr>
      <vt:lpstr>3. Hệ quản trị CSDL</vt:lpstr>
      <vt:lpstr>3. Hệ quản trị CSDL</vt:lpstr>
      <vt:lpstr>3. Hệ quản trị CSDL</vt:lpstr>
      <vt:lpstr>3. Hệ quản trị CSDL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THÔNG TIN  DOANH NGHIỆP</dc:title>
  <dc:creator>Tri</dc:creator>
  <cp:lastModifiedBy>khoa truong.tan</cp:lastModifiedBy>
  <cp:revision>33</cp:revision>
  <dcterms:created xsi:type="dcterms:W3CDTF">2006-08-16T00:00:00Z</dcterms:created>
  <dcterms:modified xsi:type="dcterms:W3CDTF">2020-03-04T16:52:20Z</dcterms:modified>
</cp:coreProperties>
</file>