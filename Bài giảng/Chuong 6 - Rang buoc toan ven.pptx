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34" r:id="rId1"/>
  </p:sldMasterIdLst>
  <p:notesMasterIdLst>
    <p:notesMasterId r:id="rId6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318" r:id="rId40"/>
    <p:sldId id="319" r:id="rId41"/>
    <p:sldId id="320" r:id="rId42"/>
    <p:sldId id="321" r:id="rId43"/>
    <p:sldId id="322" r:id="rId44"/>
    <p:sldId id="323" r:id="rId45"/>
    <p:sldId id="325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26" r:id="rId56"/>
    <p:sldId id="303" r:id="rId57"/>
    <p:sldId id="304" r:id="rId58"/>
    <p:sldId id="305" r:id="rId59"/>
    <p:sldId id="306" r:id="rId60"/>
    <p:sldId id="307" r:id="rId61"/>
    <p:sldId id="308" r:id="rId62"/>
    <p:sldId id="309" r:id="rId63"/>
    <p:sldId id="310" r:id="rId64"/>
    <p:sldId id="311" r:id="rId65"/>
    <p:sldId id="312" r:id="rId66"/>
    <p:sldId id="313" r:id="rId67"/>
    <p:sldId id="314" r:id="rId68"/>
  </p:sldIdLst>
  <p:sldSz cx="9144000" cy="6858000" type="screen4x3"/>
  <p:notesSz cx="7315200" cy="9601200"/>
  <p:defaultTextStyle>
    <a:defPPr>
      <a:defRPr lang="en-US"/>
    </a:defPPr>
    <a:lvl1pPr algn="ctr" rtl="0" fontAlgn="base">
      <a:spcBef>
        <a:spcPct val="5000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ctr" rtl="0" fontAlgn="base">
      <a:spcBef>
        <a:spcPct val="5000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ctr" rtl="0" fontAlgn="base">
      <a:spcBef>
        <a:spcPct val="5000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ctr" rtl="0" fontAlgn="base">
      <a:spcBef>
        <a:spcPct val="5000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ctr" rtl="0" fontAlgn="base">
      <a:spcBef>
        <a:spcPct val="5000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33"/>
    <a:srgbClr val="CC0000"/>
    <a:srgbClr val="777777"/>
    <a:srgbClr val="FF3300"/>
    <a:srgbClr val="000066"/>
    <a:srgbClr val="800000"/>
    <a:srgbClr val="FFCC99"/>
    <a:srgbClr val="CC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399" autoAdjust="0"/>
    <p:restoredTop sz="67933" autoAdjust="0"/>
  </p:normalViewPr>
  <p:slideViewPr>
    <p:cSldViewPr>
      <p:cViewPr>
        <p:scale>
          <a:sx n="70" d="100"/>
          <a:sy n="70" d="100"/>
        </p:scale>
        <p:origin x="1520" y="2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notesMaster" Target="notesMasters/notesMaster1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70" Type="http://schemas.openxmlformats.org/officeDocument/2006/relationships/presProps" Target="presProps.xml"/><Relationship Id="rId71" Type="http://schemas.openxmlformats.org/officeDocument/2006/relationships/viewProps" Target="viewProps.xml"/><Relationship Id="rId72" Type="http://schemas.openxmlformats.org/officeDocument/2006/relationships/theme" Target="theme/theme1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73" Type="http://schemas.openxmlformats.org/officeDocument/2006/relationships/tableStyles" Target="tableStyles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920" cy="480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300" smtClean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587" y="0"/>
            <a:ext cx="3169920" cy="480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300" smtClean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19474"/>
            <a:ext cx="3169920" cy="480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300" smtClean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300" smtClean="0">
                <a:latin typeface="Arial" charset="0"/>
              </a:defRPr>
            </a:lvl1pPr>
          </a:lstStyle>
          <a:p>
            <a:pPr>
              <a:defRPr/>
            </a:pPr>
            <a:fld id="{9311C5C0-D2B9-4A94-B817-258D77A68D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714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4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5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5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B0003D-6286-4669-8D6B-13B29CC62355}" type="slidenum">
              <a:rPr lang="en-US"/>
              <a:pPr/>
              <a:t>2</a:t>
            </a:fld>
            <a:endParaRPr lang="en-US"/>
          </a:p>
        </p:txBody>
      </p:sp>
      <p:sp>
        <p:nvSpPr>
          <p:cNvPr id="137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8510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63D6E8-9D58-41C9-8FCD-67FAD686FE7E}" type="slidenum">
              <a:rPr lang="en-US"/>
              <a:pPr/>
              <a:t>3</a:t>
            </a:fld>
            <a:endParaRPr lang="en-US"/>
          </a:p>
        </p:txBody>
      </p:sp>
      <p:sp>
        <p:nvSpPr>
          <p:cNvPr id="550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0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‘Xấu’ : không phản ánh đúng thế giới thực mà mô hình dữ liệu đại diện.</a:t>
            </a:r>
          </a:p>
        </p:txBody>
      </p:sp>
    </p:spTree>
    <p:extLst>
      <p:ext uri="{BB962C8B-B14F-4D97-AF65-F5344CB8AC3E}">
        <p14:creationId xmlns:p14="http://schemas.microsoft.com/office/powerpoint/2010/main" val="16629988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66C01AA-AEA7-444B-B44C-0DFFC52454F9}" type="slidenum">
              <a:rPr lang="en-US"/>
              <a:pPr/>
              <a:t>4</a:t>
            </a:fld>
            <a:endParaRPr lang="en-US"/>
          </a:p>
        </p:txBody>
      </p:sp>
      <p:sp>
        <p:nvSpPr>
          <p:cNvPr id="563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4600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49BAFF8-F372-488C-A432-D3DEA9017D7E}" type="slidenum">
              <a:rPr lang="en-US"/>
              <a:pPr/>
              <a:t>5</a:t>
            </a:fld>
            <a:endParaRPr lang="en-US"/>
          </a:p>
        </p:txBody>
      </p:sp>
      <p:sp>
        <p:nvSpPr>
          <p:cNvPr id="555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5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6425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B4FB0BE-F1A2-495A-BF62-5075179E535E}" type="slidenum">
              <a:rPr lang="en-US"/>
              <a:pPr/>
              <a:t>6</a:t>
            </a:fld>
            <a:endParaRPr lang="en-US"/>
          </a:p>
        </p:txBody>
      </p:sp>
      <p:sp>
        <p:nvSpPr>
          <p:cNvPr id="557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7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2931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FA0867D-4686-41D1-A5D4-356D3F5C870B}" type="slidenum">
              <a:rPr lang="en-US"/>
              <a:pPr/>
              <a:t>7</a:t>
            </a:fld>
            <a:endParaRPr lang="en-US"/>
          </a:p>
        </p:txBody>
      </p:sp>
      <p:sp>
        <p:nvSpPr>
          <p:cNvPr id="571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1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0689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1CABDAF-46B4-4698-B45E-B645C84094FD}" type="slidenum">
              <a:rPr lang="en-US"/>
              <a:pPr/>
              <a:t>8</a:t>
            </a:fld>
            <a:endParaRPr lang="en-US"/>
          </a:p>
        </p:txBody>
      </p:sp>
      <p:sp>
        <p:nvSpPr>
          <p:cNvPr id="569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9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1785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28500DB-973A-472F-B277-E5AA4E1DBA7F}" type="slidenum">
              <a:rPr lang="en-US"/>
              <a:pPr/>
              <a:t>9</a:t>
            </a:fld>
            <a:endParaRPr lang="en-US"/>
          </a:p>
        </p:txBody>
      </p:sp>
      <p:sp>
        <p:nvSpPr>
          <p:cNvPr id="573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3161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DC6A880-9227-4504-8598-1B4AE130F15C}" type="slidenum">
              <a:rPr lang="en-US"/>
              <a:pPr/>
              <a:t>10</a:t>
            </a:fld>
            <a:endParaRPr lang="en-US"/>
          </a:p>
        </p:txBody>
      </p:sp>
      <p:sp>
        <p:nvSpPr>
          <p:cNvPr id="575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5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8615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241D09-30F5-4A28-9A91-5E67097E7105}" type="slidenum">
              <a:rPr lang="en-US"/>
              <a:pPr/>
              <a:t>11</a:t>
            </a:fld>
            <a:endParaRPr lang="en-US"/>
          </a:p>
        </p:txBody>
      </p:sp>
      <p:sp>
        <p:nvSpPr>
          <p:cNvPr id="577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7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9351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46A113B-8F46-4544-BF24-C9365FC60A88}" type="slidenum">
              <a:rPr lang="en-US"/>
              <a:pPr/>
              <a:t>12</a:t>
            </a:fld>
            <a:endParaRPr lang="en-US"/>
          </a:p>
        </p:txBody>
      </p:sp>
      <p:sp>
        <p:nvSpPr>
          <p:cNvPr id="579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9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659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96E9EFC-3F9F-43EB-91B0-E9807BE22A92}" type="slidenum">
              <a:rPr lang="en-US"/>
              <a:pPr/>
              <a:t>13</a:t>
            </a:fld>
            <a:endParaRPr lang="en-US"/>
          </a:p>
        </p:txBody>
      </p:sp>
      <p:sp>
        <p:nvSpPr>
          <p:cNvPr id="581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1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6411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405F3A0-33B0-4B8C-8F65-5EF2D47D9F6B}" type="slidenum">
              <a:rPr lang="en-US"/>
              <a:pPr/>
              <a:t>14</a:t>
            </a:fld>
            <a:endParaRPr lang="en-US"/>
          </a:p>
        </p:txBody>
      </p:sp>
      <p:sp>
        <p:nvSpPr>
          <p:cNvPr id="559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9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418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1053128-2DB3-4B19-AD74-46E430727EC0}" type="slidenum">
              <a:rPr lang="en-US"/>
              <a:pPr/>
              <a:t>15</a:t>
            </a:fld>
            <a:endParaRPr lang="en-US"/>
          </a:p>
        </p:txBody>
      </p:sp>
      <p:sp>
        <p:nvSpPr>
          <p:cNvPr id="583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1585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8FA9AF1-37B9-4477-8CD4-159FBD2C43BD}" type="slidenum">
              <a:rPr lang="en-US"/>
              <a:pPr/>
              <a:t>16</a:t>
            </a:fld>
            <a:endParaRPr lang="en-US"/>
          </a:p>
        </p:txBody>
      </p:sp>
      <p:sp>
        <p:nvSpPr>
          <p:cNvPr id="591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1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0529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E45F351-D8F1-424F-834F-44DBF5CD4245}" type="slidenum">
              <a:rPr lang="en-US"/>
              <a:pPr/>
              <a:t>17</a:t>
            </a:fld>
            <a:endParaRPr lang="en-US"/>
          </a:p>
        </p:txBody>
      </p:sp>
      <p:sp>
        <p:nvSpPr>
          <p:cNvPr id="593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5416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36ACCF8-15C4-42D0-9A77-ADE80085EC43}" type="slidenum">
              <a:rPr lang="en-US"/>
              <a:pPr/>
              <a:t>18</a:t>
            </a:fld>
            <a:endParaRPr lang="en-US"/>
          </a:p>
        </p:txBody>
      </p:sp>
      <p:sp>
        <p:nvSpPr>
          <p:cNvPr id="585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5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3158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F0B4632-E5B3-4DB7-8182-BA7FFAEB6F53}" type="slidenum">
              <a:rPr lang="en-US"/>
              <a:pPr/>
              <a:t>19</a:t>
            </a:fld>
            <a:endParaRPr lang="en-US"/>
          </a:p>
        </p:txBody>
      </p:sp>
      <p:sp>
        <p:nvSpPr>
          <p:cNvPr id="595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5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508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C2C9445-5A2D-424E-9CE3-787D83F0A1CE}" type="slidenum">
              <a:rPr lang="en-US"/>
              <a:pPr/>
              <a:t>20</a:t>
            </a:fld>
            <a:endParaRPr lang="en-US"/>
          </a:p>
        </p:txBody>
      </p:sp>
      <p:sp>
        <p:nvSpPr>
          <p:cNvPr id="598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8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4059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96492B0-04AF-4603-8C26-74FA6FCC43BB}" type="slidenum">
              <a:rPr lang="en-US"/>
              <a:pPr/>
              <a:t>21</a:t>
            </a:fld>
            <a:endParaRPr lang="en-US"/>
          </a:p>
        </p:txBody>
      </p:sp>
      <p:sp>
        <p:nvSpPr>
          <p:cNvPr id="604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5000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6E628C-A79B-4455-811A-69E50FA845FD}" type="slidenum">
              <a:rPr lang="en-US"/>
              <a:pPr/>
              <a:t>22</a:t>
            </a:fld>
            <a:endParaRPr lang="en-US"/>
          </a:p>
        </p:txBody>
      </p:sp>
      <p:sp>
        <p:nvSpPr>
          <p:cNvPr id="587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7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221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ED1454-9213-4DAB-8ADB-7536F4F6C825}" type="slidenum">
              <a:rPr lang="en-US"/>
              <a:pPr/>
              <a:t>23</a:t>
            </a:fld>
            <a:endParaRPr lang="en-US"/>
          </a:p>
        </p:txBody>
      </p:sp>
      <p:sp>
        <p:nvSpPr>
          <p:cNvPr id="600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0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8466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47322E-97E1-4F9F-A99B-D9B79BA4E071}" type="slidenum">
              <a:rPr lang="en-US"/>
              <a:pPr/>
              <a:t>24</a:t>
            </a:fld>
            <a:endParaRPr lang="en-US"/>
          </a:p>
        </p:txBody>
      </p:sp>
      <p:sp>
        <p:nvSpPr>
          <p:cNvPr id="602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2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6948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42DAF2-0E07-4681-873E-CEDF2688539B}" type="slidenum">
              <a:rPr lang="en-US"/>
              <a:pPr/>
              <a:t>25</a:t>
            </a:fld>
            <a:endParaRPr lang="en-US"/>
          </a:p>
        </p:txBody>
      </p:sp>
      <p:sp>
        <p:nvSpPr>
          <p:cNvPr id="610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0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4637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949E752-B871-4DB8-AEFD-C77022F3F2D1}" type="slidenum">
              <a:rPr lang="en-US"/>
              <a:pPr/>
              <a:t>26</a:t>
            </a:fld>
            <a:endParaRPr lang="en-US"/>
          </a:p>
        </p:txBody>
      </p:sp>
      <p:sp>
        <p:nvSpPr>
          <p:cNvPr id="620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0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9537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6D018A-21F5-468F-9F21-79C26BADCDF9}" type="slidenum">
              <a:rPr lang="en-US"/>
              <a:pPr/>
              <a:t>27</a:t>
            </a:fld>
            <a:endParaRPr lang="en-US"/>
          </a:p>
        </p:txBody>
      </p:sp>
      <p:sp>
        <p:nvSpPr>
          <p:cNvPr id="622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2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9788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B6A915-739B-4564-BFEB-BCE8F6438474}" type="slidenum">
              <a:rPr lang="en-US"/>
              <a:pPr/>
              <a:t>28</a:t>
            </a:fld>
            <a:endParaRPr lang="en-US"/>
          </a:p>
        </p:txBody>
      </p:sp>
      <p:sp>
        <p:nvSpPr>
          <p:cNvPr id="612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2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96861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0E05E33-ED30-4F1B-A5FB-D9A5191083D6}" type="slidenum">
              <a:rPr lang="en-US"/>
              <a:pPr/>
              <a:t>29</a:t>
            </a:fld>
            <a:endParaRPr lang="en-US"/>
          </a:p>
        </p:txBody>
      </p:sp>
      <p:sp>
        <p:nvSpPr>
          <p:cNvPr id="624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3106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B91B190-F92A-4BCF-81ED-03FF03410A6C}" type="slidenum">
              <a:rPr lang="en-US"/>
              <a:pPr/>
              <a:t>30</a:t>
            </a:fld>
            <a:endParaRPr lang="en-US"/>
          </a:p>
        </p:txBody>
      </p:sp>
      <p:sp>
        <p:nvSpPr>
          <p:cNvPr id="614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54533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E2BD9B6-C2D7-4A5E-8238-A09D33C3F273}" type="slidenum">
              <a:rPr lang="en-US"/>
              <a:pPr/>
              <a:t>31</a:t>
            </a:fld>
            <a:endParaRPr lang="en-US"/>
          </a:p>
        </p:txBody>
      </p:sp>
      <p:sp>
        <p:nvSpPr>
          <p:cNvPr id="628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8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64753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432EB-DF24-4501-8385-610EA110C99C}" type="slidenum">
              <a:rPr lang="en-US"/>
              <a:pPr/>
              <a:t>32</a:t>
            </a:fld>
            <a:endParaRPr lang="en-US"/>
          </a:p>
        </p:txBody>
      </p:sp>
      <p:sp>
        <p:nvSpPr>
          <p:cNvPr id="616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6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04904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590B6E4-BEE7-4054-83BC-C6571FF5FD84}" type="slidenum">
              <a:rPr lang="en-US"/>
              <a:pPr/>
              <a:t>33</a:t>
            </a:fld>
            <a:endParaRPr lang="en-US"/>
          </a:p>
        </p:txBody>
      </p:sp>
      <p:sp>
        <p:nvSpPr>
          <p:cNvPr id="630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0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22804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43A79F3-036F-430A-8905-B04ACA53D7FA}" type="slidenum">
              <a:rPr lang="en-US"/>
              <a:pPr/>
              <a:t>34</a:t>
            </a:fld>
            <a:endParaRPr lang="en-US"/>
          </a:p>
        </p:txBody>
      </p:sp>
      <p:sp>
        <p:nvSpPr>
          <p:cNvPr id="64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39507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65661B-38DD-49AA-BF9B-A45FC4CB745E}" type="slidenum">
              <a:rPr lang="en-US"/>
              <a:pPr/>
              <a:t>35</a:t>
            </a:fld>
            <a:endParaRPr lang="en-US"/>
          </a:p>
        </p:txBody>
      </p:sp>
      <p:sp>
        <p:nvSpPr>
          <p:cNvPr id="64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98163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E2BF19F-C7D3-4926-B5DF-42C2639CB4AA}" type="slidenum">
              <a:rPr lang="en-US"/>
              <a:pPr/>
              <a:t>36</a:t>
            </a:fld>
            <a:endParaRPr lang="en-US"/>
          </a:p>
        </p:txBody>
      </p:sp>
      <p:sp>
        <p:nvSpPr>
          <p:cNvPr id="651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74114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947FE2B-3F32-40B3-98F0-40C62B5222C3}" type="slidenum">
              <a:rPr lang="en-US"/>
              <a:pPr/>
              <a:t>37</a:t>
            </a:fld>
            <a:endParaRPr lang="en-US"/>
          </a:p>
        </p:txBody>
      </p:sp>
      <p:sp>
        <p:nvSpPr>
          <p:cNvPr id="64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6436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3D97C77-2860-486C-9F9C-F2F12DEEA263}" type="slidenum">
              <a:rPr lang="en-US"/>
              <a:pPr/>
              <a:t>38</a:t>
            </a:fld>
            <a:endParaRPr lang="en-US"/>
          </a:p>
        </p:txBody>
      </p:sp>
      <p:sp>
        <p:nvSpPr>
          <p:cNvPr id="65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69768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EB17BE4-02CF-40D0-BC7A-6101C9D61FCC}" type="slidenum">
              <a:rPr lang="en-US"/>
              <a:pPr/>
              <a:t>46</a:t>
            </a:fld>
            <a:endParaRPr lang="en-US"/>
          </a:p>
        </p:txBody>
      </p:sp>
      <p:sp>
        <p:nvSpPr>
          <p:cNvPr id="66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khó</a:t>
            </a:r>
            <a:r>
              <a:rPr lang="en-US" dirty="0"/>
              <a:t> </a:t>
            </a:r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Assertion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, do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HQT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Assertion.</a:t>
            </a:r>
          </a:p>
        </p:txBody>
      </p:sp>
    </p:spTree>
    <p:extLst>
      <p:ext uri="{BB962C8B-B14F-4D97-AF65-F5344CB8AC3E}">
        <p14:creationId xmlns:p14="http://schemas.microsoft.com/office/powerpoint/2010/main" val="100966268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2F694AF-DD43-4E5C-8298-CD24B9689217}" type="slidenum">
              <a:rPr lang="en-US"/>
              <a:pPr/>
              <a:t>47</a:t>
            </a:fld>
            <a:endParaRPr lang="en-US"/>
          </a:p>
        </p:txBody>
      </p:sp>
      <p:sp>
        <p:nvSpPr>
          <p:cNvPr id="66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36781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667DDD0-7C37-4D86-A586-A07709BEF9FE}" type="slidenum">
              <a:rPr lang="en-US"/>
              <a:pPr/>
              <a:t>48</a:t>
            </a:fld>
            <a:endParaRPr lang="en-US"/>
          </a:p>
        </p:txBody>
      </p:sp>
      <p:sp>
        <p:nvSpPr>
          <p:cNvPr id="67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73195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A25D11C-4B14-4EF1-8483-23785ACE0341}" type="slidenum">
              <a:rPr lang="en-US"/>
              <a:pPr/>
              <a:t>49</a:t>
            </a:fld>
            <a:endParaRPr lang="en-US"/>
          </a:p>
        </p:txBody>
      </p:sp>
      <p:sp>
        <p:nvSpPr>
          <p:cNvPr id="67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27202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5B4CD03-161C-41B5-B868-AF5C98AFCDE9}" type="slidenum">
              <a:rPr lang="en-US"/>
              <a:pPr/>
              <a:t>50</a:t>
            </a:fld>
            <a:endParaRPr lang="en-US"/>
          </a:p>
        </p:txBody>
      </p:sp>
      <p:sp>
        <p:nvSpPr>
          <p:cNvPr id="67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66104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A24D5B-1885-4B9B-B409-B27D0E018BAF}" type="slidenum">
              <a:rPr lang="en-US"/>
              <a:pPr/>
              <a:t>51</a:t>
            </a:fld>
            <a:endParaRPr lang="en-US"/>
          </a:p>
        </p:txBody>
      </p:sp>
      <p:sp>
        <p:nvSpPr>
          <p:cNvPr id="67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03929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B6AF953-56EF-4C41-8FAB-6B67DB4FEC6F}" type="slidenum">
              <a:rPr lang="en-US"/>
              <a:pPr/>
              <a:t>52</a:t>
            </a:fld>
            <a:endParaRPr lang="en-US"/>
          </a:p>
        </p:txBody>
      </p:sp>
      <p:sp>
        <p:nvSpPr>
          <p:cNvPr id="66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83847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80035B4-AFD9-4AA4-B66E-45C83999989B}" type="slidenum">
              <a:rPr lang="en-US"/>
              <a:pPr/>
              <a:t>53</a:t>
            </a:fld>
            <a:endParaRPr lang="en-US"/>
          </a:p>
        </p:txBody>
      </p:sp>
      <p:sp>
        <p:nvSpPr>
          <p:cNvPr id="67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30462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1CEC882-3523-4593-B506-4D7A91A8C478}" type="slidenum">
              <a:rPr lang="en-US"/>
              <a:pPr/>
              <a:t>54</a:t>
            </a:fld>
            <a:endParaRPr lang="en-US"/>
          </a:p>
        </p:txBody>
      </p:sp>
      <p:sp>
        <p:nvSpPr>
          <p:cNvPr id="68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68965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37D5291-963A-408A-A1CF-1382DA8D8B23}" type="slidenum">
              <a:rPr lang="en-US"/>
              <a:pPr/>
              <a:t>56</a:t>
            </a:fld>
            <a:endParaRPr lang="en-US"/>
          </a:p>
        </p:txBody>
      </p:sp>
      <p:sp>
        <p:nvSpPr>
          <p:cNvPr id="68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06827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AF17383-200A-4326-BF2C-137776726DB1}" type="slidenum">
              <a:rPr lang="en-US"/>
              <a:pPr/>
              <a:t>57</a:t>
            </a:fld>
            <a:endParaRPr lang="en-US"/>
          </a:p>
        </p:txBody>
      </p:sp>
      <p:sp>
        <p:nvSpPr>
          <p:cNvPr id="68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45495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ACD8555-D668-46DA-93BB-FD1F21549E69}" type="slidenum">
              <a:rPr lang="en-US"/>
              <a:pPr/>
              <a:t>58</a:t>
            </a:fld>
            <a:endParaRPr lang="en-US"/>
          </a:p>
        </p:txBody>
      </p:sp>
      <p:sp>
        <p:nvSpPr>
          <p:cNvPr id="68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15421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EF6E7C4-828A-408B-B5F3-C8B3DC6897BC}" type="slidenum">
              <a:rPr lang="en-US"/>
              <a:pPr/>
              <a:t>59</a:t>
            </a:fld>
            <a:endParaRPr lang="en-US"/>
          </a:p>
        </p:txBody>
      </p:sp>
      <p:sp>
        <p:nvSpPr>
          <p:cNvPr id="632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2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10776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3F60FFD-C217-4FBC-ABB2-C00CF3A6D20F}" type="slidenum">
              <a:rPr lang="en-US"/>
              <a:pPr/>
              <a:t>60</a:t>
            </a:fld>
            <a:endParaRPr lang="en-US"/>
          </a:p>
        </p:txBody>
      </p:sp>
      <p:sp>
        <p:nvSpPr>
          <p:cNvPr id="634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48018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50EB37F-8CDB-4ABA-997E-D573E9ADBA4F}" type="slidenum">
              <a:rPr lang="en-US"/>
              <a:pPr/>
              <a:t>61</a:t>
            </a:fld>
            <a:endParaRPr lang="en-US"/>
          </a:p>
        </p:txBody>
      </p:sp>
      <p:sp>
        <p:nvSpPr>
          <p:cNvPr id="636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6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21569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00BFA92-17D4-4043-B7EA-534B49AFEEA5}" type="slidenum">
              <a:rPr lang="en-US"/>
              <a:pPr/>
              <a:t>62</a:t>
            </a:fld>
            <a:endParaRPr lang="en-US"/>
          </a:p>
        </p:txBody>
      </p:sp>
      <p:sp>
        <p:nvSpPr>
          <p:cNvPr id="638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8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88651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93BD453-BCFF-46FA-A940-D8912ABE4E25}" type="slidenum">
              <a:rPr lang="en-US"/>
              <a:pPr/>
              <a:t>63</a:t>
            </a:fld>
            <a:endParaRPr lang="en-US"/>
          </a:p>
        </p:txBody>
      </p:sp>
      <p:sp>
        <p:nvSpPr>
          <p:cNvPr id="641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1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66320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FF4C29-6AE1-43AB-8F74-03F1F4704E7B}" type="slidenum">
              <a:rPr lang="en-US"/>
              <a:pPr/>
              <a:t>64</a:t>
            </a:fld>
            <a:endParaRPr lang="en-US"/>
          </a:p>
        </p:txBody>
      </p:sp>
      <p:sp>
        <p:nvSpPr>
          <p:cNvPr id="643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37057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20BD8C8-1DB2-407D-8179-DE81F2FEAA05}" type="slidenum">
              <a:rPr lang="en-US"/>
              <a:pPr/>
              <a:t>65</a:t>
            </a:fld>
            <a:endParaRPr lang="en-US"/>
          </a:p>
        </p:txBody>
      </p:sp>
      <p:sp>
        <p:nvSpPr>
          <p:cNvPr id="65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79717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14BC6B9-7EBB-452E-BE0F-83A2FE27CACD}" type="slidenum">
              <a:rPr lang="en-US"/>
              <a:pPr/>
              <a:t>66</a:t>
            </a:fld>
            <a:endParaRPr lang="en-US"/>
          </a:p>
        </p:txBody>
      </p:sp>
      <p:sp>
        <p:nvSpPr>
          <p:cNvPr id="65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02569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4539BFB-B136-448F-AB9C-8DBFC09C564B}" type="slidenum">
              <a:rPr lang="en-US"/>
              <a:pPr/>
              <a:t>67</a:t>
            </a:fld>
            <a:endParaRPr lang="en-US"/>
          </a:p>
        </p:txBody>
      </p:sp>
      <p:sp>
        <p:nvSpPr>
          <p:cNvPr id="65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689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9A3F49D1-3A77-474C-87E8-A855FE083FB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58D16501-382F-4B6C-B9DC-74B0A870115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A70EDA-1396-41E5-8FA1-F4AC1FDA846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fld id="{FFFC42EC-6801-4D07-A80A-E90D66743E5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pPr>
              <a:defRPr/>
            </a:pPr>
            <a:fld id="{3D720789-CDFD-4CDA-AF9A-5103F536F7B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86ADB3E4-BBE8-46D3-94D4-4227260B0B2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D0B4F769-2038-4E41-96C6-278C0EEEDF2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pPr>
              <a:defRPr/>
            </a:pPr>
            <a:fld id="{19D62CF5-A3C1-470A-B8AA-7ACF15B78DE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00C2EB-1B16-40D7-9FB5-5EC22D0CCB1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pPr>
              <a:defRPr/>
            </a:pPr>
            <a:fld id="{C3AB234F-0F8D-492C-AD1C-D2E95BFA177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D121BDC5-7E21-4F1D-ABCE-B7201568107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5" r:id="rId1"/>
    <p:sldLayoutId id="2147484036" r:id="rId2"/>
    <p:sldLayoutId id="2147484037" r:id="rId3"/>
    <p:sldLayoutId id="2147484038" r:id="rId4"/>
    <p:sldLayoutId id="2147484039" r:id="rId5"/>
    <p:sldLayoutId id="2147484040" r:id="rId6"/>
    <p:sldLayoutId id="2147484041" r:id="rId7"/>
    <p:sldLayoutId id="2147484042" r:id="rId8"/>
    <p:sldLayoutId id="2147484043" r:id="rId9"/>
    <p:sldLayoutId id="2147484044" r:id="rId10"/>
    <p:sldLayoutId id="2147484045" r:id="rId11"/>
  </p:sldLayoutIdLst>
  <p:hf hdr="0" dt="0"/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54117" y="2299138"/>
            <a:ext cx="76200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0"/>
              </a:spcBef>
            </a:pPr>
            <a:endParaRPr lang="en-US" sz="4400" dirty="0"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</a:endParaRPr>
          </a:p>
        </p:txBody>
      </p:sp>
      <p:sp>
        <p:nvSpPr>
          <p:cNvPr id="7" name="Subtitle 4"/>
          <p:cNvSpPr txBox="1">
            <a:spLocks/>
          </p:cNvSpPr>
          <p:nvPr/>
        </p:nvSpPr>
        <p:spPr>
          <a:xfrm>
            <a:off x="1447800" y="5943600"/>
            <a:ext cx="6400800" cy="5334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 algn="ctr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None/>
              <a:defRPr kumimoji="0" sz="1600" b="1" kern="1200" cap="all" spc="25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"/>
              <a:buNone/>
              <a:defRPr kumimoji="0"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ct val="20000"/>
              </a:spcBef>
              <a:buClr>
                <a:schemeClr val="accent3"/>
              </a:buClr>
              <a:buSzPct val="75000"/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ct val="20000"/>
              </a:spcBef>
              <a:buClr>
                <a:schemeClr val="accent4"/>
              </a:buClr>
              <a:buSzPct val="70000"/>
              <a:buFont typeface="Wingdings"/>
              <a:buNone/>
              <a:defRPr kumimoji="0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ct val="20000"/>
              </a:spcBef>
              <a:buClr>
                <a:schemeClr val="accent5"/>
              </a:buClr>
              <a:buFontTx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None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None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2400" smtClean="0"/>
              <a:t>KHOA Công nghệ thông tin</a:t>
            </a:r>
            <a:endParaRPr lang="en-US" sz="2400" dirty="0"/>
          </a:p>
        </p:txBody>
      </p:sp>
      <p:sp>
        <p:nvSpPr>
          <p:cNvPr id="8" name="Title 5"/>
          <p:cNvSpPr txBox="1">
            <a:spLocks/>
          </p:cNvSpPr>
          <p:nvPr/>
        </p:nvSpPr>
        <p:spPr>
          <a:xfrm>
            <a:off x="685800" y="685800"/>
            <a:ext cx="7772400" cy="990600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42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 smtClean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CƠ SỞ DỮ LIỆU</a:t>
            </a:r>
            <a:endParaRPr lang="en-US" sz="4400" b="1" dirty="0">
              <a:solidFill>
                <a:schemeClr val="bg2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itle 5"/>
          <p:cNvSpPr txBox="1">
            <a:spLocks/>
          </p:cNvSpPr>
          <p:nvPr/>
        </p:nvSpPr>
        <p:spPr>
          <a:xfrm>
            <a:off x="1371600" y="-76200"/>
            <a:ext cx="6400800" cy="1066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2800" b="1" dirty="0" smtClean="0">
                <a:latin typeface="Calibri"/>
              </a:rPr>
              <a:t>BÀI GIẢNG</a:t>
            </a:r>
            <a:endParaRPr lang="en-US" sz="2800" b="1" dirty="0"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733800" y="4793397"/>
            <a:ext cx="5257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 smtClean="0"/>
              <a:t>Giáo</a:t>
            </a:r>
            <a:r>
              <a:rPr lang="en-US" sz="2400" dirty="0" smtClean="0"/>
              <a:t> </a:t>
            </a:r>
            <a:r>
              <a:rPr lang="en-US" sz="2400" dirty="0" err="1" smtClean="0"/>
              <a:t>viên:ThS</a:t>
            </a:r>
            <a:r>
              <a:rPr lang="en-US" sz="2400" dirty="0" smtClean="0"/>
              <a:t>. </a:t>
            </a:r>
            <a:r>
              <a:rPr lang="en-US" sz="2400" dirty="0" err="1" smtClean="0"/>
              <a:t>Nguyễn</a:t>
            </a:r>
            <a:r>
              <a:rPr lang="en-US" sz="2400" dirty="0" smtClean="0"/>
              <a:t> </a:t>
            </a:r>
            <a:r>
              <a:rPr lang="en-US" sz="2400" dirty="0" err="1" smtClean="0"/>
              <a:t>Thị</a:t>
            </a:r>
            <a:r>
              <a:rPr lang="en-US" sz="2400" dirty="0" smtClean="0"/>
              <a:t> </a:t>
            </a:r>
            <a:r>
              <a:rPr lang="en-US" sz="2400" dirty="0" err="1" smtClean="0"/>
              <a:t>Uyên</a:t>
            </a:r>
            <a:r>
              <a:rPr lang="en-US" sz="2400" dirty="0" smtClean="0"/>
              <a:t> </a:t>
            </a:r>
            <a:r>
              <a:rPr lang="en-US" sz="2400" dirty="0" err="1" smtClean="0"/>
              <a:t>Nhi</a:t>
            </a:r>
            <a:endParaRPr lang="en-US" sz="2400" dirty="0" smtClean="0"/>
          </a:p>
          <a:p>
            <a:pPr algn="ctr"/>
            <a:r>
              <a:rPr lang="en-US" sz="2400" dirty="0" smtClean="0"/>
              <a:t>Email: uyennhisgu@gmail.com</a:t>
            </a:r>
          </a:p>
        </p:txBody>
      </p:sp>
      <p:sp>
        <p:nvSpPr>
          <p:cNvPr id="11" name="Title 5"/>
          <p:cNvSpPr txBox="1">
            <a:spLocks/>
          </p:cNvSpPr>
          <p:nvPr/>
        </p:nvSpPr>
        <p:spPr>
          <a:xfrm>
            <a:off x="685800" y="2819400"/>
            <a:ext cx="7772400" cy="1371600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42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 err="1" smtClean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Chương</a:t>
            </a:r>
            <a:r>
              <a:rPr lang="en-US" sz="3600" b="1" dirty="0" smtClean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6</a:t>
            </a:r>
          </a:p>
          <a:p>
            <a:pPr lvl="0"/>
            <a:r>
              <a:rPr lang="en-US" sz="4800" b="1" dirty="0" smtClean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RÀNG BUỘC TOÀN VẸN</a:t>
            </a:r>
            <a:endParaRPr lang="en-US" sz="4800" b="1" dirty="0">
              <a:solidFill>
                <a:schemeClr val="bg2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72337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Nội</a:t>
            </a:r>
            <a:r>
              <a:rPr lang="en-US" sz="3500" b="1" dirty="0"/>
              <a:t> dung chi </a:t>
            </a:r>
            <a:r>
              <a:rPr lang="en-US" sz="3500" b="1" dirty="0" err="1"/>
              <a:t>tiết</a:t>
            </a:r>
            <a:endParaRPr lang="en-US" sz="3500" b="1" dirty="0"/>
          </a:p>
        </p:txBody>
      </p:sp>
      <p:sp>
        <p:nvSpPr>
          <p:cNvPr id="1361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0"/>
            <a:ext cx="8229600" cy="4606925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trưng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RBTV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loại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Cài</a:t>
            </a:r>
            <a:r>
              <a:rPr lang="en-US" dirty="0"/>
              <a:t> </a:t>
            </a:r>
            <a:r>
              <a:rPr lang="en-US" dirty="0" err="1"/>
              <a:t>đặt</a:t>
            </a:r>
            <a:endParaRPr lang="en-US" dirty="0"/>
          </a:p>
          <a:p>
            <a:endParaRPr lang="en-US" dirty="0">
              <a:solidFill>
                <a:srgbClr val="777777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3644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8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smtClean="0"/>
              <a:t>1. </a:t>
            </a:r>
            <a:r>
              <a:rPr lang="en-US" sz="3500" b="1" dirty="0" err="1" smtClean="0"/>
              <a:t>Khái</a:t>
            </a:r>
            <a:r>
              <a:rPr lang="en-US" sz="3500" b="1" dirty="0" smtClean="0"/>
              <a:t> </a:t>
            </a:r>
            <a:r>
              <a:rPr lang="en-US" sz="3500" b="1" dirty="0" err="1"/>
              <a:t>niệm</a:t>
            </a:r>
            <a:endParaRPr lang="en-US" sz="3500" b="1" dirty="0"/>
          </a:p>
        </p:txBody>
      </p:sp>
      <p:sp>
        <p:nvSpPr>
          <p:cNvPr id="54989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489075"/>
            <a:ext cx="8382000" cy="4835525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dirty="0"/>
              <a:t>RBTV (</a:t>
            </a:r>
            <a:r>
              <a:rPr lang="en-US" dirty="0" err="1"/>
              <a:t>Integrety</a:t>
            </a:r>
            <a:r>
              <a:rPr lang="en-US" dirty="0"/>
              <a:t> Constraints)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qui </a:t>
            </a:r>
            <a:r>
              <a:rPr lang="en-US" dirty="0" err="1"/>
              <a:t>định</a:t>
            </a:r>
            <a:r>
              <a:rPr lang="en-US" dirty="0"/>
              <a:t> hay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endParaRPr lang="en-US" dirty="0"/>
          </a:p>
          <a:p>
            <a:pPr lvl="1" algn="just">
              <a:lnSpc>
                <a:spcPct val="90000"/>
              </a:lnSpc>
            </a:pPr>
            <a:r>
              <a:rPr lang="en-US" dirty="0" err="1">
                <a:solidFill>
                  <a:schemeClr val="tx1"/>
                </a:solidFill>
              </a:rPr>
              <a:t>Trong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thực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tế</a:t>
            </a:r>
            <a:endParaRPr lang="en-US" dirty="0">
              <a:solidFill>
                <a:schemeClr val="tx1"/>
              </a:solidFill>
            </a:endParaRPr>
          </a:p>
          <a:p>
            <a:pPr lvl="1" algn="just">
              <a:lnSpc>
                <a:spcPct val="90000"/>
              </a:lnSpc>
            </a:pPr>
            <a:r>
              <a:rPr lang="en-US" dirty="0" err="1">
                <a:solidFill>
                  <a:schemeClr val="tx1"/>
                </a:solidFill>
              </a:rPr>
              <a:t>Trong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mô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hình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dữ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liệu</a:t>
            </a:r>
            <a:endParaRPr lang="en-US" dirty="0">
              <a:solidFill>
                <a:schemeClr val="tx1"/>
              </a:solidFill>
            </a:endParaRPr>
          </a:p>
          <a:p>
            <a:pPr lvl="2" algn="just">
              <a:lnSpc>
                <a:spcPct val="90000"/>
              </a:lnSpc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thao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tùy</a:t>
            </a:r>
            <a:r>
              <a:rPr lang="en-US" dirty="0"/>
              <a:t> </a:t>
            </a:r>
            <a:r>
              <a:rPr lang="en-US" dirty="0" err="1"/>
              <a:t>tiện</a:t>
            </a:r>
            <a:r>
              <a:rPr lang="en-US" dirty="0"/>
              <a:t>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đưa</a:t>
            </a:r>
            <a:r>
              <a:rPr lang="en-US" dirty="0"/>
              <a:t> CSDL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tình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‘</a:t>
            </a:r>
            <a:r>
              <a:rPr lang="en-US" dirty="0" err="1"/>
              <a:t>xấu</a:t>
            </a:r>
            <a:r>
              <a:rPr lang="en-US" dirty="0"/>
              <a:t>’</a:t>
            </a:r>
          </a:p>
          <a:p>
            <a:pPr algn="just">
              <a:lnSpc>
                <a:spcPct val="90000"/>
              </a:lnSpc>
            </a:pPr>
            <a:endParaRPr lang="en-US" dirty="0"/>
          </a:p>
          <a:p>
            <a:pPr algn="just">
              <a:lnSpc>
                <a:spcPct val="90000"/>
              </a:lnSpc>
            </a:pPr>
            <a:r>
              <a:rPr lang="en-US" dirty="0"/>
              <a:t>RBTV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hay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endParaRPr lang="en-US" dirty="0"/>
          </a:p>
          <a:p>
            <a:pPr algn="just">
              <a:lnSpc>
                <a:spcPct val="90000"/>
              </a:lnSpc>
            </a:pPr>
            <a:r>
              <a:rPr lang="en-US" dirty="0" err="1"/>
              <a:t>Các</a:t>
            </a:r>
            <a:r>
              <a:rPr lang="en-US" dirty="0"/>
              <a:t> RBTV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u="sng" dirty="0" err="1"/>
              <a:t>bất</a:t>
            </a:r>
            <a:r>
              <a:rPr lang="en-US" u="sng" dirty="0"/>
              <a:t> </a:t>
            </a:r>
            <a:r>
              <a:rPr lang="en-US" u="sng" dirty="0" err="1"/>
              <a:t>biến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đều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ở </a:t>
            </a:r>
            <a:r>
              <a:rPr lang="en-US" dirty="0" err="1"/>
              <a:t>bất</a:t>
            </a:r>
            <a:r>
              <a:rPr lang="en-US" dirty="0"/>
              <a:t> </a:t>
            </a:r>
            <a:r>
              <a:rPr lang="en-US" dirty="0" err="1"/>
              <a:t>kỳ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nào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4133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1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smtClean="0"/>
              <a:t>1. </a:t>
            </a:r>
            <a:r>
              <a:rPr lang="en-US" sz="3500" b="1" dirty="0" err="1" smtClean="0"/>
              <a:t>Khái</a:t>
            </a:r>
            <a:r>
              <a:rPr lang="en-US" sz="3500" b="1" dirty="0" smtClean="0"/>
              <a:t> </a:t>
            </a:r>
            <a:r>
              <a:rPr lang="en-US" sz="3500" b="1" dirty="0" err="1" smtClean="0"/>
              <a:t>niệm</a:t>
            </a:r>
            <a:endParaRPr lang="en-US" sz="3500" b="1" dirty="0"/>
          </a:p>
        </p:txBody>
      </p:sp>
      <p:sp>
        <p:nvSpPr>
          <p:cNvPr id="56217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0"/>
            <a:ext cx="8229600" cy="4876800"/>
          </a:xfrm>
        </p:spPr>
        <p:txBody>
          <a:bodyPr>
            <a:normAutofit/>
          </a:bodyPr>
          <a:lstStyle/>
          <a:p>
            <a:pPr algn="just"/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RBTV?</a:t>
            </a: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Bảo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đảm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u="sng" dirty="0" err="1">
                <a:solidFill>
                  <a:schemeClr val="tx1"/>
                </a:solidFill>
              </a:rPr>
              <a:t>tính</a:t>
            </a:r>
            <a:r>
              <a:rPr lang="en-US" u="sng" dirty="0">
                <a:solidFill>
                  <a:schemeClr val="tx1"/>
                </a:solidFill>
              </a:rPr>
              <a:t> </a:t>
            </a:r>
            <a:r>
              <a:rPr lang="en-US" u="sng" dirty="0" err="1">
                <a:solidFill>
                  <a:schemeClr val="tx1"/>
                </a:solidFill>
              </a:rPr>
              <a:t>kết</a:t>
            </a:r>
            <a:r>
              <a:rPr lang="en-US" u="sng" dirty="0">
                <a:solidFill>
                  <a:schemeClr val="tx1"/>
                </a:solidFill>
              </a:rPr>
              <a:t> </a:t>
            </a:r>
            <a:r>
              <a:rPr lang="en-US" u="sng" dirty="0" err="1">
                <a:solidFill>
                  <a:schemeClr val="tx1"/>
                </a:solidFill>
              </a:rPr>
              <a:t>dính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của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thành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phần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cấu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tạo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nên</a:t>
            </a:r>
            <a:r>
              <a:rPr lang="en-US" dirty="0">
                <a:solidFill>
                  <a:schemeClr val="tx1"/>
                </a:solidFill>
              </a:rPr>
              <a:t> CSDL</a:t>
            </a: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Bảo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đảm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u="sng" dirty="0" err="1">
                <a:solidFill>
                  <a:schemeClr val="tx1"/>
                </a:solidFill>
              </a:rPr>
              <a:t>tính</a:t>
            </a:r>
            <a:r>
              <a:rPr lang="en-US" u="sng" dirty="0">
                <a:solidFill>
                  <a:schemeClr val="tx1"/>
                </a:solidFill>
              </a:rPr>
              <a:t> </a:t>
            </a:r>
            <a:r>
              <a:rPr lang="en-US" u="sng" dirty="0" err="1">
                <a:solidFill>
                  <a:schemeClr val="tx1"/>
                </a:solidFill>
              </a:rPr>
              <a:t>nhất</a:t>
            </a:r>
            <a:r>
              <a:rPr lang="en-US" u="sng" dirty="0">
                <a:solidFill>
                  <a:schemeClr val="tx1"/>
                </a:solidFill>
              </a:rPr>
              <a:t> </a:t>
            </a:r>
            <a:r>
              <a:rPr lang="en-US" u="sng" dirty="0" err="1">
                <a:solidFill>
                  <a:schemeClr val="tx1"/>
                </a:solidFill>
              </a:rPr>
              <a:t>quán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của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dữ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liệu</a:t>
            </a:r>
            <a:endParaRPr lang="en-US" dirty="0">
              <a:solidFill>
                <a:schemeClr val="tx1"/>
              </a:solidFill>
            </a:endParaRP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Bảo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đảm</a:t>
            </a:r>
            <a:r>
              <a:rPr lang="en-US" dirty="0">
                <a:solidFill>
                  <a:schemeClr val="tx1"/>
                </a:solidFill>
              </a:rPr>
              <a:t> CSDL </a:t>
            </a:r>
            <a:r>
              <a:rPr lang="en-US" dirty="0" err="1">
                <a:solidFill>
                  <a:schemeClr val="tx1"/>
                </a:solidFill>
              </a:rPr>
              <a:t>luôn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biểu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diễn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u="sng" dirty="0" err="1">
                <a:solidFill>
                  <a:schemeClr val="tx1"/>
                </a:solidFill>
              </a:rPr>
              <a:t>đúng</a:t>
            </a:r>
            <a:r>
              <a:rPr lang="en-US" u="sng" dirty="0">
                <a:solidFill>
                  <a:schemeClr val="tx1"/>
                </a:solidFill>
              </a:rPr>
              <a:t> </a:t>
            </a:r>
            <a:r>
              <a:rPr lang="en-US" u="sng" dirty="0" err="1">
                <a:solidFill>
                  <a:schemeClr val="tx1"/>
                </a:solidFill>
              </a:rPr>
              <a:t>ngữ</a:t>
            </a:r>
            <a:r>
              <a:rPr lang="en-US" u="sng" dirty="0">
                <a:solidFill>
                  <a:schemeClr val="tx1"/>
                </a:solidFill>
              </a:rPr>
              <a:t> </a:t>
            </a:r>
            <a:r>
              <a:rPr lang="en-US" u="sng" dirty="0" err="1">
                <a:solidFill>
                  <a:schemeClr val="tx1"/>
                </a:solidFill>
              </a:rPr>
              <a:t>nghĩa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thực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tế</a:t>
            </a:r>
            <a:endParaRPr lang="en-US" dirty="0">
              <a:solidFill>
                <a:schemeClr val="tx1"/>
              </a:solidFill>
            </a:endParaRPr>
          </a:p>
          <a:p>
            <a:pPr lvl="1" algn="just"/>
            <a:endParaRPr lang="en-US" dirty="0">
              <a:solidFill>
                <a:schemeClr val="tx1"/>
              </a:solidFill>
            </a:endParaRPr>
          </a:p>
          <a:p>
            <a:pPr algn="just"/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lang="en-US" dirty="0"/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Mức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lương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của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một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người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nhân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viên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không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được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vượt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quá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trưởng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phòng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  <a:latin typeface="Tahoma" pitchFamily="34" charset="0"/>
              </a:rPr>
              <a:t>(R</a:t>
            </a:r>
            <a:r>
              <a:rPr lang="en-US" sz="1800" dirty="0">
                <a:solidFill>
                  <a:schemeClr val="tx1"/>
                </a:solidFill>
                <a:latin typeface="Tahoma" pitchFamily="34" charset="0"/>
              </a:rPr>
              <a:t>1</a:t>
            </a:r>
            <a:r>
              <a:rPr lang="en-US" dirty="0">
                <a:solidFill>
                  <a:schemeClr val="tx1"/>
                </a:solidFill>
                <a:latin typeface="Tahoma" pitchFamily="34" charset="0"/>
              </a:rPr>
              <a:t>)</a:t>
            </a: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Người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quản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lý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trực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tiếp</a:t>
            </a:r>
            <a:r>
              <a:rPr lang="en-US" dirty="0">
                <a:solidFill>
                  <a:schemeClr val="tx1"/>
                </a:solidFill>
              </a:rPr>
              <a:t> (</a:t>
            </a:r>
            <a:r>
              <a:rPr lang="en-US" dirty="0" err="1">
                <a:solidFill>
                  <a:schemeClr val="tx1"/>
                </a:solidFill>
              </a:rPr>
              <a:t>của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một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nhân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viên</a:t>
            </a:r>
            <a:r>
              <a:rPr lang="en-US" dirty="0">
                <a:solidFill>
                  <a:schemeClr val="tx1"/>
                </a:solidFill>
              </a:rPr>
              <a:t>) </a:t>
            </a:r>
            <a:r>
              <a:rPr lang="en-US" dirty="0" err="1">
                <a:solidFill>
                  <a:schemeClr val="tx1"/>
                </a:solidFill>
              </a:rPr>
              <a:t>phải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là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một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nhân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viên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trong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công</a:t>
            </a:r>
            <a:r>
              <a:rPr lang="en-US" dirty="0">
                <a:solidFill>
                  <a:schemeClr val="tx1"/>
                </a:solidFill>
              </a:rPr>
              <a:t> ty </a:t>
            </a:r>
            <a:r>
              <a:rPr lang="en-US" dirty="0">
                <a:solidFill>
                  <a:schemeClr val="tx1"/>
                </a:solidFill>
                <a:latin typeface="Tahoma" pitchFamily="34" charset="0"/>
              </a:rPr>
              <a:t>(R</a:t>
            </a:r>
            <a:r>
              <a:rPr lang="en-US" sz="1800" dirty="0">
                <a:solidFill>
                  <a:schemeClr val="tx1"/>
                </a:solidFill>
                <a:latin typeface="Tahoma" pitchFamily="34" charset="0"/>
              </a:rPr>
              <a:t>2</a:t>
            </a:r>
            <a:r>
              <a:rPr lang="en-US" dirty="0" smtClean="0">
                <a:solidFill>
                  <a:schemeClr val="tx1"/>
                </a:solidFill>
                <a:latin typeface="Tahoma" pitchFamily="34" charset="0"/>
              </a:rPr>
              <a:t>)</a:t>
            </a: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Giới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tính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của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nhân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viên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chỉ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thuộc</a:t>
            </a:r>
            <a:r>
              <a:rPr lang="en-US" dirty="0">
                <a:solidFill>
                  <a:schemeClr val="tx1"/>
                </a:solidFill>
              </a:rPr>
              <a:t> 1 </a:t>
            </a:r>
            <a:r>
              <a:rPr lang="en-US" dirty="0" err="1">
                <a:solidFill>
                  <a:schemeClr val="tx1"/>
                </a:solidFill>
              </a:rPr>
              <a:t>trong</a:t>
            </a:r>
            <a:r>
              <a:rPr lang="en-US" dirty="0">
                <a:solidFill>
                  <a:schemeClr val="tx1"/>
                </a:solidFill>
              </a:rPr>
              <a:t> 2 </a:t>
            </a:r>
            <a:r>
              <a:rPr lang="en-US" dirty="0" err="1">
                <a:solidFill>
                  <a:schemeClr val="tx1"/>
                </a:solidFill>
              </a:rPr>
              <a:t>giá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trị</a:t>
            </a:r>
            <a:r>
              <a:rPr lang="en-US" dirty="0">
                <a:solidFill>
                  <a:schemeClr val="tx1"/>
                </a:solidFill>
              </a:rPr>
              <a:t> «Nam» </a:t>
            </a:r>
            <a:r>
              <a:rPr lang="en-US" dirty="0" err="1">
                <a:solidFill>
                  <a:schemeClr val="tx1"/>
                </a:solidFill>
              </a:rPr>
              <a:t>hoặc</a:t>
            </a:r>
            <a:r>
              <a:rPr lang="en-US" dirty="0">
                <a:solidFill>
                  <a:schemeClr val="tx1"/>
                </a:solidFill>
              </a:rPr>
              <a:t> «</a:t>
            </a:r>
            <a:r>
              <a:rPr lang="en-US" dirty="0" err="1">
                <a:solidFill>
                  <a:schemeClr val="tx1"/>
                </a:solidFill>
              </a:rPr>
              <a:t>Nữ</a:t>
            </a:r>
            <a:r>
              <a:rPr lang="en-US" dirty="0">
                <a:solidFill>
                  <a:schemeClr val="tx1"/>
                </a:solidFill>
              </a:rPr>
              <a:t>»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 RBTV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6621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9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smtClean="0"/>
              <a:t>2. </a:t>
            </a:r>
            <a:r>
              <a:rPr lang="en-US" sz="3500" b="1" dirty="0" err="1" smtClean="0"/>
              <a:t>Các</a:t>
            </a:r>
            <a:r>
              <a:rPr lang="en-US" sz="3500" b="1" dirty="0" smtClean="0"/>
              <a:t> </a:t>
            </a:r>
            <a:r>
              <a:rPr lang="en-US" sz="3500" b="1" dirty="0" err="1" smtClean="0"/>
              <a:t>đặc</a:t>
            </a:r>
            <a:r>
              <a:rPr lang="en-US" sz="3500" b="1" dirty="0" smtClean="0"/>
              <a:t> </a:t>
            </a:r>
            <a:r>
              <a:rPr lang="en-US" sz="3500" b="1" dirty="0" err="1" smtClean="0"/>
              <a:t>trưng</a:t>
            </a:r>
            <a:r>
              <a:rPr lang="en-US" sz="3500" b="1" dirty="0" smtClean="0"/>
              <a:t> </a:t>
            </a:r>
            <a:r>
              <a:rPr lang="en-US" sz="3500" b="1" dirty="0" err="1" smtClean="0"/>
              <a:t>của</a:t>
            </a:r>
            <a:r>
              <a:rPr lang="en-US" sz="3500" b="1" dirty="0" smtClean="0"/>
              <a:t> RBTV</a:t>
            </a:r>
            <a:endParaRPr lang="en-US" sz="3500" b="1" dirty="0"/>
          </a:p>
        </p:txBody>
      </p:sp>
      <p:sp>
        <p:nvSpPr>
          <p:cNvPr id="55398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76400"/>
            <a:ext cx="8229600" cy="4454525"/>
          </a:xfrm>
        </p:spPr>
        <p:txBody>
          <a:bodyPr>
            <a:normAutofit/>
          </a:bodyPr>
          <a:lstStyle/>
          <a:p>
            <a:pPr marL="731520" lvl="1" indent="-457200">
              <a:buFont typeface="+mj-lt"/>
              <a:buAutoNum type="alphaLcParenR"/>
            </a:pPr>
            <a:r>
              <a:rPr lang="en-US" sz="2800" dirty="0" err="1" smtClean="0">
                <a:solidFill>
                  <a:schemeClr val="tx1"/>
                </a:solidFill>
              </a:rPr>
              <a:t>Bối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cảnh</a:t>
            </a:r>
            <a:endParaRPr lang="en-US" sz="2800" dirty="0">
              <a:solidFill>
                <a:schemeClr val="tx1"/>
              </a:solidFill>
            </a:endParaRPr>
          </a:p>
          <a:p>
            <a:pPr marL="731520" lvl="1" indent="-457200">
              <a:buFont typeface="+mj-lt"/>
              <a:buAutoNum type="alphaLcParenR"/>
            </a:pPr>
            <a:r>
              <a:rPr lang="en-US" sz="2800" dirty="0" err="1">
                <a:solidFill>
                  <a:schemeClr val="tx1"/>
                </a:solidFill>
              </a:rPr>
              <a:t>Nội</a:t>
            </a:r>
            <a:r>
              <a:rPr lang="en-US" sz="2800" dirty="0">
                <a:solidFill>
                  <a:schemeClr val="tx1"/>
                </a:solidFill>
              </a:rPr>
              <a:t> dung</a:t>
            </a:r>
          </a:p>
          <a:p>
            <a:pPr marL="731520" lvl="1" indent="-457200">
              <a:buFont typeface="+mj-lt"/>
              <a:buAutoNum type="alphaLcParenR"/>
            </a:pPr>
            <a:r>
              <a:rPr lang="en-US" sz="2800" dirty="0" err="1">
                <a:solidFill>
                  <a:schemeClr val="tx1"/>
                </a:solidFill>
              </a:rPr>
              <a:t>Bảng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tầm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ảnh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hưởng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3409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0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smtClean="0"/>
              <a:t>a) </a:t>
            </a:r>
            <a:r>
              <a:rPr lang="en-US" sz="3500" b="1" dirty="0" err="1" smtClean="0"/>
              <a:t>Bối</a:t>
            </a:r>
            <a:r>
              <a:rPr lang="en-US" sz="3500" b="1" dirty="0" smtClean="0"/>
              <a:t> </a:t>
            </a:r>
            <a:r>
              <a:rPr lang="en-US" sz="3500" b="1" dirty="0" err="1"/>
              <a:t>cảnh</a:t>
            </a:r>
            <a:endParaRPr lang="en-US" sz="3500" b="1" dirty="0"/>
          </a:p>
        </p:txBody>
      </p:sp>
      <p:sp>
        <p:nvSpPr>
          <p:cNvPr id="55603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pPr algn="just"/>
            <a:r>
              <a:rPr lang="en-US" dirty="0" err="1"/>
              <a:t>Bối</a:t>
            </a:r>
            <a:r>
              <a:rPr lang="en-US" dirty="0"/>
              <a:t> </a:t>
            </a:r>
            <a:r>
              <a:rPr lang="en-US" dirty="0" err="1"/>
              <a:t>cảnh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RBTV</a:t>
            </a: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Là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những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quan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hệ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có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khả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năng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bị</a:t>
            </a:r>
            <a:r>
              <a:rPr lang="en-US" dirty="0">
                <a:solidFill>
                  <a:schemeClr val="tx1"/>
                </a:solidFill>
              </a:rPr>
              <a:t> vi </a:t>
            </a:r>
            <a:r>
              <a:rPr lang="en-US" dirty="0" err="1">
                <a:solidFill>
                  <a:schemeClr val="tx1"/>
                </a:solidFill>
              </a:rPr>
              <a:t>phạm</a:t>
            </a:r>
            <a:r>
              <a:rPr lang="en-US" dirty="0">
                <a:solidFill>
                  <a:schemeClr val="tx1"/>
                </a:solidFill>
              </a:rPr>
              <a:t> RBTV </a:t>
            </a:r>
            <a:r>
              <a:rPr lang="en-US" dirty="0" err="1">
                <a:solidFill>
                  <a:schemeClr val="tx1"/>
                </a:solidFill>
              </a:rPr>
              <a:t>khi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thực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hiện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phép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cập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nhật</a:t>
            </a:r>
            <a:endParaRPr lang="en-US" dirty="0"/>
          </a:p>
          <a:p>
            <a:pPr algn="just"/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>
                <a:latin typeface="Tahoma" pitchFamily="34" charset="0"/>
              </a:rPr>
              <a:t>(R</a:t>
            </a:r>
            <a:r>
              <a:rPr lang="en-US" sz="1900" dirty="0">
                <a:latin typeface="Tahoma" pitchFamily="34" charset="0"/>
              </a:rPr>
              <a:t>1</a:t>
            </a:r>
            <a:r>
              <a:rPr lang="en-US" dirty="0">
                <a:latin typeface="Tahoma" pitchFamily="34" charset="0"/>
              </a:rPr>
              <a:t>)</a:t>
            </a:r>
            <a:endParaRPr lang="en-US" dirty="0"/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Mức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lương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của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một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người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nhân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viên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không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được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vượt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quá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trưởng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phòng</a:t>
            </a:r>
            <a:endParaRPr lang="en-US" dirty="0">
              <a:solidFill>
                <a:schemeClr val="tx1"/>
              </a:solidFill>
            </a:endParaRPr>
          </a:p>
          <a:p>
            <a:pPr lvl="2" algn="just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nhật</a:t>
            </a:r>
            <a:r>
              <a:rPr lang="en-US" dirty="0"/>
              <a:t> </a:t>
            </a:r>
          </a:p>
          <a:p>
            <a:pPr lvl="3" algn="just"/>
            <a:r>
              <a:rPr lang="en-US" dirty="0" err="1">
                <a:solidFill>
                  <a:schemeClr val="tx1"/>
                </a:solidFill>
              </a:rPr>
              <a:t>Cập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nhật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lương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cho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nhân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viên</a:t>
            </a:r>
            <a:endParaRPr lang="en-US" dirty="0">
              <a:solidFill>
                <a:schemeClr val="tx1"/>
              </a:solidFill>
            </a:endParaRPr>
          </a:p>
          <a:p>
            <a:pPr lvl="3" algn="just"/>
            <a:r>
              <a:rPr lang="en-US" dirty="0" err="1">
                <a:solidFill>
                  <a:schemeClr val="tx1"/>
                </a:solidFill>
              </a:rPr>
              <a:t>Thêm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mới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một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nhân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viên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vào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một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phòng</a:t>
            </a:r>
            <a:r>
              <a:rPr lang="en-US" dirty="0">
                <a:solidFill>
                  <a:schemeClr val="tx1"/>
                </a:solidFill>
              </a:rPr>
              <a:t> ban</a:t>
            </a:r>
          </a:p>
          <a:p>
            <a:pPr lvl="3" algn="just"/>
            <a:r>
              <a:rPr lang="en-US" dirty="0" err="1">
                <a:solidFill>
                  <a:schemeClr val="tx1"/>
                </a:solidFill>
              </a:rPr>
              <a:t>Bổ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nhiệm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trưởng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phòng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cho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một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phòng</a:t>
            </a:r>
            <a:r>
              <a:rPr lang="en-US" dirty="0">
                <a:solidFill>
                  <a:schemeClr val="tx1"/>
                </a:solidFill>
              </a:rPr>
              <a:t> ban</a:t>
            </a:r>
          </a:p>
          <a:p>
            <a:pPr lvl="2" algn="just"/>
            <a:r>
              <a:rPr lang="en-US" dirty="0" err="1"/>
              <a:t>Bối</a:t>
            </a:r>
            <a:r>
              <a:rPr lang="en-US" dirty="0"/>
              <a:t> </a:t>
            </a:r>
            <a:r>
              <a:rPr lang="en-US" dirty="0" err="1"/>
              <a:t>cảnh</a:t>
            </a:r>
            <a:r>
              <a:rPr lang="en-US" dirty="0"/>
              <a:t>: NHANVIEN, PHONGBAN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3065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smtClean="0"/>
              <a:t>a) </a:t>
            </a:r>
            <a:r>
              <a:rPr lang="en-US" sz="3500" b="1" dirty="0" err="1" smtClean="0"/>
              <a:t>Bối</a:t>
            </a:r>
            <a:r>
              <a:rPr lang="en-US" sz="3500" b="1" dirty="0" smtClean="0"/>
              <a:t> </a:t>
            </a:r>
            <a:r>
              <a:rPr lang="en-US" sz="3500" b="1" dirty="0" err="1" smtClean="0"/>
              <a:t>cảnh</a:t>
            </a:r>
            <a:endParaRPr lang="en-US" sz="3500" b="1" dirty="0"/>
          </a:p>
        </p:txBody>
      </p:sp>
      <p:sp>
        <p:nvSpPr>
          <p:cNvPr id="57037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229600" cy="4800600"/>
          </a:xfrm>
        </p:spPr>
        <p:txBody>
          <a:bodyPr/>
          <a:lstStyle/>
          <a:p>
            <a:pPr algn="just"/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>
                <a:latin typeface="Tahoma" pitchFamily="34" charset="0"/>
              </a:rPr>
              <a:t>(R</a:t>
            </a:r>
            <a:r>
              <a:rPr lang="en-US" sz="1900" dirty="0">
                <a:latin typeface="Tahoma" pitchFamily="34" charset="0"/>
              </a:rPr>
              <a:t>2</a:t>
            </a:r>
            <a:r>
              <a:rPr lang="en-US" dirty="0">
                <a:latin typeface="Tahoma" pitchFamily="34" charset="0"/>
              </a:rPr>
              <a:t>)</a:t>
            </a:r>
            <a:endParaRPr lang="en-US" dirty="0"/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Người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quản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lý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trực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tiếp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phải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là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một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nhân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viên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trong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công</a:t>
            </a:r>
            <a:r>
              <a:rPr lang="en-US" dirty="0">
                <a:solidFill>
                  <a:schemeClr val="tx1"/>
                </a:solidFill>
              </a:rPr>
              <a:t> ty</a:t>
            </a:r>
          </a:p>
          <a:p>
            <a:pPr lvl="2" algn="just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nhật</a:t>
            </a:r>
            <a:r>
              <a:rPr lang="en-US" dirty="0"/>
              <a:t> </a:t>
            </a:r>
          </a:p>
          <a:p>
            <a:pPr lvl="3" algn="just"/>
            <a:r>
              <a:rPr lang="en-US" dirty="0" err="1">
                <a:solidFill>
                  <a:schemeClr val="tx1"/>
                </a:solidFill>
              </a:rPr>
              <a:t>Cập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nhật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người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quản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lý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trực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tiếp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của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một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nhân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viên</a:t>
            </a:r>
            <a:endParaRPr lang="en-US" dirty="0">
              <a:solidFill>
                <a:schemeClr val="tx1"/>
              </a:solidFill>
            </a:endParaRPr>
          </a:p>
          <a:p>
            <a:pPr lvl="3" algn="just"/>
            <a:r>
              <a:rPr lang="en-US" dirty="0" err="1">
                <a:solidFill>
                  <a:schemeClr val="tx1"/>
                </a:solidFill>
              </a:rPr>
              <a:t>Thêm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mới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một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nhân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viên</a:t>
            </a:r>
            <a:endParaRPr lang="en-US" dirty="0">
              <a:solidFill>
                <a:schemeClr val="tx1"/>
              </a:solidFill>
            </a:endParaRPr>
          </a:p>
          <a:p>
            <a:pPr lvl="2" algn="just"/>
            <a:r>
              <a:rPr lang="en-US" dirty="0" err="1"/>
              <a:t>Bối</a:t>
            </a:r>
            <a:r>
              <a:rPr lang="en-US" dirty="0"/>
              <a:t> </a:t>
            </a:r>
            <a:r>
              <a:rPr lang="en-US" dirty="0" err="1"/>
              <a:t>cảnh</a:t>
            </a:r>
            <a:r>
              <a:rPr lang="en-US" dirty="0"/>
              <a:t>: NHANVIEN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804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3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smtClean="0"/>
              <a:t>b) </a:t>
            </a:r>
            <a:r>
              <a:rPr lang="en-US" sz="3500" b="1" dirty="0" err="1" smtClean="0"/>
              <a:t>Nội</a:t>
            </a:r>
            <a:r>
              <a:rPr lang="en-US" sz="3500" b="1" dirty="0" smtClean="0"/>
              <a:t> </a:t>
            </a:r>
            <a:r>
              <a:rPr lang="en-US" sz="3500" b="1" dirty="0"/>
              <a:t>dung</a:t>
            </a:r>
          </a:p>
        </p:txBody>
      </p:sp>
      <p:sp>
        <p:nvSpPr>
          <p:cNvPr id="56832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76400"/>
            <a:ext cx="8229600" cy="4724400"/>
          </a:xfrm>
        </p:spPr>
        <p:txBody>
          <a:bodyPr/>
          <a:lstStyle/>
          <a:p>
            <a:pPr algn="just"/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RBTV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bằng</a:t>
            </a:r>
            <a:endParaRPr lang="en-US" dirty="0"/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Ngôn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ngữ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tự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nhiên</a:t>
            </a:r>
            <a:endParaRPr lang="en-US" dirty="0">
              <a:solidFill>
                <a:schemeClr val="tx1"/>
              </a:solidFill>
            </a:endParaRPr>
          </a:p>
          <a:p>
            <a:pPr lvl="2" algn="just"/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thiếu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chặt</a:t>
            </a:r>
            <a:r>
              <a:rPr lang="en-US" dirty="0"/>
              <a:t> </a:t>
            </a:r>
            <a:r>
              <a:rPr lang="en-US" dirty="0" err="1"/>
              <a:t>chẽ</a:t>
            </a:r>
            <a:endParaRPr lang="en-US" dirty="0"/>
          </a:p>
          <a:p>
            <a:pPr lvl="2" algn="just"/>
            <a:endParaRPr lang="en-US" dirty="0"/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Ngôn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ngữ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hình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thức</a:t>
            </a:r>
            <a:endParaRPr lang="en-US" dirty="0">
              <a:solidFill>
                <a:schemeClr val="tx1"/>
              </a:solidFill>
            </a:endParaRPr>
          </a:p>
          <a:p>
            <a:pPr lvl="2" algn="just"/>
            <a:r>
              <a:rPr lang="en-US" dirty="0" err="1"/>
              <a:t>Cô</a:t>
            </a:r>
            <a:r>
              <a:rPr lang="en-US" dirty="0"/>
              <a:t> </a:t>
            </a:r>
            <a:r>
              <a:rPr lang="en-US" dirty="0" err="1"/>
              <a:t>đọng</a:t>
            </a:r>
            <a:r>
              <a:rPr lang="en-US" dirty="0"/>
              <a:t>, </a:t>
            </a:r>
            <a:r>
              <a:rPr lang="en-US" dirty="0" err="1"/>
              <a:t>chặt</a:t>
            </a:r>
            <a:r>
              <a:rPr lang="en-US" dirty="0"/>
              <a:t> </a:t>
            </a:r>
            <a:r>
              <a:rPr lang="en-US" dirty="0" err="1"/>
              <a:t>chẽ</a:t>
            </a:r>
            <a:r>
              <a:rPr lang="en-US" dirty="0"/>
              <a:t>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đôi</a:t>
            </a:r>
            <a:r>
              <a:rPr lang="en-US" dirty="0"/>
              <a:t> </a:t>
            </a:r>
            <a:r>
              <a:rPr lang="en-US" dirty="0" err="1"/>
              <a:t>lúc</a:t>
            </a:r>
            <a:r>
              <a:rPr lang="en-US" dirty="0"/>
              <a:t> </a:t>
            </a:r>
            <a:r>
              <a:rPr lang="en-US" dirty="0" err="1"/>
              <a:t>khó</a:t>
            </a:r>
            <a:r>
              <a:rPr lang="en-US" dirty="0"/>
              <a:t> </a:t>
            </a:r>
            <a:r>
              <a:rPr lang="en-US" dirty="0" err="1"/>
              <a:t>hiểu</a:t>
            </a:r>
            <a:endParaRPr lang="en-US" dirty="0"/>
          </a:p>
          <a:p>
            <a:pPr lvl="2" algn="just"/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qua </a:t>
            </a:r>
          </a:p>
          <a:p>
            <a:pPr lvl="3" algn="just"/>
            <a:r>
              <a:rPr lang="en-US" dirty="0" err="1">
                <a:solidFill>
                  <a:schemeClr val="tx1"/>
                </a:solidFill>
              </a:rPr>
              <a:t>Đại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số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quan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hệ</a:t>
            </a:r>
            <a:endParaRPr lang="en-US" dirty="0">
              <a:solidFill>
                <a:schemeClr val="tx1"/>
              </a:solidFill>
            </a:endParaRPr>
          </a:p>
          <a:p>
            <a:pPr lvl="3" algn="just"/>
            <a:r>
              <a:rPr lang="en-US" dirty="0" err="1">
                <a:solidFill>
                  <a:schemeClr val="tx1"/>
                </a:solidFill>
              </a:rPr>
              <a:t>Phép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tính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quan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hệ</a:t>
            </a:r>
            <a:endParaRPr lang="en-US" dirty="0">
              <a:solidFill>
                <a:schemeClr val="tx1"/>
              </a:solidFill>
            </a:endParaRPr>
          </a:p>
          <a:p>
            <a:pPr lvl="3" algn="just"/>
            <a:r>
              <a:rPr lang="en-US" dirty="0" err="1">
                <a:solidFill>
                  <a:schemeClr val="tx1"/>
                </a:solidFill>
              </a:rPr>
              <a:t>Mã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giả</a:t>
            </a:r>
            <a:r>
              <a:rPr lang="en-US" dirty="0">
                <a:solidFill>
                  <a:schemeClr val="tx1"/>
                </a:solidFill>
              </a:rPr>
              <a:t> (pseudo code)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8865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5683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500" fill="hold"/>
                                        <p:tgtEl>
                                          <p:spTgt spid="5683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4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smtClean="0"/>
              <a:t>b) </a:t>
            </a:r>
            <a:r>
              <a:rPr lang="en-US" sz="3500" b="1" dirty="0" err="1" smtClean="0"/>
              <a:t>Nội</a:t>
            </a:r>
            <a:r>
              <a:rPr lang="en-US" sz="3500" b="1" dirty="0" smtClean="0"/>
              <a:t> dung</a:t>
            </a:r>
            <a:endParaRPr lang="en-US" sz="3500" b="1" dirty="0"/>
          </a:p>
        </p:txBody>
      </p:sp>
      <p:sp>
        <p:nvSpPr>
          <p:cNvPr id="5724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600200"/>
            <a:ext cx="8534400" cy="4572000"/>
          </a:xfrm>
        </p:spPr>
        <p:txBody>
          <a:bodyPr/>
          <a:lstStyle/>
          <a:p>
            <a:pPr algn="just"/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>
                <a:latin typeface="Tahoma" pitchFamily="34" charset="0"/>
              </a:rPr>
              <a:t>(R</a:t>
            </a:r>
            <a:r>
              <a:rPr lang="en-US" sz="1900" dirty="0">
                <a:latin typeface="Tahoma" pitchFamily="34" charset="0"/>
              </a:rPr>
              <a:t>1</a:t>
            </a:r>
            <a:r>
              <a:rPr lang="en-US" dirty="0">
                <a:latin typeface="Tahoma" pitchFamily="34" charset="0"/>
              </a:rPr>
              <a:t>)</a:t>
            </a:r>
            <a:endParaRPr lang="en-US" dirty="0"/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Ngôn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ngữ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tự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nhiên</a:t>
            </a:r>
            <a:endParaRPr lang="en-US" dirty="0">
              <a:solidFill>
                <a:schemeClr val="tx1"/>
              </a:solidFill>
            </a:endParaRPr>
          </a:p>
          <a:p>
            <a:pPr lvl="2" algn="just"/>
            <a:r>
              <a:rPr lang="en-US" dirty="0" err="1"/>
              <a:t>Mức</a:t>
            </a:r>
            <a:r>
              <a:rPr lang="en-US" dirty="0"/>
              <a:t> </a:t>
            </a:r>
            <a:r>
              <a:rPr lang="en-US" dirty="0" err="1"/>
              <a:t>lương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vượt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trưởng</a:t>
            </a:r>
            <a:r>
              <a:rPr lang="en-US" dirty="0"/>
              <a:t> </a:t>
            </a:r>
            <a:r>
              <a:rPr lang="en-US" dirty="0" err="1" smtClean="0"/>
              <a:t>phòng</a:t>
            </a:r>
            <a:endParaRPr lang="en-US" dirty="0"/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Ngôn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ngữ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hình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thức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72420" name="Text Box 4"/>
          <p:cNvSpPr txBox="1">
            <a:spLocks noChangeArrowheads="1"/>
          </p:cNvSpPr>
          <p:nvPr/>
        </p:nvSpPr>
        <p:spPr bwMode="auto">
          <a:xfrm>
            <a:off x="1447800" y="3505200"/>
            <a:ext cx="6934200" cy="22256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000" b="1" dirty="0">
                <a:latin typeface="Arial" charset="0"/>
                <a:sym typeface="Symbol" pitchFamily="18" charset="2"/>
              </a:rPr>
              <a:t></a:t>
            </a:r>
            <a:r>
              <a:rPr lang="en-US" sz="2000" dirty="0">
                <a:latin typeface="Arial" charset="0"/>
                <a:sym typeface="Symbol" pitchFamily="18" charset="2"/>
              </a:rPr>
              <a:t>t </a:t>
            </a:r>
            <a:r>
              <a:rPr lang="en-US" sz="2000" b="1" dirty="0">
                <a:latin typeface="Arial" charset="0"/>
                <a:sym typeface="Symbol" pitchFamily="18" charset="2"/>
              </a:rPr>
              <a:t></a:t>
            </a:r>
            <a:r>
              <a:rPr lang="en-US" sz="2000" dirty="0">
                <a:latin typeface="Arial" charset="0"/>
                <a:sym typeface="Symbol" pitchFamily="18" charset="2"/>
              </a:rPr>
              <a:t> NHANVIEN ( </a:t>
            </a:r>
          </a:p>
          <a:p>
            <a:pPr algn="l"/>
            <a:r>
              <a:rPr lang="en-US" sz="2000" dirty="0">
                <a:latin typeface="Arial" charset="0"/>
                <a:sym typeface="Symbol" pitchFamily="18" charset="2"/>
              </a:rPr>
              <a:t>	 </a:t>
            </a:r>
            <a:r>
              <a:rPr lang="en-US" sz="2000" b="1" dirty="0">
                <a:latin typeface="Arial" charset="0"/>
                <a:sym typeface="Symbol" pitchFamily="18" charset="2"/>
              </a:rPr>
              <a:t></a:t>
            </a:r>
            <a:r>
              <a:rPr lang="en-US" sz="2000" dirty="0">
                <a:latin typeface="Arial" charset="0"/>
                <a:sym typeface="Symbol" pitchFamily="18" charset="2"/>
              </a:rPr>
              <a:t>u </a:t>
            </a:r>
            <a:r>
              <a:rPr lang="en-US" sz="2000" b="1" dirty="0">
                <a:latin typeface="Arial" charset="0"/>
                <a:sym typeface="Symbol" pitchFamily="18" charset="2"/>
              </a:rPr>
              <a:t></a:t>
            </a:r>
            <a:r>
              <a:rPr lang="en-US" sz="2000" dirty="0">
                <a:latin typeface="Arial" charset="0"/>
                <a:sym typeface="Symbol" pitchFamily="18" charset="2"/>
              </a:rPr>
              <a:t> PHONGBAN ( </a:t>
            </a:r>
            <a:r>
              <a:rPr lang="en-US" sz="2000" b="1" dirty="0">
                <a:latin typeface="Arial" charset="0"/>
                <a:sym typeface="Symbol" pitchFamily="18" charset="2"/>
              </a:rPr>
              <a:t></a:t>
            </a:r>
            <a:r>
              <a:rPr lang="en-US" sz="2000" dirty="0">
                <a:latin typeface="Arial" charset="0"/>
                <a:sym typeface="Symbol" pitchFamily="18" charset="2"/>
              </a:rPr>
              <a:t>v </a:t>
            </a:r>
            <a:r>
              <a:rPr lang="en-US" sz="2000" b="1" dirty="0">
                <a:latin typeface="Arial" charset="0"/>
                <a:sym typeface="Symbol" pitchFamily="18" charset="2"/>
              </a:rPr>
              <a:t></a:t>
            </a:r>
            <a:r>
              <a:rPr lang="en-US" sz="2000" dirty="0">
                <a:latin typeface="Arial" charset="0"/>
                <a:sym typeface="Symbol" pitchFamily="18" charset="2"/>
              </a:rPr>
              <a:t> NHANVIEN (</a:t>
            </a:r>
          </a:p>
          <a:p>
            <a:pPr algn="l"/>
            <a:r>
              <a:rPr lang="en-US" sz="2000" dirty="0">
                <a:latin typeface="Arial" charset="0"/>
                <a:sym typeface="Symbol" pitchFamily="18" charset="2"/>
              </a:rPr>
              <a:t>		</a:t>
            </a:r>
            <a:r>
              <a:rPr lang="en-US" sz="2000" dirty="0" err="1">
                <a:latin typeface="Arial" charset="0"/>
                <a:sym typeface="Symbol" pitchFamily="18" charset="2"/>
              </a:rPr>
              <a:t>u.TRPHG</a:t>
            </a:r>
            <a:r>
              <a:rPr lang="en-US" sz="2000" dirty="0">
                <a:latin typeface="Arial" charset="0"/>
                <a:sym typeface="Symbol" pitchFamily="18" charset="2"/>
              </a:rPr>
              <a:t> </a:t>
            </a:r>
            <a:r>
              <a:rPr lang="en-US" sz="2000" b="1" dirty="0">
                <a:latin typeface="Arial" charset="0"/>
                <a:sym typeface="Symbol" pitchFamily="18" charset="2"/>
              </a:rPr>
              <a:t></a:t>
            </a:r>
            <a:r>
              <a:rPr lang="en-US" sz="2000" dirty="0">
                <a:latin typeface="Arial" charset="0"/>
                <a:sym typeface="Symbol" pitchFamily="18" charset="2"/>
              </a:rPr>
              <a:t> </a:t>
            </a:r>
            <a:r>
              <a:rPr lang="en-US" sz="2000" dirty="0" err="1">
                <a:latin typeface="Arial" charset="0"/>
                <a:sym typeface="Symbol" pitchFamily="18" charset="2"/>
              </a:rPr>
              <a:t>v.MANV</a:t>
            </a:r>
            <a:r>
              <a:rPr lang="en-US" sz="2000" dirty="0">
                <a:latin typeface="Arial" charset="0"/>
                <a:sym typeface="Symbol" pitchFamily="18" charset="2"/>
              </a:rPr>
              <a:t>  </a:t>
            </a:r>
            <a:r>
              <a:rPr lang="en-US" sz="2000" b="1" dirty="0">
                <a:latin typeface="Arial" charset="0"/>
                <a:sym typeface="Symbol" pitchFamily="18" charset="2"/>
              </a:rPr>
              <a:t></a:t>
            </a:r>
          </a:p>
          <a:p>
            <a:pPr algn="l"/>
            <a:r>
              <a:rPr lang="en-US" sz="2000" dirty="0">
                <a:latin typeface="Arial" charset="0"/>
                <a:sym typeface="Symbol" pitchFamily="18" charset="2"/>
              </a:rPr>
              <a:t>		</a:t>
            </a:r>
            <a:r>
              <a:rPr lang="en-US" sz="2000" dirty="0" err="1">
                <a:latin typeface="Arial" charset="0"/>
                <a:sym typeface="Symbol" pitchFamily="18" charset="2"/>
              </a:rPr>
              <a:t>u.MAPHG</a:t>
            </a:r>
            <a:r>
              <a:rPr lang="en-US" sz="2000" dirty="0">
                <a:latin typeface="Arial" charset="0"/>
                <a:sym typeface="Symbol" pitchFamily="18" charset="2"/>
              </a:rPr>
              <a:t> </a:t>
            </a:r>
            <a:r>
              <a:rPr lang="en-US" sz="2000" b="1" dirty="0">
                <a:latin typeface="Arial" charset="0"/>
                <a:sym typeface="Symbol" pitchFamily="18" charset="2"/>
              </a:rPr>
              <a:t></a:t>
            </a:r>
            <a:r>
              <a:rPr lang="en-US" sz="2000" dirty="0">
                <a:latin typeface="Arial" charset="0"/>
                <a:sym typeface="Symbol" pitchFamily="18" charset="2"/>
              </a:rPr>
              <a:t> </a:t>
            </a:r>
            <a:r>
              <a:rPr lang="en-US" sz="2000" dirty="0" err="1">
                <a:latin typeface="Arial" charset="0"/>
                <a:sym typeface="Symbol" pitchFamily="18" charset="2"/>
              </a:rPr>
              <a:t>t.PHG</a:t>
            </a:r>
            <a:r>
              <a:rPr lang="en-US" sz="2000" dirty="0">
                <a:latin typeface="Arial" charset="0"/>
                <a:sym typeface="Symbol" pitchFamily="18" charset="2"/>
              </a:rPr>
              <a:t> </a:t>
            </a:r>
            <a:r>
              <a:rPr lang="en-US" sz="2000" b="1" dirty="0">
                <a:latin typeface="Arial" charset="0"/>
                <a:sym typeface="Symbol" pitchFamily="18" charset="2"/>
              </a:rPr>
              <a:t></a:t>
            </a:r>
            <a:r>
              <a:rPr lang="en-US" sz="2000" dirty="0">
                <a:latin typeface="Arial" charset="0"/>
                <a:sym typeface="Symbol" pitchFamily="18" charset="2"/>
              </a:rPr>
              <a:t> </a:t>
            </a:r>
          </a:p>
          <a:p>
            <a:pPr algn="l"/>
            <a:r>
              <a:rPr lang="en-US" sz="2000" dirty="0">
                <a:latin typeface="Arial" charset="0"/>
                <a:sym typeface="Symbol" pitchFamily="18" charset="2"/>
              </a:rPr>
              <a:t>		</a:t>
            </a:r>
            <a:r>
              <a:rPr lang="en-US" sz="2000" dirty="0" err="1">
                <a:latin typeface="Arial" charset="0"/>
                <a:sym typeface="Symbol" pitchFamily="18" charset="2"/>
              </a:rPr>
              <a:t>t.LUONG</a:t>
            </a:r>
            <a:r>
              <a:rPr lang="en-US" sz="2000" dirty="0">
                <a:latin typeface="Arial" charset="0"/>
                <a:sym typeface="Symbol" pitchFamily="18" charset="2"/>
              </a:rPr>
              <a:t> </a:t>
            </a:r>
            <a:r>
              <a:rPr lang="en-US" sz="2000" b="1" dirty="0">
                <a:latin typeface="Arial" charset="0"/>
                <a:sym typeface="Symbol" pitchFamily="18" charset="2"/>
              </a:rPr>
              <a:t></a:t>
            </a:r>
            <a:r>
              <a:rPr lang="en-US" sz="2000" dirty="0">
                <a:latin typeface="Arial" charset="0"/>
                <a:sym typeface="Symbol" pitchFamily="18" charset="2"/>
              </a:rPr>
              <a:t> </a:t>
            </a:r>
            <a:r>
              <a:rPr lang="en-US" sz="2000" dirty="0" err="1">
                <a:latin typeface="Arial" charset="0"/>
                <a:sym typeface="Symbol" pitchFamily="18" charset="2"/>
              </a:rPr>
              <a:t>v.LUONG</a:t>
            </a:r>
            <a:r>
              <a:rPr lang="en-US" sz="2000" dirty="0">
                <a:latin typeface="Arial" charset="0"/>
                <a:sym typeface="Symbol" pitchFamily="18" charset="2"/>
              </a:rPr>
              <a:t> )))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2971800"/>
            <a:ext cx="3352800" cy="700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93622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4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/>
              <a:t>b) </a:t>
            </a:r>
            <a:r>
              <a:rPr lang="en-US" sz="3500" b="1" dirty="0" err="1"/>
              <a:t>Nội</a:t>
            </a:r>
            <a:r>
              <a:rPr lang="en-US" sz="3500" b="1" dirty="0"/>
              <a:t> dung</a:t>
            </a:r>
            <a:endParaRPr lang="en-US" sz="3500" dirty="0"/>
          </a:p>
        </p:txBody>
      </p:sp>
      <p:sp>
        <p:nvSpPr>
          <p:cNvPr id="57446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229600" cy="4800600"/>
          </a:xfrm>
        </p:spPr>
        <p:txBody>
          <a:bodyPr/>
          <a:lstStyle/>
          <a:p>
            <a:pPr algn="just"/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>
                <a:latin typeface="Tahoma" pitchFamily="34" charset="0"/>
              </a:rPr>
              <a:t>(R</a:t>
            </a:r>
            <a:r>
              <a:rPr lang="en-US" sz="1900" dirty="0">
                <a:latin typeface="Tahoma" pitchFamily="34" charset="0"/>
              </a:rPr>
              <a:t>2</a:t>
            </a:r>
            <a:r>
              <a:rPr lang="en-US" dirty="0">
                <a:latin typeface="Tahoma" pitchFamily="34" charset="0"/>
              </a:rPr>
              <a:t>)</a:t>
            </a:r>
            <a:endParaRPr lang="en-US" dirty="0"/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Ngôn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ngữ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tự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nhiên</a:t>
            </a:r>
            <a:endParaRPr lang="en-US" dirty="0">
              <a:solidFill>
                <a:schemeClr val="tx1"/>
              </a:solidFill>
            </a:endParaRPr>
          </a:p>
          <a:p>
            <a:pPr lvl="2" algn="just"/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ty</a:t>
            </a:r>
          </a:p>
          <a:p>
            <a:pPr lvl="2" algn="just"/>
            <a:endParaRPr lang="en-US" dirty="0"/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Ngôn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ngữ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hình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thức</a:t>
            </a:r>
            <a:endParaRPr lang="en-US" dirty="0">
              <a:solidFill>
                <a:schemeClr val="tx1"/>
              </a:solidFill>
            </a:endParaRPr>
          </a:p>
          <a:p>
            <a:pPr marL="594360" lvl="2" indent="0" algn="just">
              <a:buNone/>
            </a:pPr>
            <a:endParaRPr lang="en-US" b="1" dirty="0">
              <a:sym typeface="Symbol" pitchFamily="18" charset="2"/>
            </a:endParaRPr>
          </a:p>
        </p:txBody>
      </p:sp>
      <p:sp>
        <p:nvSpPr>
          <p:cNvPr id="574469" name="Text Box 5"/>
          <p:cNvSpPr txBox="1">
            <a:spLocks noChangeArrowheads="1"/>
          </p:cNvSpPr>
          <p:nvPr/>
        </p:nvSpPr>
        <p:spPr bwMode="auto">
          <a:xfrm>
            <a:off x="1442113" y="3962400"/>
            <a:ext cx="6934200" cy="8540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000" b="1" dirty="0">
                <a:latin typeface="Arial" charset="0"/>
                <a:sym typeface="Symbol" pitchFamily="18" charset="2"/>
              </a:rPr>
              <a:t></a:t>
            </a:r>
            <a:r>
              <a:rPr lang="en-US" sz="2000" dirty="0">
                <a:latin typeface="Arial" charset="0"/>
                <a:sym typeface="Symbol" pitchFamily="18" charset="2"/>
              </a:rPr>
              <a:t>t </a:t>
            </a:r>
            <a:r>
              <a:rPr lang="en-US" sz="2000" b="1" dirty="0">
                <a:latin typeface="Arial" charset="0"/>
                <a:sym typeface="Symbol" pitchFamily="18" charset="2"/>
              </a:rPr>
              <a:t></a:t>
            </a:r>
            <a:r>
              <a:rPr lang="en-US" sz="2000" dirty="0">
                <a:latin typeface="Arial" charset="0"/>
                <a:sym typeface="Symbol" pitchFamily="18" charset="2"/>
              </a:rPr>
              <a:t> NHANVIEN ( </a:t>
            </a:r>
            <a:r>
              <a:rPr lang="en-US" sz="2000" dirty="0" err="1">
                <a:latin typeface="Arial" charset="0"/>
                <a:sym typeface="Symbol" pitchFamily="18" charset="2"/>
              </a:rPr>
              <a:t>t.MA_NQL</a:t>
            </a:r>
            <a:r>
              <a:rPr lang="en-US" sz="2000" dirty="0">
                <a:latin typeface="Arial" charset="0"/>
                <a:sym typeface="Symbol" pitchFamily="18" charset="2"/>
              </a:rPr>
              <a:t> </a:t>
            </a:r>
            <a:r>
              <a:rPr lang="en-US" sz="2000" b="1" dirty="0">
                <a:latin typeface="Arial" charset="0"/>
                <a:sym typeface="Symbol" pitchFamily="18" charset="2"/>
              </a:rPr>
              <a:t></a:t>
            </a:r>
            <a:r>
              <a:rPr lang="en-US" sz="2000" dirty="0">
                <a:latin typeface="Arial" charset="0"/>
                <a:sym typeface="Symbol" pitchFamily="18" charset="2"/>
              </a:rPr>
              <a:t> null </a:t>
            </a:r>
            <a:r>
              <a:rPr lang="en-US" sz="2000" b="1" dirty="0">
                <a:latin typeface="Arial" charset="0"/>
                <a:sym typeface="Symbol" pitchFamily="18" charset="2"/>
              </a:rPr>
              <a:t></a:t>
            </a:r>
          </a:p>
          <a:p>
            <a:pPr algn="l"/>
            <a:r>
              <a:rPr lang="en-US" sz="2000" dirty="0">
                <a:latin typeface="Arial" charset="0"/>
                <a:sym typeface="Symbol" pitchFamily="18" charset="2"/>
              </a:rPr>
              <a:t>		</a:t>
            </a:r>
            <a:r>
              <a:rPr lang="en-US" sz="2000" b="1" dirty="0">
                <a:latin typeface="Arial" charset="0"/>
                <a:sym typeface="Symbol" pitchFamily="18" charset="2"/>
              </a:rPr>
              <a:t></a:t>
            </a:r>
            <a:r>
              <a:rPr lang="en-US" sz="2000" dirty="0">
                <a:latin typeface="Arial" charset="0"/>
                <a:sym typeface="Symbol" pitchFamily="18" charset="2"/>
              </a:rPr>
              <a:t>s </a:t>
            </a:r>
            <a:r>
              <a:rPr lang="en-US" sz="2000" b="1" dirty="0">
                <a:latin typeface="Arial" charset="0"/>
                <a:sym typeface="Symbol" pitchFamily="18" charset="2"/>
              </a:rPr>
              <a:t></a:t>
            </a:r>
            <a:r>
              <a:rPr lang="en-US" sz="2000" dirty="0">
                <a:latin typeface="Arial" charset="0"/>
                <a:sym typeface="Symbol" pitchFamily="18" charset="2"/>
              </a:rPr>
              <a:t> NHANVIEN (</a:t>
            </a:r>
            <a:r>
              <a:rPr lang="en-US" sz="2000" dirty="0" err="1">
                <a:latin typeface="Arial" charset="0"/>
                <a:sym typeface="Symbol" pitchFamily="18" charset="2"/>
              </a:rPr>
              <a:t>t.MA_NQL</a:t>
            </a:r>
            <a:r>
              <a:rPr lang="en-US" sz="2000" dirty="0">
                <a:latin typeface="Arial" charset="0"/>
                <a:sym typeface="Symbol" pitchFamily="18" charset="2"/>
              </a:rPr>
              <a:t> </a:t>
            </a:r>
            <a:r>
              <a:rPr lang="en-US" sz="2000" b="1" dirty="0">
                <a:latin typeface="Arial" charset="0"/>
                <a:sym typeface="Symbol" pitchFamily="18" charset="2"/>
              </a:rPr>
              <a:t></a:t>
            </a:r>
            <a:r>
              <a:rPr lang="en-US" sz="2000" dirty="0">
                <a:latin typeface="Arial" charset="0"/>
                <a:sym typeface="Symbol" pitchFamily="18" charset="2"/>
              </a:rPr>
              <a:t> </a:t>
            </a:r>
            <a:r>
              <a:rPr lang="en-US" sz="2000" dirty="0" err="1">
                <a:latin typeface="Arial" charset="0"/>
                <a:sym typeface="Symbol" pitchFamily="18" charset="2"/>
              </a:rPr>
              <a:t>s.MANV</a:t>
            </a:r>
            <a:r>
              <a:rPr lang="en-US" sz="2000" dirty="0">
                <a:latin typeface="Arial" charset="0"/>
                <a:sym typeface="Symbol" pitchFamily="18" charset="2"/>
              </a:rPr>
              <a:t> ))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6122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5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smtClean="0"/>
              <a:t>c) </a:t>
            </a:r>
            <a:r>
              <a:rPr lang="en-US" sz="3500" b="1" dirty="0" err="1" smtClean="0"/>
              <a:t>Bảng</a:t>
            </a:r>
            <a:r>
              <a:rPr lang="en-US" sz="3500" b="1" dirty="0" smtClean="0"/>
              <a:t> </a:t>
            </a:r>
            <a:r>
              <a:rPr lang="en-US" sz="3500" b="1" dirty="0" err="1"/>
              <a:t>tầm</a:t>
            </a:r>
            <a:r>
              <a:rPr lang="en-US" sz="3500" b="1" dirty="0"/>
              <a:t> </a:t>
            </a:r>
            <a:r>
              <a:rPr lang="en-US" sz="3500" b="1" dirty="0" err="1"/>
              <a:t>ảnh</a:t>
            </a:r>
            <a:r>
              <a:rPr lang="en-US" sz="3500" b="1" dirty="0"/>
              <a:t> </a:t>
            </a:r>
            <a:r>
              <a:rPr lang="en-US" sz="3500" b="1" dirty="0" err="1"/>
              <a:t>hưởng</a:t>
            </a:r>
            <a:endParaRPr lang="en-US" sz="3500" b="1" dirty="0"/>
          </a:p>
        </p:txBody>
      </p:sp>
      <p:sp>
        <p:nvSpPr>
          <p:cNvPr id="57651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algn="just"/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tầm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hưởng</a:t>
            </a:r>
            <a:endParaRPr lang="en-US" dirty="0"/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Xác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định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thao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cập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nhật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nào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cần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phải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kiểm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tra</a:t>
            </a:r>
            <a:r>
              <a:rPr lang="en-US" dirty="0">
                <a:solidFill>
                  <a:schemeClr val="tx1"/>
                </a:solidFill>
              </a:rPr>
              <a:t> RBTV </a:t>
            </a:r>
            <a:r>
              <a:rPr lang="en-US" dirty="0" err="1">
                <a:solidFill>
                  <a:schemeClr val="tx1"/>
                </a:solidFill>
              </a:rPr>
              <a:t>khi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được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thực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hiện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trên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quan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hệ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bối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cảnh</a:t>
            </a:r>
            <a:endParaRPr lang="en-US" dirty="0">
              <a:solidFill>
                <a:schemeClr val="tx1"/>
              </a:solidFill>
            </a:endParaRPr>
          </a:p>
          <a:p>
            <a:pPr algn="just"/>
            <a:endParaRPr lang="en-US" dirty="0"/>
          </a:p>
          <a:p>
            <a:pPr algn="just"/>
            <a:r>
              <a:rPr lang="en-US" dirty="0" err="1"/>
              <a:t>Có</a:t>
            </a:r>
            <a:r>
              <a:rPr lang="en-US" dirty="0"/>
              <a:t> 2 </a:t>
            </a:r>
            <a:r>
              <a:rPr lang="en-US" dirty="0" err="1"/>
              <a:t>loại</a:t>
            </a:r>
            <a:endParaRPr lang="en-US" dirty="0"/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Bảng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tầm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ảnh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hưởng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cho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một</a:t>
            </a:r>
            <a:r>
              <a:rPr lang="en-US" dirty="0">
                <a:solidFill>
                  <a:schemeClr val="tx1"/>
                </a:solidFill>
              </a:rPr>
              <a:t> RBTV</a:t>
            </a: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Bảng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tầm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ảnh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hưởng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tổng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hợp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6191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5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 smtClean="0"/>
              <a:t>Bảng</a:t>
            </a:r>
            <a:r>
              <a:rPr lang="en-US" sz="3500" b="1" dirty="0" smtClean="0"/>
              <a:t> </a:t>
            </a:r>
            <a:r>
              <a:rPr lang="en-US" sz="3500" b="1" dirty="0" err="1" smtClean="0"/>
              <a:t>tầm</a:t>
            </a:r>
            <a:r>
              <a:rPr lang="en-US" sz="3500" b="1" dirty="0" smtClean="0"/>
              <a:t> </a:t>
            </a:r>
            <a:r>
              <a:rPr lang="en-US" sz="3500" b="1" dirty="0" err="1" smtClean="0"/>
              <a:t>ảnh</a:t>
            </a:r>
            <a:r>
              <a:rPr lang="en-US" sz="3500" b="1" dirty="0" smtClean="0"/>
              <a:t> </a:t>
            </a:r>
            <a:r>
              <a:rPr lang="en-US" sz="3500" b="1" dirty="0" err="1" smtClean="0"/>
              <a:t>hưởng</a:t>
            </a:r>
            <a:r>
              <a:rPr lang="en-US" sz="3500" b="1" dirty="0" smtClean="0"/>
              <a:t> </a:t>
            </a:r>
            <a:r>
              <a:rPr lang="en-US" sz="3500" b="1" dirty="0" err="1" smtClean="0"/>
              <a:t>một</a:t>
            </a:r>
            <a:r>
              <a:rPr lang="en-US" sz="3500" b="1" dirty="0" smtClean="0"/>
              <a:t> RBTV</a:t>
            </a:r>
            <a:endParaRPr lang="en-US" sz="3500" b="1" dirty="0"/>
          </a:p>
        </p:txBody>
      </p:sp>
      <p:grpSp>
        <p:nvGrpSpPr>
          <p:cNvPr id="578592" name="Group 32"/>
          <p:cNvGrpSpPr>
            <a:grpSpLocks/>
          </p:cNvGrpSpPr>
          <p:nvPr/>
        </p:nvGrpSpPr>
        <p:grpSpPr bwMode="auto">
          <a:xfrm>
            <a:off x="1447800" y="2057400"/>
            <a:ext cx="5562600" cy="2286000"/>
            <a:chOff x="576" y="1248"/>
            <a:chExt cx="3504" cy="1440"/>
          </a:xfrm>
        </p:grpSpPr>
        <p:grpSp>
          <p:nvGrpSpPr>
            <p:cNvPr id="578581" name="Group 21"/>
            <p:cNvGrpSpPr>
              <a:grpSpLocks/>
            </p:cNvGrpSpPr>
            <p:nvPr/>
          </p:nvGrpSpPr>
          <p:grpSpPr bwMode="auto">
            <a:xfrm>
              <a:off x="624" y="1536"/>
              <a:ext cx="3456" cy="864"/>
              <a:chOff x="624" y="1536"/>
              <a:chExt cx="3648" cy="864"/>
            </a:xfrm>
          </p:grpSpPr>
          <p:sp>
            <p:nvSpPr>
              <p:cNvPr id="578565" name="Line 5"/>
              <p:cNvSpPr>
                <a:spLocks noChangeShapeType="1"/>
              </p:cNvSpPr>
              <p:nvPr/>
            </p:nvSpPr>
            <p:spPr bwMode="auto">
              <a:xfrm>
                <a:off x="624" y="1536"/>
                <a:ext cx="364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78566" name="Line 6"/>
              <p:cNvSpPr>
                <a:spLocks noChangeShapeType="1"/>
              </p:cNvSpPr>
              <p:nvPr/>
            </p:nvSpPr>
            <p:spPr bwMode="auto">
              <a:xfrm>
                <a:off x="624" y="1824"/>
                <a:ext cx="364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78567" name="Line 7"/>
              <p:cNvSpPr>
                <a:spLocks noChangeShapeType="1"/>
              </p:cNvSpPr>
              <p:nvPr/>
            </p:nvSpPr>
            <p:spPr bwMode="auto">
              <a:xfrm>
                <a:off x="624" y="2112"/>
                <a:ext cx="364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78568" name="Line 8"/>
              <p:cNvSpPr>
                <a:spLocks noChangeShapeType="1"/>
              </p:cNvSpPr>
              <p:nvPr/>
            </p:nvSpPr>
            <p:spPr bwMode="auto">
              <a:xfrm>
                <a:off x="624" y="2400"/>
                <a:ext cx="364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578570" name="Text Box 10"/>
            <p:cNvSpPr txBox="1">
              <a:spLocks noChangeArrowheads="1"/>
            </p:cNvSpPr>
            <p:nvPr/>
          </p:nvSpPr>
          <p:spPr bwMode="auto">
            <a:xfrm>
              <a:off x="576" y="1296"/>
              <a:ext cx="912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/>
                <a:t>Tên_RB</a:t>
              </a:r>
            </a:p>
          </p:txBody>
        </p:sp>
        <p:sp>
          <p:nvSpPr>
            <p:cNvPr id="578571" name="Text Box 11"/>
            <p:cNvSpPr txBox="1">
              <a:spLocks noChangeArrowheads="1"/>
            </p:cNvSpPr>
            <p:nvPr/>
          </p:nvSpPr>
          <p:spPr bwMode="auto">
            <a:xfrm>
              <a:off x="576" y="2400"/>
              <a:ext cx="912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Quan hệ n</a:t>
              </a:r>
            </a:p>
          </p:txBody>
        </p:sp>
        <p:sp>
          <p:nvSpPr>
            <p:cNvPr id="578572" name="Text Box 12"/>
            <p:cNvSpPr txBox="1">
              <a:spLocks noChangeArrowheads="1"/>
            </p:cNvSpPr>
            <p:nvPr/>
          </p:nvSpPr>
          <p:spPr bwMode="auto">
            <a:xfrm>
              <a:off x="576" y="1584"/>
              <a:ext cx="912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Quan hệ 1</a:t>
              </a:r>
            </a:p>
          </p:txBody>
        </p:sp>
        <p:sp>
          <p:nvSpPr>
            <p:cNvPr id="578573" name="Text Box 13"/>
            <p:cNvSpPr txBox="1">
              <a:spLocks noChangeArrowheads="1"/>
            </p:cNvSpPr>
            <p:nvPr/>
          </p:nvSpPr>
          <p:spPr bwMode="auto">
            <a:xfrm>
              <a:off x="576" y="1881"/>
              <a:ext cx="912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Quan hệ 2</a:t>
              </a:r>
            </a:p>
          </p:txBody>
        </p:sp>
        <p:sp>
          <p:nvSpPr>
            <p:cNvPr id="578574" name="Text Box 14"/>
            <p:cNvSpPr txBox="1">
              <a:spLocks noChangeArrowheads="1"/>
            </p:cNvSpPr>
            <p:nvPr/>
          </p:nvSpPr>
          <p:spPr bwMode="auto">
            <a:xfrm>
              <a:off x="576" y="2169"/>
              <a:ext cx="912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…</a:t>
              </a:r>
            </a:p>
          </p:txBody>
        </p:sp>
        <p:sp>
          <p:nvSpPr>
            <p:cNvPr id="578576" name="Text Box 16"/>
            <p:cNvSpPr txBox="1">
              <a:spLocks noChangeArrowheads="1"/>
            </p:cNvSpPr>
            <p:nvPr/>
          </p:nvSpPr>
          <p:spPr bwMode="auto">
            <a:xfrm>
              <a:off x="1488" y="1296"/>
              <a:ext cx="672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Thêm</a:t>
              </a:r>
            </a:p>
          </p:txBody>
        </p:sp>
        <p:grpSp>
          <p:nvGrpSpPr>
            <p:cNvPr id="578582" name="Group 22"/>
            <p:cNvGrpSpPr>
              <a:grpSpLocks/>
            </p:cNvGrpSpPr>
            <p:nvPr/>
          </p:nvGrpSpPr>
          <p:grpSpPr bwMode="auto">
            <a:xfrm>
              <a:off x="1488" y="1248"/>
              <a:ext cx="1344" cy="1440"/>
              <a:chOff x="1488" y="1296"/>
              <a:chExt cx="1344" cy="1344"/>
            </a:xfrm>
          </p:grpSpPr>
          <p:sp>
            <p:nvSpPr>
              <p:cNvPr id="578569" name="Line 9"/>
              <p:cNvSpPr>
                <a:spLocks noChangeShapeType="1"/>
              </p:cNvSpPr>
              <p:nvPr/>
            </p:nvSpPr>
            <p:spPr bwMode="auto">
              <a:xfrm>
                <a:off x="1488" y="1296"/>
                <a:ext cx="0" cy="13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78575" name="Line 15"/>
              <p:cNvSpPr>
                <a:spLocks noChangeShapeType="1"/>
              </p:cNvSpPr>
              <p:nvPr/>
            </p:nvSpPr>
            <p:spPr bwMode="auto">
              <a:xfrm>
                <a:off x="2160" y="1296"/>
                <a:ext cx="0" cy="13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78577" name="Line 17"/>
              <p:cNvSpPr>
                <a:spLocks noChangeShapeType="1"/>
              </p:cNvSpPr>
              <p:nvPr/>
            </p:nvSpPr>
            <p:spPr bwMode="auto">
              <a:xfrm>
                <a:off x="2832" y="1296"/>
                <a:ext cx="0" cy="13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578578" name="Text Box 18"/>
            <p:cNvSpPr txBox="1">
              <a:spLocks noChangeArrowheads="1"/>
            </p:cNvSpPr>
            <p:nvPr/>
          </p:nvSpPr>
          <p:spPr bwMode="auto">
            <a:xfrm>
              <a:off x="2160" y="1296"/>
              <a:ext cx="672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Xóa</a:t>
              </a:r>
            </a:p>
          </p:txBody>
        </p:sp>
        <p:sp>
          <p:nvSpPr>
            <p:cNvPr id="578580" name="Text Box 20"/>
            <p:cNvSpPr txBox="1">
              <a:spLocks noChangeArrowheads="1"/>
            </p:cNvSpPr>
            <p:nvPr/>
          </p:nvSpPr>
          <p:spPr bwMode="auto">
            <a:xfrm>
              <a:off x="2832" y="1296"/>
              <a:ext cx="672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Sửa</a:t>
              </a:r>
            </a:p>
          </p:txBody>
        </p:sp>
        <p:sp>
          <p:nvSpPr>
            <p:cNvPr id="578583" name="Text Box 23"/>
            <p:cNvSpPr txBox="1">
              <a:spLocks noChangeArrowheads="1"/>
            </p:cNvSpPr>
            <p:nvPr/>
          </p:nvSpPr>
          <p:spPr bwMode="auto">
            <a:xfrm>
              <a:off x="1536" y="1593"/>
              <a:ext cx="576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ym typeface="Symbol" pitchFamily="18" charset="2"/>
                </a:rPr>
                <a:t></a:t>
              </a:r>
            </a:p>
          </p:txBody>
        </p:sp>
        <p:sp>
          <p:nvSpPr>
            <p:cNvPr id="578584" name="Text Box 24"/>
            <p:cNvSpPr txBox="1">
              <a:spLocks noChangeArrowheads="1"/>
            </p:cNvSpPr>
            <p:nvPr/>
          </p:nvSpPr>
          <p:spPr bwMode="auto">
            <a:xfrm>
              <a:off x="2160" y="1593"/>
              <a:ext cx="672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ym typeface="Symbol" pitchFamily="18" charset="2"/>
                </a:rPr>
                <a:t></a:t>
              </a:r>
            </a:p>
          </p:txBody>
        </p:sp>
        <p:sp>
          <p:nvSpPr>
            <p:cNvPr id="578585" name="Text Box 25"/>
            <p:cNvSpPr txBox="1">
              <a:spLocks noChangeArrowheads="1"/>
            </p:cNvSpPr>
            <p:nvPr/>
          </p:nvSpPr>
          <p:spPr bwMode="auto">
            <a:xfrm>
              <a:off x="2832" y="1593"/>
              <a:ext cx="124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ym typeface="Symbol" pitchFamily="18" charset="2"/>
                </a:rPr>
                <a:t> </a:t>
              </a:r>
              <a:r>
                <a:rPr lang="en-US" sz="1800"/>
                <a:t>(Thuộc tính)</a:t>
              </a:r>
            </a:p>
          </p:txBody>
        </p:sp>
        <p:sp>
          <p:nvSpPr>
            <p:cNvPr id="578586" name="Text Box 26"/>
            <p:cNvSpPr txBox="1">
              <a:spLocks noChangeArrowheads="1"/>
            </p:cNvSpPr>
            <p:nvPr/>
          </p:nvSpPr>
          <p:spPr bwMode="auto">
            <a:xfrm>
              <a:off x="2208" y="1881"/>
              <a:ext cx="576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ym typeface="Symbol" pitchFamily="18" charset="2"/>
                </a:rPr>
                <a:t></a:t>
              </a:r>
            </a:p>
          </p:txBody>
        </p:sp>
        <p:sp>
          <p:nvSpPr>
            <p:cNvPr id="578587" name="Text Box 27"/>
            <p:cNvSpPr txBox="1">
              <a:spLocks noChangeArrowheads="1"/>
            </p:cNvSpPr>
            <p:nvPr/>
          </p:nvSpPr>
          <p:spPr bwMode="auto">
            <a:xfrm>
              <a:off x="1488" y="1881"/>
              <a:ext cx="672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ym typeface="Symbol" pitchFamily="18" charset="2"/>
                </a:rPr>
                <a:t></a:t>
              </a:r>
            </a:p>
          </p:txBody>
        </p:sp>
        <p:sp>
          <p:nvSpPr>
            <p:cNvPr id="578588" name="Text Box 28"/>
            <p:cNvSpPr txBox="1">
              <a:spLocks noChangeArrowheads="1"/>
            </p:cNvSpPr>
            <p:nvPr/>
          </p:nvSpPr>
          <p:spPr bwMode="auto">
            <a:xfrm>
              <a:off x="2784" y="1881"/>
              <a:ext cx="576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ym typeface="Symbol" pitchFamily="18" charset="2"/>
                </a:rPr>
                <a:t></a:t>
              </a:r>
            </a:p>
          </p:txBody>
        </p:sp>
        <p:sp>
          <p:nvSpPr>
            <p:cNvPr id="578589" name="Text Box 29"/>
            <p:cNvSpPr txBox="1">
              <a:spLocks noChangeArrowheads="1"/>
            </p:cNvSpPr>
            <p:nvPr/>
          </p:nvSpPr>
          <p:spPr bwMode="auto">
            <a:xfrm>
              <a:off x="2208" y="2400"/>
              <a:ext cx="576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ym typeface="Symbol" pitchFamily="18" charset="2"/>
                </a:rPr>
                <a:t></a:t>
              </a:r>
            </a:p>
          </p:txBody>
        </p:sp>
        <p:sp>
          <p:nvSpPr>
            <p:cNvPr id="578590" name="Text Box 30"/>
            <p:cNvSpPr txBox="1">
              <a:spLocks noChangeArrowheads="1"/>
            </p:cNvSpPr>
            <p:nvPr/>
          </p:nvSpPr>
          <p:spPr bwMode="auto">
            <a:xfrm>
              <a:off x="1488" y="2400"/>
              <a:ext cx="672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ym typeface="Symbol" pitchFamily="18" charset="2"/>
                </a:rPr>
                <a:t></a:t>
              </a:r>
            </a:p>
          </p:txBody>
        </p:sp>
        <p:sp>
          <p:nvSpPr>
            <p:cNvPr id="578591" name="Text Box 31"/>
            <p:cNvSpPr txBox="1">
              <a:spLocks noChangeArrowheads="1"/>
            </p:cNvSpPr>
            <p:nvPr/>
          </p:nvSpPr>
          <p:spPr bwMode="auto">
            <a:xfrm>
              <a:off x="2784" y="2400"/>
              <a:ext cx="576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ym typeface="Symbol" pitchFamily="18" charset="2"/>
                </a:rPr>
                <a:t></a:t>
              </a:r>
            </a:p>
          </p:txBody>
        </p:sp>
      </p:grpSp>
      <p:sp>
        <p:nvSpPr>
          <p:cNvPr id="578593" name="Text Box 33"/>
          <p:cNvSpPr txBox="1">
            <a:spLocks noChangeArrowheads="1"/>
          </p:cNvSpPr>
          <p:nvPr/>
        </p:nvSpPr>
        <p:spPr bwMode="auto">
          <a:xfrm>
            <a:off x="2438400" y="5181600"/>
            <a:ext cx="3352800" cy="77946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1800"/>
              <a:t>(</a:t>
            </a:r>
            <a:r>
              <a:rPr lang="en-US" sz="1800" b="1">
                <a:sym typeface="Symbol" pitchFamily="18" charset="2"/>
              </a:rPr>
              <a:t></a:t>
            </a:r>
            <a:r>
              <a:rPr lang="en-US" sz="1800"/>
              <a:t>) Vi phạm RBTV</a:t>
            </a:r>
          </a:p>
          <a:p>
            <a:pPr algn="l"/>
            <a:r>
              <a:rPr lang="en-US" sz="1800"/>
              <a:t>(</a:t>
            </a:r>
            <a:r>
              <a:rPr lang="en-US" sz="1800" b="1">
                <a:sym typeface="Symbol" pitchFamily="18" charset="2"/>
              </a:rPr>
              <a:t></a:t>
            </a:r>
            <a:r>
              <a:rPr lang="en-US" sz="1800"/>
              <a:t>) Không vi phạm RBTV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021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6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Bảng</a:t>
            </a:r>
            <a:r>
              <a:rPr lang="en-US" sz="3500" b="1" dirty="0"/>
              <a:t> </a:t>
            </a:r>
            <a:r>
              <a:rPr lang="en-US" sz="3500" b="1" dirty="0" err="1"/>
              <a:t>tầm</a:t>
            </a:r>
            <a:r>
              <a:rPr lang="en-US" sz="3500" b="1" dirty="0"/>
              <a:t> </a:t>
            </a:r>
            <a:r>
              <a:rPr lang="en-US" sz="3500" b="1" dirty="0" err="1"/>
              <a:t>ảnh</a:t>
            </a:r>
            <a:r>
              <a:rPr lang="en-US" sz="3500" b="1" dirty="0"/>
              <a:t> </a:t>
            </a:r>
            <a:r>
              <a:rPr lang="en-US" sz="3500" b="1" dirty="0" err="1"/>
              <a:t>hưởng</a:t>
            </a:r>
            <a:r>
              <a:rPr lang="en-US" sz="3500" b="1" dirty="0"/>
              <a:t> </a:t>
            </a:r>
            <a:r>
              <a:rPr lang="en-US" sz="3500" b="1" dirty="0" err="1"/>
              <a:t>tổng</a:t>
            </a:r>
            <a:r>
              <a:rPr lang="en-US" sz="3500" b="1" dirty="0"/>
              <a:t> </a:t>
            </a:r>
            <a:r>
              <a:rPr lang="en-US" sz="3500" b="1" dirty="0" err="1"/>
              <a:t>hợp</a:t>
            </a:r>
            <a:endParaRPr lang="en-US" sz="3500" b="1" dirty="0"/>
          </a:p>
        </p:txBody>
      </p:sp>
      <p:grpSp>
        <p:nvGrpSpPr>
          <p:cNvPr id="580691" name="Group 83"/>
          <p:cNvGrpSpPr>
            <a:grpSpLocks/>
          </p:cNvGrpSpPr>
          <p:nvPr/>
        </p:nvGrpSpPr>
        <p:grpSpPr bwMode="auto">
          <a:xfrm>
            <a:off x="990600" y="1981200"/>
            <a:ext cx="6934200" cy="2743200"/>
            <a:chOff x="384" y="1104"/>
            <a:chExt cx="4368" cy="1728"/>
          </a:xfrm>
        </p:grpSpPr>
        <p:sp>
          <p:nvSpPr>
            <p:cNvPr id="580618" name="Text Box 10"/>
            <p:cNvSpPr txBox="1">
              <a:spLocks noChangeArrowheads="1"/>
            </p:cNvSpPr>
            <p:nvPr/>
          </p:nvSpPr>
          <p:spPr bwMode="auto">
            <a:xfrm>
              <a:off x="384" y="1584"/>
              <a:ext cx="864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Quan hệ 1</a:t>
              </a:r>
            </a:p>
          </p:txBody>
        </p:sp>
        <p:sp>
          <p:nvSpPr>
            <p:cNvPr id="580619" name="Text Box 11"/>
            <p:cNvSpPr txBox="1">
              <a:spLocks noChangeArrowheads="1"/>
            </p:cNvSpPr>
            <p:nvPr/>
          </p:nvSpPr>
          <p:spPr bwMode="auto">
            <a:xfrm>
              <a:off x="384" y="1824"/>
              <a:ext cx="864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Quan hệ 2</a:t>
              </a:r>
            </a:p>
          </p:txBody>
        </p:sp>
        <p:sp>
          <p:nvSpPr>
            <p:cNvPr id="580620" name="Text Box 12"/>
            <p:cNvSpPr txBox="1">
              <a:spLocks noChangeArrowheads="1"/>
            </p:cNvSpPr>
            <p:nvPr/>
          </p:nvSpPr>
          <p:spPr bwMode="auto">
            <a:xfrm>
              <a:off x="384" y="2073"/>
              <a:ext cx="864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Quan hệ 3</a:t>
              </a:r>
            </a:p>
          </p:txBody>
        </p:sp>
        <p:sp>
          <p:nvSpPr>
            <p:cNvPr id="580621" name="Text Box 13"/>
            <p:cNvSpPr txBox="1">
              <a:spLocks noChangeArrowheads="1"/>
            </p:cNvSpPr>
            <p:nvPr/>
          </p:nvSpPr>
          <p:spPr bwMode="auto">
            <a:xfrm>
              <a:off x="384" y="2553"/>
              <a:ext cx="864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Quan hệ n</a:t>
              </a:r>
            </a:p>
          </p:txBody>
        </p:sp>
        <p:sp>
          <p:nvSpPr>
            <p:cNvPr id="580622" name="Text Box 14"/>
            <p:cNvSpPr txBox="1">
              <a:spLocks noChangeArrowheads="1"/>
            </p:cNvSpPr>
            <p:nvPr/>
          </p:nvSpPr>
          <p:spPr bwMode="auto">
            <a:xfrm>
              <a:off x="384" y="2313"/>
              <a:ext cx="864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…</a:t>
              </a:r>
            </a:p>
          </p:txBody>
        </p:sp>
        <p:sp>
          <p:nvSpPr>
            <p:cNvPr id="580613" name="Line 5"/>
            <p:cNvSpPr>
              <a:spLocks noChangeShapeType="1"/>
            </p:cNvSpPr>
            <p:nvPr/>
          </p:nvSpPr>
          <p:spPr bwMode="auto">
            <a:xfrm>
              <a:off x="384" y="1584"/>
              <a:ext cx="43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80614" name="Line 6"/>
            <p:cNvSpPr>
              <a:spLocks noChangeShapeType="1"/>
            </p:cNvSpPr>
            <p:nvPr/>
          </p:nvSpPr>
          <p:spPr bwMode="auto">
            <a:xfrm>
              <a:off x="384" y="1824"/>
              <a:ext cx="43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80615" name="Line 7"/>
            <p:cNvSpPr>
              <a:spLocks noChangeShapeType="1"/>
            </p:cNvSpPr>
            <p:nvPr/>
          </p:nvSpPr>
          <p:spPr bwMode="auto">
            <a:xfrm>
              <a:off x="384" y="2064"/>
              <a:ext cx="43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80616" name="Line 8"/>
            <p:cNvSpPr>
              <a:spLocks noChangeShapeType="1"/>
            </p:cNvSpPr>
            <p:nvPr/>
          </p:nvSpPr>
          <p:spPr bwMode="auto">
            <a:xfrm>
              <a:off x="384" y="2304"/>
              <a:ext cx="43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80617" name="Line 9"/>
            <p:cNvSpPr>
              <a:spLocks noChangeShapeType="1"/>
            </p:cNvSpPr>
            <p:nvPr/>
          </p:nvSpPr>
          <p:spPr bwMode="auto">
            <a:xfrm>
              <a:off x="384" y="2544"/>
              <a:ext cx="43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80625" name="Line 17"/>
            <p:cNvSpPr>
              <a:spLocks noChangeShapeType="1"/>
            </p:cNvSpPr>
            <p:nvPr/>
          </p:nvSpPr>
          <p:spPr bwMode="auto">
            <a:xfrm>
              <a:off x="1248" y="1344"/>
              <a:ext cx="34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80623" name="Line 15"/>
            <p:cNvSpPr>
              <a:spLocks noChangeShapeType="1"/>
            </p:cNvSpPr>
            <p:nvPr/>
          </p:nvSpPr>
          <p:spPr bwMode="auto">
            <a:xfrm>
              <a:off x="1248" y="115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80624" name="Line 16"/>
            <p:cNvSpPr>
              <a:spLocks noChangeShapeType="1"/>
            </p:cNvSpPr>
            <p:nvPr/>
          </p:nvSpPr>
          <p:spPr bwMode="auto">
            <a:xfrm>
              <a:off x="1536" y="134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80626" name="Line 18"/>
            <p:cNvSpPr>
              <a:spLocks noChangeShapeType="1"/>
            </p:cNvSpPr>
            <p:nvPr/>
          </p:nvSpPr>
          <p:spPr bwMode="auto">
            <a:xfrm>
              <a:off x="1824" y="134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80627" name="Line 19"/>
            <p:cNvSpPr>
              <a:spLocks noChangeShapeType="1"/>
            </p:cNvSpPr>
            <p:nvPr/>
          </p:nvSpPr>
          <p:spPr bwMode="auto">
            <a:xfrm>
              <a:off x="2112" y="115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80628" name="Line 20"/>
            <p:cNvSpPr>
              <a:spLocks noChangeShapeType="1"/>
            </p:cNvSpPr>
            <p:nvPr/>
          </p:nvSpPr>
          <p:spPr bwMode="auto">
            <a:xfrm>
              <a:off x="2400" y="134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80629" name="Line 21"/>
            <p:cNvSpPr>
              <a:spLocks noChangeShapeType="1"/>
            </p:cNvSpPr>
            <p:nvPr/>
          </p:nvSpPr>
          <p:spPr bwMode="auto">
            <a:xfrm>
              <a:off x="2688" y="134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80630" name="Line 22"/>
            <p:cNvSpPr>
              <a:spLocks noChangeShapeType="1"/>
            </p:cNvSpPr>
            <p:nvPr/>
          </p:nvSpPr>
          <p:spPr bwMode="auto">
            <a:xfrm>
              <a:off x="2976" y="115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80631" name="Line 23"/>
            <p:cNvSpPr>
              <a:spLocks noChangeShapeType="1"/>
            </p:cNvSpPr>
            <p:nvPr/>
          </p:nvSpPr>
          <p:spPr bwMode="auto">
            <a:xfrm>
              <a:off x="3264" y="134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80632" name="Line 24"/>
            <p:cNvSpPr>
              <a:spLocks noChangeShapeType="1"/>
            </p:cNvSpPr>
            <p:nvPr/>
          </p:nvSpPr>
          <p:spPr bwMode="auto">
            <a:xfrm>
              <a:off x="3552" y="134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80633" name="Line 25"/>
            <p:cNvSpPr>
              <a:spLocks noChangeShapeType="1"/>
            </p:cNvSpPr>
            <p:nvPr/>
          </p:nvSpPr>
          <p:spPr bwMode="auto">
            <a:xfrm>
              <a:off x="3840" y="115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80634" name="Line 26"/>
            <p:cNvSpPr>
              <a:spLocks noChangeShapeType="1"/>
            </p:cNvSpPr>
            <p:nvPr/>
          </p:nvSpPr>
          <p:spPr bwMode="auto">
            <a:xfrm>
              <a:off x="4128" y="134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80635" name="Line 27"/>
            <p:cNvSpPr>
              <a:spLocks noChangeShapeType="1"/>
            </p:cNvSpPr>
            <p:nvPr/>
          </p:nvSpPr>
          <p:spPr bwMode="auto">
            <a:xfrm>
              <a:off x="4416" y="134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80638" name="Text Box 30"/>
            <p:cNvSpPr txBox="1">
              <a:spLocks noChangeArrowheads="1"/>
            </p:cNvSpPr>
            <p:nvPr/>
          </p:nvSpPr>
          <p:spPr bwMode="auto">
            <a:xfrm>
              <a:off x="1248" y="1344"/>
              <a:ext cx="28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T</a:t>
              </a:r>
            </a:p>
          </p:txBody>
        </p:sp>
        <p:sp>
          <p:nvSpPr>
            <p:cNvPr id="580639" name="Text Box 31"/>
            <p:cNvSpPr txBox="1">
              <a:spLocks noChangeArrowheads="1"/>
            </p:cNvSpPr>
            <p:nvPr/>
          </p:nvSpPr>
          <p:spPr bwMode="auto">
            <a:xfrm>
              <a:off x="1536" y="1344"/>
              <a:ext cx="28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X</a:t>
              </a:r>
            </a:p>
          </p:txBody>
        </p:sp>
        <p:sp>
          <p:nvSpPr>
            <p:cNvPr id="580640" name="Text Box 32"/>
            <p:cNvSpPr txBox="1">
              <a:spLocks noChangeArrowheads="1"/>
            </p:cNvSpPr>
            <p:nvPr/>
          </p:nvSpPr>
          <p:spPr bwMode="auto">
            <a:xfrm>
              <a:off x="1824" y="1344"/>
              <a:ext cx="28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S</a:t>
              </a:r>
            </a:p>
          </p:txBody>
        </p:sp>
        <p:sp>
          <p:nvSpPr>
            <p:cNvPr id="580641" name="Text Box 33"/>
            <p:cNvSpPr txBox="1">
              <a:spLocks noChangeArrowheads="1"/>
            </p:cNvSpPr>
            <p:nvPr/>
          </p:nvSpPr>
          <p:spPr bwMode="auto">
            <a:xfrm>
              <a:off x="2112" y="1344"/>
              <a:ext cx="28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T</a:t>
              </a:r>
            </a:p>
          </p:txBody>
        </p:sp>
        <p:sp>
          <p:nvSpPr>
            <p:cNvPr id="580642" name="Text Box 34"/>
            <p:cNvSpPr txBox="1">
              <a:spLocks noChangeArrowheads="1"/>
            </p:cNvSpPr>
            <p:nvPr/>
          </p:nvSpPr>
          <p:spPr bwMode="auto">
            <a:xfrm>
              <a:off x="2400" y="1344"/>
              <a:ext cx="28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X</a:t>
              </a:r>
            </a:p>
          </p:txBody>
        </p:sp>
        <p:sp>
          <p:nvSpPr>
            <p:cNvPr id="580643" name="Text Box 35"/>
            <p:cNvSpPr txBox="1">
              <a:spLocks noChangeArrowheads="1"/>
            </p:cNvSpPr>
            <p:nvPr/>
          </p:nvSpPr>
          <p:spPr bwMode="auto">
            <a:xfrm>
              <a:off x="2688" y="1344"/>
              <a:ext cx="28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S</a:t>
              </a:r>
            </a:p>
          </p:txBody>
        </p:sp>
        <p:sp>
          <p:nvSpPr>
            <p:cNvPr id="580644" name="Text Box 36"/>
            <p:cNvSpPr txBox="1">
              <a:spLocks noChangeArrowheads="1"/>
            </p:cNvSpPr>
            <p:nvPr/>
          </p:nvSpPr>
          <p:spPr bwMode="auto">
            <a:xfrm>
              <a:off x="3840" y="1344"/>
              <a:ext cx="28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T</a:t>
              </a:r>
            </a:p>
          </p:txBody>
        </p:sp>
        <p:sp>
          <p:nvSpPr>
            <p:cNvPr id="580645" name="Text Box 37"/>
            <p:cNvSpPr txBox="1">
              <a:spLocks noChangeArrowheads="1"/>
            </p:cNvSpPr>
            <p:nvPr/>
          </p:nvSpPr>
          <p:spPr bwMode="auto">
            <a:xfrm>
              <a:off x="4128" y="1344"/>
              <a:ext cx="28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X</a:t>
              </a:r>
            </a:p>
          </p:txBody>
        </p:sp>
        <p:sp>
          <p:nvSpPr>
            <p:cNvPr id="580646" name="Text Box 38"/>
            <p:cNvSpPr txBox="1">
              <a:spLocks noChangeArrowheads="1"/>
            </p:cNvSpPr>
            <p:nvPr/>
          </p:nvSpPr>
          <p:spPr bwMode="auto">
            <a:xfrm>
              <a:off x="4416" y="1344"/>
              <a:ext cx="28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S</a:t>
              </a:r>
            </a:p>
          </p:txBody>
        </p:sp>
        <p:sp>
          <p:nvSpPr>
            <p:cNvPr id="580647" name="Text Box 39"/>
            <p:cNvSpPr txBox="1">
              <a:spLocks noChangeArrowheads="1"/>
            </p:cNvSpPr>
            <p:nvPr/>
          </p:nvSpPr>
          <p:spPr bwMode="auto">
            <a:xfrm>
              <a:off x="2976" y="1344"/>
              <a:ext cx="28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…</a:t>
              </a:r>
            </a:p>
          </p:txBody>
        </p:sp>
        <p:sp>
          <p:nvSpPr>
            <p:cNvPr id="580648" name="Text Box 40"/>
            <p:cNvSpPr txBox="1">
              <a:spLocks noChangeArrowheads="1"/>
            </p:cNvSpPr>
            <p:nvPr/>
          </p:nvSpPr>
          <p:spPr bwMode="auto">
            <a:xfrm>
              <a:off x="3264" y="1344"/>
              <a:ext cx="28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…</a:t>
              </a:r>
            </a:p>
          </p:txBody>
        </p:sp>
        <p:sp>
          <p:nvSpPr>
            <p:cNvPr id="580649" name="Text Box 41"/>
            <p:cNvSpPr txBox="1">
              <a:spLocks noChangeArrowheads="1"/>
            </p:cNvSpPr>
            <p:nvPr/>
          </p:nvSpPr>
          <p:spPr bwMode="auto">
            <a:xfrm>
              <a:off x="3552" y="1344"/>
              <a:ext cx="28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…</a:t>
              </a:r>
            </a:p>
          </p:txBody>
        </p:sp>
        <p:sp>
          <p:nvSpPr>
            <p:cNvPr id="580650" name="Text Box 42"/>
            <p:cNvSpPr txBox="1">
              <a:spLocks noChangeArrowheads="1"/>
            </p:cNvSpPr>
            <p:nvPr/>
          </p:nvSpPr>
          <p:spPr bwMode="auto">
            <a:xfrm>
              <a:off x="1200" y="1104"/>
              <a:ext cx="96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Ràng buộc 1</a:t>
              </a:r>
            </a:p>
          </p:txBody>
        </p:sp>
        <p:sp>
          <p:nvSpPr>
            <p:cNvPr id="580651" name="Text Box 43"/>
            <p:cNvSpPr txBox="1">
              <a:spLocks noChangeArrowheads="1"/>
            </p:cNvSpPr>
            <p:nvPr/>
          </p:nvSpPr>
          <p:spPr bwMode="auto">
            <a:xfrm>
              <a:off x="2064" y="1104"/>
              <a:ext cx="96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Ràng buộc 2</a:t>
              </a:r>
            </a:p>
          </p:txBody>
        </p:sp>
        <p:sp>
          <p:nvSpPr>
            <p:cNvPr id="580652" name="Text Box 44"/>
            <p:cNvSpPr txBox="1">
              <a:spLocks noChangeArrowheads="1"/>
            </p:cNvSpPr>
            <p:nvPr/>
          </p:nvSpPr>
          <p:spPr bwMode="auto">
            <a:xfrm>
              <a:off x="3792" y="1104"/>
              <a:ext cx="96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Ràng buộc m</a:t>
              </a:r>
            </a:p>
          </p:txBody>
        </p:sp>
        <p:sp>
          <p:nvSpPr>
            <p:cNvPr id="580653" name="Text Box 45"/>
            <p:cNvSpPr txBox="1">
              <a:spLocks noChangeArrowheads="1"/>
            </p:cNvSpPr>
            <p:nvPr/>
          </p:nvSpPr>
          <p:spPr bwMode="auto">
            <a:xfrm>
              <a:off x="1248" y="1584"/>
              <a:ext cx="28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+</a:t>
              </a:r>
            </a:p>
          </p:txBody>
        </p:sp>
        <p:sp>
          <p:nvSpPr>
            <p:cNvPr id="580654" name="Text Box 46"/>
            <p:cNvSpPr txBox="1">
              <a:spLocks noChangeArrowheads="1"/>
            </p:cNvSpPr>
            <p:nvPr/>
          </p:nvSpPr>
          <p:spPr bwMode="auto">
            <a:xfrm>
              <a:off x="1248" y="1833"/>
              <a:ext cx="28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-</a:t>
              </a:r>
            </a:p>
          </p:txBody>
        </p:sp>
        <p:sp>
          <p:nvSpPr>
            <p:cNvPr id="580655" name="Text Box 47"/>
            <p:cNvSpPr txBox="1">
              <a:spLocks noChangeArrowheads="1"/>
            </p:cNvSpPr>
            <p:nvPr/>
          </p:nvSpPr>
          <p:spPr bwMode="auto">
            <a:xfrm>
              <a:off x="1248" y="2073"/>
              <a:ext cx="28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-</a:t>
              </a:r>
            </a:p>
          </p:txBody>
        </p:sp>
        <p:sp>
          <p:nvSpPr>
            <p:cNvPr id="580658" name="Text Box 50"/>
            <p:cNvSpPr txBox="1">
              <a:spLocks noChangeArrowheads="1"/>
            </p:cNvSpPr>
            <p:nvPr/>
          </p:nvSpPr>
          <p:spPr bwMode="auto">
            <a:xfrm>
              <a:off x="1536" y="1584"/>
              <a:ext cx="28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-</a:t>
              </a:r>
            </a:p>
          </p:txBody>
        </p:sp>
        <p:sp>
          <p:nvSpPr>
            <p:cNvPr id="580659" name="Text Box 51"/>
            <p:cNvSpPr txBox="1">
              <a:spLocks noChangeArrowheads="1"/>
            </p:cNvSpPr>
            <p:nvPr/>
          </p:nvSpPr>
          <p:spPr bwMode="auto">
            <a:xfrm>
              <a:off x="1536" y="1833"/>
              <a:ext cx="28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+</a:t>
              </a:r>
            </a:p>
          </p:txBody>
        </p:sp>
        <p:sp>
          <p:nvSpPr>
            <p:cNvPr id="580660" name="Text Box 52"/>
            <p:cNvSpPr txBox="1">
              <a:spLocks noChangeArrowheads="1"/>
            </p:cNvSpPr>
            <p:nvPr/>
          </p:nvSpPr>
          <p:spPr bwMode="auto">
            <a:xfrm>
              <a:off x="1536" y="2073"/>
              <a:ext cx="28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-</a:t>
              </a:r>
            </a:p>
          </p:txBody>
        </p:sp>
        <p:sp>
          <p:nvSpPr>
            <p:cNvPr id="580662" name="Text Box 54"/>
            <p:cNvSpPr txBox="1">
              <a:spLocks noChangeArrowheads="1"/>
            </p:cNvSpPr>
            <p:nvPr/>
          </p:nvSpPr>
          <p:spPr bwMode="auto">
            <a:xfrm>
              <a:off x="1824" y="1584"/>
              <a:ext cx="28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+</a:t>
              </a:r>
            </a:p>
          </p:txBody>
        </p:sp>
        <p:sp>
          <p:nvSpPr>
            <p:cNvPr id="580663" name="Text Box 55"/>
            <p:cNvSpPr txBox="1">
              <a:spLocks noChangeArrowheads="1"/>
            </p:cNvSpPr>
            <p:nvPr/>
          </p:nvSpPr>
          <p:spPr bwMode="auto">
            <a:xfrm>
              <a:off x="1824" y="1833"/>
              <a:ext cx="28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-</a:t>
              </a:r>
            </a:p>
          </p:txBody>
        </p:sp>
        <p:sp>
          <p:nvSpPr>
            <p:cNvPr id="580664" name="Text Box 56"/>
            <p:cNvSpPr txBox="1">
              <a:spLocks noChangeArrowheads="1"/>
            </p:cNvSpPr>
            <p:nvPr/>
          </p:nvSpPr>
          <p:spPr bwMode="auto">
            <a:xfrm>
              <a:off x="1824" y="2073"/>
              <a:ext cx="28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+</a:t>
              </a:r>
            </a:p>
          </p:txBody>
        </p:sp>
        <p:sp>
          <p:nvSpPr>
            <p:cNvPr id="580666" name="Text Box 58"/>
            <p:cNvSpPr txBox="1">
              <a:spLocks noChangeArrowheads="1"/>
            </p:cNvSpPr>
            <p:nvPr/>
          </p:nvSpPr>
          <p:spPr bwMode="auto">
            <a:xfrm>
              <a:off x="2112" y="1584"/>
              <a:ext cx="28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+</a:t>
              </a:r>
            </a:p>
          </p:txBody>
        </p:sp>
        <p:sp>
          <p:nvSpPr>
            <p:cNvPr id="580669" name="Text Box 61"/>
            <p:cNvSpPr txBox="1">
              <a:spLocks noChangeArrowheads="1"/>
            </p:cNvSpPr>
            <p:nvPr/>
          </p:nvSpPr>
          <p:spPr bwMode="auto">
            <a:xfrm>
              <a:off x="2112" y="2544"/>
              <a:ext cx="28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-</a:t>
              </a:r>
            </a:p>
          </p:txBody>
        </p:sp>
        <p:sp>
          <p:nvSpPr>
            <p:cNvPr id="580670" name="Text Box 62"/>
            <p:cNvSpPr txBox="1">
              <a:spLocks noChangeArrowheads="1"/>
            </p:cNvSpPr>
            <p:nvPr/>
          </p:nvSpPr>
          <p:spPr bwMode="auto">
            <a:xfrm>
              <a:off x="2400" y="1584"/>
              <a:ext cx="28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-</a:t>
              </a:r>
            </a:p>
          </p:txBody>
        </p:sp>
        <p:sp>
          <p:nvSpPr>
            <p:cNvPr id="580673" name="Text Box 65"/>
            <p:cNvSpPr txBox="1">
              <a:spLocks noChangeArrowheads="1"/>
            </p:cNvSpPr>
            <p:nvPr/>
          </p:nvSpPr>
          <p:spPr bwMode="auto">
            <a:xfrm>
              <a:off x="2400" y="2544"/>
              <a:ext cx="28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+</a:t>
              </a:r>
            </a:p>
          </p:txBody>
        </p:sp>
        <p:sp>
          <p:nvSpPr>
            <p:cNvPr id="580674" name="Text Box 66"/>
            <p:cNvSpPr txBox="1">
              <a:spLocks noChangeArrowheads="1"/>
            </p:cNvSpPr>
            <p:nvPr/>
          </p:nvSpPr>
          <p:spPr bwMode="auto">
            <a:xfrm>
              <a:off x="2688" y="1584"/>
              <a:ext cx="28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+</a:t>
              </a:r>
            </a:p>
          </p:txBody>
        </p:sp>
        <p:sp>
          <p:nvSpPr>
            <p:cNvPr id="580677" name="Text Box 69"/>
            <p:cNvSpPr txBox="1">
              <a:spLocks noChangeArrowheads="1"/>
            </p:cNvSpPr>
            <p:nvPr/>
          </p:nvSpPr>
          <p:spPr bwMode="auto">
            <a:xfrm>
              <a:off x="2688" y="2544"/>
              <a:ext cx="28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-</a:t>
              </a:r>
            </a:p>
          </p:txBody>
        </p:sp>
        <p:sp>
          <p:nvSpPr>
            <p:cNvPr id="580678" name="Text Box 70"/>
            <p:cNvSpPr txBox="1">
              <a:spLocks noChangeArrowheads="1"/>
            </p:cNvSpPr>
            <p:nvPr/>
          </p:nvSpPr>
          <p:spPr bwMode="auto">
            <a:xfrm>
              <a:off x="3840" y="1584"/>
              <a:ext cx="28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+</a:t>
              </a:r>
            </a:p>
          </p:txBody>
        </p:sp>
        <p:sp>
          <p:nvSpPr>
            <p:cNvPr id="580680" name="Text Box 72"/>
            <p:cNvSpPr txBox="1">
              <a:spLocks noChangeArrowheads="1"/>
            </p:cNvSpPr>
            <p:nvPr/>
          </p:nvSpPr>
          <p:spPr bwMode="auto">
            <a:xfrm>
              <a:off x="3840" y="2073"/>
              <a:ext cx="28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-</a:t>
              </a:r>
            </a:p>
          </p:txBody>
        </p:sp>
        <p:sp>
          <p:nvSpPr>
            <p:cNvPr id="580681" name="Text Box 73"/>
            <p:cNvSpPr txBox="1">
              <a:spLocks noChangeArrowheads="1"/>
            </p:cNvSpPr>
            <p:nvPr/>
          </p:nvSpPr>
          <p:spPr bwMode="auto">
            <a:xfrm>
              <a:off x="3840" y="2544"/>
              <a:ext cx="28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-</a:t>
              </a:r>
            </a:p>
          </p:txBody>
        </p:sp>
        <p:sp>
          <p:nvSpPr>
            <p:cNvPr id="580682" name="Text Box 74"/>
            <p:cNvSpPr txBox="1">
              <a:spLocks noChangeArrowheads="1"/>
            </p:cNvSpPr>
            <p:nvPr/>
          </p:nvSpPr>
          <p:spPr bwMode="auto">
            <a:xfrm>
              <a:off x="4128" y="1584"/>
              <a:ext cx="28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-</a:t>
              </a:r>
            </a:p>
          </p:txBody>
        </p:sp>
        <p:sp>
          <p:nvSpPr>
            <p:cNvPr id="580684" name="Text Box 76"/>
            <p:cNvSpPr txBox="1">
              <a:spLocks noChangeArrowheads="1"/>
            </p:cNvSpPr>
            <p:nvPr/>
          </p:nvSpPr>
          <p:spPr bwMode="auto">
            <a:xfrm>
              <a:off x="4128" y="2073"/>
              <a:ext cx="28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+</a:t>
              </a:r>
            </a:p>
          </p:txBody>
        </p:sp>
        <p:sp>
          <p:nvSpPr>
            <p:cNvPr id="580685" name="Text Box 77"/>
            <p:cNvSpPr txBox="1">
              <a:spLocks noChangeArrowheads="1"/>
            </p:cNvSpPr>
            <p:nvPr/>
          </p:nvSpPr>
          <p:spPr bwMode="auto">
            <a:xfrm>
              <a:off x="4128" y="2544"/>
              <a:ext cx="28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-</a:t>
              </a:r>
            </a:p>
          </p:txBody>
        </p:sp>
        <p:sp>
          <p:nvSpPr>
            <p:cNvPr id="580686" name="Text Box 78"/>
            <p:cNvSpPr txBox="1">
              <a:spLocks noChangeArrowheads="1"/>
            </p:cNvSpPr>
            <p:nvPr/>
          </p:nvSpPr>
          <p:spPr bwMode="auto">
            <a:xfrm>
              <a:off x="4416" y="1593"/>
              <a:ext cx="28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+</a:t>
              </a:r>
            </a:p>
          </p:txBody>
        </p:sp>
        <p:sp>
          <p:nvSpPr>
            <p:cNvPr id="580688" name="Text Box 80"/>
            <p:cNvSpPr txBox="1">
              <a:spLocks noChangeArrowheads="1"/>
            </p:cNvSpPr>
            <p:nvPr/>
          </p:nvSpPr>
          <p:spPr bwMode="auto">
            <a:xfrm>
              <a:off x="4416" y="2082"/>
              <a:ext cx="28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-</a:t>
              </a:r>
            </a:p>
          </p:txBody>
        </p:sp>
        <p:sp>
          <p:nvSpPr>
            <p:cNvPr id="580689" name="Text Box 81"/>
            <p:cNvSpPr txBox="1">
              <a:spLocks noChangeArrowheads="1"/>
            </p:cNvSpPr>
            <p:nvPr/>
          </p:nvSpPr>
          <p:spPr bwMode="auto">
            <a:xfrm>
              <a:off x="4416" y="2553"/>
              <a:ext cx="28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+</a:t>
              </a:r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1642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0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smtClean="0"/>
              <a:t>3. </a:t>
            </a:r>
            <a:r>
              <a:rPr lang="en-US" sz="3500" b="1" dirty="0" err="1" smtClean="0"/>
              <a:t>Phân</a:t>
            </a:r>
            <a:r>
              <a:rPr lang="en-US" sz="3500" b="1" dirty="0" smtClean="0"/>
              <a:t> </a:t>
            </a:r>
            <a:r>
              <a:rPr lang="en-US" sz="3500" b="1" dirty="0" err="1" smtClean="0"/>
              <a:t>loại</a:t>
            </a:r>
            <a:endParaRPr lang="en-US" sz="3500" b="1" dirty="0"/>
          </a:p>
        </p:txBody>
      </p:sp>
      <p:sp>
        <p:nvSpPr>
          <p:cNvPr id="5580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0"/>
            <a:ext cx="8229600" cy="4572000"/>
          </a:xfrm>
        </p:spPr>
        <p:txBody>
          <a:bodyPr>
            <a:normAutofit/>
          </a:bodyPr>
          <a:lstStyle/>
          <a:p>
            <a:pPr marL="274320" lvl="1" indent="0">
              <a:lnSpc>
                <a:spcPct val="90000"/>
              </a:lnSpc>
              <a:buNone/>
            </a:pPr>
            <a:r>
              <a:rPr lang="en-US" sz="2400" b="1" dirty="0" smtClean="0">
                <a:solidFill>
                  <a:schemeClr val="tx1"/>
                </a:solidFill>
              </a:rPr>
              <a:t>3.1. </a:t>
            </a:r>
            <a:r>
              <a:rPr lang="en-US" sz="2400" b="1" dirty="0" err="1" smtClean="0">
                <a:solidFill>
                  <a:schemeClr val="tx1"/>
                </a:solidFill>
              </a:rPr>
              <a:t>Một</a:t>
            </a:r>
            <a:r>
              <a:rPr lang="en-US" sz="2400" b="1" dirty="0" smtClean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quan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hệ</a:t>
            </a:r>
            <a:endParaRPr lang="en-US" sz="2400" b="1" dirty="0">
              <a:solidFill>
                <a:schemeClr val="tx1"/>
              </a:solidFill>
            </a:endParaRPr>
          </a:p>
          <a:p>
            <a:pPr marL="594360" lvl="2" indent="0">
              <a:lnSpc>
                <a:spcPct val="90000"/>
              </a:lnSpc>
              <a:buNone/>
            </a:pPr>
            <a:r>
              <a:rPr lang="en-US" sz="2400" dirty="0" smtClean="0"/>
              <a:t>3.1.1. </a:t>
            </a:r>
            <a:r>
              <a:rPr lang="en-US" sz="2400" dirty="0" err="1" smtClean="0"/>
              <a:t>Miền</a:t>
            </a:r>
            <a:r>
              <a:rPr lang="en-US" sz="2400" dirty="0" smtClean="0"/>
              <a:t> </a:t>
            </a:r>
            <a:r>
              <a:rPr lang="en-US" sz="2400" dirty="0" err="1"/>
              <a:t>giá</a:t>
            </a:r>
            <a:r>
              <a:rPr lang="en-US" sz="2400" dirty="0"/>
              <a:t> </a:t>
            </a:r>
            <a:r>
              <a:rPr lang="en-US" sz="2400" dirty="0" err="1"/>
              <a:t>trị</a:t>
            </a:r>
            <a:endParaRPr lang="en-US" sz="2400" dirty="0"/>
          </a:p>
          <a:p>
            <a:pPr marL="594360" lvl="2" indent="0">
              <a:lnSpc>
                <a:spcPct val="90000"/>
              </a:lnSpc>
              <a:buNone/>
            </a:pPr>
            <a:r>
              <a:rPr lang="en-US" sz="2400" dirty="0" smtClean="0"/>
              <a:t>3.1.2. </a:t>
            </a:r>
            <a:r>
              <a:rPr lang="en-US" sz="2400" dirty="0" err="1" smtClean="0"/>
              <a:t>Liên</a:t>
            </a:r>
            <a:r>
              <a:rPr lang="en-US" sz="2400" dirty="0" smtClean="0"/>
              <a:t> </a:t>
            </a:r>
            <a:r>
              <a:rPr lang="en-US" sz="2400" dirty="0" err="1"/>
              <a:t>bộ</a:t>
            </a:r>
            <a:endParaRPr lang="en-US" sz="2400" dirty="0"/>
          </a:p>
          <a:p>
            <a:pPr marL="594360" lvl="2" indent="0">
              <a:lnSpc>
                <a:spcPct val="90000"/>
              </a:lnSpc>
              <a:buNone/>
            </a:pPr>
            <a:r>
              <a:rPr lang="en-US" sz="2400" dirty="0" smtClean="0"/>
              <a:t>3.1.3. </a:t>
            </a:r>
            <a:r>
              <a:rPr lang="en-US" sz="2400" dirty="0" err="1" smtClean="0"/>
              <a:t>Liên</a:t>
            </a:r>
            <a:r>
              <a:rPr lang="en-US" sz="2400" dirty="0" smtClean="0"/>
              <a:t> </a:t>
            </a:r>
            <a:r>
              <a:rPr lang="en-US" sz="2400" dirty="0" err="1"/>
              <a:t>thuộc</a:t>
            </a:r>
            <a:r>
              <a:rPr lang="en-US" sz="2400" dirty="0"/>
              <a:t> </a:t>
            </a:r>
            <a:r>
              <a:rPr lang="en-US" sz="2400" dirty="0" err="1"/>
              <a:t>tính</a:t>
            </a:r>
            <a:endParaRPr lang="en-US" sz="2400" dirty="0"/>
          </a:p>
          <a:p>
            <a:pPr marL="274320" lvl="1" indent="0">
              <a:lnSpc>
                <a:spcPct val="90000"/>
              </a:lnSpc>
              <a:buNone/>
            </a:pPr>
            <a:r>
              <a:rPr lang="en-US" sz="2400" b="1" dirty="0" smtClean="0">
                <a:solidFill>
                  <a:schemeClr val="tx1"/>
                </a:solidFill>
              </a:rPr>
              <a:t>3.2. </a:t>
            </a:r>
            <a:r>
              <a:rPr lang="en-US" sz="2400" b="1" dirty="0" err="1" smtClean="0">
                <a:solidFill>
                  <a:schemeClr val="tx1"/>
                </a:solidFill>
              </a:rPr>
              <a:t>Nhiều</a:t>
            </a:r>
            <a:r>
              <a:rPr lang="en-US" sz="2400" b="1" dirty="0" smtClean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quan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hệ</a:t>
            </a:r>
            <a:endParaRPr lang="en-US" sz="2400" b="1" dirty="0">
              <a:solidFill>
                <a:schemeClr val="tx1"/>
              </a:solidFill>
            </a:endParaRPr>
          </a:p>
          <a:p>
            <a:pPr marL="594360" lvl="2" indent="0">
              <a:lnSpc>
                <a:spcPct val="90000"/>
              </a:lnSpc>
              <a:buNone/>
            </a:pPr>
            <a:r>
              <a:rPr lang="en-US" sz="2400" dirty="0" smtClean="0"/>
              <a:t>3.2.1. </a:t>
            </a:r>
            <a:r>
              <a:rPr lang="en-US" sz="2400" dirty="0" err="1" smtClean="0"/>
              <a:t>Tham</a:t>
            </a:r>
            <a:r>
              <a:rPr lang="en-US" sz="2400" dirty="0" smtClean="0"/>
              <a:t> </a:t>
            </a:r>
            <a:r>
              <a:rPr lang="en-US" sz="2400" dirty="0" err="1"/>
              <a:t>chiếu</a:t>
            </a:r>
            <a:endParaRPr lang="en-US" sz="2400" dirty="0"/>
          </a:p>
          <a:p>
            <a:pPr marL="594360" lvl="2" indent="0">
              <a:lnSpc>
                <a:spcPct val="90000"/>
              </a:lnSpc>
              <a:buNone/>
            </a:pPr>
            <a:r>
              <a:rPr lang="en-US" sz="2400" dirty="0" smtClean="0"/>
              <a:t>3.2.2. </a:t>
            </a:r>
            <a:r>
              <a:rPr lang="en-US" sz="2400" dirty="0" err="1" smtClean="0"/>
              <a:t>Liên</a:t>
            </a:r>
            <a:r>
              <a:rPr lang="en-US" sz="2400" dirty="0" smtClean="0"/>
              <a:t> </a:t>
            </a:r>
            <a:r>
              <a:rPr lang="en-US" sz="2400" dirty="0" err="1"/>
              <a:t>bộ</a:t>
            </a:r>
            <a:r>
              <a:rPr lang="en-US" sz="2400" dirty="0"/>
              <a:t>, </a:t>
            </a:r>
            <a:r>
              <a:rPr lang="en-US" sz="2400" dirty="0" err="1"/>
              <a:t>liên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endParaRPr lang="en-US" sz="2400" dirty="0"/>
          </a:p>
          <a:p>
            <a:pPr marL="594360" lvl="2" indent="0">
              <a:lnSpc>
                <a:spcPct val="90000"/>
              </a:lnSpc>
              <a:buNone/>
            </a:pPr>
            <a:r>
              <a:rPr lang="en-US" sz="2400" dirty="0" smtClean="0"/>
              <a:t>3.2.3. </a:t>
            </a:r>
            <a:r>
              <a:rPr lang="en-US" sz="2400" dirty="0" err="1" smtClean="0"/>
              <a:t>Liên</a:t>
            </a:r>
            <a:r>
              <a:rPr lang="en-US" sz="2400" dirty="0" smtClean="0"/>
              <a:t> </a:t>
            </a:r>
            <a:r>
              <a:rPr lang="en-US" sz="2400" dirty="0" err="1"/>
              <a:t>thuộc</a:t>
            </a:r>
            <a:r>
              <a:rPr lang="en-US" sz="2400" dirty="0"/>
              <a:t> </a:t>
            </a:r>
            <a:r>
              <a:rPr lang="en-US" sz="2400" dirty="0" err="1"/>
              <a:t>tính</a:t>
            </a:r>
            <a:r>
              <a:rPr lang="en-US" sz="2400" dirty="0"/>
              <a:t>, </a:t>
            </a:r>
            <a:r>
              <a:rPr lang="en-US" sz="2400" dirty="0" err="1"/>
              <a:t>liên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endParaRPr lang="en-US" sz="2400" dirty="0"/>
          </a:p>
          <a:p>
            <a:pPr marL="594360" lvl="2" indent="0">
              <a:lnSpc>
                <a:spcPct val="90000"/>
              </a:lnSpc>
              <a:buNone/>
            </a:pPr>
            <a:r>
              <a:rPr lang="en-US" sz="2400" dirty="0" smtClean="0"/>
              <a:t>3.3.4. </a:t>
            </a:r>
            <a:r>
              <a:rPr lang="en-US" sz="2400" dirty="0" err="1" smtClean="0"/>
              <a:t>Thuộc</a:t>
            </a:r>
            <a:r>
              <a:rPr lang="en-US" sz="2400" dirty="0" smtClean="0"/>
              <a:t> </a:t>
            </a:r>
            <a:r>
              <a:rPr lang="en-US" sz="2400" dirty="0" err="1"/>
              <a:t>tính</a:t>
            </a:r>
            <a:r>
              <a:rPr lang="en-US" sz="2400" dirty="0"/>
              <a:t> </a:t>
            </a:r>
            <a:r>
              <a:rPr lang="en-US" sz="2400" dirty="0" err="1"/>
              <a:t>tổng</a:t>
            </a:r>
            <a:r>
              <a:rPr lang="en-US" sz="2400" dirty="0"/>
              <a:t> </a:t>
            </a:r>
            <a:r>
              <a:rPr lang="en-US" sz="2400" dirty="0" err="1"/>
              <a:t>hợp</a:t>
            </a:r>
            <a:endParaRPr lang="en-US" sz="2400" dirty="0"/>
          </a:p>
          <a:p>
            <a:pPr marL="594360" lvl="2" indent="0">
              <a:lnSpc>
                <a:spcPct val="90000"/>
              </a:lnSpc>
              <a:buNone/>
            </a:pPr>
            <a:r>
              <a:rPr lang="en-US" sz="2400" dirty="0" smtClean="0"/>
              <a:t>3.3.5. Chu </a:t>
            </a:r>
            <a:r>
              <a:rPr lang="en-US" sz="2400" dirty="0" err="1" smtClean="0"/>
              <a:t>trình</a:t>
            </a:r>
            <a:endParaRPr lang="en-US" sz="24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1128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6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smtClean="0"/>
              <a:t>3.1.1. RBTV </a:t>
            </a:r>
            <a:r>
              <a:rPr lang="en-US" sz="3500" b="1" dirty="0"/>
              <a:t>- </a:t>
            </a:r>
            <a:r>
              <a:rPr lang="en-US" sz="3500" b="1" dirty="0" err="1"/>
              <a:t>Miền</a:t>
            </a:r>
            <a:r>
              <a:rPr lang="en-US" sz="3500" b="1" dirty="0"/>
              <a:t> </a:t>
            </a:r>
            <a:r>
              <a:rPr lang="en-US" sz="3500" b="1" dirty="0" err="1"/>
              <a:t>giá</a:t>
            </a:r>
            <a:r>
              <a:rPr lang="en-US" sz="3500" b="1" dirty="0"/>
              <a:t> </a:t>
            </a:r>
            <a:r>
              <a:rPr lang="en-US" sz="3500" b="1" dirty="0" err="1"/>
              <a:t>trị</a:t>
            </a:r>
            <a:endParaRPr lang="en-US" sz="3500" b="1" dirty="0"/>
          </a:p>
        </p:txBody>
      </p:sp>
      <p:sp>
        <p:nvSpPr>
          <p:cNvPr id="58265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447800"/>
            <a:ext cx="8229600" cy="4953000"/>
          </a:xfrm>
        </p:spPr>
        <p:txBody>
          <a:bodyPr/>
          <a:lstStyle/>
          <a:p>
            <a:pPr algn="just"/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 qui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 err="1"/>
              <a:t>Miền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endParaRPr lang="en-US" dirty="0"/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Liên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tục</a:t>
            </a:r>
            <a:endParaRPr lang="en-US" dirty="0">
              <a:solidFill>
                <a:schemeClr val="tx1"/>
              </a:solidFill>
            </a:endParaRP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Rời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rạc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582676" name="Group 20"/>
          <p:cNvGrpSpPr>
            <a:grpSpLocks/>
          </p:cNvGrpSpPr>
          <p:nvPr/>
        </p:nvGrpSpPr>
        <p:grpSpPr bwMode="auto">
          <a:xfrm>
            <a:off x="1905000" y="2133600"/>
            <a:ext cx="2362200" cy="1676400"/>
            <a:chOff x="624" y="1392"/>
            <a:chExt cx="1488" cy="1056"/>
          </a:xfrm>
        </p:grpSpPr>
        <p:sp>
          <p:nvSpPr>
            <p:cNvPr id="582677" name="Line 21"/>
            <p:cNvSpPr>
              <a:spLocks noChangeShapeType="1"/>
            </p:cNvSpPr>
            <p:nvPr/>
          </p:nvSpPr>
          <p:spPr bwMode="auto">
            <a:xfrm>
              <a:off x="624" y="1584"/>
              <a:ext cx="14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82678" name="Text Box 22"/>
            <p:cNvSpPr txBox="1">
              <a:spLocks noChangeArrowheads="1"/>
            </p:cNvSpPr>
            <p:nvPr/>
          </p:nvSpPr>
          <p:spPr bwMode="auto">
            <a:xfrm>
              <a:off x="960" y="139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A</a:t>
              </a:r>
            </a:p>
          </p:txBody>
        </p:sp>
        <p:sp>
          <p:nvSpPr>
            <p:cNvPr id="582679" name="Text Box 23"/>
            <p:cNvSpPr txBox="1">
              <a:spLocks noChangeArrowheads="1"/>
            </p:cNvSpPr>
            <p:nvPr/>
          </p:nvSpPr>
          <p:spPr bwMode="auto">
            <a:xfrm>
              <a:off x="1248" y="139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B</a:t>
              </a:r>
            </a:p>
          </p:txBody>
        </p:sp>
        <p:sp>
          <p:nvSpPr>
            <p:cNvPr id="582680" name="Text Box 24"/>
            <p:cNvSpPr txBox="1">
              <a:spLocks noChangeArrowheads="1"/>
            </p:cNvSpPr>
            <p:nvPr/>
          </p:nvSpPr>
          <p:spPr bwMode="auto">
            <a:xfrm>
              <a:off x="960" y="163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</a:t>
              </a:r>
            </a:p>
          </p:txBody>
        </p:sp>
        <p:sp>
          <p:nvSpPr>
            <p:cNvPr id="582681" name="Line 25"/>
            <p:cNvSpPr>
              <a:spLocks noChangeShapeType="1"/>
            </p:cNvSpPr>
            <p:nvPr/>
          </p:nvSpPr>
          <p:spPr bwMode="auto">
            <a:xfrm>
              <a:off x="624" y="1392"/>
              <a:ext cx="14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82682" name="Line 26"/>
            <p:cNvSpPr>
              <a:spLocks noChangeShapeType="1"/>
            </p:cNvSpPr>
            <p:nvPr/>
          </p:nvSpPr>
          <p:spPr bwMode="auto">
            <a:xfrm>
              <a:off x="960" y="2448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82683" name="Text Box 27"/>
            <p:cNvSpPr txBox="1">
              <a:spLocks noChangeArrowheads="1"/>
            </p:cNvSpPr>
            <p:nvPr/>
          </p:nvSpPr>
          <p:spPr bwMode="auto">
            <a:xfrm>
              <a:off x="624" y="1392"/>
              <a:ext cx="336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 b="1"/>
                <a:t>R</a:t>
              </a:r>
            </a:p>
          </p:txBody>
        </p:sp>
        <p:sp>
          <p:nvSpPr>
            <p:cNvPr id="582684" name="Line 28"/>
            <p:cNvSpPr>
              <a:spLocks noChangeShapeType="1"/>
            </p:cNvSpPr>
            <p:nvPr/>
          </p:nvSpPr>
          <p:spPr bwMode="auto">
            <a:xfrm>
              <a:off x="624" y="139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82685" name="Text Box 29"/>
            <p:cNvSpPr txBox="1">
              <a:spLocks noChangeArrowheads="1"/>
            </p:cNvSpPr>
            <p:nvPr/>
          </p:nvSpPr>
          <p:spPr bwMode="auto">
            <a:xfrm>
              <a:off x="960" y="1824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</a:t>
              </a:r>
            </a:p>
          </p:txBody>
        </p:sp>
        <p:sp>
          <p:nvSpPr>
            <p:cNvPr id="582686" name="Text Box 30"/>
            <p:cNvSpPr txBox="1">
              <a:spLocks noChangeArrowheads="1"/>
            </p:cNvSpPr>
            <p:nvPr/>
          </p:nvSpPr>
          <p:spPr bwMode="auto">
            <a:xfrm>
              <a:off x="960" y="2016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</a:t>
              </a:r>
            </a:p>
          </p:txBody>
        </p:sp>
        <p:sp>
          <p:nvSpPr>
            <p:cNvPr id="582687" name="Line 31"/>
            <p:cNvSpPr>
              <a:spLocks noChangeShapeType="1"/>
            </p:cNvSpPr>
            <p:nvPr/>
          </p:nvSpPr>
          <p:spPr bwMode="auto">
            <a:xfrm>
              <a:off x="1248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82688" name="Line 32"/>
            <p:cNvSpPr>
              <a:spLocks noChangeShapeType="1"/>
            </p:cNvSpPr>
            <p:nvPr/>
          </p:nvSpPr>
          <p:spPr bwMode="auto">
            <a:xfrm>
              <a:off x="960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82689" name="Line 33"/>
            <p:cNvSpPr>
              <a:spLocks noChangeShapeType="1"/>
            </p:cNvSpPr>
            <p:nvPr/>
          </p:nvSpPr>
          <p:spPr bwMode="auto">
            <a:xfrm>
              <a:off x="1536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82690" name="Text Box 34"/>
            <p:cNvSpPr txBox="1">
              <a:spLocks noChangeArrowheads="1"/>
            </p:cNvSpPr>
            <p:nvPr/>
          </p:nvSpPr>
          <p:spPr bwMode="auto">
            <a:xfrm>
              <a:off x="1536" y="139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C</a:t>
              </a:r>
            </a:p>
          </p:txBody>
        </p:sp>
        <p:sp>
          <p:nvSpPr>
            <p:cNvPr id="582691" name="Text Box 35"/>
            <p:cNvSpPr txBox="1">
              <a:spLocks noChangeArrowheads="1"/>
            </p:cNvSpPr>
            <p:nvPr/>
          </p:nvSpPr>
          <p:spPr bwMode="auto">
            <a:xfrm>
              <a:off x="1536" y="163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1</a:t>
              </a:r>
            </a:p>
          </p:txBody>
        </p:sp>
        <p:sp>
          <p:nvSpPr>
            <p:cNvPr id="582692" name="Text Box 36"/>
            <p:cNvSpPr txBox="1">
              <a:spLocks noChangeArrowheads="1"/>
            </p:cNvSpPr>
            <p:nvPr/>
          </p:nvSpPr>
          <p:spPr bwMode="auto">
            <a:xfrm>
              <a:off x="1536" y="1824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5</a:t>
              </a:r>
            </a:p>
          </p:txBody>
        </p:sp>
        <p:sp>
          <p:nvSpPr>
            <p:cNvPr id="582693" name="Text Box 37"/>
            <p:cNvSpPr txBox="1">
              <a:spLocks noChangeArrowheads="1"/>
            </p:cNvSpPr>
            <p:nvPr/>
          </p:nvSpPr>
          <p:spPr bwMode="auto">
            <a:xfrm>
              <a:off x="1536" y="2016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12</a:t>
              </a:r>
            </a:p>
          </p:txBody>
        </p:sp>
        <p:sp>
          <p:nvSpPr>
            <p:cNvPr id="582694" name="Line 38"/>
            <p:cNvSpPr>
              <a:spLocks noChangeShapeType="1"/>
            </p:cNvSpPr>
            <p:nvPr/>
          </p:nvSpPr>
          <p:spPr bwMode="auto">
            <a:xfrm>
              <a:off x="1824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82695" name="Text Box 39"/>
            <p:cNvSpPr txBox="1">
              <a:spLocks noChangeArrowheads="1"/>
            </p:cNvSpPr>
            <p:nvPr/>
          </p:nvSpPr>
          <p:spPr bwMode="auto">
            <a:xfrm>
              <a:off x="960" y="2208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</a:t>
              </a:r>
            </a:p>
          </p:txBody>
        </p:sp>
        <p:sp>
          <p:nvSpPr>
            <p:cNvPr id="582696" name="Text Box 40"/>
            <p:cNvSpPr txBox="1">
              <a:spLocks noChangeArrowheads="1"/>
            </p:cNvSpPr>
            <p:nvPr/>
          </p:nvSpPr>
          <p:spPr bwMode="auto">
            <a:xfrm>
              <a:off x="1536" y="2208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23</a:t>
              </a:r>
            </a:p>
          </p:txBody>
        </p:sp>
        <p:sp>
          <p:nvSpPr>
            <p:cNvPr id="582697" name="Text Box 41"/>
            <p:cNvSpPr txBox="1">
              <a:spLocks noChangeArrowheads="1"/>
            </p:cNvSpPr>
            <p:nvPr/>
          </p:nvSpPr>
          <p:spPr bwMode="auto">
            <a:xfrm>
              <a:off x="1824" y="139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D</a:t>
              </a:r>
            </a:p>
          </p:txBody>
        </p:sp>
        <p:sp>
          <p:nvSpPr>
            <p:cNvPr id="582698" name="Text Box 42"/>
            <p:cNvSpPr txBox="1">
              <a:spLocks noChangeArrowheads="1"/>
            </p:cNvSpPr>
            <p:nvPr/>
          </p:nvSpPr>
          <p:spPr bwMode="auto">
            <a:xfrm>
              <a:off x="1824" y="163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1</a:t>
              </a:r>
            </a:p>
          </p:txBody>
        </p:sp>
        <p:sp>
          <p:nvSpPr>
            <p:cNvPr id="582699" name="Text Box 43"/>
            <p:cNvSpPr txBox="1">
              <a:spLocks noChangeArrowheads="1"/>
            </p:cNvSpPr>
            <p:nvPr/>
          </p:nvSpPr>
          <p:spPr bwMode="auto">
            <a:xfrm>
              <a:off x="1824" y="1824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7</a:t>
              </a:r>
            </a:p>
          </p:txBody>
        </p:sp>
        <p:sp>
          <p:nvSpPr>
            <p:cNvPr id="582700" name="Text Box 44"/>
            <p:cNvSpPr txBox="1">
              <a:spLocks noChangeArrowheads="1"/>
            </p:cNvSpPr>
            <p:nvPr/>
          </p:nvSpPr>
          <p:spPr bwMode="auto">
            <a:xfrm>
              <a:off x="1824" y="2016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3</a:t>
              </a:r>
            </a:p>
          </p:txBody>
        </p:sp>
        <p:sp>
          <p:nvSpPr>
            <p:cNvPr id="582701" name="Text Box 45"/>
            <p:cNvSpPr txBox="1">
              <a:spLocks noChangeArrowheads="1"/>
            </p:cNvSpPr>
            <p:nvPr/>
          </p:nvSpPr>
          <p:spPr bwMode="auto">
            <a:xfrm>
              <a:off x="1824" y="2208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9</a:t>
              </a:r>
            </a:p>
          </p:txBody>
        </p:sp>
        <p:sp>
          <p:nvSpPr>
            <p:cNvPr id="582702" name="Text Box 46"/>
            <p:cNvSpPr txBox="1">
              <a:spLocks noChangeArrowheads="1"/>
            </p:cNvSpPr>
            <p:nvPr/>
          </p:nvSpPr>
          <p:spPr bwMode="auto">
            <a:xfrm>
              <a:off x="1248" y="163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</a:t>
              </a:r>
            </a:p>
          </p:txBody>
        </p:sp>
        <p:sp>
          <p:nvSpPr>
            <p:cNvPr id="582703" name="Text Box 47"/>
            <p:cNvSpPr txBox="1">
              <a:spLocks noChangeArrowheads="1"/>
            </p:cNvSpPr>
            <p:nvPr/>
          </p:nvSpPr>
          <p:spPr bwMode="auto">
            <a:xfrm>
              <a:off x="1248" y="1824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</a:t>
              </a:r>
            </a:p>
          </p:txBody>
        </p:sp>
        <p:sp>
          <p:nvSpPr>
            <p:cNvPr id="582704" name="Text Box 48"/>
            <p:cNvSpPr txBox="1">
              <a:spLocks noChangeArrowheads="1"/>
            </p:cNvSpPr>
            <p:nvPr/>
          </p:nvSpPr>
          <p:spPr bwMode="auto">
            <a:xfrm>
              <a:off x="1248" y="2016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</a:t>
              </a:r>
            </a:p>
          </p:txBody>
        </p:sp>
        <p:sp>
          <p:nvSpPr>
            <p:cNvPr id="582705" name="Text Box 49"/>
            <p:cNvSpPr txBox="1">
              <a:spLocks noChangeArrowheads="1"/>
            </p:cNvSpPr>
            <p:nvPr/>
          </p:nvSpPr>
          <p:spPr bwMode="auto">
            <a:xfrm>
              <a:off x="1248" y="2208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</a:t>
              </a:r>
            </a:p>
          </p:txBody>
        </p:sp>
        <p:sp>
          <p:nvSpPr>
            <p:cNvPr id="582706" name="Line 50"/>
            <p:cNvSpPr>
              <a:spLocks noChangeShapeType="1"/>
            </p:cNvSpPr>
            <p:nvPr/>
          </p:nvSpPr>
          <p:spPr bwMode="auto">
            <a:xfrm>
              <a:off x="2112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582707" name="Rectangle 51"/>
          <p:cNvSpPr>
            <a:spLocks noChangeArrowheads="1"/>
          </p:cNvSpPr>
          <p:nvPr/>
        </p:nvSpPr>
        <p:spPr bwMode="auto">
          <a:xfrm>
            <a:off x="1295400" y="1981200"/>
            <a:ext cx="6858000" cy="2209800"/>
          </a:xfrm>
          <a:prstGeom prst="rect">
            <a:avLst/>
          </a:prstGeom>
          <a:solidFill>
            <a:schemeClr val="bg1">
              <a:alpha val="50000"/>
            </a:schemeClr>
          </a:solidFill>
          <a:ln w="12700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pSp>
        <p:nvGrpSpPr>
          <p:cNvPr id="582718" name="Group 62"/>
          <p:cNvGrpSpPr>
            <a:grpSpLocks/>
          </p:cNvGrpSpPr>
          <p:nvPr/>
        </p:nvGrpSpPr>
        <p:grpSpPr bwMode="auto">
          <a:xfrm>
            <a:off x="2895600" y="2514600"/>
            <a:ext cx="3505200" cy="990600"/>
            <a:chOff x="1824" y="1584"/>
            <a:chExt cx="2208" cy="624"/>
          </a:xfrm>
        </p:grpSpPr>
        <p:sp>
          <p:nvSpPr>
            <p:cNvPr id="582708" name="Oval 52"/>
            <p:cNvSpPr>
              <a:spLocks noChangeArrowheads="1"/>
            </p:cNvSpPr>
            <p:nvPr/>
          </p:nvSpPr>
          <p:spPr bwMode="auto">
            <a:xfrm>
              <a:off x="1824" y="1776"/>
              <a:ext cx="288" cy="192"/>
            </a:xfrm>
            <a:prstGeom prst="ellipse">
              <a:avLst/>
            </a:prstGeom>
            <a:noFill/>
            <a:ln w="12700" algn="ctr">
              <a:solidFill>
                <a:srgbClr val="CC0000"/>
              </a:solidFill>
              <a:prstDash val="dash"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pSp>
          <p:nvGrpSpPr>
            <p:cNvPr id="582717" name="Group 61"/>
            <p:cNvGrpSpPr>
              <a:grpSpLocks/>
            </p:cNvGrpSpPr>
            <p:nvPr/>
          </p:nvGrpSpPr>
          <p:grpSpPr bwMode="auto">
            <a:xfrm>
              <a:off x="1968" y="1584"/>
              <a:ext cx="2064" cy="624"/>
              <a:chOff x="1968" y="1584"/>
              <a:chExt cx="2064" cy="624"/>
            </a:xfrm>
          </p:grpSpPr>
          <p:grpSp>
            <p:nvGrpSpPr>
              <p:cNvPr id="582714" name="Group 58"/>
              <p:cNvGrpSpPr>
                <a:grpSpLocks/>
              </p:cNvGrpSpPr>
              <p:nvPr/>
            </p:nvGrpSpPr>
            <p:grpSpPr bwMode="auto">
              <a:xfrm>
                <a:off x="2784" y="1584"/>
                <a:ext cx="1248" cy="624"/>
                <a:chOff x="3264" y="2064"/>
                <a:chExt cx="1104" cy="624"/>
              </a:xfrm>
            </p:grpSpPr>
            <p:sp>
              <p:nvSpPr>
                <p:cNvPr id="582712" name="Text Box 56"/>
                <p:cNvSpPr txBox="1">
                  <a:spLocks noChangeArrowheads="1"/>
                </p:cNvSpPr>
                <p:nvPr/>
              </p:nvSpPr>
              <p:spPr bwMode="auto">
                <a:xfrm>
                  <a:off x="3360" y="2217"/>
                  <a:ext cx="960" cy="231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r>
                    <a:rPr lang="en-US" sz="1800" b="1">
                      <a:sym typeface="Symbol" pitchFamily="18" charset="2"/>
                    </a:rPr>
                    <a:t>  </a:t>
                  </a:r>
                  <a:r>
                    <a:rPr lang="en-US" sz="1800">
                      <a:sym typeface="Symbol" pitchFamily="18" charset="2"/>
                    </a:rPr>
                    <a:t>{</a:t>
                  </a:r>
                  <a:r>
                    <a:rPr lang="en-US" sz="1800" b="1">
                      <a:sym typeface="Symbol" pitchFamily="18" charset="2"/>
                    </a:rPr>
                    <a:t>, , </a:t>
                  </a:r>
                  <a:r>
                    <a:rPr lang="en-US" sz="1800">
                      <a:sym typeface="Symbol" pitchFamily="18" charset="2"/>
                    </a:rPr>
                    <a:t>}</a:t>
                  </a:r>
                </a:p>
              </p:txBody>
            </p:sp>
            <p:sp>
              <p:nvSpPr>
                <p:cNvPr id="582713" name="Oval 57"/>
                <p:cNvSpPr>
                  <a:spLocks noChangeArrowheads="1"/>
                </p:cNvSpPr>
                <p:nvPr/>
              </p:nvSpPr>
              <p:spPr bwMode="auto">
                <a:xfrm>
                  <a:off x="3264" y="2064"/>
                  <a:ext cx="1104" cy="624"/>
                </a:xfrm>
                <a:prstGeom prst="ellipse">
                  <a:avLst/>
                </a:prstGeom>
                <a:noFill/>
                <a:ln w="12700" algn="ctr">
                  <a:solidFill>
                    <a:srgbClr val="CC0000"/>
                  </a:solidFill>
                  <a:prstDash val="dash"/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582715" name="Line 59"/>
              <p:cNvSpPr>
                <a:spLocks noChangeShapeType="1"/>
              </p:cNvSpPr>
              <p:nvPr/>
            </p:nvSpPr>
            <p:spPr bwMode="auto">
              <a:xfrm flipV="1">
                <a:off x="2016" y="1632"/>
                <a:ext cx="1056" cy="144"/>
              </a:xfrm>
              <a:prstGeom prst="line">
                <a:avLst/>
              </a:prstGeom>
              <a:noFill/>
              <a:ln w="12700">
                <a:solidFill>
                  <a:srgbClr val="CC0000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82716" name="Line 60"/>
              <p:cNvSpPr>
                <a:spLocks noChangeShapeType="1"/>
              </p:cNvSpPr>
              <p:nvPr/>
            </p:nvSpPr>
            <p:spPr bwMode="auto">
              <a:xfrm>
                <a:off x="1968" y="1968"/>
                <a:ext cx="1104" cy="192"/>
              </a:xfrm>
              <a:prstGeom prst="line">
                <a:avLst/>
              </a:prstGeom>
              <a:noFill/>
              <a:ln w="12700">
                <a:solidFill>
                  <a:srgbClr val="CC0000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582727" name="Group 71"/>
          <p:cNvGrpSpPr>
            <a:grpSpLocks/>
          </p:cNvGrpSpPr>
          <p:nvPr/>
        </p:nvGrpSpPr>
        <p:grpSpPr bwMode="auto">
          <a:xfrm>
            <a:off x="3810000" y="2514600"/>
            <a:ext cx="2971800" cy="1219200"/>
            <a:chOff x="2400" y="1584"/>
            <a:chExt cx="1872" cy="768"/>
          </a:xfrm>
        </p:grpSpPr>
        <p:sp>
          <p:nvSpPr>
            <p:cNvPr id="582720" name="Oval 64"/>
            <p:cNvSpPr>
              <a:spLocks noChangeArrowheads="1"/>
            </p:cNvSpPr>
            <p:nvPr/>
          </p:nvSpPr>
          <p:spPr bwMode="auto">
            <a:xfrm>
              <a:off x="2400" y="2160"/>
              <a:ext cx="288" cy="192"/>
            </a:xfrm>
            <a:prstGeom prst="ellipse">
              <a:avLst/>
            </a:prstGeom>
            <a:noFill/>
            <a:ln w="12700" algn="ctr">
              <a:solidFill>
                <a:srgbClr val="CC0000"/>
              </a:solidFill>
              <a:prstDash val="dash"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pSp>
          <p:nvGrpSpPr>
            <p:cNvPr id="582722" name="Group 66"/>
            <p:cNvGrpSpPr>
              <a:grpSpLocks/>
            </p:cNvGrpSpPr>
            <p:nvPr/>
          </p:nvGrpSpPr>
          <p:grpSpPr bwMode="auto">
            <a:xfrm>
              <a:off x="3024" y="1584"/>
              <a:ext cx="1248" cy="624"/>
              <a:chOff x="3264" y="2064"/>
              <a:chExt cx="1104" cy="624"/>
            </a:xfrm>
          </p:grpSpPr>
          <p:sp>
            <p:nvSpPr>
              <p:cNvPr id="582723" name="Text Box 67"/>
              <p:cNvSpPr txBox="1">
                <a:spLocks noChangeArrowheads="1"/>
              </p:cNvSpPr>
              <p:nvPr/>
            </p:nvSpPr>
            <p:spPr bwMode="auto">
              <a:xfrm>
                <a:off x="3360" y="2217"/>
                <a:ext cx="960" cy="231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sz="1800" b="1">
                    <a:sym typeface="Symbol" pitchFamily="18" charset="2"/>
                  </a:rPr>
                  <a:t>9  </a:t>
                </a:r>
                <a:r>
                  <a:rPr lang="en-US" sz="1800">
                    <a:sym typeface="Symbol" pitchFamily="18" charset="2"/>
                  </a:rPr>
                  <a:t>{</a:t>
                </a:r>
                <a:r>
                  <a:rPr lang="en-US" sz="1800" b="1">
                    <a:sym typeface="Symbol" pitchFamily="18" charset="2"/>
                  </a:rPr>
                  <a:t>1</a:t>
                </a:r>
                <a:r>
                  <a:rPr lang="en-US" sz="1800">
                    <a:sym typeface="Symbol" pitchFamily="18" charset="2"/>
                  </a:rPr>
                  <a:t>..</a:t>
                </a:r>
                <a:r>
                  <a:rPr lang="en-US" sz="1800" b="1">
                    <a:sym typeface="Symbol" pitchFamily="18" charset="2"/>
                  </a:rPr>
                  <a:t>10</a:t>
                </a:r>
                <a:r>
                  <a:rPr lang="en-US" sz="1800">
                    <a:sym typeface="Symbol" pitchFamily="18" charset="2"/>
                  </a:rPr>
                  <a:t>}</a:t>
                </a:r>
              </a:p>
            </p:txBody>
          </p:sp>
          <p:sp>
            <p:nvSpPr>
              <p:cNvPr id="582724" name="Oval 68"/>
              <p:cNvSpPr>
                <a:spLocks noChangeArrowheads="1"/>
              </p:cNvSpPr>
              <p:nvPr/>
            </p:nvSpPr>
            <p:spPr bwMode="auto">
              <a:xfrm>
                <a:off x="3264" y="2064"/>
                <a:ext cx="1104" cy="624"/>
              </a:xfrm>
              <a:prstGeom prst="ellipse">
                <a:avLst/>
              </a:prstGeom>
              <a:noFill/>
              <a:ln w="12700" algn="ctr">
                <a:solidFill>
                  <a:srgbClr val="CC0000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582725" name="Line 69"/>
            <p:cNvSpPr>
              <a:spLocks noChangeShapeType="1"/>
            </p:cNvSpPr>
            <p:nvPr/>
          </p:nvSpPr>
          <p:spPr bwMode="auto">
            <a:xfrm flipV="1">
              <a:off x="2544" y="1776"/>
              <a:ext cx="528" cy="384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prstDash val="dash"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82726" name="Line 70"/>
            <p:cNvSpPr>
              <a:spLocks noChangeShapeType="1"/>
            </p:cNvSpPr>
            <p:nvPr/>
          </p:nvSpPr>
          <p:spPr bwMode="auto">
            <a:xfrm flipV="1">
              <a:off x="2592" y="2208"/>
              <a:ext cx="1056" cy="144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prstDash val="dash"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5582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270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8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3 </a:t>
            </a:r>
          </a:p>
        </p:txBody>
      </p:sp>
      <p:sp>
        <p:nvSpPr>
          <p:cNvPr id="59085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pPr algn="just"/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gia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60 </a:t>
            </a:r>
            <a:r>
              <a:rPr lang="en-US" dirty="0" err="1"/>
              <a:t>giờ</a:t>
            </a:r>
            <a:r>
              <a:rPr lang="en-US" dirty="0"/>
              <a:t> </a:t>
            </a:r>
            <a:endParaRPr lang="en-US" dirty="0">
              <a:solidFill>
                <a:schemeClr val="tx1"/>
              </a:solidFill>
            </a:endParaRP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Bối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cảnh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lvl="1" algn="just"/>
            <a:endParaRPr lang="en-US" dirty="0" smtClean="0">
              <a:solidFill>
                <a:schemeClr val="tx1"/>
              </a:solidFill>
            </a:endParaRPr>
          </a:p>
          <a:p>
            <a:pPr lvl="1" algn="just"/>
            <a:endParaRPr lang="en-US" dirty="0">
              <a:solidFill>
                <a:schemeClr val="tx1"/>
              </a:solidFill>
            </a:endParaRP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Biểu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diễn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lvl="1" algn="just"/>
            <a:endParaRPr lang="en-US" dirty="0">
              <a:solidFill>
                <a:schemeClr val="tx1"/>
              </a:solidFill>
            </a:endParaRPr>
          </a:p>
          <a:p>
            <a:pPr lvl="1" algn="just"/>
            <a:endParaRPr lang="en-US" dirty="0">
              <a:solidFill>
                <a:schemeClr val="tx1"/>
              </a:solidFill>
            </a:endParaRP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Bảng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tầm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ảnh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hưởng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590852" name="Text Box 4"/>
          <p:cNvSpPr txBox="1">
            <a:spLocks noChangeArrowheads="1"/>
          </p:cNvSpPr>
          <p:nvPr/>
        </p:nvSpPr>
        <p:spPr bwMode="auto">
          <a:xfrm>
            <a:off x="1935707" y="4267200"/>
            <a:ext cx="4724400" cy="3968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000" b="1" dirty="0">
                <a:latin typeface="Arial" charset="0"/>
                <a:sym typeface="Symbol" pitchFamily="18" charset="2"/>
              </a:rPr>
              <a:t></a:t>
            </a:r>
            <a:r>
              <a:rPr lang="en-US" sz="2000" dirty="0">
                <a:latin typeface="Arial" charset="0"/>
                <a:sym typeface="Symbol" pitchFamily="18" charset="2"/>
              </a:rPr>
              <a:t>t </a:t>
            </a:r>
            <a:r>
              <a:rPr lang="en-US" sz="2000" b="1" dirty="0">
                <a:latin typeface="Arial" charset="0"/>
                <a:sym typeface="Symbol" pitchFamily="18" charset="2"/>
              </a:rPr>
              <a:t></a:t>
            </a:r>
            <a:r>
              <a:rPr lang="en-US" sz="2000" dirty="0">
                <a:latin typeface="Arial" charset="0"/>
                <a:sym typeface="Symbol" pitchFamily="18" charset="2"/>
              </a:rPr>
              <a:t> PHANCONG ( </a:t>
            </a:r>
            <a:r>
              <a:rPr lang="en-US" sz="2000" dirty="0" err="1">
                <a:latin typeface="Arial" charset="0"/>
                <a:sym typeface="Symbol" pitchFamily="18" charset="2"/>
              </a:rPr>
              <a:t>t.THOIGIAN</a:t>
            </a:r>
            <a:r>
              <a:rPr lang="en-US" sz="2000" dirty="0">
                <a:latin typeface="Arial" charset="0"/>
                <a:sym typeface="Symbol" pitchFamily="18" charset="2"/>
              </a:rPr>
              <a:t> </a:t>
            </a:r>
            <a:r>
              <a:rPr lang="en-US" sz="2000" b="1" dirty="0">
                <a:latin typeface="Arial" charset="0"/>
                <a:sym typeface="Symbol" pitchFamily="18" charset="2"/>
              </a:rPr>
              <a:t></a:t>
            </a:r>
            <a:r>
              <a:rPr lang="en-US" sz="2000" dirty="0">
                <a:latin typeface="Arial" charset="0"/>
                <a:sym typeface="Symbol" pitchFamily="18" charset="2"/>
              </a:rPr>
              <a:t> 60 )</a:t>
            </a:r>
          </a:p>
        </p:txBody>
      </p:sp>
      <p:grpSp>
        <p:nvGrpSpPr>
          <p:cNvPr id="590853" name="Group 5"/>
          <p:cNvGrpSpPr>
            <a:grpSpLocks/>
          </p:cNvGrpSpPr>
          <p:nvPr/>
        </p:nvGrpSpPr>
        <p:grpSpPr bwMode="auto">
          <a:xfrm>
            <a:off x="1524000" y="5257800"/>
            <a:ext cx="5257800" cy="1066800"/>
            <a:chOff x="1248" y="3168"/>
            <a:chExt cx="3312" cy="672"/>
          </a:xfrm>
        </p:grpSpPr>
        <p:sp>
          <p:nvSpPr>
            <p:cNvPr id="590854" name="Line 6"/>
            <p:cNvSpPr>
              <a:spLocks noChangeShapeType="1"/>
            </p:cNvSpPr>
            <p:nvPr/>
          </p:nvSpPr>
          <p:spPr bwMode="auto">
            <a:xfrm>
              <a:off x="1248" y="3408"/>
              <a:ext cx="32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0855" name="Text Box 7"/>
            <p:cNvSpPr txBox="1">
              <a:spLocks noChangeArrowheads="1"/>
            </p:cNvSpPr>
            <p:nvPr/>
          </p:nvSpPr>
          <p:spPr bwMode="auto">
            <a:xfrm>
              <a:off x="1440" y="3177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R</a:t>
              </a:r>
              <a:r>
                <a:rPr lang="en-US" sz="1400"/>
                <a:t>3</a:t>
              </a:r>
            </a:p>
          </p:txBody>
        </p:sp>
        <p:sp>
          <p:nvSpPr>
            <p:cNvPr id="590856" name="Text Box 8"/>
            <p:cNvSpPr txBox="1">
              <a:spLocks noChangeArrowheads="1"/>
            </p:cNvSpPr>
            <p:nvPr/>
          </p:nvSpPr>
          <p:spPr bwMode="auto">
            <a:xfrm>
              <a:off x="1248" y="3436"/>
              <a:ext cx="912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PHANCONG</a:t>
              </a:r>
            </a:p>
          </p:txBody>
        </p:sp>
        <p:grpSp>
          <p:nvGrpSpPr>
            <p:cNvPr id="590857" name="Group 9"/>
            <p:cNvGrpSpPr>
              <a:grpSpLocks/>
            </p:cNvGrpSpPr>
            <p:nvPr/>
          </p:nvGrpSpPr>
          <p:grpSpPr bwMode="auto">
            <a:xfrm>
              <a:off x="2160" y="3168"/>
              <a:ext cx="1488" cy="576"/>
              <a:chOff x="2160" y="3168"/>
              <a:chExt cx="1488" cy="624"/>
            </a:xfrm>
          </p:grpSpPr>
          <p:sp>
            <p:nvSpPr>
              <p:cNvPr id="590858" name="Line 10"/>
              <p:cNvSpPr>
                <a:spLocks noChangeShapeType="1"/>
              </p:cNvSpPr>
              <p:nvPr/>
            </p:nvSpPr>
            <p:spPr bwMode="auto">
              <a:xfrm>
                <a:off x="216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90859" name="Line 11"/>
              <p:cNvSpPr>
                <a:spLocks noChangeShapeType="1"/>
              </p:cNvSpPr>
              <p:nvPr/>
            </p:nvSpPr>
            <p:spPr bwMode="auto">
              <a:xfrm>
                <a:off x="288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90860" name="Line 12"/>
              <p:cNvSpPr>
                <a:spLocks noChangeShapeType="1"/>
              </p:cNvSpPr>
              <p:nvPr/>
            </p:nvSpPr>
            <p:spPr bwMode="auto">
              <a:xfrm>
                <a:off x="3648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590861" name="Text Box 13"/>
            <p:cNvSpPr txBox="1">
              <a:spLocks noChangeArrowheads="1"/>
            </p:cNvSpPr>
            <p:nvPr/>
          </p:nvSpPr>
          <p:spPr bwMode="auto">
            <a:xfrm>
              <a:off x="2160" y="3168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Thêm</a:t>
              </a:r>
            </a:p>
          </p:txBody>
        </p:sp>
        <p:sp>
          <p:nvSpPr>
            <p:cNvPr id="590862" name="Text Box 14"/>
            <p:cNvSpPr txBox="1">
              <a:spLocks noChangeArrowheads="1"/>
            </p:cNvSpPr>
            <p:nvPr/>
          </p:nvSpPr>
          <p:spPr bwMode="auto">
            <a:xfrm>
              <a:off x="2928" y="3168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Xóa</a:t>
              </a:r>
            </a:p>
          </p:txBody>
        </p:sp>
        <p:sp>
          <p:nvSpPr>
            <p:cNvPr id="590863" name="Text Box 15"/>
            <p:cNvSpPr txBox="1">
              <a:spLocks noChangeArrowheads="1"/>
            </p:cNvSpPr>
            <p:nvPr/>
          </p:nvSpPr>
          <p:spPr bwMode="auto">
            <a:xfrm>
              <a:off x="3648" y="3168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Sửa</a:t>
              </a:r>
            </a:p>
          </p:txBody>
        </p:sp>
        <p:sp>
          <p:nvSpPr>
            <p:cNvPr id="590864" name="Text Box 16"/>
            <p:cNvSpPr txBox="1">
              <a:spLocks noChangeArrowheads="1"/>
            </p:cNvSpPr>
            <p:nvPr/>
          </p:nvSpPr>
          <p:spPr bwMode="auto">
            <a:xfrm>
              <a:off x="2160" y="3445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ym typeface="Symbol" pitchFamily="18" charset="2"/>
                </a:rPr>
                <a:t></a:t>
              </a:r>
            </a:p>
          </p:txBody>
        </p:sp>
        <p:sp>
          <p:nvSpPr>
            <p:cNvPr id="590865" name="Text Box 17"/>
            <p:cNvSpPr txBox="1">
              <a:spLocks noChangeArrowheads="1"/>
            </p:cNvSpPr>
            <p:nvPr/>
          </p:nvSpPr>
          <p:spPr bwMode="auto">
            <a:xfrm>
              <a:off x="2880" y="3436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ym typeface="Symbol" pitchFamily="18" charset="2"/>
                </a:rPr>
                <a:t></a:t>
              </a:r>
            </a:p>
          </p:txBody>
        </p:sp>
        <p:sp>
          <p:nvSpPr>
            <p:cNvPr id="590866" name="Text Box 18"/>
            <p:cNvSpPr txBox="1">
              <a:spLocks noChangeArrowheads="1"/>
            </p:cNvSpPr>
            <p:nvPr/>
          </p:nvSpPr>
          <p:spPr bwMode="auto">
            <a:xfrm>
              <a:off x="3648" y="3436"/>
              <a:ext cx="912" cy="404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ym typeface="Symbol" pitchFamily="18" charset="2"/>
                </a:rPr>
                <a:t></a:t>
              </a:r>
              <a:r>
                <a:rPr lang="en-US" sz="1800"/>
                <a:t> (THOIGIAN)</a:t>
              </a:r>
            </a:p>
          </p:txBody>
        </p:sp>
      </p:grpSp>
      <p:sp>
        <p:nvSpPr>
          <p:cNvPr id="590869" name="Text Box 21"/>
          <p:cNvSpPr txBox="1">
            <a:spLocks noChangeArrowheads="1"/>
          </p:cNvSpPr>
          <p:nvPr/>
        </p:nvSpPr>
        <p:spPr bwMode="auto">
          <a:xfrm>
            <a:off x="1935707" y="2992319"/>
            <a:ext cx="1828800" cy="3968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000" dirty="0">
                <a:latin typeface="Arial" charset="0"/>
                <a:sym typeface="Symbol" pitchFamily="18" charset="2"/>
              </a:rPr>
              <a:t>PHANCONG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043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90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90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90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0852" grpId="0"/>
      <p:bldP spid="59086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8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4 </a:t>
            </a:r>
          </a:p>
        </p:txBody>
      </p:sp>
      <p:sp>
        <p:nvSpPr>
          <p:cNvPr id="59289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‘Nam’ </a:t>
            </a:r>
            <a:r>
              <a:rPr lang="en-US" dirty="0" err="1"/>
              <a:t>hoặc</a:t>
            </a:r>
            <a:r>
              <a:rPr lang="en-US" dirty="0"/>
              <a:t> ‘Nu</a:t>
            </a:r>
            <a:r>
              <a:rPr lang="en-US" dirty="0" smtClean="0"/>
              <a:t>’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Bối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cảnh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endParaRPr lang="en-US" dirty="0" smtClean="0">
              <a:solidFill>
                <a:schemeClr val="tx1"/>
              </a:solidFill>
            </a:endParaRPr>
          </a:p>
          <a:p>
            <a:pPr lvl="1"/>
            <a:r>
              <a:rPr lang="en-US" dirty="0" err="1" smtClean="0">
                <a:solidFill>
                  <a:schemeClr val="tx1"/>
                </a:solidFill>
              </a:rPr>
              <a:t>Biểu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diễn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marL="274320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274320" lvl="1" indent="0"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 lvl="1"/>
            <a:r>
              <a:rPr lang="en-US" dirty="0" err="1" smtClean="0">
                <a:solidFill>
                  <a:schemeClr val="tx1"/>
                </a:solidFill>
              </a:rPr>
              <a:t>Bảng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tầm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ảnh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hưởng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592900" name="Text Box 4"/>
          <p:cNvSpPr txBox="1">
            <a:spLocks noChangeArrowheads="1"/>
          </p:cNvSpPr>
          <p:nvPr/>
        </p:nvSpPr>
        <p:spPr bwMode="auto">
          <a:xfrm>
            <a:off x="2209800" y="3565525"/>
            <a:ext cx="5181600" cy="3968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000" b="1" dirty="0">
                <a:latin typeface="Arial" charset="0"/>
                <a:sym typeface="Symbol" pitchFamily="18" charset="2"/>
              </a:rPr>
              <a:t></a:t>
            </a:r>
            <a:r>
              <a:rPr lang="en-US" sz="2000" dirty="0">
                <a:latin typeface="Arial" charset="0"/>
                <a:sym typeface="Symbol" pitchFamily="18" charset="2"/>
              </a:rPr>
              <a:t>t </a:t>
            </a:r>
            <a:r>
              <a:rPr lang="en-US" sz="2000" b="1" dirty="0">
                <a:latin typeface="Arial" charset="0"/>
                <a:sym typeface="Symbol" pitchFamily="18" charset="2"/>
              </a:rPr>
              <a:t></a:t>
            </a:r>
            <a:r>
              <a:rPr lang="en-US" sz="2000" dirty="0">
                <a:latin typeface="Arial" charset="0"/>
                <a:sym typeface="Symbol" pitchFamily="18" charset="2"/>
              </a:rPr>
              <a:t> NHANVIEN ( </a:t>
            </a:r>
            <a:r>
              <a:rPr lang="en-US" sz="2000" dirty="0" err="1">
                <a:latin typeface="Arial" charset="0"/>
                <a:sym typeface="Symbol" pitchFamily="18" charset="2"/>
              </a:rPr>
              <a:t>t.PHAI</a:t>
            </a:r>
            <a:r>
              <a:rPr lang="en-US" sz="2000" dirty="0">
                <a:latin typeface="Arial" charset="0"/>
                <a:sym typeface="Symbol" pitchFamily="18" charset="2"/>
              </a:rPr>
              <a:t> </a:t>
            </a:r>
            <a:r>
              <a:rPr lang="en-US" sz="2000" b="1" dirty="0">
                <a:latin typeface="Arial" charset="0"/>
                <a:sym typeface="Symbol" pitchFamily="18" charset="2"/>
              </a:rPr>
              <a:t></a:t>
            </a:r>
            <a:r>
              <a:rPr lang="en-US" sz="2000" dirty="0">
                <a:latin typeface="Arial" charset="0"/>
                <a:sym typeface="Symbol" pitchFamily="18" charset="2"/>
              </a:rPr>
              <a:t> {‘Nam’, ‘Nu’} )</a:t>
            </a:r>
          </a:p>
        </p:txBody>
      </p:sp>
      <p:grpSp>
        <p:nvGrpSpPr>
          <p:cNvPr id="592901" name="Group 5"/>
          <p:cNvGrpSpPr>
            <a:grpSpLocks/>
          </p:cNvGrpSpPr>
          <p:nvPr/>
        </p:nvGrpSpPr>
        <p:grpSpPr bwMode="auto">
          <a:xfrm>
            <a:off x="1524000" y="5257800"/>
            <a:ext cx="5257800" cy="914400"/>
            <a:chOff x="1248" y="3168"/>
            <a:chExt cx="3312" cy="576"/>
          </a:xfrm>
        </p:grpSpPr>
        <p:sp>
          <p:nvSpPr>
            <p:cNvPr id="592902" name="Line 6"/>
            <p:cNvSpPr>
              <a:spLocks noChangeShapeType="1"/>
            </p:cNvSpPr>
            <p:nvPr/>
          </p:nvSpPr>
          <p:spPr bwMode="auto">
            <a:xfrm>
              <a:off x="1248" y="3408"/>
              <a:ext cx="32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2903" name="Text Box 7"/>
            <p:cNvSpPr txBox="1">
              <a:spLocks noChangeArrowheads="1"/>
            </p:cNvSpPr>
            <p:nvPr/>
          </p:nvSpPr>
          <p:spPr bwMode="auto">
            <a:xfrm>
              <a:off x="1440" y="3177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R</a:t>
              </a:r>
              <a:r>
                <a:rPr lang="en-US" sz="1400"/>
                <a:t>4</a:t>
              </a:r>
            </a:p>
          </p:txBody>
        </p:sp>
        <p:sp>
          <p:nvSpPr>
            <p:cNvPr id="592904" name="Text Box 8"/>
            <p:cNvSpPr txBox="1">
              <a:spLocks noChangeArrowheads="1"/>
            </p:cNvSpPr>
            <p:nvPr/>
          </p:nvSpPr>
          <p:spPr bwMode="auto">
            <a:xfrm>
              <a:off x="1248" y="3436"/>
              <a:ext cx="912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NHANVIEN</a:t>
              </a:r>
            </a:p>
          </p:txBody>
        </p:sp>
        <p:grpSp>
          <p:nvGrpSpPr>
            <p:cNvPr id="592905" name="Group 9"/>
            <p:cNvGrpSpPr>
              <a:grpSpLocks/>
            </p:cNvGrpSpPr>
            <p:nvPr/>
          </p:nvGrpSpPr>
          <p:grpSpPr bwMode="auto">
            <a:xfrm>
              <a:off x="2160" y="3168"/>
              <a:ext cx="1488" cy="576"/>
              <a:chOff x="2160" y="3168"/>
              <a:chExt cx="1488" cy="624"/>
            </a:xfrm>
          </p:grpSpPr>
          <p:sp>
            <p:nvSpPr>
              <p:cNvPr id="592906" name="Line 10"/>
              <p:cNvSpPr>
                <a:spLocks noChangeShapeType="1"/>
              </p:cNvSpPr>
              <p:nvPr/>
            </p:nvSpPr>
            <p:spPr bwMode="auto">
              <a:xfrm>
                <a:off x="216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92907" name="Line 11"/>
              <p:cNvSpPr>
                <a:spLocks noChangeShapeType="1"/>
              </p:cNvSpPr>
              <p:nvPr/>
            </p:nvSpPr>
            <p:spPr bwMode="auto">
              <a:xfrm>
                <a:off x="288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92908" name="Line 12"/>
              <p:cNvSpPr>
                <a:spLocks noChangeShapeType="1"/>
              </p:cNvSpPr>
              <p:nvPr/>
            </p:nvSpPr>
            <p:spPr bwMode="auto">
              <a:xfrm>
                <a:off x="3648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592909" name="Text Box 13"/>
            <p:cNvSpPr txBox="1">
              <a:spLocks noChangeArrowheads="1"/>
            </p:cNvSpPr>
            <p:nvPr/>
          </p:nvSpPr>
          <p:spPr bwMode="auto">
            <a:xfrm>
              <a:off x="2160" y="3168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Thêm</a:t>
              </a:r>
            </a:p>
          </p:txBody>
        </p:sp>
        <p:sp>
          <p:nvSpPr>
            <p:cNvPr id="592910" name="Text Box 14"/>
            <p:cNvSpPr txBox="1">
              <a:spLocks noChangeArrowheads="1"/>
            </p:cNvSpPr>
            <p:nvPr/>
          </p:nvSpPr>
          <p:spPr bwMode="auto">
            <a:xfrm>
              <a:off x="2928" y="3168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Xóa</a:t>
              </a:r>
            </a:p>
          </p:txBody>
        </p:sp>
        <p:sp>
          <p:nvSpPr>
            <p:cNvPr id="592911" name="Text Box 15"/>
            <p:cNvSpPr txBox="1">
              <a:spLocks noChangeArrowheads="1"/>
            </p:cNvSpPr>
            <p:nvPr/>
          </p:nvSpPr>
          <p:spPr bwMode="auto">
            <a:xfrm>
              <a:off x="3648" y="3168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Sửa</a:t>
              </a:r>
            </a:p>
          </p:txBody>
        </p:sp>
        <p:sp>
          <p:nvSpPr>
            <p:cNvPr id="592912" name="Text Box 16"/>
            <p:cNvSpPr txBox="1">
              <a:spLocks noChangeArrowheads="1"/>
            </p:cNvSpPr>
            <p:nvPr/>
          </p:nvSpPr>
          <p:spPr bwMode="auto">
            <a:xfrm>
              <a:off x="2160" y="3445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ym typeface="Symbol" pitchFamily="18" charset="2"/>
                </a:rPr>
                <a:t></a:t>
              </a:r>
            </a:p>
          </p:txBody>
        </p:sp>
        <p:sp>
          <p:nvSpPr>
            <p:cNvPr id="592913" name="Text Box 17"/>
            <p:cNvSpPr txBox="1">
              <a:spLocks noChangeArrowheads="1"/>
            </p:cNvSpPr>
            <p:nvPr/>
          </p:nvSpPr>
          <p:spPr bwMode="auto">
            <a:xfrm>
              <a:off x="2880" y="3436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ym typeface="Symbol" pitchFamily="18" charset="2"/>
                </a:rPr>
                <a:t></a:t>
              </a:r>
            </a:p>
          </p:txBody>
        </p:sp>
        <p:sp>
          <p:nvSpPr>
            <p:cNvPr id="592914" name="Text Box 18"/>
            <p:cNvSpPr txBox="1">
              <a:spLocks noChangeArrowheads="1"/>
            </p:cNvSpPr>
            <p:nvPr/>
          </p:nvSpPr>
          <p:spPr bwMode="auto">
            <a:xfrm>
              <a:off x="3648" y="3436"/>
              <a:ext cx="912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ym typeface="Symbol" pitchFamily="18" charset="2"/>
                </a:rPr>
                <a:t></a:t>
              </a:r>
              <a:r>
                <a:rPr lang="en-US" sz="1800"/>
                <a:t> (PHAI)</a:t>
              </a:r>
            </a:p>
          </p:txBody>
        </p:sp>
      </p:grpSp>
      <p:sp>
        <p:nvSpPr>
          <p:cNvPr id="592915" name="Text Box 19"/>
          <p:cNvSpPr txBox="1">
            <a:spLocks noChangeArrowheads="1"/>
          </p:cNvSpPr>
          <p:nvPr/>
        </p:nvSpPr>
        <p:spPr bwMode="auto">
          <a:xfrm>
            <a:off x="2209800" y="4175125"/>
            <a:ext cx="3886200" cy="3968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000">
                <a:latin typeface="Arial" charset="0"/>
                <a:sym typeface="Symbol" pitchFamily="18" charset="2"/>
              </a:rPr>
              <a:t>DOM(PHAI) </a:t>
            </a:r>
            <a:r>
              <a:rPr lang="en-US" sz="2000" b="1">
                <a:latin typeface="Arial" charset="0"/>
                <a:sym typeface="Symbol" pitchFamily="18" charset="2"/>
              </a:rPr>
              <a:t></a:t>
            </a:r>
            <a:r>
              <a:rPr lang="en-US" sz="2000">
                <a:latin typeface="Arial" charset="0"/>
                <a:sym typeface="Symbol" pitchFamily="18" charset="2"/>
              </a:rPr>
              <a:t> {‘Nam’, ‘Nu’}</a:t>
            </a:r>
          </a:p>
        </p:txBody>
      </p:sp>
      <p:sp>
        <p:nvSpPr>
          <p:cNvPr id="592916" name="Text Box 20"/>
          <p:cNvSpPr txBox="1">
            <a:spLocks noChangeArrowheads="1"/>
          </p:cNvSpPr>
          <p:nvPr/>
        </p:nvSpPr>
        <p:spPr bwMode="auto">
          <a:xfrm>
            <a:off x="1447800" y="3886200"/>
            <a:ext cx="762000" cy="3667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800"/>
              <a:t>hay</a:t>
            </a:r>
          </a:p>
        </p:txBody>
      </p:sp>
      <p:sp>
        <p:nvSpPr>
          <p:cNvPr id="592917" name="Text Box 21"/>
          <p:cNvSpPr txBox="1">
            <a:spLocks noChangeArrowheads="1"/>
          </p:cNvSpPr>
          <p:nvPr/>
        </p:nvSpPr>
        <p:spPr bwMode="auto">
          <a:xfrm>
            <a:off x="2209800" y="2619185"/>
            <a:ext cx="1524000" cy="3968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000" dirty="0">
                <a:latin typeface="Arial" charset="0"/>
                <a:sym typeface="Symbol" pitchFamily="18" charset="2"/>
              </a:rPr>
              <a:t>NHANVIEN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471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92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92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92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92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92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2900" grpId="0"/>
      <p:bldP spid="592915" grpId="0"/>
      <p:bldP spid="592916" grpId="0"/>
      <p:bldP spid="5929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7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smtClean="0"/>
              <a:t>3.1.2. RBTV </a:t>
            </a:r>
            <a:r>
              <a:rPr lang="en-US" sz="3500" b="1" dirty="0"/>
              <a:t>- </a:t>
            </a:r>
            <a:r>
              <a:rPr lang="en-US" sz="3500" b="1" dirty="0" err="1"/>
              <a:t>Liên</a:t>
            </a:r>
            <a:r>
              <a:rPr lang="en-US" sz="3500" b="1" dirty="0"/>
              <a:t> </a:t>
            </a:r>
            <a:r>
              <a:rPr lang="en-US" sz="3500" b="1" dirty="0" err="1"/>
              <a:t>bộ</a:t>
            </a:r>
            <a:endParaRPr lang="en-US" sz="3500" b="1" dirty="0"/>
          </a:p>
        </p:txBody>
      </p:sp>
      <p:sp>
        <p:nvSpPr>
          <p:cNvPr id="58470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0"/>
            <a:ext cx="8229600" cy="4648200"/>
          </a:xfrm>
        </p:spPr>
        <p:txBody>
          <a:bodyPr/>
          <a:lstStyle/>
          <a:p>
            <a:pPr algn="just"/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tồn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hay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tồn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hay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hệ</a:t>
            </a:r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biệt</a:t>
            </a:r>
            <a:endParaRPr lang="en-US" dirty="0"/>
          </a:p>
          <a:p>
            <a:pPr lvl="1" algn="just"/>
            <a:r>
              <a:rPr lang="en-US" dirty="0">
                <a:solidFill>
                  <a:schemeClr val="tx1"/>
                </a:solidFill>
              </a:rPr>
              <a:t>RB </a:t>
            </a:r>
            <a:r>
              <a:rPr lang="en-US" dirty="0" err="1">
                <a:solidFill>
                  <a:schemeClr val="tx1"/>
                </a:solidFill>
              </a:rPr>
              <a:t>khóa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chính</a:t>
            </a:r>
            <a:endParaRPr lang="en-US" dirty="0">
              <a:solidFill>
                <a:schemeClr val="tx1"/>
              </a:solidFill>
            </a:endParaRPr>
          </a:p>
          <a:p>
            <a:pPr lvl="1" algn="just"/>
            <a:r>
              <a:rPr lang="en-US" dirty="0">
                <a:solidFill>
                  <a:schemeClr val="tx1"/>
                </a:solidFill>
              </a:rPr>
              <a:t>RB </a:t>
            </a:r>
            <a:r>
              <a:rPr lang="en-US" dirty="0" err="1">
                <a:solidFill>
                  <a:schemeClr val="tx1"/>
                </a:solidFill>
              </a:rPr>
              <a:t>duy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nhất</a:t>
            </a:r>
            <a:r>
              <a:rPr lang="en-US" dirty="0">
                <a:solidFill>
                  <a:schemeClr val="tx1"/>
                </a:solidFill>
              </a:rPr>
              <a:t> (unique)</a:t>
            </a:r>
          </a:p>
        </p:txBody>
      </p:sp>
      <p:grpSp>
        <p:nvGrpSpPr>
          <p:cNvPr id="584747" name="Group 43"/>
          <p:cNvGrpSpPr>
            <a:grpSpLocks/>
          </p:cNvGrpSpPr>
          <p:nvPr/>
        </p:nvGrpSpPr>
        <p:grpSpPr bwMode="auto">
          <a:xfrm>
            <a:off x="2743200" y="3200400"/>
            <a:ext cx="2209800" cy="1219200"/>
            <a:chOff x="1728" y="2016"/>
            <a:chExt cx="1392" cy="768"/>
          </a:xfrm>
        </p:grpSpPr>
        <p:sp>
          <p:nvSpPr>
            <p:cNvPr id="584740" name="Rectangle 36"/>
            <p:cNvSpPr>
              <a:spLocks noChangeArrowheads="1"/>
            </p:cNvSpPr>
            <p:nvPr/>
          </p:nvSpPr>
          <p:spPr bwMode="auto">
            <a:xfrm>
              <a:off x="1968" y="2400"/>
              <a:ext cx="1152" cy="384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84739" name="Rectangle 35"/>
            <p:cNvSpPr>
              <a:spLocks noChangeArrowheads="1"/>
            </p:cNvSpPr>
            <p:nvPr/>
          </p:nvSpPr>
          <p:spPr bwMode="auto">
            <a:xfrm>
              <a:off x="1968" y="2016"/>
              <a:ext cx="1152" cy="192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pSp>
          <p:nvGrpSpPr>
            <p:cNvPr id="584746" name="Group 42"/>
            <p:cNvGrpSpPr>
              <a:grpSpLocks/>
            </p:cNvGrpSpPr>
            <p:nvPr/>
          </p:nvGrpSpPr>
          <p:grpSpPr bwMode="auto">
            <a:xfrm>
              <a:off x="1728" y="2112"/>
              <a:ext cx="336" cy="480"/>
              <a:chOff x="1728" y="2112"/>
              <a:chExt cx="336" cy="480"/>
            </a:xfrm>
          </p:grpSpPr>
          <p:sp>
            <p:nvSpPr>
              <p:cNvPr id="584741" name="Line 37"/>
              <p:cNvSpPr>
                <a:spLocks noChangeShapeType="1"/>
              </p:cNvSpPr>
              <p:nvPr/>
            </p:nvSpPr>
            <p:spPr bwMode="auto">
              <a:xfrm flipH="1">
                <a:off x="1728" y="2112"/>
                <a:ext cx="28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84742" name="Line 38"/>
              <p:cNvSpPr>
                <a:spLocks noChangeShapeType="1"/>
              </p:cNvSpPr>
              <p:nvPr/>
            </p:nvSpPr>
            <p:spPr bwMode="auto">
              <a:xfrm>
                <a:off x="1728" y="2112"/>
                <a:ext cx="0" cy="4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84743" name="Line 39"/>
              <p:cNvSpPr>
                <a:spLocks noChangeShapeType="1"/>
              </p:cNvSpPr>
              <p:nvPr/>
            </p:nvSpPr>
            <p:spPr bwMode="auto">
              <a:xfrm>
                <a:off x="1728" y="2592"/>
                <a:ext cx="3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584708" name="Group 4"/>
          <p:cNvGrpSpPr>
            <a:grpSpLocks/>
          </p:cNvGrpSpPr>
          <p:nvPr/>
        </p:nvGrpSpPr>
        <p:grpSpPr bwMode="auto">
          <a:xfrm>
            <a:off x="2971800" y="2590800"/>
            <a:ext cx="2362200" cy="1676400"/>
            <a:chOff x="624" y="1392"/>
            <a:chExt cx="1488" cy="1056"/>
          </a:xfrm>
        </p:grpSpPr>
        <p:sp>
          <p:nvSpPr>
            <p:cNvPr id="584709" name="Line 5"/>
            <p:cNvSpPr>
              <a:spLocks noChangeShapeType="1"/>
            </p:cNvSpPr>
            <p:nvPr/>
          </p:nvSpPr>
          <p:spPr bwMode="auto">
            <a:xfrm>
              <a:off x="624" y="1584"/>
              <a:ext cx="14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84710" name="Text Box 6"/>
            <p:cNvSpPr txBox="1">
              <a:spLocks noChangeArrowheads="1"/>
            </p:cNvSpPr>
            <p:nvPr/>
          </p:nvSpPr>
          <p:spPr bwMode="auto">
            <a:xfrm>
              <a:off x="960" y="139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A</a:t>
              </a:r>
            </a:p>
          </p:txBody>
        </p:sp>
        <p:sp>
          <p:nvSpPr>
            <p:cNvPr id="584711" name="Text Box 7"/>
            <p:cNvSpPr txBox="1">
              <a:spLocks noChangeArrowheads="1"/>
            </p:cNvSpPr>
            <p:nvPr/>
          </p:nvSpPr>
          <p:spPr bwMode="auto">
            <a:xfrm>
              <a:off x="1248" y="139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B</a:t>
              </a:r>
            </a:p>
          </p:txBody>
        </p:sp>
        <p:sp>
          <p:nvSpPr>
            <p:cNvPr id="584712" name="Text Box 8"/>
            <p:cNvSpPr txBox="1">
              <a:spLocks noChangeArrowheads="1"/>
            </p:cNvSpPr>
            <p:nvPr/>
          </p:nvSpPr>
          <p:spPr bwMode="auto">
            <a:xfrm>
              <a:off x="960" y="163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</a:t>
              </a:r>
            </a:p>
          </p:txBody>
        </p:sp>
        <p:sp>
          <p:nvSpPr>
            <p:cNvPr id="584713" name="Line 9"/>
            <p:cNvSpPr>
              <a:spLocks noChangeShapeType="1"/>
            </p:cNvSpPr>
            <p:nvPr/>
          </p:nvSpPr>
          <p:spPr bwMode="auto">
            <a:xfrm>
              <a:off x="624" y="1392"/>
              <a:ext cx="14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84714" name="Line 10"/>
            <p:cNvSpPr>
              <a:spLocks noChangeShapeType="1"/>
            </p:cNvSpPr>
            <p:nvPr/>
          </p:nvSpPr>
          <p:spPr bwMode="auto">
            <a:xfrm>
              <a:off x="960" y="2448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84715" name="Text Box 11"/>
            <p:cNvSpPr txBox="1">
              <a:spLocks noChangeArrowheads="1"/>
            </p:cNvSpPr>
            <p:nvPr/>
          </p:nvSpPr>
          <p:spPr bwMode="auto">
            <a:xfrm>
              <a:off x="624" y="1392"/>
              <a:ext cx="336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 b="1"/>
                <a:t>R</a:t>
              </a:r>
            </a:p>
          </p:txBody>
        </p:sp>
        <p:sp>
          <p:nvSpPr>
            <p:cNvPr id="584716" name="Line 12"/>
            <p:cNvSpPr>
              <a:spLocks noChangeShapeType="1"/>
            </p:cNvSpPr>
            <p:nvPr/>
          </p:nvSpPr>
          <p:spPr bwMode="auto">
            <a:xfrm>
              <a:off x="624" y="139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84717" name="Text Box 13"/>
            <p:cNvSpPr txBox="1">
              <a:spLocks noChangeArrowheads="1"/>
            </p:cNvSpPr>
            <p:nvPr/>
          </p:nvSpPr>
          <p:spPr bwMode="auto">
            <a:xfrm>
              <a:off x="960" y="1824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</a:t>
              </a:r>
            </a:p>
          </p:txBody>
        </p:sp>
        <p:sp>
          <p:nvSpPr>
            <p:cNvPr id="584718" name="Text Box 14"/>
            <p:cNvSpPr txBox="1">
              <a:spLocks noChangeArrowheads="1"/>
            </p:cNvSpPr>
            <p:nvPr/>
          </p:nvSpPr>
          <p:spPr bwMode="auto">
            <a:xfrm>
              <a:off x="960" y="2016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</a:t>
              </a:r>
            </a:p>
          </p:txBody>
        </p:sp>
        <p:sp>
          <p:nvSpPr>
            <p:cNvPr id="584719" name="Line 15"/>
            <p:cNvSpPr>
              <a:spLocks noChangeShapeType="1"/>
            </p:cNvSpPr>
            <p:nvPr/>
          </p:nvSpPr>
          <p:spPr bwMode="auto">
            <a:xfrm>
              <a:off x="1248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84720" name="Line 16"/>
            <p:cNvSpPr>
              <a:spLocks noChangeShapeType="1"/>
            </p:cNvSpPr>
            <p:nvPr/>
          </p:nvSpPr>
          <p:spPr bwMode="auto">
            <a:xfrm>
              <a:off x="960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84721" name="Line 17"/>
            <p:cNvSpPr>
              <a:spLocks noChangeShapeType="1"/>
            </p:cNvSpPr>
            <p:nvPr/>
          </p:nvSpPr>
          <p:spPr bwMode="auto">
            <a:xfrm>
              <a:off x="1536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84722" name="Text Box 18"/>
            <p:cNvSpPr txBox="1">
              <a:spLocks noChangeArrowheads="1"/>
            </p:cNvSpPr>
            <p:nvPr/>
          </p:nvSpPr>
          <p:spPr bwMode="auto">
            <a:xfrm>
              <a:off x="1536" y="139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C</a:t>
              </a:r>
            </a:p>
          </p:txBody>
        </p:sp>
        <p:sp>
          <p:nvSpPr>
            <p:cNvPr id="584723" name="Text Box 19"/>
            <p:cNvSpPr txBox="1">
              <a:spLocks noChangeArrowheads="1"/>
            </p:cNvSpPr>
            <p:nvPr/>
          </p:nvSpPr>
          <p:spPr bwMode="auto">
            <a:xfrm>
              <a:off x="1536" y="163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1</a:t>
              </a:r>
            </a:p>
          </p:txBody>
        </p:sp>
        <p:sp>
          <p:nvSpPr>
            <p:cNvPr id="584724" name="Text Box 20"/>
            <p:cNvSpPr txBox="1">
              <a:spLocks noChangeArrowheads="1"/>
            </p:cNvSpPr>
            <p:nvPr/>
          </p:nvSpPr>
          <p:spPr bwMode="auto">
            <a:xfrm>
              <a:off x="1536" y="1824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5</a:t>
              </a:r>
            </a:p>
          </p:txBody>
        </p:sp>
        <p:sp>
          <p:nvSpPr>
            <p:cNvPr id="584725" name="Text Box 21"/>
            <p:cNvSpPr txBox="1">
              <a:spLocks noChangeArrowheads="1"/>
            </p:cNvSpPr>
            <p:nvPr/>
          </p:nvSpPr>
          <p:spPr bwMode="auto">
            <a:xfrm>
              <a:off x="1536" y="2016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12</a:t>
              </a:r>
            </a:p>
          </p:txBody>
        </p:sp>
        <p:sp>
          <p:nvSpPr>
            <p:cNvPr id="584726" name="Line 22"/>
            <p:cNvSpPr>
              <a:spLocks noChangeShapeType="1"/>
            </p:cNvSpPr>
            <p:nvPr/>
          </p:nvSpPr>
          <p:spPr bwMode="auto">
            <a:xfrm>
              <a:off x="1824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84727" name="Text Box 23"/>
            <p:cNvSpPr txBox="1">
              <a:spLocks noChangeArrowheads="1"/>
            </p:cNvSpPr>
            <p:nvPr/>
          </p:nvSpPr>
          <p:spPr bwMode="auto">
            <a:xfrm>
              <a:off x="960" y="2208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</a:t>
              </a:r>
            </a:p>
          </p:txBody>
        </p:sp>
        <p:sp>
          <p:nvSpPr>
            <p:cNvPr id="584728" name="Text Box 24"/>
            <p:cNvSpPr txBox="1">
              <a:spLocks noChangeArrowheads="1"/>
            </p:cNvSpPr>
            <p:nvPr/>
          </p:nvSpPr>
          <p:spPr bwMode="auto">
            <a:xfrm>
              <a:off x="1536" y="2208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23</a:t>
              </a:r>
            </a:p>
          </p:txBody>
        </p:sp>
        <p:sp>
          <p:nvSpPr>
            <p:cNvPr id="584729" name="Text Box 25"/>
            <p:cNvSpPr txBox="1">
              <a:spLocks noChangeArrowheads="1"/>
            </p:cNvSpPr>
            <p:nvPr/>
          </p:nvSpPr>
          <p:spPr bwMode="auto">
            <a:xfrm>
              <a:off x="1824" y="139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D</a:t>
              </a:r>
            </a:p>
          </p:txBody>
        </p:sp>
        <p:sp>
          <p:nvSpPr>
            <p:cNvPr id="584730" name="Text Box 26"/>
            <p:cNvSpPr txBox="1">
              <a:spLocks noChangeArrowheads="1"/>
            </p:cNvSpPr>
            <p:nvPr/>
          </p:nvSpPr>
          <p:spPr bwMode="auto">
            <a:xfrm>
              <a:off x="1824" y="163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1</a:t>
              </a:r>
            </a:p>
          </p:txBody>
        </p:sp>
        <p:sp>
          <p:nvSpPr>
            <p:cNvPr id="584731" name="Text Box 27"/>
            <p:cNvSpPr txBox="1">
              <a:spLocks noChangeArrowheads="1"/>
            </p:cNvSpPr>
            <p:nvPr/>
          </p:nvSpPr>
          <p:spPr bwMode="auto">
            <a:xfrm>
              <a:off x="1824" y="1824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7</a:t>
              </a:r>
            </a:p>
          </p:txBody>
        </p:sp>
        <p:sp>
          <p:nvSpPr>
            <p:cNvPr id="584732" name="Text Box 28"/>
            <p:cNvSpPr txBox="1">
              <a:spLocks noChangeArrowheads="1"/>
            </p:cNvSpPr>
            <p:nvPr/>
          </p:nvSpPr>
          <p:spPr bwMode="auto">
            <a:xfrm>
              <a:off x="1824" y="2016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3</a:t>
              </a:r>
            </a:p>
          </p:txBody>
        </p:sp>
        <p:sp>
          <p:nvSpPr>
            <p:cNvPr id="584733" name="Text Box 29"/>
            <p:cNvSpPr txBox="1">
              <a:spLocks noChangeArrowheads="1"/>
            </p:cNvSpPr>
            <p:nvPr/>
          </p:nvSpPr>
          <p:spPr bwMode="auto">
            <a:xfrm>
              <a:off x="1824" y="2208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9</a:t>
              </a:r>
            </a:p>
          </p:txBody>
        </p:sp>
        <p:sp>
          <p:nvSpPr>
            <p:cNvPr id="584734" name="Text Box 30"/>
            <p:cNvSpPr txBox="1">
              <a:spLocks noChangeArrowheads="1"/>
            </p:cNvSpPr>
            <p:nvPr/>
          </p:nvSpPr>
          <p:spPr bwMode="auto">
            <a:xfrm>
              <a:off x="1248" y="163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</a:t>
              </a:r>
            </a:p>
          </p:txBody>
        </p:sp>
        <p:sp>
          <p:nvSpPr>
            <p:cNvPr id="584735" name="Text Box 31"/>
            <p:cNvSpPr txBox="1">
              <a:spLocks noChangeArrowheads="1"/>
            </p:cNvSpPr>
            <p:nvPr/>
          </p:nvSpPr>
          <p:spPr bwMode="auto">
            <a:xfrm>
              <a:off x="1248" y="1824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</a:t>
              </a:r>
            </a:p>
          </p:txBody>
        </p:sp>
        <p:sp>
          <p:nvSpPr>
            <p:cNvPr id="584736" name="Text Box 32"/>
            <p:cNvSpPr txBox="1">
              <a:spLocks noChangeArrowheads="1"/>
            </p:cNvSpPr>
            <p:nvPr/>
          </p:nvSpPr>
          <p:spPr bwMode="auto">
            <a:xfrm>
              <a:off x="1248" y="2016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</a:t>
              </a:r>
            </a:p>
          </p:txBody>
        </p:sp>
        <p:sp>
          <p:nvSpPr>
            <p:cNvPr id="584737" name="Text Box 33"/>
            <p:cNvSpPr txBox="1">
              <a:spLocks noChangeArrowheads="1"/>
            </p:cNvSpPr>
            <p:nvPr/>
          </p:nvSpPr>
          <p:spPr bwMode="auto">
            <a:xfrm>
              <a:off x="1248" y="2208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</a:t>
              </a:r>
            </a:p>
          </p:txBody>
        </p:sp>
        <p:sp>
          <p:nvSpPr>
            <p:cNvPr id="584738" name="Line 34"/>
            <p:cNvSpPr>
              <a:spLocks noChangeShapeType="1"/>
            </p:cNvSpPr>
            <p:nvPr/>
          </p:nvSpPr>
          <p:spPr bwMode="auto">
            <a:xfrm>
              <a:off x="2112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6239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9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5 </a:t>
            </a:r>
          </a:p>
        </p:txBody>
      </p:sp>
      <p:sp>
        <p:nvSpPr>
          <p:cNvPr id="59494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229600" cy="4800600"/>
          </a:xfrm>
        </p:spPr>
        <p:txBody>
          <a:bodyPr/>
          <a:lstStyle/>
          <a:p>
            <a:pPr algn="just"/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duy</a:t>
            </a:r>
            <a:r>
              <a:rPr lang="en-US" dirty="0"/>
              <a:t> </a:t>
            </a:r>
            <a:r>
              <a:rPr lang="en-US" dirty="0" err="1" smtClean="0"/>
              <a:t>nhất</a:t>
            </a:r>
            <a:endParaRPr lang="en-US" dirty="0">
              <a:solidFill>
                <a:schemeClr val="tx1"/>
              </a:solidFill>
            </a:endParaRP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Bối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cảnh</a:t>
            </a:r>
            <a:r>
              <a:rPr lang="en-US" dirty="0">
                <a:solidFill>
                  <a:schemeClr val="tx1"/>
                </a:solidFill>
              </a:rPr>
              <a:t>: </a:t>
            </a:r>
          </a:p>
          <a:p>
            <a:pPr lvl="1" algn="just"/>
            <a:endParaRPr lang="en-US" dirty="0" smtClean="0">
              <a:solidFill>
                <a:schemeClr val="tx1"/>
              </a:solidFill>
            </a:endParaRPr>
          </a:p>
          <a:p>
            <a:pPr lvl="1" algn="just"/>
            <a:endParaRPr lang="en-US" dirty="0">
              <a:solidFill>
                <a:schemeClr val="tx1"/>
              </a:solidFill>
            </a:endParaRP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Biểu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diễn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lvl="1" algn="just"/>
            <a:endParaRPr lang="en-US" dirty="0">
              <a:solidFill>
                <a:schemeClr val="tx1"/>
              </a:solidFill>
            </a:endParaRPr>
          </a:p>
          <a:p>
            <a:pPr lvl="1" algn="just"/>
            <a:endParaRPr lang="en-US" dirty="0">
              <a:solidFill>
                <a:schemeClr val="tx1"/>
              </a:solidFill>
            </a:endParaRPr>
          </a:p>
          <a:p>
            <a:pPr lvl="1" algn="just"/>
            <a:endParaRPr lang="en-US" dirty="0">
              <a:solidFill>
                <a:schemeClr val="tx1"/>
              </a:solidFill>
            </a:endParaRP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Bảng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tầm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ảnh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hưởng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594948" name="Text Box 4"/>
          <p:cNvSpPr txBox="1">
            <a:spLocks noChangeArrowheads="1"/>
          </p:cNvSpPr>
          <p:nvPr/>
        </p:nvSpPr>
        <p:spPr bwMode="auto">
          <a:xfrm>
            <a:off x="2258136" y="3886200"/>
            <a:ext cx="5486400" cy="8540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000" b="1" dirty="0">
                <a:latin typeface="Arial" charset="0"/>
                <a:sym typeface="Symbol" pitchFamily="18" charset="2"/>
              </a:rPr>
              <a:t></a:t>
            </a:r>
            <a:r>
              <a:rPr lang="en-US" sz="2000" dirty="0">
                <a:latin typeface="Arial" charset="0"/>
                <a:sym typeface="Symbol" pitchFamily="18" charset="2"/>
              </a:rPr>
              <a:t>t1, t2 </a:t>
            </a:r>
            <a:r>
              <a:rPr lang="en-US" sz="2000" b="1" dirty="0">
                <a:latin typeface="Arial" charset="0"/>
                <a:sym typeface="Symbol" pitchFamily="18" charset="2"/>
              </a:rPr>
              <a:t></a:t>
            </a:r>
            <a:r>
              <a:rPr lang="en-US" sz="2000" dirty="0">
                <a:latin typeface="Arial" charset="0"/>
                <a:sym typeface="Symbol" pitchFamily="18" charset="2"/>
              </a:rPr>
              <a:t> PHONGBAN ( </a:t>
            </a:r>
          </a:p>
          <a:p>
            <a:pPr algn="l"/>
            <a:r>
              <a:rPr lang="en-US" sz="2000" dirty="0">
                <a:latin typeface="Arial" charset="0"/>
                <a:sym typeface="Symbol" pitchFamily="18" charset="2"/>
              </a:rPr>
              <a:t>	t1</a:t>
            </a:r>
            <a:r>
              <a:rPr lang="en-US" sz="2000" b="1" dirty="0">
                <a:latin typeface="Arial" charset="0"/>
                <a:sym typeface="Symbol" pitchFamily="18" charset="2"/>
              </a:rPr>
              <a:t></a:t>
            </a:r>
            <a:r>
              <a:rPr lang="en-US" sz="2000" dirty="0">
                <a:latin typeface="Arial" charset="0"/>
                <a:sym typeface="Symbol" pitchFamily="18" charset="2"/>
              </a:rPr>
              <a:t> t2 </a:t>
            </a:r>
            <a:r>
              <a:rPr lang="en-US" sz="2000" b="1" dirty="0">
                <a:latin typeface="Arial" charset="0"/>
                <a:sym typeface="Symbol" pitchFamily="18" charset="2"/>
              </a:rPr>
              <a:t></a:t>
            </a:r>
            <a:r>
              <a:rPr lang="en-US" sz="2000" dirty="0">
                <a:latin typeface="Arial" charset="0"/>
                <a:sym typeface="Symbol" pitchFamily="18" charset="2"/>
              </a:rPr>
              <a:t> t1.TENPHG </a:t>
            </a:r>
            <a:r>
              <a:rPr lang="en-US" sz="2000" b="1" dirty="0">
                <a:latin typeface="Arial" charset="0"/>
                <a:sym typeface="Symbol" pitchFamily="18" charset="2"/>
              </a:rPr>
              <a:t></a:t>
            </a:r>
            <a:r>
              <a:rPr lang="en-US" sz="2000" dirty="0">
                <a:latin typeface="Arial" charset="0"/>
                <a:sym typeface="Symbol" pitchFamily="18" charset="2"/>
              </a:rPr>
              <a:t> T2.TENPHG )</a:t>
            </a:r>
          </a:p>
        </p:txBody>
      </p:sp>
      <p:grpSp>
        <p:nvGrpSpPr>
          <p:cNvPr id="594949" name="Group 5"/>
          <p:cNvGrpSpPr>
            <a:grpSpLocks/>
          </p:cNvGrpSpPr>
          <p:nvPr/>
        </p:nvGrpSpPr>
        <p:grpSpPr bwMode="auto">
          <a:xfrm>
            <a:off x="1524000" y="5257800"/>
            <a:ext cx="5257800" cy="914400"/>
            <a:chOff x="1248" y="3168"/>
            <a:chExt cx="3312" cy="576"/>
          </a:xfrm>
        </p:grpSpPr>
        <p:sp>
          <p:nvSpPr>
            <p:cNvPr id="594950" name="Line 6"/>
            <p:cNvSpPr>
              <a:spLocks noChangeShapeType="1"/>
            </p:cNvSpPr>
            <p:nvPr/>
          </p:nvSpPr>
          <p:spPr bwMode="auto">
            <a:xfrm>
              <a:off x="1248" y="3408"/>
              <a:ext cx="32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4951" name="Text Box 7"/>
            <p:cNvSpPr txBox="1">
              <a:spLocks noChangeArrowheads="1"/>
            </p:cNvSpPr>
            <p:nvPr/>
          </p:nvSpPr>
          <p:spPr bwMode="auto">
            <a:xfrm>
              <a:off x="1440" y="3177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R</a:t>
              </a:r>
              <a:r>
                <a:rPr lang="en-US" sz="1400"/>
                <a:t>5</a:t>
              </a:r>
            </a:p>
          </p:txBody>
        </p:sp>
        <p:sp>
          <p:nvSpPr>
            <p:cNvPr id="594952" name="Text Box 8"/>
            <p:cNvSpPr txBox="1">
              <a:spLocks noChangeArrowheads="1"/>
            </p:cNvSpPr>
            <p:nvPr/>
          </p:nvSpPr>
          <p:spPr bwMode="auto">
            <a:xfrm>
              <a:off x="1248" y="3436"/>
              <a:ext cx="912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PHONGBAN</a:t>
              </a:r>
            </a:p>
          </p:txBody>
        </p:sp>
        <p:grpSp>
          <p:nvGrpSpPr>
            <p:cNvPr id="594953" name="Group 9"/>
            <p:cNvGrpSpPr>
              <a:grpSpLocks/>
            </p:cNvGrpSpPr>
            <p:nvPr/>
          </p:nvGrpSpPr>
          <p:grpSpPr bwMode="auto">
            <a:xfrm>
              <a:off x="2160" y="3168"/>
              <a:ext cx="1488" cy="576"/>
              <a:chOff x="2160" y="3168"/>
              <a:chExt cx="1488" cy="624"/>
            </a:xfrm>
          </p:grpSpPr>
          <p:sp>
            <p:nvSpPr>
              <p:cNvPr id="594954" name="Line 10"/>
              <p:cNvSpPr>
                <a:spLocks noChangeShapeType="1"/>
              </p:cNvSpPr>
              <p:nvPr/>
            </p:nvSpPr>
            <p:spPr bwMode="auto">
              <a:xfrm>
                <a:off x="216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94955" name="Line 11"/>
              <p:cNvSpPr>
                <a:spLocks noChangeShapeType="1"/>
              </p:cNvSpPr>
              <p:nvPr/>
            </p:nvSpPr>
            <p:spPr bwMode="auto">
              <a:xfrm>
                <a:off x="288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94956" name="Line 12"/>
              <p:cNvSpPr>
                <a:spLocks noChangeShapeType="1"/>
              </p:cNvSpPr>
              <p:nvPr/>
            </p:nvSpPr>
            <p:spPr bwMode="auto">
              <a:xfrm>
                <a:off x="3648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594957" name="Text Box 13"/>
            <p:cNvSpPr txBox="1">
              <a:spLocks noChangeArrowheads="1"/>
            </p:cNvSpPr>
            <p:nvPr/>
          </p:nvSpPr>
          <p:spPr bwMode="auto">
            <a:xfrm>
              <a:off x="2160" y="3168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Thêm</a:t>
              </a:r>
            </a:p>
          </p:txBody>
        </p:sp>
        <p:sp>
          <p:nvSpPr>
            <p:cNvPr id="594958" name="Text Box 14"/>
            <p:cNvSpPr txBox="1">
              <a:spLocks noChangeArrowheads="1"/>
            </p:cNvSpPr>
            <p:nvPr/>
          </p:nvSpPr>
          <p:spPr bwMode="auto">
            <a:xfrm>
              <a:off x="2928" y="3168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Xóa</a:t>
              </a:r>
            </a:p>
          </p:txBody>
        </p:sp>
        <p:sp>
          <p:nvSpPr>
            <p:cNvPr id="594959" name="Text Box 15"/>
            <p:cNvSpPr txBox="1">
              <a:spLocks noChangeArrowheads="1"/>
            </p:cNvSpPr>
            <p:nvPr/>
          </p:nvSpPr>
          <p:spPr bwMode="auto">
            <a:xfrm>
              <a:off x="3648" y="3168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Sửa</a:t>
              </a:r>
            </a:p>
          </p:txBody>
        </p:sp>
        <p:sp>
          <p:nvSpPr>
            <p:cNvPr id="594960" name="Text Box 16"/>
            <p:cNvSpPr txBox="1">
              <a:spLocks noChangeArrowheads="1"/>
            </p:cNvSpPr>
            <p:nvPr/>
          </p:nvSpPr>
          <p:spPr bwMode="auto">
            <a:xfrm>
              <a:off x="2160" y="3445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ym typeface="Symbol" pitchFamily="18" charset="2"/>
                </a:rPr>
                <a:t></a:t>
              </a:r>
            </a:p>
          </p:txBody>
        </p:sp>
        <p:sp>
          <p:nvSpPr>
            <p:cNvPr id="594961" name="Text Box 17"/>
            <p:cNvSpPr txBox="1">
              <a:spLocks noChangeArrowheads="1"/>
            </p:cNvSpPr>
            <p:nvPr/>
          </p:nvSpPr>
          <p:spPr bwMode="auto">
            <a:xfrm>
              <a:off x="2880" y="3436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ym typeface="Symbol" pitchFamily="18" charset="2"/>
                </a:rPr>
                <a:t></a:t>
              </a:r>
            </a:p>
          </p:txBody>
        </p:sp>
        <p:sp>
          <p:nvSpPr>
            <p:cNvPr id="594962" name="Text Box 18"/>
            <p:cNvSpPr txBox="1">
              <a:spLocks noChangeArrowheads="1"/>
            </p:cNvSpPr>
            <p:nvPr/>
          </p:nvSpPr>
          <p:spPr bwMode="auto">
            <a:xfrm>
              <a:off x="3648" y="3436"/>
              <a:ext cx="912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ym typeface="Symbol" pitchFamily="18" charset="2"/>
                </a:rPr>
                <a:t></a:t>
              </a:r>
              <a:r>
                <a:rPr lang="en-US" sz="1800"/>
                <a:t> (TENPHG)</a:t>
              </a:r>
            </a:p>
          </p:txBody>
        </p:sp>
      </p:grpSp>
      <p:sp>
        <p:nvSpPr>
          <p:cNvPr id="594963" name="Text Box 19"/>
          <p:cNvSpPr txBox="1">
            <a:spLocks noChangeArrowheads="1"/>
          </p:cNvSpPr>
          <p:nvPr/>
        </p:nvSpPr>
        <p:spPr bwMode="auto">
          <a:xfrm>
            <a:off x="2330355" y="2604259"/>
            <a:ext cx="1828800" cy="3968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000" dirty="0">
                <a:latin typeface="Arial" charset="0"/>
                <a:sym typeface="Symbol" pitchFamily="18" charset="2"/>
              </a:rPr>
              <a:t>PHONGBAN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7221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94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94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94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948" grpId="0"/>
      <p:bldP spid="59496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9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6 </a:t>
            </a:r>
          </a:p>
        </p:txBody>
      </p:sp>
      <p:sp>
        <p:nvSpPr>
          <p:cNvPr id="5969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229600" cy="4800600"/>
          </a:xfrm>
        </p:spPr>
        <p:txBody>
          <a:bodyPr/>
          <a:lstStyle/>
          <a:p>
            <a:pPr algn="just"/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gia</a:t>
            </a:r>
            <a:r>
              <a:rPr lang="en-US" dirty="0"/>
              <a:t>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5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 smtClean="0"/>
              <a:t>án</a:t>
            </a:r>
            <a:endParaRPr lang="en-US" dirty="0"/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Bối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cảnh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lvl="1" algn="just"/>
            <a:endParaRPr lang="en-US" dirty="0" smtClean="0">
              <a:solidFill>
                <a:schemeClr val="tx1"/>
              </a:solidFill>
            </a:endParaRPr>
          </a:p>
          <a:p>
            <a:pPr lvl="1" algn="just"/>
            <a:endParaRPr lang="en-US" dirty="0">
              <a:solidFill>
                <a:schemeClr val="tx1"/>
              </a:solidFill>
            </a:endParaRP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Biểu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diễn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lvl="1" algn="just"/>
            <a:endParaRPr lang="en-US" dirty="0">
              <a:solidFill>
                <a:schemeClr val="tx1"/>
              </a:solidFill>
            </a:endParaRPr>
          </a:p>
          <a:p>
            <a:pPr lvl="1" algn="just"/>
            <a:endParaRPr lang="en-US" dirty="0">
              <a:solidFill>
                <a:schemeClr val="tx1"/>
              </a:solidFill>
            </a:endParaRPr>
          </a:p>
          <a:p>
            <a:pPr lvl="1" algn="just"/>
            <a:endParaRPr lang="en-US" dirty="0">
              <a:solidFill>
                <a:schemeClr val="tx1"/>
              </a:solidFill>
            </a:endParaRP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Bảng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tầm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ảnh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hưởng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596996" name="Text Box 4"/>
          <p:cNvSpPr txBox="1">
            <a:spLocks noChangeArrowheads="1"/>
          </p:cNvSpPr>
          <p:nvPr/>
        </p:nvSpPr>
        <p:spPr bwMode="auto">
          <a:xfrm>
            <a:off x="914400" y="3810000"/>
            <a:ext cx="8001000" cy="861774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000" b="1" dirty="0">
                <a:latin typeface="Arial" charset="0"/>
                <a:sym typeface="Symbol" pitchFamily="18" charset="2"/>
              </a:rPr>
              <a:t></a:t>
            </a:r>
            <a:r>
              <a:rPr lang="en-US" sz="2000" dirty="0">
                <a:latin typeface="Arial" charset="0"/>
                <a:sym typeface="Symbol" pitchFamily="18" charset="2"/>
              </a:rPr>
              <a:t>t </a:t>
            </a:r>
            <a:r>
              <a:rPr lang="en-US" sz="2000" b="1" dirty="0">
                <a:latin typeface="Arial" charset="0"/>
                <a:sym typeface="Symbol" pitchFamily="18" charset="2"/>
              </a:rPr>
              <a:t></a:t>
            </a:r>
            <a:r>
              <a:rPr lang="en-US" sz="2000" dirty="0">
                <a:latin typeface="Arial" charset="0"/>
                <a:sym typeface="Symbol" pitchFamily="18" charset="2"/>
              </a:rPr>
              <a:t> PHANCONG ( </a:t>
            </a:r>
          </a:p>
          <a:p>
            <a:pPr algn="l"/>
            <a:r>
              <a:rPr lang="en-US" sz="2000" dirty="0">
                <a:latin typeface="Arial" charset="0"/>
                <a:sym typeface="Symbol" pitchFamily="18" charset="2"/>
              </a:rPr>
              <a:t>	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∑({ </a:t>
            </a:r>
            <a:r>
              <a:rPr lang="en-US" sz="2000" dirty="0">
                <a:latin typeface="Arial" charset="0"/>
                <a:sym typeface="Symbol" pitchFamily="18" charset="2"/>
              </a:rPr>
              <a:t>s </a:t>
            </a:r>
            <a:r>
              <a:rPr lang="en-US" sz="2000" b="1" dirty="0">
                <a:latin typeface="Arial" charset="0"/>
                <a:sym typeface="Symbol" pitchFamily="18" charset="2"/>
              </a:rPr>
              <a:t></a:t>
            </a:r>
            <a:r>
              <a:rPr lang="en-US" sz="2000" dirty="0">
                <a:latin typeface="Arial" charset="0"/>
                <a:sym typeface="Symbol" pitchFamily="18" charset="2"/>
              </a:rPr>
              <a:t> PHANCONG | </a:t>
            </a:r>
            <a:r>
              <a:rPr lang="en-US" sz="2000" dirty="0" err="1">
                <a:latin typeface="Arial" charset="0"/>
                <a:sym typeface="Symbol" pitchFamily="18" charset="2"/>
              </a:rPr>
              <a:t>s.MA_NVIEN</a:t>
            </a:r>
            <a:r>
              <a:rPr lang="en-US" sz="2000" dirty="0">
                <a:latin typeface="Arial" charset="0"/>
                <a:sym typeface="Symbol" pitchFamily="18" charset="2"/>
              </a:rPr>
              <a:t> </a:t>
            </a:r>
            <a:r>
              <a:rPr lang="en-US" sz="2000" b="1" dirty="0">
                <a:latin typeface="Arial" charset="0"/>
                <a:sym typeface="Symbol" pitchFamily="18" charset="2"/>
              </a:rPr>
              <a:t></a:t>
            </a:r>
            <a:r>
              <a:rPr lang="en-US" sz="2000" dirty="0">
                <a:latin typeface="Arial" charset="0"/>
                <a:sym typeface="Symbol" pitchFamily="18" charset="2"/>
              </a:rPr>
              <a:t> </a:t>
            </a:r>
            <a:r>
              <a:rPr lang="en-US" sz="2000" dirty="0" err="1">
                <a:latin typeface="Arial" charset="0"/>
                <a:sym typeface="Symbol" pitchFamily="18" charset="2"/>
              </a:rPr>
              <a:t>t.MA_NVIEN</a:t>
            </a:r>
            <a:r>
              <a:rPr lang="en-US" sz="2000" dirty="0">
                <a:latin typeface="Arial" charset="0"/>
                <a:sym typeface="Symbol" pitchFamily="18" charset="2"/>
              </a:rPr>
              <a:t>}) </a:t>
            </a:r>
            <a:r>
              <a:rPr lang="en-US" sz="2000" b="1" dirty="0">
                <a:latin typeface="Arial" charset="0"/>
                <a:sym typeface="Symbol" pitchFamily="18" charset="2"/>
              </a:rPr>
              <a:t></a:t>
            </a:r>
            <a:r>
              <a:rPr lang="en-US" sz="2000" dirty="0">
                <a:latin typeface="Arial" charset="0"/>
                <a:sym typeface="Symbol" pitchFamily="18" charset="2"/>
              </a:rPr>
              <a:t> 5 )</a:t>
            </a:r>
          </a:p>
        </p:txBody>
      </p:sp>
      <p:grpSp>
        <p:nvGrpSpPr>
          <p:cNvPr id="597011" name="Group 19"/>
          <p:cNvGrpSpPr>
            <a:grpSpLocks/>
          </p:cNvGrpSpPr>
          <p:nvPr/>
        </p:nvGrpSpPr>
        <p:grpSpPr bwMode="auto">
          <a:xfrm>
            <a:off x="1524000" y="5257800"/>
            <a:ext cx="6172200" cy="914400"/>
            <a:chOff x="960" y="3312"/>
            <a:chExt cx="3888" cy="576"/>
          </a:xfrm>
        </p:grpSpPr>
        <p:sp>
          <p:nvSpPr>
            <p:cNvPr id="596998" name="Line 6"/>
            <p:cNvSpPr>
              <a:spLocks noChangeShapeType="1"/>
            </p:cNvSpPr>
            <p:nvPr/>
          </p:nvSpPr>
          <p:spPr bwMode="auto">
            <a:xfrm>
              <a:off x="960" y="3552"/>
              <a:ext cx="32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6999" name="Text Box 7"/>
            <p:cNvSpPr txBox="1">
              <a:spLocks noChangeArrowheads="1"/>
            </p:cNvSpPr>
            <p:nvPr/>
          </p:nvSpPr>
          <p:spPr bwMode="auto">
            <a:xfrm>
              <a:off x="1152" y="3321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R</a:t>
              </a:r>
              <a:r>
                <a:rPr lang="en-US" sz="1400"/>
                <a:t>6</a:t>
              </a:r>
            </a:p>
          </p:txBody>
        </p:sp>
        <p:sp>
          <p:nvSpPr>
            <p:cNvPr id="597000" name="Text Box 8"/>
            <p:cNvSpPr txBox="1">
              <a:spLocks noChangeArrowheads="1"/>
            </p:cNvSpPr>
            <p:nvPr/>
          </p:nvSpPr>
          <p:spPr bwMode="auto">
            <a:xfrm>
              <a:off x="960" y="3580"/>
              <a:ext cx="912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PHANCONG</a:t>
              </a:r>
            </a:p>
          </p:txBody>
        </p:sp>
        <p:grpSp>
          <p:nvGrpSpPr>
            <p:cNvPr id="597001" name="Group 9"/>
            <p:cNvGrpSpPr>
              <a:grpSpLocks/>
            </p:cNvGrpSpPr>
            <p:nvPr/>
          </p:nvGrpSpPr>
          <p:grpSpPr bwMode="auto">
            <a:xfrm>
              <a:off x="1872" y="3312"/>
              <a:ext cx="1488" cy="576"/>
              <a:chOff x="2160" y="3168"/>
              <a:chExt cx="1488" cy="624"/>
            </a:xfrm>
          </p:grpSpPr>
          <p:sp>
            <p:nvSpPr>
              <p:cNvPr id="597002" name="Line 10"/>
              <p:cNvSpPr>
                <a:spLocks noChangeShapeType="1"/>
              </p:cNvSpPr>
              <p:nvPr/>
            </p:nvSpPr>
            <p:spPr bwMode="auto">
              <a:xfrm>
                <a:off x="216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97003" name="Line 11"/>
              <p:cNvSpPr>
                <a:spLocks noChangeShapeType="1"/>
              </p:cNvSpPr>
              <p:nvPr/>
            </p:nvSpPr>
            <p:spPr bwMode="auto">
              <a:xfrm>
                <a:off x="288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97004" name="Line 12"/>
              <p:cNvSpPr>
                <a:spLocks noChangeShapeType="1"/>
              </p:cNvSpPr>
              <p:nvPr/>
            </p:nvSpPr>
            <p:spPr bwMode="auto">
              <a:xfrm>
                <a:off x="3648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597005" name="Text Box 13"/>
            <p:cNvSpPr txBox="1">
              <a:spLocks noChangeArrowheads="1"/>
            </p:cNvSpPr>
            <p:nvPr/>
          </p:nvSpPr>
          <p:spPr bwMode="auto">
            <a:xfrm>
              <a:off x="1872" y="3312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Thêm</a:t>
              </a:r>
            </a:p>
          </p:txBody>
        </p:sp>
        <p:sp>
          <p:nvSpPr>
            <p:cNvPr id="597006" name="Text Box 14"/>
            <p:cNvSpPr txBox="1">
              <a:spLocks noChangeArrowheads="1"/>
            </p:cNvSpPr>
            <p:nvPr/>
          </p:nvSpPr>
          <p:spPr bwMode="auto">
            <a:xfrm>
              <a:off x="2640" y="3312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Xóa</a:t>
              </a:r>
            </a:p>
          </p:txBody>
        </p:sp>
        <p:sp>
          <p:nvSpPr>
            <p:cNvPr id="597007" name="Text Box 15"/>
            <p:cNvSpPr txBox="1">
              <a:spLocks noChangeArrowheads="1"/>
            </p:cNvSpPr>
            <p:nvPr/>
          </p:nvSpPr>
          <p:spPr bwMode="auto">
            <a:xfrm>
              <a:off x="3360" y="3312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Sửa</a:t>
              </a:r>
            </a:p>
          </p:txBody>
        </p:sp>
        <p:sp>
          <p:nvSpPr>
            <p:cNvPr id="597008" name="Text Box 16"/>
            <p:cNvSpPr txBox="1">
              <a:spLocks noChangeArrowheads="1"/>
            </p:cNvSpPr>
            <p:nvPr/>
          </p:nvSpPr>
          <p:spPr bwMode="auto">
            <a:xfrm>
              <a:off x="1872" y="3589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ym typeface="Symbol" pitchFamily="18" charset="2"/>
                </a:rPr>
                <a:t></a:t>
              </a:r>
            </a:p>
          </p:txBody>
        </p:sp>
        <p:sp>
          <p:nvSpPr>
            <p:cNvPr id="597009" name="Text Box 17"/>
            <p:cNvSpPr txBox="1">
              <a:spLocks noChangeArrowheads="1"/>
            </p:cNvSpPr>
            <p:nvPr/>
          </p:nvSpPr>
          <p:spPr bwMode="auto">
            <a:xfrm>
              <a:off x="2592" y="3580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ym typeface="Symbol" pitchFamily="18" charset="2"/>
                </a:rPr>
                <a:t></a:t>
              </a:r>
            </a:p>
          </p:txBody>
        </p:sp>
        <p:sp>
          <p:nvSpPr>
            <p:cNvPr id="597010" name="Text Box 18"/>
            <p:cNvSpPr txBox="1">
              <a:spLocks noChangeArrowheads="1"/>
            </p:cNvSpPr>
            <p:nvPr/>
          </p:nvSpPr>
          <p:spPr bwMode="auto">
            <a:xfrm>
              <a:off x="3360" y="3580"/>
              <a:ext cx="148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ym typeface="Symbol" pitchFamily="18" charset="2"/>
                </a:rPr>
                <a:t></a:t>
              </a:r>
              <a:r>
                <a:rPr lang="en-US" sz="1800"/>
                <a:t> (MA_VIEN, SODA)</a:t>
              </a:r>
            </a:p>
          </p:txBody>
        </p:sp>
      </p:grpSp>
      <p:sp>
        <p:nvSpPr>
          <p:cNvPr id="597012" name="Text Box 20"/>
          <p:cNvSpPr txBox="1">
            <a:spLocks noChangeArrowheads="1"/>
          </p:cNvSpPr>
          <p:nvPr/>
        </p:nvSpPr>
        <p:spPr bwMode="auto">
          <a:xfrm>
            <a:off x="1981200" y="2743200"/>
            <a:ext cx="1981200" cy="3968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000" dirty="0">
                <a:latin typeface="Arial" charset="0"/>
                <a:sym typeface="Symbol" pitchFamily="18" charset="2"/>
              </a:rPr>
              <a:t>PHANCONG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3071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97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96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97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6996" grpId="0"/>
      <p:bldP spid="59701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1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7 </a:t>
            </a:r>
          </a:p>
        </p:txBody>
      </p:sp>
      <p:sp>
        <p:nvSpPr>
          <p:cNvPr id="60313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pPr algn="just"/>
            <a:r>
              <a:rPr lang="en-US" dirty="0"/>
              <a:t>THIDAU(</a:t>
            </a:r>
            <a:r>
              <a:rPr lang="en-US" u="sng" dirty="0"/>
              <a:t>NGAY, GIO, DOI</a:t>
            </a:r>
            <a:r>
              <a:rPr lang="en-US" dirty="0"/>
              <a:t>, SOBAN)</a:t>
            </a:r>
          </a:p>
          <a:p>
            <a:pPr algn="just"/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trận</a:t>
            </a:r>
            <a:r>
              <a:rPr lang="en-US" dirty="0"/>
              <a:t> </a:t>
            </a:r>
            <a:r>
              <a:rPr lang="en-US" dirty="0" err="1"/>
              <a:t>đấu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cuộc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đấu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đúng</a:t>
            </a:r>
            <a:r>
              <a:rPr lang="en-US" dirty="0"/>
              <a:t> 2 </a:t>
            </a:r>
            <a:r>
              <a:rPr lang="en-US" dirty="0" err="1" smtClean="0"/>
              <a:t>đội</a:t>
            </a:r>
            <a:endParaRPr lang="en-US" dirty="0"/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Bối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cảnh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lvl="1" algn="just"/>
            <a:endParaRPr lang="en-US" dirty="0">
              <a:solidFill>
                <a:schemeClr val="tx1"/>
              </a:solidFill>
            </a:endParaRP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Biểu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diễn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lvl="2" algn="just"/>
            <a:endParaRPr lang="en-US" dirty="0"/>
          </a:p>
          <a:p>
            <a:pPr lvl="2" algn="just"/>
            <a:endParaRPr lang="en-US" dirty="0"/>
          </a:p>
          <a:p>
            <a:pPr lvl="2" algn="just"/>
            <a:endParaRPr lang="en-US" dirty="0"/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Bảng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tầm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ảnh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hưởng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03155" name="Text Box 19"/>
          <p:cNvSpPr txBox="1">
            <a:spLocks noChangeArrowheads="1"/>
          </p:cNvSpPr>
          <p:nvPr/>
        </p:nvSpPr>
        <p:spPr bwMode="auto">
          <a:xfrm>
            <a:off x="1752600" y="3962400"/>
            <a:ext cx="6172200" cy="8540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000" b="1">
                <a:latin typeface="Arial" charset="0"/>
                <a:sym typeface="Symbol" pitchFamily="18" charset="2"/>
              </a:rPr>
              <a:t></a:t>
            </a:r>
            <a:r>
              <a:rPr lang="en-US" sz="2000">
                <a:latin typeface="Arial" charset="0"/>
                <a:sym typeface="Symbol" pitchFamily="18" charset="2"/>
              </a:rPr>
              <a:t>t </a:t>
            </a:r>
            <a:r>
              <a:rPr lang="en-US" sz="2000" b="1">
                <a:latin typeface="Arial" charset="0"/>
                <a:sym typeface="Symbol" pitchFamily="18" charset="2"/>
              </a:rPr>
              <a:t></a:t>
            </a:r>
            <a:r>
              <a:rPr lang="en-US" sz="2000">
                <a:latin typeface="Arial" charset="0"/>
                <a:sym typeface="Symbol" pitchFamily="18" charset="2"/>
              </a:rPr>
              <a:t> THIDAU ( </a:t>
            </a:r>
            <a:r>
              <a:rPr lang="en-US" sz="2000" b="1">
                <a:latin typeface="Arial" charset="0"/>
                <a:sym typeface="Symbol" pitchFamily="18" charset="2"/>
              </a:rPr>
              <a:t></a:t>
            </a:r>
            <a:r>
              <a:rPr lang="en-US" sz="2000">
                <a:latin typeface="Arial" charset="0"/>
                <a:sym typeface="Symbol" pitchFamily="18" charset="2"/>
              </a:rPr>
              <a:t>!s </a:t>
            </a:r>
            <a:r>
              <a:rPr lang="en-US" sz="2000" b="1">
                <a:latin typeface="Arial" charset="0"/>
                <a:sym typeface="Symbol" pitchFamily="18" charset="2"/>
              </a:rPr>
              <a:t></a:t>
            </a:r>
            <a:r>
              <a:rPr lang="en-US" sz="2000">
                <a:latin typeface="Arial" charset="0"/>
                <a:sym typeface="Symbol" pitchFamily="18" charset="2"/>
              </a:rPr>
              <a:t> THIDAU ( </a:t>
            </a:r>
          </a:p>
          <a:p>
            <a:pPr algn="l"/>
            <a:r>
              <a:rPr lang="en-US" sz="2000">
                <a:latin typeface="Arial" charset="0"/>
                <a:sym typeface="Symbol" pitchFamily="18" charset="2"/>
              </a:rPr>
              <a:t>	t </a:t>
            </a:r>
            <a:r>
              <a:rPr lang="en-US" sz="2000" b="1">
                <a:latin typeface="Arial" charset="0"/>
                <a:sym typeface="Symbol" pitchFamily="18" charset="2"/>
              </a:rPr>
              <a:t></a:t>
            </a:r>
            <a:r>
              <a:rPr lang="en-US" sz="2000">
                <a:latin typeface="Arial" charset="0"/>
                <a:sym typeface="Symbol" pitchFamily="18" charset="2"/>
              </a:rPr>
              <a:t> s </a:t>
            </a:r>
            <a:r>
              <a:rPr lang="en-US" sz="2000" b="1">
                <a:latin typeface="Arial" charset="0"/>
                <a:sym typeface="Symbol" pitchFamily="18" charset="2"/>
              </a:rPr>
              <a:t></a:t>
            </a:r>
            <a:r>
              <a:rPr lang="en-US" sz="2000">
                <a:latin typeface="Arial" charset="0"/>
                <a:sym typeface="Symbol" pitchFamily="18" charset="2"/>
              </a:rPr>
              <a:t> t.NGAY </a:t>
            </a:r>
            <a:r>
              <a:rPr lang="en-US" sz="2000" b="1">
                <a:latin typeface="Arial" charset="0"/>
                <a:sym typeface="Symbol" pitchFamily="18" charset="2"/>
              </a:rPr>
              <a:t></a:t>
            </a:r>
            <a:r>
              <a:rPr lang="en-US" sz="2000">
                <a:latin typeface="Arial" charset="0"/>
                <a:sym typeface="Symbol" pitchFamily="18" charset="2"/>
              </a:rPr>
              <a:t> s.NGAY </a:t>
            </a:r>
            <a:r>
              <a:rPr lang="en-US" sz="2000" b="1">
                <a:latin typeface="Arial" charset="0"/>
                <a:sym typeface="Symbol" pitchFamily="18" charset="2"/>
              </a:rPr>
              <a:t></a:t>
            </a:r>
            <a:r>
              <a:rPr lang="en-US" sz="2000">
                <a:latin typeface="Arial" charset="0"/>
                <a:sym typeface="Symbol" pitchFamily="18" charset="2"/>
              </a:rPr>
              <a:t> t.GIO </a:t>
            </a:r>
            <a:r>
              <a:rPr lang="en-US" sz="2000" b="1">
                <a:latin typeface="Arial" charset="0"/>
                <a:sym typeface="Symbol" pitchFamily="18" charset="2"/>
              </a:rPr>
              <a:t></a:t>
            </a:r>
            <a:r>
              <a:rPr lang="en-US" sz="2000">
                <a:latin typeface="Arial" charset="0"/>
                <a:sym typeface="Symbol" pitchFamily="18" charset="2"/>
              </a:rPr>
              <a:t> s.GIO ))</a:t>
            </a:r>
          </a:p>
        </p:txBody>
      </p:sp>
      <p:grpSp>
        <p:nvGrpSpPr>
          <p:cNvPr id="603156" name="Group 20"/>
          <p:cNvGrpSpPr>
            <a:grpSpLocks/>
          </p:cNvGrpSpPr>
          <p:nvPr/>
        </p:nvGrpSpPr>
        <p:grpSpPr bwMode="auto">
          <a:xfrm>
            <a:off x="1447800" y="5486400"/>
            <a:ext cx="6172200" cy="914400"/>
            <a:chOff x="960" y="3312"/>
            <a:chExt cx="3888" cy="576"/>
          </a:xfrm>
        </p:grpSpPr>
        <p:sp>
          <p:nvSpPr>
            <p:cNvPr id="603157" name="Line 21"/>
            <p:cNvSpPr>
              <a:spLocks noChangeShapeType="1"/>
            </p:cNvSpPr>
            <p:nvPr/>
          </p:nvSpPr>
          <p:spPr bwMode="auto">
            <a:xfrm>
              <a:off x="960" y="3552"/>
              <a:ext cx="32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03158" name="Text Box 22"/>
            <p:cNvSpPr txBox="1">
              <a:spLocks noChangeArrowheads="1"/>
            </p:cNvSpPr>
            <p:nvPr/>
          </p:nvSpPr>
          <p:spPr bwMode="auto">
            <a:xfrm>
              <a:off x="1152" y="3321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R</a:t>
              </a:r>
              <a:r>
                <a:rPr lang="en-US" sz="1400"/>
                <a:t>7</a:t>
              </a:r>
            </a:p>
          </p:txBody>
        </p:sp>
        <p:sp>
          <p:nvSpPr>
            <p:cNvPr id="603159" name="Text Box 23"/>
            <p:cNvSpPr txBox="1">
              <a:spLocks noChangeArrowheads="1"/>
            </p:cNvSpPr>
            <p:nvPr/>
          </p:nvSpPr>
          <p:spPr bwMode="auto">
            <a:xfrm>
              <a:off x="960" y="3580"/>
              <a:ext cx="912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THIDAU</a:t>
              </a:r>
            </a:p>
          </p:txBody>
        </p:sp>
        <p:grpSp>
          <p:nvGrpSpPr>
            <p:cNvPr id="603160" name="Group 24"/>
            <p:cNvGrpSpPr>
              <a:grpSpLocks/>
            </p:cNvGrpSpPr>
            <p:nvPr/>
          </p:nvGrpSpPr>
          <p:grpSpPr bwMode="auto">
            <a:xfrm>
              <a:off x="1872" y="3312"/>
              <a:ext cx="1488" cy="576"/>
              <a:chOff x="2160" y="3168"/>
              <a:chExt cx="1488" cy="624"/>
            </a:xfrm>
          </p:grpSpPr>
          <p:sp>
            <p:nvSpPr>
              <p:cNvPr id="603161" name="Line 25"/>
              <p:cNvSpPr>
                <a:spLocks noChangeShapeType="1"/>
              </p:cNvSpPr>
              <p:nvPr/>
            </p:nvSpPr>
            <p:spPr bwMode="auto">
              <a:xfrm>
                <a:off x="216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03162" name="Line 26"/>
              <p:cNvSpPr>
                <a:spLocks noChangeShapeType="1"/>
              </p:cNvSpPr>
              <p:nvPr/>
            </p:nvSpPr>
            <p:spPr bwMode="auto">
              <a:xfrm>
                <a:off x="288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03163" name="Line 27"/>
              <p:cNvSpPr>
                <a:spLocks noChangeShapeType="1"/>
              </p:cNvSpPr>
              <p:nvPr/>
            </p:nvSpPr>
            <p:spPr bwMode="auto">
              <a:xfrm>
                <a:off x="3648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603164" name="Text Box 28"/>
            <p:cNvSpPr txBox="1">
              <a:spLocks noChangeArrowheads="1"/>
            </p:cNvSpPr>
            <p:nvPr/>
          </p:nvSpPr>
          <p:spPr bwMode="auto">
            <a:xfrm>
              <a:off x="1872" y="3312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Thêm</a:t>
              </a:r>
            </a:p>
          </p:txBody>
        </p:sp>
        <p:sp>
          <p:nvSpPr>
            <p:cNvPr id="603165" name="Text Box 29"/>
            <p:cNvSpPr txBox="1">
              <a:spLocks noChangeArrowheads="1"/>
            </p:cNvSpPr>
            <p:nvPr/>
          </p:nvSpPr>
          <p:spPr bwMode="auto">
            <a:xfrm>
              <a:off x="2640" y="3312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Xóa</a:t>
              </a:r>
            </a:p>
          </p:txBody>
        </p:sp>
        <p:sp>
          <p:nvSpPr>
            <p:cNvPr id="603166" name="Text Box 30"/>
            <p:cNvSpPr txBox="1">
              <a:spLocks noChangeArrowheads="1"/>
            </p:cNvSpPr>
            <p:nvPr/>
          </p:nvSpPr>
          <p:spPr bwMode="auto">
            <a:xfrm>
              <a:off x="3360" y="3312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Sửa</a:t>
              </a:r>
            </a:p>
          </p:txBody>
        </p:sp>
        <p:sp>
          <p:nvSpPr>
            <p:cNvPr id="603167" name="Text Box 31"/>
            <p:cNvSpPr txBox="1">
              <a:spLocks noChangeArrowheads="1"/>
            </p:cNvSpPr>
            <p:nvPr/>
          </p:nvSpPr>
          <p:spPr bwMode="auto">
            <a:xfrm>
              <a:off x="1872" y="3589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ym typeface="Symbol" pitchFamily="18" charset="2"/>
                </a:rPr>
                <a:t></a:t>
              </a:r>
            </a:p>
          </p:txBody>
        </p:sp>
        <p:sp>
          <p:nvSpPr>
            <p:cNvPr id="603168" name="Text Box 32"/>
            <p:cNvSpPr txBox="1">
              <a:spLocks noChangeArrowheads="1"/>
            </p:cNvSpPr>
            <p:nvPr/>
          </p:nvSpPr>
          <p:spPr bwMode="auto">
            <a:xfrm>
              <a:off x="2592" y="3580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ym typeface="Symbol" pitchFamily="18" charset="2"/>
                </a:rPr>
                <a:t></a:t>
              </a:r>
            </a:p>
          </p:txBody>
        </p:sp>
        <p:sp>
          <p:nvSpPr>
            <p:cNvPr id="603169" name="Text Box 33"/>
            <p:cNvSpPr txBox="1">
              <a:spLocks noChangeArrowheads="1"/>
            </p:cNvSpPr>
            <p:nvPr/>
          </p:nvSpPr>
          <p:spPr bwMode="auto">
            <a:xfrm>
              <a:off x="3360" y="3580"/>
              <a:ext cx="148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ym typeface="Symbol" pitchFamily="18" charset="2"/>
                </a:rPr>
                <a:t></a:t>
              </a:r>
              <a:r>
                <a:rPr lang="en-US" sz="1800"/>
                <a:t> (NGAY, GIO, DOI)</a:t>
              </a:r>
            </a:p>
          </p:txBody>
        </p:sp>
      </p:grpSp>
      <p:sp>
        <p:nvSpPr>
          <p:cNvPr id="603170" name="Text Box 34"/>
          <p:cNvSpPr txBox="1">
            <a:spLocks noChangeArrowheads="1"/>
          </p:cNvSpPr>
          <p:nvPr/>
        </p:nvSpPr>
        <p:spPr bwMode="auto">
          <a:xfrm>
            <a:off x="2514600" y="2865437"/>
            <a:ext cx="1143000" cy="3968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000">
                <a:latin typeface="Arial" charset="0"/>
                <a:sym typeface="Symbol" pitchFamily="18" charset="2"/>
              </a:rPr>
              <a:t>THIDAU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2924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03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03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03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3155" grpId="0"/>
      <p:bldP spid="60317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7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smtClean="0"/>
              <a:t>3.1.3. RBTV </a:t>
            </a:r>
            <a:r>
              <a:rPr lang="en-US" sz="3500" b="1" dirty="0"/>
              <a:t>- </a:t>
            </a:r>
            <a:r>
              <a:rPr lang="en-US" sz="3500" b="1" dirty="0" err="1"/>
              <a:t>Liên</a:t>
            </a:r>
            <a:r>
              <a:rPr lang="en-US" sz="3500" b="1" dirty="0"/>
              <a:t> </a:t>
            </a:r>
            <a:r>
              <a:rPr lang="en-US" sz="3500" b="1" dirty="0" err="1"/>
              <a:t>thuộc</a:t>
            </a:r>
            <a:r>
              <a:rPr lang="en-US" sz="3500" b="1" dirty="0"/>
              <a:t> </a:t>
            </a:r>
            <a:r>
              <a:rPr lang="en-US" sz="3500" b="1" dirty="0" err="1"/>
              <a:t>tính</a:t>
            </a:r>
            <a:endParaRPr lang="en-US" sz="3500" b="1" dirty="0"/>
          </a:p>
        </p:txBody>
      </p:sp>
      <p:sp>
        <p:nvSpPr>
          <p:cNvPr id="58675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76400"/>
            <a:ext cx="8229600" cy="4724400"/>
          </a:xfrm>
        </p:spPr>
        <p:txBody>
          <a:bodyPr/>
          <a:lstStyle/>
          <a:p>
            <a:pPr algn="just"/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hệ</a:t>
            </a:r>
            <a:endParaRPr lang="en-US" dirty="0"/>
          </a:p>
        </p:txBody>
      </p:sp>
      <p:grpSp>
        <p:nvGrpSpPr>
          <p:cNvPr id="586794" name="Group 42"/>
          <p:cNvGrpSpPr>
            <a:grpSpLocks/>
          </p:cNvGrpSpPr>
          <p:nvPr/>
        </p:nvGrpSpPr>
        <p:grpSpPr bwMode="auto">
          <a:xfrm>
            <a:off x="3733800" y="2667000"/>
            <a:ext cx="1219200" cy="1905000"/>
            <a:chOff x="2352" y="1680"/>
            <a:chExt cx="768" cy="1200"/>
          </a:xfrm>
        </p:grpSpPr>
        <p:grpSp>
          <p:nvGrpSpPr>
            <p:cNvPr id="586789" name="Group 37"/>
            <p:cNvGrpSpPr>
              <a:grpSpLocks/>
            </p:cNvGrpSpPr>
            <p:nvPr/>
          </p:nvGrpSpPr>
          <p:grpSpPr bwMode="auto">
            <a:xfrm>
              <a:off x="2352" y="1824"/>
              <a:ext cx="768" cy="1056"/>
              <a:chOff x="2352" y="1824"/>
              <a:chExt cx="768" cy="1056"/>
            </a:xfrm>
          </p:grpSpPr>
          <p:sp>
            <p:nvSpPr>
              <p:cNvPr id="586788" name="Rectangle 36"/>
              <p:cNvSpPr>
                <a:spLocks noChangeArrowheads="1"/>
              </p:cNvSpPr>
              <p:nvPr/>
            </p:nvSpPr>
            <p:spPr bwMode="auto">
              <a:xfrm>
                <a:off x="2928" y="1824"/>
                <a:ext cx="192" cy="1056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2700" algn="ctr">
                <a:solidFill>
                  <a:srgbClr val="99CCFF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86787" name="Rectangle 35"/>
              <p:cNvSpPr>
                <a:spLocks noChangeArrowheads="1"/>
              </p:cNvSpPr>
              <p:nvPr/>
            </p:nvSpPr>
            <p:spPr bwMode="auto">
              <a:xfrm>
                <a:off x="2352" y="1824"/>
                <a:ext cx="192" cy="1056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2700" algn="ctr">
                <a:solidFill>
                  <a:srgbClr val="99CCFF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586793" name="Group 41"/>
            <p:cNvGrpSpPr>
              <a:grpSpLocks/>
            </p:cNvGrpSpPr>
            <p:nvPr/>
          </p:nvGrpSpPr>
          <p:grpSpPr bwMode="auto">
            <a:xfrm>
              <a:off x="2496" y="1680"/>
              <a:ext cx="576" cy="240"/>
              <a:chOff x="2496" y="1680"/>
              <a:chExt cx="576" cy="240"/>
            </a:xfrm>
          </p:grpSpPr>
          <p:sp>
            <p:nvSpPr>
              <p:cNvPr id="586790" name="Line 38"/>
              <p:cNvSpPr>
                <a:spLocks noChangeShapeType="1"/>
              </p:cNvSpPr>
              <p:nvPr/>
            </p:nvSpPr>
            <p:spPr bwMode="auto">
              <a:xfrm flipV="1">
                <a:off x="2496" y="1680"/>
                <a:ext cx="0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86791" name="Line 39"/>
              <p:cNvSpPr>
                <a:spLocks noChangeShapeType="1"/>
              </p:cNvSpPr>
              <p:nvPr/>
            </p:nvSpPr>
            <p:spPr bwMode="auto">
              <a:xfrm>
                <a:off x="3072" y="1680"/>
                <a:ext cx="0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86792" name="Line 40"/>
              <p:cNvSpPr>
                <a:spLocks noChangeShapeType="1"/>
              </p:cNvSpPr>
              <p:nvPr/>
            </p:nvSpPr>
            <p:spPr bwMode="auto">
              <a:xfrm>
                <a:off x="2496" y="1680"/>
                <a:ext cx="57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586756" name="Group 4"/>
          <p:cNvGrpSpPr>
            <a:grpSpLocks/>
          </p:cNvGrpSpPr>
          <p:nvPr/>
        </p:nvGrpSpPr>
        <p:grpSpPr bwMode="auto">
          <a:xfrm>
            <a:off x="2667000" y="2895600"/>
            <a:ext cx="2362200" cy="1676400"/>
            <a:chOff x="624" y="1392"/>
            <a:chExt cx="1488" cy="1056"/>
          </a:xfrm>
        </p:grpSpPr>
        <p:sp>
          <p:nvSpPr>
            <p:cNvPr id="586757" name="Line 5"/>
            <p:cNvSpPr>
              <a:spLocks noChangeShapeType="1"/>
            </p:cNvSpPr>
            <p:nvPr/>
          </p:nvSpPr>
          <p:spPr bwMode="auto">
            <a:xfrm>
              <a:off x="624" y="1584"/>
              <a:ext cx="14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86758" name="Text Box 6"/>
            <p:cNvSpPr txBox="1">
              <a:spLocks noChangeArrowheads="1"/>
            </p:cNvSpPr>
            <p:nvPr/>
          </p:nvSpPr>
          <p:spPr bwMode="auto">
            <a:xfrm>
              <a:off x="960" y="139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A</a:t>
              </a:r>
            </a:p>
          </p:txBody>
        </p:sp>
        <p:sp>
          <p:nvSpPr>
            <p:cNvPr id="586759" name="Text Box 7"/>
            <p:cNvSpPr txBox="1">
              <a:spLocks noChangeArrowheads="1"/>
            </p:cNvSpPr>
            <p:nvPr/>
          </p:nvSpPr>
          <p:spPr bwMode="auto">
            <a:xfrm>
              <a:off x="1248" y="139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B</a:t>
              </a:r>
            </a:p>
          </p:txBody>
        </p:sp>
        <p:sp>
          <p:nvSpPr>
            <p:cNvPr id="586760" name="Text Box 8"/>
            <p:cNvSpPr txBox="1">
              <a:spLocks noChangeArrowheads="1"/>
            </p:cNvSpPr>
            <p:nvPr/>
          </p:nvSpPr>
          <p:spPr bwMode="auto">
            <a:xfrm>
              <a:off x="960" y="163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</a:t>
              </a:r>
            </a:p>
          </p:txBody>
        </p:sp>
        <p:sp>
          <p:nvSpPr>
            <p:cNvPr id="586761" name="Line 9"/>
            <p:cNvSpPr>
              <a:spLocks noChangeShapeType="1"/>
            </p:cNvSpPr>
            <p:nvPr/>
          </p:nvSpPr>
          <p:spPr bwMode="auto">
            <a:xfrm>
              <a:off x="624" y="1392"/>
              <a:ext cx="14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86762" name="Line 10"/>
            <p:cNvSpPr>
              <a:spLocks noChangeShapeType="1"/>
            </p:cNvSpPr>
            <p:nvPr/>
          </p:nvSpPr>
          <p:spPr bwMode="auto">
            <a:xfrm>
              <a:off x="960" y="2448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86763" name="Text Box 11"/>
            <p:cNvSpPr txBox="1">
              <a:spLocks noChangeArrowheads="1"/>
            </p:cNvSpPr>
            <p:nvPr/>
          </p:nvSpPr>
          <p:spPr bwMode="auto">
            <a:xfrm>
              <a:off x="624" y="1392"/>
              <a:ext cx="336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 b="1"/>
                <a:t>R</a:t>
              </a:r>
            </a:p>
          </p:txBody>
        </p:sp>
        <p:sp>
          <p:nvSpPr>
            <p:cNvPr id="586764" name="Line 12"/>
            <p:cNvSpPr>
              <a:spLocks noChangeShapeType="1"/>
            </p:cNvSpPr>
            <p:nvPr/>
          </p:nvSpPr>
          <p:spPr bwMode="auto">
            <a:xfrm>
              <a:off x="624" y="139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86765" name="Text Box 13"/>
            <p:cNvSpPr txBox="1">
              <a:spLocks noChangeArrowheads="1"/>
            </p:cNvSpPr>
            <p:nvPr/>
          </p:nvSpPr>
          <p:spPr bwMode="auto">
            <a:xfrm>
              <a:off x="960" y="1824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</a:t>
              </a:r>
            </a:p>
          </p:txBody>
        </p:sp>
        <p:sp>
          <p:nvSpPr>
            <p:cNvPr id="586766" name="Text Box 14"/>
            <p:cNvSpPr txBox="1">
              <a:spLocks noChangeArrowheads="1"/>
            </p:cNvSpPr>
            <p:nvPr/>
          </p:nvSpPr>
          <p:spPr bwMode="auto">
            <a:xfrm>
              <a:off x="960" y="2016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</a:t>
              </a:r>
            </a:p>
          </p:txBody>
        </p:sp>
        <p:sp>
          <p:nvSpPr>
            <p:cNvPr id="586767" name="Line 15"/>
            <p:cNvSpPr>
              <a:spLocks noChangeShapeType="1"/>
            </p:cNvSpPr>
            <p:nvPr/>
          </p:nvSpPr>
          <p:spPr bwMode="auto">
            <a:xfrm>
              <a:off x="1248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86768" name="Line 16"/>
            <p:cNvSpPr>
              <a:spLocks noChangeShapeType="1"/>
            </p:cNvSpPr>
            <p:nvPr/>
          </p:nvSpPr>
          <p:spPr bwMode="auto">
            <a:xfrm>
              <a:off x="960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86769" name="Line 17"/>
            <p:cNvSpPr>
              <a:spLocks noChangeShapeType="1"/>
            </p:cNvSpPr>
            <p:nvPr/>
          </p:nvSpPr>
          <p:spPr bwMode="auto">
            <a:xfrm>
              <a:off x="1536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86770" name="Text Box 18"/>
            <p:cNvSpPr txBox="1">
              <a:spLocks noChangeArrowheads="1"/>
            </p:cNvSpPr>
            <p:nvPr/>
          </p:nvSpPr>
          <p:spPr bwMode="auto">
            <a:xfrm>
              <a:off x="1536" y="139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C</a:t>
              </a:r>
            </a:p>
          </p:txBody>
        </p:sp>
        <p:sp>
          <p:nvSpPr>
            <p:cNvPr id="586771" name="Text Box 19"/>
            <p:cNvSpPr txBox="1">
              <a:spLocks noChangeArrowheads="1"/>
            </p:cNvSpPr>
            <p:nvPr/>
          </p:nvSpPr>
          <p:spPr bwMode="auto">
            <a:xfrm>
              <a:off x="1536" y="163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1</a:t>
              </a:r>
            </a:p>
          </p:txBody>
        </p:sp>
        <p:sp>
          <p:nvSpPr>
            <p:cNvPr id="586772" name="Text Box 20"/>
            <p:cNvSpPr txBox="1">
              <a:spLocks noChangeArrowheads="1"/>
            </p:cNvSpPr>
            <p:nvPr/>
          </p:nvSpPr>
          <p:spPr bwMode="auto">
            <a:xfrm>
              <a:off x="1536" y="1824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5</a:t>
              </a:r>
            </a:p>
          </p:txBody>
        </p:sp>
        <p:sp>
          <p:nvSpPr>
            <p:cNvPr id="586773" name="Text Box 21"/>
            <p:cNvSpPr txBox="1">
              <a:spLocks noChangeArrowheads="1"/>
            </p:cNvSpPr>
            <p:nvPr/>
          </p:nvSpPr>
          <p:spPr bwMode="auto">
            <a:xfrm>
              <a:off x="1536" y="2016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12</a:t>
              </a:r>
            </a:p>
          </p:txBody>
        </p:sp>
        <p:sp>
          <p:nvSpPr>
            <p:cNvPr id="586774" name="Line 22"/>
            <p:cNvSpPr>
              <a:spLocks noChangeShapeType="1"/>
            </p:cNvSpPr>
            <p:nvPr/>
          </p:nvSpPr>
          <p:spPr bwMode="auto">
            <a:xfrm>
              <a:off x="1824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86775" name="Text Box 23"/>
            <p:cNvSpPr txBox="1">
              <a:spLocks noChangeArrowheads="1"/>
            </p:cNvSpPr>
            <p:nvPr/>
          </p:nvSpPr>
          <p:spPr bwMode="auto">
            <a:xfrm>
              <a:off x="960" y="2208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</a:t>
              </a:r>
            </a:p>
          </p:txBody>
        </p:sp>
        <p:sp>
          <p:nvSpPr>
            <p:cNvPr id="586776" name="Text Box 24"/>
            <p:cNvSpPr txBox="1">
              <a:spLocks noChangeArrowheads="1"/>
            </p:cNvSpPr>
            <p:nvPr/>
          </p:nvSpPr>
          <p:spPr bwMode="auto">
            <a:xfrm>
              <a:off x="1536" y="2208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23</a:t>
              </a:r>
            </a:p>
          </p:txBody>
        </p:sp>
        <p:sp>
          <p:nvSpPr>
            <p:cNvPr id="586777" name="Text Box 25"/>
            <p:cNvSpPr txBox="1">
              <a:spLocks noChangeArrowheads="1"/>
            </p:cNvSpPr>
            <p:nvPr/>
          </p:nvSpPr>
          <p:spPr bwMode="auto">
            <a:xfrm>
              <a:off x="1824" y="139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D</a:t>
              </a:r>
            </a:p>
          </p:txBody>
        </p:sp>
        <p:sp>
          <p:nvSpPr>
            <p:cNvPr id="586778" name="Text Box 26"/>
            <p:cNvSpPr txBox="1">
              <a:spLocks noChangeArrowheads="1"/>
            </p:cNvSpPr>
            <p:nvPr/>
          </p:nvSpPr>
          <p:spPr bwMode="auto">
            <a:xfrm>
              <a:off x="1824" y="163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1</a:t>
              </a:r>
            </a:p>
          </p:txBody>
        </p:sp>
        <p:sp>
          <p:nvSpPr>
            <p:cNvPr id="586779" name="Text Box 27"/>
            <p:cNvSpPr txBox="1">
              <a:spLocks noChangeArrowheads="1"/>
            </p:cNvSpPr>
            <p:nvPr/>
          </p:nvSpPr>
          <p:spPr bwMode="auto">
            <a:xfrm>
              <a:off x="1824" y="1824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7</a:t>
              </a:r>
            </a:p>
          </p:txBody>
        </p:sp>
        <p:sp>
          <p:nvSpPr>
            <p:cNvPr id="586780" name="Text Box 28"/>
            <p:cNvSpPr txBox="1">
              <a:spLocks noChangeArrowheads="1"/>
            </p:cNvSpPr>
            <p:nvPr/>
          </p:nvSpPr>
          <p:spPr bwMode="auto">
            <a:xfrm>
              <a:off x="1824" y="2016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3</a:t>
              </a:r>
            </a:p>
          </p:txBody>
        </p:sp>
        <p:sp>
          <p:nvSpPr>
            <p:cNvPr id="586781" name="Text Box 29"/>
            <p:cNvSpPr txBox="1">
              <a:spLocks noChangeArrowheads="1"/>
            </p:cNvSpPr>
            <p:nvPr/>
          </p:nvSpPr>
          <p:spPr bwMode="auto">
            <a:xfrm>
              <a:off x="1824" y="2208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9</a:t>
              </a:r>
            </a:p>
          </p:txBody>
        </p:sp>
        <p:sp>
          <p:nvSpPr>
            <p:cNvPr id="586782" name="Text Box 30"/>
            <p:cNvSpPr txBox="1">
              <a:spLocks noChangeArrowheads="1"/>
            </p:cNvSpPr>
            <p:nvPr/>
          </p:nvSpPr>
          <p:spPr bwMode="auto">
            <a:xfrm>
              <a:off x="1248" y="163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</a:t>
              </a:r>
            </a:p>
          </p:txBody>
        </p:sp>
        <p:sp>
          <p:nvSpPr>
            <p:cNvPr id="586783" name="Text Box 31"/>
            <p:cNvSpPr txBox="1">
              <a:spLocks noChangeArrowheads="1"/>
            </p:cNvSpPr>
            <p:nvPr/>
          </p:nvSpPr>
          <p:spPr bwMode="auto">
            <a:xfrm>
              <a:off x="1248" y="1824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</a:t>
              </a:r>
            </a:p>
          </p:txBody>
        </p:sp>
        <p:sp>
          <p:nvSpPr>
            <p:cNvPr id="586784" name="Text Box 32"/>
            <p:cNvSpPr txBox="1">
              <a:spLocks noChangeArrowheads="1"/>
            </p:cNvSpPr>
            <p:nvPr/>
          </p:nvSpPr>
          <p:spPr bwMode="auto">
            <a:xfrm>
              <a:off x="1248" y="2016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</a:t>
              </a:r>
            </a:p>
          </p:txBody>
        </p:sp>
        <p:sp>
          <p:nvSpPr>
            <p:cNvPr id="586785" name="Text Box 33"/>
            <p:cNvSpPr txBox="1">
              <a:spLocks noChangeArrowheads="1"/>
            </p:cNvSpPr>
            <p:nvPr/>
          </p:nvSpPr>
          <p:spPr bwMode="auto">
            <a:xfrm>
              <a:off x="1248" y="2208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</a:t>
              </a:r>
            </a:p>
          </p:txBody>
        </p:sp>
        <p:sp>
          <p:nvSpPr>
            <p:cNvPr id="586786" name="Line 34"/>
            <p:cNvSpPr>
              <a:spLocks noChangeShapeType="1"/>
            </p:cNvSpPr>
            <p:nvPr/>
          </p:nvSpPr>
          <p:spPr bwMode="auto">
            <a:xfrm>
              <a:off x="2112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8747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0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8 </a:t>
            </a:r>
          </a:p>
        </p:txBody>
      </p:sp>
      <p:sp>
        <p:nvSpPr>
          <p:cNvPr id="59904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pPr algn="just"/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mình</a:t>
            </a:r>
            <a:r>
              <a:rPr lang="en-US" dirty="0"/>
              <a:t> </a:t>
            </a: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Bối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cảnh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lvl="1" algn="just"/>
            <a:endParaRPr lang="en-US" dirty="0">
              <a:solidFill>
                <a:schemeClr val="tx1"/>
              </a:solidFill>
            </a:endParaRP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Biểu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diễn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lvl="1" algn="just"/>
            <a:endParaRPr lang="en-US" dirty="0">
              <a:solidFill>
                <a:schemeClr val="tx1"/>
              </a:solidFill>
            </a:endParaRPr>
          </a:p>
          <a:p>
            <a:pPr lvl="1" algn="just"/>
            <a:endParaRPr lang="en-US" dirty="0">
              <a:solidFill>
                <a:schemeClr val="tx1"/>
              </a:solidFill>
            </a:endParaRP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Bảng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tầm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ảnh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hưởng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599044" name="Text Box 4"/>
          <p:cNvSpPr txBox="1">
            <a:spLocks noChangeArrowheads="1"/>
          </p:cNvSpPr>
          <p:nvPr/>
        </p:nvSpPr>
        <p:spPr bwMode="auto">
          <a:xfrm>
            <a:off x="1467134" y="3443240"/>
            <a:ext cx="7239000" cy="3968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000" b="1" dirty="0">
                <a:latin typeface="Arial" charset="0"/>
                <a:sym typeface="Symbol" pitchFamily="18" charset="2"/>
              </a:rPr>
              <a:t></a:t>
            </a:r>
            <a:r>
              <a:rPr lang="en-US" sz="2000" dirty="0">
                <a:latin typeface="Arial" charset="0"/>
                <a:sym typeface="Symbol" pitchFamily="18" charset="2"/>
              </a:rPr>
              <a:t>t </a:t>
            </a:r>
            <a:r>
              <a:rPr lang="en-US" sz="2000" b="1" dirty="0">
                <a:latin typeface="Arial" charset="0"/>
                <a:sym typeface="Symbol" pitchFamily="18" charset="2"/>
              </a:rPr>
              <a:t></a:t>
            </a:r>
            <a:r>
              <a:rPr lang="en-US" sz="2000" dirty="0">
                <a:latin typeface="Arial" charset="0"/>
                <a:sym typeface="Symbol" pitchFamily="18" charset="2"/>
              </a:rPr>
              <a:t> NHANVIEN ( </a:t>
            </a:r>
            <a:r>
              <a:rPr lang="en-US" sz="2000" dirty="0" err="1">
                <a:latin typeface="Arial" charset="0"/>
                <a:sym typeface="Symbol" pitchFamily="18" charset="2"/>
              </a:rPr>
              <a:t>t.MA_NQL</a:t>
            </a:r>
            <a:r>
              <a:rPr lang="en-US" sz="2000" dirty="0">
                <a:latin typeface="Arial" charset="0"/>
                <a:sym typeface="Symbol" pitchFamily="18" charset="2"/>
              </a:rPr>
              <a:t> </a:t>
            </a:r>
            <a:r>
              <a:rPr lang="en-US" sz="2000" b="1" dirty="0">
                <a:latin typeface="Arial" charset="0"/>
                <a:sym typeface="Symbol" pitchFamily="18" charset="2"/>
              </a:rPr>
              <a:t></a:t>
            </a:r>
            <a:r>
              <a:rPr lang="en-US" sz="2000" dirty="0">
                <a:latin typeface="Arial" charset="0"/>
                <a:sym typeface="Symbol" pitchFamily="18" charset="2"/>
              </a:rPr>
              <a:t> </a:t>
            </a:r>
            <a:r>
              <a:rPr lang="en-US" sz="2000" dirty="0" err="1">
                <a:latin typeface="Arial" charset="0"/>
                <a:sym typeface="Symbol" pitchFamily="18" charset="2"/>
              </a:rPr>
              <a:t>t.MANV</a:t>
            </a:r>
            <a:r>
              <a:rPr lang="en-US" sz="2000" dirty="0">
                <a:latin typeface="Arial" charset="0"/>
                <a:sym typeface="Symbol" pitchFamily="18" charset="2"/>
              </a:rPr>
              <a:t> </a:t>
            </a:r>
            <a:r>
              <a:rPr lang="en-US" sz="2000" b="1" dirty="0">
                <a:latin typeface="Arial" charset="0"/>
                <a:sym typeface="Symbol" pitchFamily="18" charset="2"/>
              </a:rPr>
              <a:t></a:t>
            </a:r>
            <a:r>
              <a:rPr lang="en-US" sz="2000" dirty="0">
                <a:latin typeface="Arial" charset="0"/>
                <a:sym typeface="Symbol" pitchFamily="18" charset="2"/>
              </a:rPr>
              <a:t> </a:t>
            </a:r>
            <a:r>
              <a:rPr lang="en-US" sz="2000" dirty="0" err="1">
                <a:latin typeface="Arial" charset="0"/>
                <a:sym typeface="Symbol" pitchFamily="18" charset="2"/>
              </a:rPr>
              <a:t>t.MA_NQL</a:t>
            </a:r>
            <a:r>
              <a:rPr lang="en-US" sz="2000" dirty="0">
                <a:latin typeface="Arial" charset="0"/>
                <a:sym typeface="Symbol" pitchFamily="18" charset="2"/>
              </a:rPr>
              <a:t> </a:t>
            </a:r>
            <a:r>
              <a:rPr lang="en-US" sz="2000" b="1" dirty="0">
                <a:latin typeface="Arial" charset="0"/>
                <a:sym typeface="Symbol" pitchFamily="18" charset="2"/>
              </a:rPr>
              <a:t></a:t>
            </a:r>
            <a:r>
              <a:rPr lang="en-US" sz="2000" dirty="0">
                <a:latin typeface="Arial" charset="0"/>
                <a:sym typeface="Symbol" pitchFamily="18" charset="2"/>
              </a:rPr>
              <a:t> null )</a:t>
            </a:r>
          </a:p>
        </p:txBody>
      </p:sp>
      <p:grpSp>
        <p:nvGrpSpPr>
          <p:cNvPr id="599063" name="Group 23"/>
          <p:cNvGrpSpPr>
            <a:grpSpLocks/>
          </p:cNvGrpSpPr>
          <p:nvPr/>
        </p:nvGrpSpPr>
        <p:grpSpPr bwMode="auto">
          <a:xfrm>
            <a:off x="1524000" y="4818797"/>
            <a:ext cx="5486400" cy="914400"/>
            <a:chOff x="960" y="3120"/>
            <a:chExt cx="3456" cy="576"/>
          </a:xfrm>
        </p:grpSpPr>
        <p:sp>
          <p:nvSpPr>
            <p:cNvPr id="599046" name="Line 6"/>
            <p:cNvSpPr>
              <a:spLocks noChangeShapeType="1"/>
            </p:cNvSpPr>
            <p:nvPr/>
          </p:nvSpPr>
          <p:spPr bwMode="auto">
            <a:xfrm>
              <a:off x="960" y="3360"/>
              <a:ext cx="34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9047" name="Text Box 7"/>
            <p:cNvSpPr txBox="1">
              <a:spLocks noChangeArrowheads="1"/>
            </p:cNvSpPr>
            <p:nvPr/>
          </p:nvSpPr>
          <p:spPr bwMode="auto">
            <a:xfrm>
              <a:off x="1152" y="3129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R</a:t>
              </a:r>
              <a:r>
                <a:rPr lang="en-US" sz="1400"/>
                <a:t>8</a:t>
              </a:r>
            </a:p>
          </p:txBody>
        </p:sp>
        <p:sp>
          <p:nvSpPr>
            <p:cNvPr id="599048" name="Text Box 8"/>
            <p:cNvSpPr txBox="1">
              <a:spLocks noChangeArrowheads="1"/>
            </p:cNvSpPr>
            <p:nvPr/>
          </p:nvSpPr>
          <p:spPr bwMode="auto">
            <a:xfrm>
              <a:off x="960" y="3388"/>
              <a:ext cx="912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NHANVIEN</a:t>
              </a:r>
            </a:p>
          </p:txBody>
        </p:sp>
        <p:grpSp>
          <p:nvGrpSpPr>
            <p:cNvPr id="599049" name="Group 9"/>
            <p:cNvGrpSpPr>
              <a:grpSpLocks/>
            </p:cNvGrpSpPr>
            <p:nvPr/>
          </p:nvGrpSpPr>
          <p:grpSpPr bwMode="auto">
            <a:xfrm>
              <a:off x="1872" y="3120"/>
              <a:ext cx="1488" cy="576"/>
              <a:chOff x="2160" y="3168"/>
              <a:chExt cx="1488" cy="624"/>
            </a:xfrm>
          </p:grpSpPr>
          <p:sp>
            <p:nvSpPr>
              <p:cNvPr id="599050" name="Line 10"/>
              <p:cNvSpPr>
                <a:spLocks noChangeShapeType="1"/>
              </p:cNvSpPr>
              <p:nvPr/>
            </p:nvSpPr>
            <p:spPr bwMode="auto">
              <a:xfrm>
                <a:off x="216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99051" name="Line 11"/>
              <p:cNvSpPr>
                <a:spLocks noChangeShapeType="1"/>
              </p:cNvSpPr>
              <p:nvPr/>
            </p:nvSpPr>
            <p:spPr bwMode="auto">
              <a:xfrm>
                <a:off x="288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99052" name="Line 12"/>
              <p:cNvSpPr>
                <a:spLocks noChangeShapeType="1"/>
              </p:cNvSpPr>
              <p:nvPr/>
            </p:nvSpPr>
            <p:spPr bwMode="auto">
              <a:xfrm>
                <a:off x="3648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599053" name="Text Box 13"/>
            <p:cNvSpPr txBox="1">
              <a:spLocks noChangeArrowheads="1"/>
            </p:cNvSpPr>
            <p:nvPr/>
          </p:nvSpPr>
          <p:spPr bwMode="auto">
            <a:xfrm>
              <a:off x="1872" y="3120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dirty="0" err="1"/>
                <a:t>Thêm</a:t>
              </a:r>
              <a:endParaRPr lang="en-US" sz="1800" dirty="0"/>
            </a:p>
          </p:txBody>
        </p:sp>
        <p:sp>
          <p:nvSpPr>
            <p:cNvPr id="599054" name="Text Box 14"/>
            <p:cNvSpPr txBox="1">
              <a:spLocks noChangeArrowheads="1"/>
            </p:cNvSpPr>
            <p:nvPr/>
          </p:nvSpPr>
          <p:spPr bwMode="auto">
            <a:xfrm>
              <a:off x="2640" y="3120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Xóa</a:t>
              </a:r>
            </a:p>
          </p:txBody>
        </p:sp>
        <p:sp>
          <p:nvSpPr>
            <p:cNvPr id="599055" name="Text Box 15"/>
            <p:cNvSpPr txBox="1">
              <a:spLocks noChangeArrowheads="1"/>
            </p:cNvSpPr>
            <p:nvPr/>
          </p:nvSpPr>
          <p:spPr bwMode="auto">
            <a:xfrm>
              <a:off x="3360" y="3120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Sửa</a:t>
              </a:r>
            </a:p>
          </p:txBody>
        </p:sp>
        <p:sp>
          <p:nvSpPr>
            <p:cNvPr id="599056" name="Text Box 16"/>
            <p:cNvSpPr txBox="1">
              <a:spLocks noChangeArrowheads="1"/>
            </p:cNvSpPr>
            <p:nvPr/>
          </p:nvSpPr>
          <p:spPr bwMode="auto">
            <a:xfrm>
              <a:off x="1872" y="3397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ym typeface="Symbol" pitchFamily="18" charset="2"/>
                </a:rPr>
                <a:t>+</a:t>
              </a:r>
            </a:p>
          </p:txBody>
        </p:sp>
        <p:sp>
          <p:nvSpPr>
            <p:cNvPr id="599057" name="Text Box 17"/>
            <p:cNvSpPr txBox="1">
              <a:spLocks noChangeArrowheads="1"/>
            </p:cNvSpPr>
            <p:nvPr/>
          </p:nvSpPr>
          <p:spPr bwMode="auto">
            <a:xfrm>
              <a:off x="2592" y="3388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ym typeface="Symbol" pitchFamily="18" charset="2"/>
                </a:rPr>
                <a:t></a:t>
              </a:r>
            </a:p>
          </p:txBody>
        </p:sp>
        <p:sp>
          <p:nvSpPr>
            <p:cNvPr id="599058" name="Text Box 18"/>
            <p:cNvSpPr txBox="1">
              <a:spLocks noChangeArrowheads="1"/>
            </p:cNvSpPr>
            <p:nvPr/>
          </p:nvSpPr>
          <p:spPr bwMode="auto">
            <a:xfrm>
              <a:off x="3360" y="3388"/>
              <a:ext cx="1056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ym typeface="Symbol" pitchFamily="18" charset="2"/>
                </a:rPr>
                <a:t></a:t>
              </a:r>
              <a:r>
                <a:rPr lang="en-US" sz="1800"/>
                <a:t> (MA_NQL)</a:t>
              </a:r>
            </a:p>
          </p:txBody>
        </p:sp>
      </p:grpSp>
      <p:grpSp>
        <p:nvGrpSpPr>
          <p:cNvPr id="599062" name="Group 22"/>
          <p:cNvGrpSpPr>
            <a:grpSpLocks/>
          </p:cNvGrpSpPr>
          <p:nvPr/>
        </p:nvGrpSpPr>
        <p:grpSpPr bwMode="auto">
          <a:xfrm>
            <a:off x="2971800" y="5638800"/>
            <a:ext cx="4724400" cy="685800"/>
            <a:chOff x="1872" y="3744"/>
            <a:chExt cx="2976" cy="432"/>
          </a:xfrm>
        </p:grpSpPr>
        <p:sp>
          <p:nvSpPr>
            <p:cNvPr id="599059" name="Text Box 19"/>
            <p:cNvSpPr txBox="1">
              <a:spLocks noChangeArrowheads="1"/>
            </p:cNvSpPr>
            <p:nvPr/>
          </p:nvSpPr>
          <p:spPr bwMode="auto">
            <a:xfrm>
              <a:off x="1872" y="3984"/>
              <a:ext cx="2976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en-US" sz="1400"/>
                <a:t>Ở thời điểm thêm 1 bộ vào NHANVIEN, MA_NQL là null</a:t>
              </a:r>
            </a:p>
          </p:txBody>
        </p:sp>
        <p:sp>
          <p:nvSpPr>
            <p:cNvPr id="599060" name="Line 20"/>
            <p:cNvSpPr>
              <a:spLocks noChangeShapeType="1"/>
            </p:cNvSpPr>
            <p:nvPr/>
          </p:nvSpPr>
          <p:spPr bwMode="auto">
            <a:xfrm>
              <a:off x="2256" y="3744"/>
              <a:ext cx="192" cy="240"/>
            </a:xfrm>
            <a:prstGeom prst="line">
              <a:avLst/>
            </a:prstGeom>
            <a:noFill/>
            <a:ln w="12700">
              <a:solidFill>
                <a:srgbClr val="777777"/>
              </a:solidFill>
              <a:prstDash val="dash"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599064" name="Text Box 24"/>
          <p:cNvSpPr txBox="1">
            <a:spLocks noChangeArrowheads="1"/>
          </p:cNvSpPr>
          <p:nvPr/>
        </p:nvSpPr>
        <p:spPr bwMode="auto">
          <a:xfrm>
            <a:off x="2400300" y="2408237"/>
            <a:ext cx="1524000" cy="3968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000" dirty="0">
                <a:latin typeface="Arial" charset="0"/>
                <a:sym typeface="Symbol" pitchFamily="18" charset="2"/>
              </a:rPr>
              <a:t>NHANVIEN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0016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99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99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99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99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9044" grpId="0"/>
      <p:bldP spid="59906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0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9 </a:t>
            </a:r>
          </a:p>
        </p:txBody>
      </p:sp>
      <p:sp>
        <p:nvSpPr>
          <p:cNvPr id="60109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r>
              <a:rPr lang="en-US" dirty="0"/>
              <a:t>KHOAHOC(</a:t>
            </a:r>
            <a:r>
              <a:rPr lang="en-US" u="sng" dirty="0"/>
              <a:t>MAKH</a:t>
            </a:r>
            <a:r>
              <a:rPr lang="en-US" dirty="0"/>
              <a:t>, TENKH, BDAU, KTHUC) </a:t>
            </a:r>
          </a:p>
          <a:p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kéo</a:t>
            </a:r>
            <a:r>
              <a:rPr lang="en-US" dirty="0"/>
              <a:t> </a:t>
            </a:r>
            <a:r>
              <a:rPr lang="en-US" dirty="0" err="1"/>
              <a:t>dài</a:t>
            </a:r>
            <a:r>
              <a:rPr lang="en-US" dirty="0"/>
              <a:t> </a:t>
            </a:r>
            <a:r>
              <a:rPr lang="en-US" dirty="0" err="1"/>
              <a:t>ít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3 </a:t>
            </a:r>
            <a:r>
              <a:rPr lang="en-US" dirty="0" err="1" smtClean="0"/>
              <a:t>tháng</a:t>
            </a:r>
            <a:endParaRPr lang="en-US" dirty="0"/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Bối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cảnh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Biểu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diễn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Bảng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tầm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ảnh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hưởng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601092" name="Text Box 4"/>
          <p:cNvSpPr txBox="1">
            <a:spLocks noChangeArrowheads="1"/>
          </p:cNvSpPr>
          <p:nvPr/>
        </p:nvSpPr>
        <p:spPr bwMode="auto">
          <a:xfrm>
            <a:off x="1462585" y="3900487"/>
            <a:ext cx="6172200" cy="3968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000" b="1" dirty="0">
                <a:latin typeface="Arial" charset="0"/>
                <a:sym typeface="Symbol" pitchFamily="18" charset="2"/>
              </a:rPr>
              <a:t></a:t>
            </a:r>
            <a:r>
              <a:rPr lang="en-US" sz="2000" dirty="0">
                <a:latin typeface="Arial" charset="0"/>
                <a:sym typeface="Symbol" pitchFamily="18" charset="2"/>
              </a:rPr>
              <a:t>t </a:t>
            </a:r>
            <a:r>
              <a:rPr lang="en-US" sz="2000" b="1" dirty="0">
                <a:latin typeface="Arial" charset="0"/>
                <a:sym typeface="Symbol" pitchFamily="18" charset="2"/>
              </a:rPr>
              <a:t></a:t>
            </a:r>
            <a:r>
              <a:rPr lang="en-US" sz="2000" dirty="0">
                <a:latin typeface="Arial" charset="0"/>
                <a:sym typeface="Symbol" pitchFamily="18" charset="2"/>
              </a:rPr>
              <a:t> KHOAHOC ( </a:t>
            </a:r>
            <a:r>
              <a:rPr lang="en-US" sz="2000" dirty="0" err="1">
                <a:latin typeface="Arial" charset="0"/>
                <a:sym typeface="Symbol" pitchFamily="18" charset="2"/>
              </a:rPr>
              <a:t>t.KTHUC</a:t>
            </a:r>
            <a:r>
              <a:rPr lang="en-US" sz="2000" dirty="0">
                <a:latin typeface="Arial" charset="0"/>
                <a:sym typeface="Symbol" pitchFamily="18" charset="2"/>
              </a:rPr>
              <a:t> </a:t>
            </a:r>
            <a:r>
              <a:rPr lang="en-US" sz="2000" b="1" dirty="0">
                <a:latin typeface="Arial" charset="0"/>
                <a:sym typeface="Symbol" pitchFamily="18" charset="2"/>
              </a:rPr>
              <a:t></a:t>
            </a:r>
            <a:r>
              <a:rPr lang="en-US" sz="2000" dirty="0">
                <a:latin typeface="Arial" charset="0"/>
                <a:sym typeface="Symbol" pitchFamily="18" charset="2"/>
              </a:rPr>
              <a:t> </a:t>
            </a:r>
            <a:r>
              <a:rPr lang="en-US" sz="2000" dirty="0" err="1">
                <a:latin typeface="Arial" charset="0"/>
                <a:sym typeface="Symbol" pitchFamily="18" charset="2"/>
              </a:rPr>
              <a:t>t.BDAU</a:t>
            </a:r>
            <a:r>
              <a:rPr lang="en-US" sz="2000" dirty="0">
                <a:latin typeface="Arial" charset="0"/>
                <a:sym typeface="Symbol" pitchFamily="18" charset="2"/>
              </a:rPr>
              <a:t> </a:t>
            </a:r>
            <a:r>
              <a:rPr lang="en-US" sz="2000" b="1" dirty="0">
                <a:latin typeface="Arial" charset="0"/>
                <a:sym typeface="Symbol" pitchFamily="18" charset="2"/>
              </a:rPr>
              <a:t></a:t>
            </a:r>
            <a:r>
              <a:rPr lang="en-US" sz="2000" dirty="0">
                <a:latin typeface="Arial" charset="0"/>
                <a:sym typeface="Symbol" pitchFamily="18" charset="2"/>
              </a:rPr>
              <a:t> 3 )</a:t>
            </a:r>
          </a:p>
        </p:txBody>
      </p:sp>
      <p:grpSp>
        <p:nvGrpSpPr>
          <p:cNvPr id="601093" name="Group 5"/>
          <p:cNvGrpSpPr>
            <a:grpSpLocks/>
          </p:cNvGrpSpPr>
          <p:nvPr/>
        </p:nvGrpSpPr>
        <p:grpSpPr bwMode="auto">
          <a:xfrm>
            <a:off x="1524000" y="5334000"/>
            <a:ext cx="6172200" cy="914400"/>
            <a:chOff x="960" y="3312"/>
            <a:chExt cx="3888" cy="576"/>
          </a:xfrm>
        </p:grpSpPr>
        <p:sp>
          <p:nvSpPr>
            <p:cNvPr id="601094" name="Line 6"/>
            <p:cNvSpPr>
              <a:spLocks noChangeShapeType="1"/>
            </p:cNvSpPr>
            <p:nvPr/>
          </p:nvSpPr>
          <p:spPr bwMode="auto">
            <a:xfrm>
              <a:off x="960" y="3552"/>
              <a:ext cx="32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01095" name="Text Box 7"/>
            <p:cNvSpPr txBox="1">
              <a:spLocks noChangeArrowheads="1"/>
            </p:cNvSpPr>
            <p:nvPr/>
          </p:nvSpPr>
          <p:spPr bwMode="auto">
            <a:xfrm>
              <a:off x="1152" y="3321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R</a:t>
              </a:r>
              <a:r>
                <a:rPr lang="en-US" sz="1400"/>
                <a:t>9</a:t>
              </a:r>
            </a:p>
          </p:txBody>
        </p:sp>
        <p:sp>
          <p:nvSpPr>
            <p:cNvPr id="601096" name="Text Box 8"/>
            <p:cNvSpPr txBox="1">
              <a:spLocks noChangeArrowheads="1"/>
            </p:cNvSpPr>
            <p:nvPr/>
          </p:nvSpPr>
          <p:spPr bwMode="auto">
            <a:xfrm>
              <a:off x="960" y="3580"/>
              <a:ext cx="912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KHOAHOC</a:t>
              </a:r>
            </a:p>
          </p:txBody>
        </p:sp>
        <p:grpSp>
          <p:nvGrpSpPr>
            <p:cNvPr id="601097" name="Group 9"/>
            <p:cNvGrpSpPr>
              <a:grpSpLocks/>
            </p:cNvGrpSpPr>
            <p:nvPr/>
          </p:nvGrpSpPr>
          <p:grpSpPr bwMode="auto">
            <a:xfrm>
              <a:off x="1872" y="3312"/>
              <a:ext cx="1488" cy="576"/>
              <a:chOff x="2160" y="3168"/>
              <a:chExt cx="1488" cy="624"/>
            </a:xfrm>
          </p:grpSpPr>
          <p:sp>
            <p:nvSpPr>
              <p:cNvPr id="601098" name="Line 10"/>
              <p:cNvSpPr>
                <a:spLocks noChangeShapeType="1"/>
              </p:cNvSpPr>
              <p:nvPr/>
            </p:nvSpPr>
            <p:spPr bwMode="auto">
              <a:xfrm>
                <a:off x="216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01099" name="Line 11"/>
              <p:cNvSpPr>
                <a:spLocks noChangeShapeType="1"/>
              </p:cNvSpPr>
              <p:nvPr/>
            </p:nvSpPr>
            <p:spPr bwMode="auto">
              <a:xfrm>
                <a:off x="288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01100" name="Line 12"/>
              <p:cNvSpPr>
                <a:spLocks noChangeShapeType="1"/>
              </p:cNvSpPr>
              <p:nvPr/>
            </p:nvSpPr>
            <p:spPr bwMode="auto">
              <a:xfrm>
                <a:off x="3648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601101" name="Text Box 13"/>
            <p:cNvSpPr txBox="1">
              <a:spLocks noChangeArrowheads="1"/>
            </p:cNvSpPr>
            <p:nvPr/>
          </p:nvSpPr>
          <p:spPr bwMode="auto">
            <a:xfrm>
              <a:off x="1872" y="3312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Thêm</a:t>
              </a:r>
            </a:p>
          </p:txBody>
        </p:sp>
        <p:sp>
          <p:nvSpPr>
            <p:cNvPr id="601102" name="Text Box 14"/>
            <p:cNvSpPr txBox="1">
              <a:spLocks noChangeArrowheads="1"/>
            </p:cNvSpPr>
            <p:nvPr/>
          </p:nvSpPr>
          <p:spPr bwMode="auto">
            <a:xfrm>
              <a:off x="2640" y="3312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Xóa</a:t>
              </a:r>
            </a:p>
          </p:txBody>
        </p:sp>
        <p:sp>
          <p:nvSpPr>
            <p:cNvPr id="601103" name="Text Box 15"/>
            <p:cNvSpPr txBox="1">
              <a:spLocks noChangeArrowheads="1"/>
            </p:cNvSpPr>
            <p:nvPr/>
          </p:nvSpPr>
          <p:spPr bwMode="auto">
            <a:xfrm>
              <a:off x="3360" y="3312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Sửa</a:t>
              </a:r>
            </a:p>
          </p:txBody>
        </p:sp>
        <p:sp>
          <p:nvSpPr>
            <p:cNvPr id="601104" name="Text Box 16"/>
            <p:cNvSpPr txBox="1">
              <a:spLocks noChangeArrowheads="1"/>
            </p:cNvSpPr>
            <p:nvPr/>
          </p:nvSpPr>
          <p:spPr bwMode="auto">
            <a:xfrm>
              <a:off x="1872" y="3589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ym typeface="Symbol" pitchFamily="18" charset="2"/>
                </a:rPr>
                <a:t></a:t>
              </a:r>
            </a:p>
          </p:txBody>
        </p:sp>
        <p:sp>
          <p:nvSpPr>
            <p:cNvPr id="601105" name="Text Box 17"/>
            <p:cNvSpPr txBox="1">
              <a:spLocks noChangeArrowheads="1"/>
            </p:cNvSpPr>
            <p:nvPr/>
          </p:nvSpPr>
          <p:spPr bwMode="auto">
            <a:xfrm>
              <a:off x="2592" y="3580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ym typeface="Symbol" pitchFamily="18" charset="2"/>
                </a:rPr>
                <a:t></a:t>
              </a:r>
            </a:p>
          </p:txBody>
        </p:sp>
        <p:sp>
          <p:nvSpPr>
            <p:cNvPr id="601106" name="Text Box 18"/>
            <p:cNvSpPr txBox="1">
              <a:spLocks noChangeArrowheads="1"/>
            </p:cNvSpPr>
            <p:nvPr/>
          </p:nvSpPr>
          <p:spPr bwMode="auto">
            <a:xfrm>
              <a:off x="3360" y="3580"/>
              <a:ext cx="148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ym typeface="Symbol" pitchFamily="18" charset="2"/>
                </a:rPr>
                <a:t></a:t>
              </a:r>
              <a:r>
                <a:rPr lang="en-US" sz="1800"/>
                <a:t> (BDAU, KTHUC)</a:t>
              </a:r>
            </a:p>
          </p:txBody>
        </p:sp>
      </p:grpSp>
      <p:sp>
        <p:nvSpPr>
          <p:cNvPr id="601110" name="Text Box 22"/>
          <p:cNvSpPr txBox="1">
            <a:spLocks noChangeArrowheads="1"/>
          </p:cNvSpPr>
          <p:nvPr/>
        </p:nvSpPr>
        <p:spPr bwMode="auto">
          <a:xfrm>
            <a:off x="2400300" y="2865437"/>
            <a:ext cx="1524000" cy="3968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000" dirty="0">
                <a:latin typeface="Arial" charset="0"/>
                <a:sym typeface="Symbol" pitchFamily="18" charset="2"/>
              </a:rPr>
              <a:t>KHOAHOC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5624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01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01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01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1092" grpId="0"/>
      <p:bldP spid="6011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289" name="Rectangle 9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smtClean="0"/>
              <a:t>3.2.1. RBTV </a:t>
            </a:r>
            <a:r>
              <a:rPr lang="en-US" sz="3500" b="1" dirty="0"/>
              <a:t>- </a:t>
            </a:r>
            <a:r>
              <a:rPr lang="en-US" sz="3500" b="1" dirty="0" err="1"/>
              <a:t>Tham</a:t>
            </a:r>
            <a:r>
              <a:rPr lang="en-US" sz="3500" b="1" dirty="0"/>
              <a:t> </a:t>
            </a:r>
            <a:r>
              <a:rPr lang="en-US" sz="3500" b="1" dirty="0" err="1"/>
              <a:t>chiếu</a:t>
            </a:r>
            <a:endParaRPr lang="en-US" sz="3500" b="1" dirty="0"/>
          </a:p>
        </p:txBody>
      </p:sp>
      <p:sp>
        <p:nvSpPr>
          <p:cNvPr id="609290" name="Rectangle 10"/>
          <p:cNvSpPr>
            <a:spLocks noGrp="1" noChangeArrowheads="1"/>
          </p:cNvSpPr>
          <p:nvPr>
            <p:ph sz="quarter" idx="1"/>
          </p:nvPr>
        </p:nvSpPr>
        <p:spPr>
          <a:xfrm>
            <a:off x="381000" y="1524000"/>
            <a:ext cx="8458200" cy="47244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chiếu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trước</a:t>
            </a:r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biệt</a:t>
            </a:r>
            <a:endParaRPr lang="en-US" dirty="0"/>
          </a:p>
          <a:p>
            <a:pPr lvl="1" algn="just"/>
            <a:r>
              <a:rPr lang="en-US" dirty="0">
                <a:solidFill>
                  <a:schemeClr val="tx1"/>
                </a:solidFill>
              </a:rPr>
              <a:t>RB </a:t>
            </a:r>
            <a:r>
              <a:rPr lang="en-US" dirty="0" err="1">
                <a:solidFill>
                  <a:schemeClr val="tx1"/>
                </a:solidFill>
              </a:rPr>
              <a:t>khóa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ngoại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609346" name="Group 66"/>
          <p:cNvGrpSpPr>
            <a:grpSpLocks/>
          </p:cNvGrpSpPr>
          <p:nvPr/>
        </p:nvGrpSpPr>
        <p:grpSpPr bwMode="auto">
          <a:xfrm>
            <a:off x="3581400" y="2819400"/>
            <a:ext cx="3276600" cy="1676400"/>
            <a:chOff x="1872" y="1968"/>
            <a:chExt cx="2064" cy="1056"/>
          </a:xfrm>
        </p:grpSpPr>
        <p:sp>
          <p:nvSpPr>
            <p:cNvPr id="609339" name="Rectangle 59"/>
            <p:cNvSpPr>
              <a:spLocks noChangeArrowheads="1"/>
            </p:cNvSpPr>
            <p:nvPr/>
          </p:nvSpPr>
          <p:spPr bwMode="auto">
            <a:xfrm>
              <a:off x="3648" y="2064"/>
              <a:ext cx="288" cy="624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09338" name="Rectangle 58"/>
            <p:cNvSpPr>
              <a:spLocks noChangeArrowheads="1"/>
            </p:cNvSpPr>
            <p:nvPr/>
          </p:nvSpPr>
          <p:spPr bwMode="auto">
            <a:xfrm>
              <a:off x="1872" y="1968"/>
              <a:ext cx="288" cy="1056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09344" name="Line 64"/>
            <p:cNvSpPr>
              <a:spLocks noChangeShapeType="1"/>
            </p:cNvSpPr>
            <p:nvPr/>
          </p:nvSpPr>
          <p:spPr bwMode="auto">
            <a:xfrm flipH="1">
              <a:off x="2064" y="2592"/>
              <a:ext cx="1680" cy="96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09345" name="Line 65"/>
            <p:cNvSpPr>
              <a:spLocks noChangeShapeType="1"/>
            </p:cNvSpPr>
            <p:nvPr/>
          </p:nvSpPr>
          <p:spPr bwMode="auto">
            <a:xfrm flipH="1">
              <a:off x="2064" y="2400"/>
              <a:ext cx="1680" cy="96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09291" name="Group 11"/>
          <p:cNvGrpSpPr>
            <a:grpSpLocks/>
          </p:cNvGrpSpPr>
          <p:nvPr/>
        </p:nvGrpSpPr>
        <p:grpSpPr bwMode="auto">
          <a:xfrm>
            <a:off x="1676400" y="2819400"/>
            <a:ext cx="2362200" cy="1676400"/>
            <a:chOff x="624" y="1392"/>
            <a:chExt cx="1488" cy="1056"/>
          </a:xfrm>
        </p:grpSpPr>
        <p:sp>
          <p:nvSpPr>
            <p:cNvPr id="609292" name="Line 12"/>
            <p:cNvSpPr>
              <a:spLocks noChangeShapeType="1"/>
            </p:cNvSpPr>
            <p:nvPr/>
          </p:nvSpPr>
          <p:spPr bwMode="auto">
            <a:xfrm>
              <a:off x="624" y="1584"/>
              <a:ext cx="14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09293" name="Text Box 13"/>
            <p:cNvSpPr txBox="1">
              <a:spLocks noChangeArrowheads="1"/>
            </p:cNvSpPr>
            <p:nvPr/>
          </p:nvSpPr>
          <p:spPr bwMode="auto">
            <a:xfrm>
              <a:off x="960" y="139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A</a:t>
              </a:r>
            </a:p>
          </p:txBody>
        </p:sp>
        <p:sp>
          <p:nvSpPr>
            <p:cNvPr id="609294" name="Text Box 14"/>
            <p:cNvSpPr txBox="1">
              <a:spLocks noChangeArrowheads="1"/>
            </p:cNvSpPr>
            <p:nvPr/>
          </p:nvSpPr>
          <p:spPr bwMode="auto">
            <a:xfrm>
              <a:off x="1248" y="139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B</a:t>
              </a:r>
            </a:p>
          </p:txBody>
        </p:sp>
        <p:sp>
          <p:nvSpPr>
            <p:cNvPr id="609295" name="Text Box 15"/>
            <p:cNvSpPr txBox="1">
              <a:spLocks noChangeArrowheads="1"/>
            </p:cNvSpPr>
            <p:nvPr/>
          </p:nvSpPr>
          <p:spPr bwMode="auto">
            <a:xfrm>
              <a:off x="960" y="163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</a:t>
              </a:r>
            </a:p>
          </p:txBody>
        </p:sp>
        <p:sp>
          <p:nvSpPr>
            <p:cNvPr id="609296" name="Line 16"/>
            <p:cNvSpPr>
              <a:spLocks noChangeShapeType="1"/>
            </p:cNvSpPr>
            <p:nvPr/>
          </p:nvSpPr>
          <p:spPr bwMode="auto">
            <a:xfrm>
              <a:off x="624" y="1392"/>
              <a:ext cx="14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09297" name="Line 17"/>
            <p:cNvSpPr>
              <a:spLocks noChangeShapeType="1"/>
            </p:cNvSpPr>
            <p:nvPr/>
          </p:nvSpPr>
          <p:spPr bwMode="auto">
            <a:xfrm>
              <a:off x="960" y="2448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09298" name="Text Box 18"/>
            <p:cNvSpPr txBox="1">
              <a:spLocks noChangeArrowheads="1"/>
            </p:cNvSpPr>
            <p:nvPr/>
          </p:nvSpPr>
          <p:spPr bwMode="auto">
            <a:xfrm>
              <a:off x="624" y="1392"/>
              <a:ext cx="336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 b="1"/>
                <a:t>R</a:t>
              </a:r>
            </a:p>
          </p:txBody>
        </p:sp>
        <p:sp>
          <p:nvSpPr>
            <p:cNvPr id="609299" name="Line 19"/>
            <p:cNvSpPr>
              <a:spLocks noChangeShapeType="1"/>
            </p:cNvSpPr>
            <p:nvPr/>
          </p:nvSpPr>
          <p:spPr bwMode="auto">
            <a:xfrm>
              <a:off x="624" y="139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09300" name="Text Box 20"/>
            <p:cNvSpPr txBox="1">
              <a:spLocks noChangeArrowheads="1"/>
            </p:cNvSpPr>
            <p:nvPr/>
          </p:nvSpPr>
          <p:spPr bwMode="auto">
            <a:xfrm>
              <a:off x="960" y="1824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</a:t>
              </a:r>
            </a:p>
          </p:txBody>
        </p:sp>
        <p:sp>
          <p:nvSpPr>
            <p:cNvPr id="609301" name="Text Box 21"/>
            <p:cNvSpPr txBox="1">
              <a:spLocks noChangeArrowheads="1"/>
            </p:cNvSpPr>
            <p:nvPr/>
          </p:nvSpPr>
          <p:spPr bwMode="auto">
            <a:xfrm>
              <a:off x="960" y="2016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</a:t>
              </a:r>
            </a:p>
          </p:txBody>
        </p:sp>
        <p:sp>
          <p:nvSpPr>
            <p:cNvPr id="609302" name="Line 22"/>
            <p:cNvSpPr>
              <a:spLocks noChangeShapeType="1"/>
            </p:cNvSpPr>
            <p:nvPr/>
          </p:nvSpPr>
          <p:spPr bwMode="auto">
            <a:xfrm>
              <a:off x="1248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09303" name="Line 23"/>
            <p:cNvSpPr>
              <a:spLocks noChangeShapeType="1"/>
            </p:cNvSpPr>
            <p:nvPr/>
          </p:nvSpPr>
          <p:spPr bwMode="auto">
            <a:xfrm>
              <a:off x="960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09304" name="Line 24"/>
            <p:cNvSpPr>
              <a:spLocks noChangeShapeType="1"/>
            </p:cNvSpPr>
            <p:nvPr/>
          </p:nvSpPr>
          <p:spPr bwMode="auto">
            <a:xfrm>
              <a:off x="1536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09305" name="Text Box 25"/>
            <p:cNvSpPr txBox="1">
              <a:spLocks noChangeArrowheads="1"/>
            </p:cNvSpPr>
            <p:nvPr/>
          </p:nvSpPr>
          <p:spPr bwMode="auto">
            <a:xfrm>
              <a:off x="1536" y="139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C</a:t>
              </a:r>
            </a:p>
          </p:txBody>
        </p:sp>
        <p:sp>
          <p:nvSpPr>
            <p:cNvPr id="609306" name="Text Box 26"/>
            <p:cNvSpPr txBox="1">
              <a:spLocks noChangeArrowheads="1"/>
            </p:cNvSpPr>
            <p:nvPr/>
          </p:nvSpPr>
          <p:spPr bwMode="auto">
            <a:xfrm>
              <a:off x="1536" y="163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1</a:t>
              </a:r>
            </a:p>
          </p:txBody>
        </p:sp>
        <p:sp>
          <p:nvSpPr>
            <p:cNvPr id="609307" name="Text Box 27"/>
            <p:cNvSpPr txBox="1">
              <a:spLocks noChangeArrowheads="1"/>
            </p:cNvSpPr>
            <p:nvPr/>
          </p:nvSpPr>
          <p:spPr bwMode="auto">
            <a:xfrm>
              <a:off x="1536" y="1824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5</a:t>
              </a:r>
            </a:p>
          </p:txBody>
        </p:sp>
        <p:sp>
          <p:nvSpPr>
            <p:cNvPr id="609308" name="Text Box 28"/>
            <p:cNvSpPr txBox="1">
              <a:spLocks noChangeArrowheads="1"/>
            </p:cNvSpPr>
            <p:nvPr/>
          </p:nvSpPr>
          <p:spPr bwMode="auto">
            <a:xfrm>
              <a:off x="1536" y="2016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12</a:t>
              </a:r>
            </a:p>
          </p:txBody>
        </p:sp>
        <p:sp>
          <p:nvSpPr>
            <p:cNvPr id="609309" name="Line 29"/>
            <p:cNvSpPr>
              <a:spLocks noChangeShapeType="1"/>
            </p:cNvSpPr>
            <p:nvPr/>
          </p:nvSpPr>
          <p:spPr bwMode="auto">
            <a:xfrm>
              <a:off x="1824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09310" name="Text Box 30"/>
            <p:cNvSpPr txBox="1">
              <a:spLocks noChangeArrowheads="1"/>
            </p:cNvSpPr>
            <p:nvPr/>
          </p:nvSpPr>
          <p:spPr bwMode="auto">
            <a:xfrm>
              <a:off x="960" y="2208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</a:t>
              </a:r>
            </a:p>
          </p:txBody>
        </p:sp>
        <p:sp>
          <p:nvSpPr>
            <p:cNvPr id="609311" name="Text Box 31"/>
            <p:cNvSpPr txBox="1">
              <a:spLocks noChangeArrowheads="1"/>
            </p:cNvSpPr>
            <p:nvPr/>
          </p:nvSpPr>
          <p:spPr bwMode="auto">
            <a:xfrm>
              <a:off x="1536" y="2208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23</a:t>
              </a:r>
            </a:p>
          </p:txBody>
        </p:sp>
        <p:sp>
          <p:nvSpPr>
            <p:cNvPr id="609312" name="Text Box 32"/>
            <p:cNvSpPr txBox="1">
              <a:spLocks noChangeArrowheads="1"/>
            </p:cNvSpPr>
            <p:nvPr/>
          </p:nvSpPr>
          <p:spPr bwMode="auto">
            <a:xfrm>
              <a:off x="1824" y="139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 u="sng"/>
                <a:t>D  </a:t>
              </a:r>
            </a:p>
          </p:txBody>
        </p:sp>
        <p:sp>
          <p:nvSpPr>
            <p:cNvPr id="609313" name="Text Box 33"/>
            <p:cNvSpPr txBox="1">
              <a:spLocks noChangeArrowheads="1"/>
            </p:cNvSpPr>
            <p:nvPr/>
          </p:nvSpPr>
          <p:spPr bwMode="auto">
            <a:xfrm>
              <a:off x="1824" y="163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1</a:t>
              </a:r>
            </a:p>
          </p:txBody>
        </p:sp>
        <p:sp>
          <p:nvSpPr>
            <p:cNvPr id="609314" name="Text Box 34"/>
            <p:cNvSpPr txBox="1">
              <a:spLocks noChangeArrowheads="1"/>
            </p:cNvSpPr>
            <p:nvPr/>
          </p:nvSpPr>
          <p:spPr bwMode="auto">
            <a:xfrm>
              <a:off x="1824" y="1824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7</a:t>
              </a:r>
            </a:p>
          </p:txBody>
        </p:sp>
        <p:sp>
          <p:nvSpPr>
            <p:cNvPr id="609315" name="Text Box 35"/>
            <p:cNvSpPr txBox="1">
              <a:spLocks noChangeArrowheads="1"/>
            </p:cNvSpPr>
            <p:nvPr/>
          </p:nvSpPr>
          <p:spPr bwMode="auto">
            <a:xfrm>
              <a:off x="1824" y="2016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3</a:t>
              </a:r>
            </a:p>
          </p:txBody>
        </p:sp>
        <p:sp>
          <p:nvSpPr>
            <p:cNvPr id="609316" name="Text Box 36"/>
            <p:cNvSpPr txBox="1">
              <a:spLocks noChangeArrowheads="1"/>
            </p:cNvSpPr>
            <p:nvPr/>
          </p:nvSpPr>
          <p:spPr bwMode="auto">
            <a:xfrm>
              <a:off x="1824" y="2208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9</a:t>
              </a:r>
            </a:p>
          </p:txBody>
        </p:sp>
        <p:sp>
          <p:nvSpPr>
            <p:cNvPr id="609317" name="Text Box 37"/>
            <p:cNvSpPr txBox="1">
              <a:spLocks noChangeArrowheads="1"/>
            </p:cNvSpPr>
            <p:nvPr/>
          </p:nvSpPr>
          <p:spPr bwMode="auto">
            <a:xfrm>
              <a:off x="1248" y="163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</a:t>
              </a:r>
            </a:p>
          </p:txBody>
        </p:sp>
        <p:sp>
          <p:nvSpPr>
            <p:cNvPr id="609318" name="Text Box 38"/>
            <p:cNvSpPr txBox="1">
              <a:spLocks noChangeArrowheads="1"/>
            </p:cNvSpPr>
            <p:nvPr/>
          </p:nvSpPr>
          <p:spPr bwMode="auto">
            <a:xfrm>
              <a:off x="1248" y="1824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</a:t>
              </a:r>
            </a:p>
          </p:txBody>
        </p:sp>
        <p:sp>
          <p:nvSpPr>
            <p:cNvPr id="609319" name="Text Box 39"/>
            <p:cNvSpPr txBox="1">
              <a:spLocks noChangeArrowheads="1"/>
            </p:cNvSpPr>
            <p:nvPr/>
          </p:nvSpPr>
          <p:spPr bwMode="auto">
            <a:xfrm>
              <a:off x="1248" y="2016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</a:t>
              </a:r>
            </a:p>
          </p:txBody>
        </p:sp>
        <p:sp>
          <p:nvSpPr>
            <p:cNvPr id="609320" name="Text Box 40"/>
            <p:cNvSpPr txBox="1">
              <a:spLocks noChangeArrowheads="1"/>
            </p:cNvSpPr>
            <p:nvPr/>
          </p:nvSpPr>
          <p:spPr bwMode="auto">
            <a:xfrm>
              <a:off x="1248" y="2208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</a:t>
              </a:r>
            </a:p>
          </p:txBody>
        </p:sp>
        <p:sp>
          <p:nvSpPr>
            <p:cNvPr id="609321" name="Line 41"/>
            <p:cNvSpPr>
              <a:spLocks noChangeShapeType="1"/>
            </p:cNvSpPr>
            <p:nvPr/>
          </p:nvSpPr>
          <p:spPr bwMode="auto">
            <a:xfrm>
              <a:off x="2112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09322" name="Group 42"/>
          <p:cNvGrpSpPr>
            <a:grpSpLocks/>
          </p:cNvGrpSpPr>
          <p:nvPr/>
        </p:nvGrpSpPr>
        <p:grpSpPr bwMode="auto">
          <a:xfrm>
            <a:off x="5867400" y="3048000"/>
            <a:ext cx="1447800" cy="990600"/>
            <a:chOff x="528" y="1248"/>
            <a:chExt cx="912" cy="624"/>
          </a:xfrm>
        </p:grpSpPr>
        <p:sp>
          <p:nvSpPr>
            <p:cNvPr id="609323" name="Line 43"/>
            <p:cNvSpPr>
              <a:spLocks noChangeShapeType="1"/>
            </p:cNvSpPr>
            <p:nvPr/>
          </p:nvSpPr>
          <p:spPr bwMode="auto">
            <a:xfrm>
              <a:off x="528" y="1440"/>
              <a:ext cx="9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09324" name="Text Box 44"/>
            <p:cNvSpPr txBox="1">
              <a:spLocks noChangeArrowheads="1"/>
            </p:cNvSpPr>
            <p:nvPr/>
          </p:nvSpPr>
          <p:spPr bwMode="auto">
            <a:xfrm>
              <a:off x="864" y="1248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E</a:t>
              </a:r>
            </a:p>
          </p:txBody>
        </p:sp>
        <p:sp>
          <p:nvSpPr>
            <p:cNvPr id="609325" name="Text Box 45"/>
            <p:cNvSpPr txBox="1">
              <a:spLocks noChangeArrowheads="1"/>
            </p:cNvSpPr>
            <p:nvPr/>
          </p:nvSpPr>
          <p:spPr bwMode="auto">
            <a:xfrm>
              <a:off x="1152" y="1248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F</a:t>
              </a:r>
            </a:p>
          </p:txBody>
        </p:sp>
        <p:sp>
          <p:nvSpPr>
            <p:cNvPr id="609326" name="Text Box 46"/>
            <p:cNvSpPr txBox="1">
              <a:spLocks noChangeArrowheads="1"/>
            </p:cNvSpPr>
            <p:nvPr/>
          </p:nvSpPr>
          <p:spPr bwMode="auto">
            <a:xfrm>
              <a:off x="864" y="1488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7</a:t>
              </a:r>
            </a:p>
          </p:txBody>
        </p:sp>
        <p:sp>
          <p:nvSpPr>
            <p:cNvPr id="609327" name="Line 47"/>
            <p:cNvSpPr>
              <a:spLocks noChangeShapeType="1"/>
            </p:cNvSpPr>
            <p:nvPr/>
          </p:nvSpPr>
          <p:spPr bwMode="auto">
            <a:xfrm>
              <a:off x="528" y="1248"/>
              <a:ext cx="9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09328" name="Line 48"/>
            <p:cNvSpPr>
              <a:spLocks noChangeShapeType="1"/>
            </p:cNvSpPr>
            <p:nvPr/>
          </p:nvSpPr>
          <p:spPr bwMode="auto">
            <a:xfrm>
              <a:off x="864" y="1872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09329" name="Text Box 49"/>
            <p:cNvSpPr txBox="1">
              <a:spLocks noChangeArrowheads="1"/>
            </p:cNvSpPr>
            <p:nvPr/>
          </p:nvSpPr>
          <p:spPr bwMode="auto">
            <a:xfrm>
              <a:off x="528" y="1248"/>
              <a:ext cx="336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 b="1"/>
                <a:t>S</a:t>
              </a:r>
            </a:p>
          </p:txBody>
        </p:sp>
        <p:sp>
          <p:nvSpPr>
            <p:cNvPr id="609330" name="Line 50"/>
            <p:cNvSpPr>
              <a:spLocks noChangeShapeType="1"/>
            </p:cNvSpPr>
            <p:nvPr/>
          </p:nvSpPr>
          <p:spPr bwMode="auto">
            <a:xfrm>
              <a:off x="528" y="124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09331" name="Text Box 51"/>
            <p:cNvSpPr txBox="1">
              <a:spLocks noChangeArrowheads="1"/>
            </p:cNvSpPr>
            <p:nvPr/>
          </p:nvSpPr>
          <p:spPr bwMode="auto">
            <a:xfrm>
              <a:off x="864" y="1680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3</a:t>
              </a:r>
            </a:p>
          </p:txBody>
        </p:sp>
        <p:grpSp>
          <p:nvGrpSpPr>
            <p:cNvPr id="609332" name="Group 52"/>
            <p:cNvGrpSpPr>
              <a:grpSpLocks/>
            </p:cNvGrpSpPr>
            <p:nvPr/>
          </p:nvGrpSpPr>
          <p:grpSpPr bwMode="auto">
            <a:xfrm>
              <a:off x="864" y="1248"/>
              <a:ext cx="576" cy="624"/>
              <a:chOff x="960" y="2880"/>
              <a:chExt cx="576" cy="1008"/>
            </a:xfrm>
          </p:grpSpPr>
          <p:sp>
            <p:nvSpPr>
              <p:cNvPr id="609333" name="Line 53"/>
              <p:cNvSpPr>
                <a:spLocks noChangeShapeType="1"/>
              </p:cNvSpPr>
              <p:nvPr/>
            </p:nvSpPr>
            <p:spPr bwMode="auto">
              <a:xfrm>
                <a:off x="1248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09334" name="Line 54"/>
              <p:cNvSpPr>
                <a:spLocks noChangeShapeType="1"/>
              </p:cNvSpPr>
              <p:nvPr/>
            </p:nvSpPr>
            <p:spPr bwMode="auto">
              <a:xfrm>
                <a:off x="960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09335" name="Line 55"/>
              <p:cNvSpPr>
                <a:spLocks noChangeShapeType="1"/>
              </p:cNvSpPr>
              <p:nvPr/>
            </p:nvSpPr>
            <p:spPr bwMode="auto">
              <a:xfrm>
                <a:off x="1536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609336" name="Text Box 56"/>
            <p:cNvSpPr txBox="1">
              <a:spLocks noChangeArrowheads="1"/>
            </p:cNvSpPr>
            <p:nvPr/>
          </p:nvSpPr>
          <p:spPr bwMode="auto">
            <a:xfrm>
              <a:off x="1152" y="1488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1</a:t>
              </a:r>
            </a:p>
          </p:txBody>
        </p:sp>
        <p:sp>
          <p:nvSpPr>
            <p:cNvPr id="609337" name="Text Box 57"/>
            <p:cNvSpPr txBox="1">
              <a:spLocks noChangeArrowheads="1"/>
            </p:cNvSpPr>
            <p:nvPr/>
          </p:nvSpPr>
          <p:spPr bwMode="auto">
            <a:xfrm>
              <a:off x="1152" y="1680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2</a:t>
              </a:r>
            </a:p>
          </p:txBody>
        </p:sp>
      </p:grpSp>
      <p:grpSp>
        <p:nvGrpSpPr>
          <p:cNvPr id="609351" name="Group 71"/>
          <p:cNvGrpSpPr>
            <a:grpSpLocks/>
          </p:cNvGrpSpPr>
          <p:nvPr/>
        </p:nvGrpSpPr>
        <p:grpSpPr bwMode="auto">
          <a:xfrm>
            <a:off x="1828800" y="4419600"/>
            <a:ext cx="2514600" cy="685800"/>
            <a:chOff x="1200" y="2880"/>
            <a:chExt cx="1584" cy="432"/>
          </a:xfrm>
        </p:grpSpPr>
        <p:sp>
          <p:nvSpPr>
            <p:cNvPr id="609347" name="Text Box 67"/>
            <p:cNvSpPr txBox="1">
              <a:spLocks noChangeArrowheads="1"/>
            </p:cNvSpPr>
            <p:nvPr/>
          </p:nvSpPr>
          <p:spPr bwMode="auto">
            <a:xfrm>
              <a:off x="1200" y="3120"/>
              <a:ext cx="158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 dirty="0" err="1"/>
                <a:t>Bắt</a:t>
              </a:r>
              <a:r>
                <a:rPr lang="en-US" sz="1400" dirty="0"/>
                <a:t> </a:t>
              </a:r>
              <a:r>
                <a:rPr lang="en-US" sz="1400" dirty="0" err="1"/>
                <a:t>buộc</a:t>
              </a:r>
              <a:r>
                <a:rPr lang="en-US" sz="1400" dirty="0"/>
                <a:t> </a:t>
              </a:r>
              <a:r>
                <a:rPr lang="en-US" sz="1400" dirty="0" err="1"/>
                <a:t>phải</a:t>
              </a:r>
              <a:r>
                <a:rPr lang="en-US" sz="1400" dirty="0"/>
                <a:t> </a:t>
              </a:r>
              <a:r>
                <a:rPr lang="en-US" sz="1400" dirty="0" err="1"/>
                <a:t>tồn</a:t>
              </a:r>
              <a:r>
                <a:rPr lang="en-US" sz="1400" dirty="0"/>
                <a:t> </a:t>
              </a:r>
              <a:r>
                <a:rPr lang="en-US" sz="1400" dirty="0" err="1"/>
                <a:t>tại</a:t>
              </a:r>
              <a:r>
                <a:rPr lang="en-US" sz="1400" dirty="0"/>
                <a:t> </a:t>
              </a:r>
              <a:r>
                <a:rPr lang="en-US" sz="1400" dirty="0" err="1"/>
                <a:t>trước</a:t>
              </a:r>
              <a:endParaRPr lang="en-US" sz="1400" dirty="0"/>
            </a:p>
          </p:txBody>
        </p:sp>
        <p:sp>
          <p:nvSpPr>
            <p:cNvPr id="609348" name="Line 68"/>
            <p:cNvSpPr>
              <a:spLocks noChangeShapeType="1"/>
            </p:cNvSpPr>
            <p:nvPr/>
          </p:nvSpPr>
          <p:spPr bwMode="auto">
            <a:xfrm flipH="1">
              <a:off x="2256" y="2880"/>
              <a:ext cx="192" cy="240"/>
            </a:xfrm>
            <a:prstGeom prst="line">
              <a:avLst/>
            </a:prstGeom>
            <a:noFill/>
            <a:ln w="12700">
              <a:solidFill>
                <a:srgbClr val="777777"/>
              </a:solidFill>
              <a:prstDash val="dash"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4316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5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10 </a:t>
            </a:r>
          </a:p>
        </p:txBody>
      </p:sp>
      <p:sp>
        <p:nvSpPr>
          <p:cNvPr id="61952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447800"/>
            <a:ext cx="8229600" cy="4953000"/>
          </a:xfrm>
        </p:spPr>
        <p:txBody>
          <a:bodyPr/>
          <a:lstStyle/>
          <a:p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thân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mối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gia</a:t>
            </a:r>
            <a:r>
              <a:rPr lang="en-US" dirty="0"/>
              <a:t> </a:t>
            </a:r>
            <a:r>
              <a:rPr lang="en-US" dirty="0" err="1"/>
              <a:t>đình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smtClean="0"/>
              <a:t>ty</a:t>
            </a:r>
            <a:endParaRPr lang="en-US" dirty="0"/>
          </a:p>
          <a:p>
            <a:pPr lvl="1"/>
            <a:r>
              <a:rPr lang="en-US" dirty="0" err="1"/>
              <a:t>Bối</a:t>
            </a:r>
            <a:r>
              <a:rPr lang="en-US" dirty="0"/>
              <a:t> </a:t>
            </a:r>
            <a:r>
              <a:rPr lang="en-US" dirty="0" err="1"/>
              <a:t>cảnh</a:t>
            </a:r>
            <a:r>
              <a:rPr lang="en-US" dirty="0"/>
              <a:t>: </a:t>
            </a:r>
          </a:p>
          <a:p>
            <a:pPr lvl="1"/>
            <a:endParaRPr lang="en-US" dirty="0" smtClean="0"/>
          </a:p>
          <a:p>
            <a:pPr lvl="1"/>
            <a:r>
              <a:rPr lang="en-US" dirty="0" err="1" smtClean="0"/>
              <a:t>Biểu</a:t>
            </a:r>
            <a:r>
              <a:rPr lang="en-US" dirty="0" smtClean="0"/>
              <a:t> </a:t>
            </a:r>
            <a:r>
              <a:rPr lang="en-US" dirty="0" err="1"/>
              <a:t>diễn</a:t>
            </a:r>
            <a:r>
              <a:rPr lang="en-US" dirty="0"/>
              <a:t>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tầm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hưởng</a:t>
            </a:r>
            <a:r>
              <a:rPr lang="en-US" dirty="0"/>
              <a:t>:</a:t>
            </a:r>
          </a:p>
        </p:txBody>
      </p:sp>
      <p:sp>
        <p:nvSpPr>
          <p:cNvPr id="619524" name="Text Box 4"/>
          <p:cNvSpPr txBox="1">
            <a:spLocks noChangeArrowheads="1"/>
          </p:cNvSpPr>
          <p:nvPr/>
        </p:nvSpPr>
        <p:spPr bwMode="auto">
          <a:xfrm>
            <a:off x="1371600" y="3625850"/>
            <a:ext cx="7467600" cy="3968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000" b="1">
                <a:latin typeface="Arial" charset="0"/>
                <a:sym typeface="Symbol" pitchFamily="18" charset="2"/>
              </a:rPr>
              <a:t></a:t>
            </a:r>
            <a:r>
              <a:rPr lang="en-US" sz="2000">
                <a:latin typeface="Arial" charset="0"/>
                <a:sym typeface="Symbol" pitchFamily="18" charset="2"/>
              </a:rPr>
              <a:t>t </a:t>
            </a:r>
            <a:r>
              <a:rPr lang="en-US" sz="2000" b="1">
                <a:latin typeface="Arial" charset="0"/>
                <a:sym typeface="Symbol" pitchFamily="18" charset="2"/>
              </a:rPr>
              <a:t></a:t>
            </a:r>
            <a:r>
              <a:rPr lang="en-US" sz="2000">
                <a:latin typeface="Arial" charset="0"/>
                <a:sym typeface="Symbol" pitchFamily="18" charset="2"/>
              </a:rPr>
              <a:t> THANNHAN ( </a:t>
            </a:r>
            <a:r>
              <a:rPr lang="en-US" sz="2000" b="1">
                <a:latin typeface="Arial" charset="0"/>
                <a:sym typeface="Symbol" pitchFamily="18" charset="2"/>
              </a:rPr>
              <a:t></a:t>
            </a:r>
            <a:r>
              <a:rPr lang="en-US" sz="2000">
                <a:latin typeface="Arial" charset="0"/>
                <a:sym typeface="Symbol" pitchFamily="18" charset="2"/>
              </a:rPr>
              <a:t>s </a:t>
            </a:r>
            <a:r>
              <a:rPr lang="en-US" sz="2000" b="1">
                <a:latin typeface="Arial" charset="0"/>
                <a:sym typeface="Symbol" pitchFamily="18" charset="2"/>
              </a:rPr>
              <a:t></a:t>
            </a:r>
            <a:r>
              <a:rPr lang="en-US" sz="2000">
                <a:latin typeface="Arial" charset="0"/>
                <a:sym typeface="Symbol" pitchFamily="18" charset="2"/>
              </a:rPr>
              <a:t> NHANVIEN ( s.MANV </a:t>
            </a:r>
            <a:r>
              <a:rPr lang="en-US" sz="2000" b="1">
                <a:latin typeface="Arial" charset="0"/>
                <a:sym typeface="Symbol" pitchFamily="18" charset="2"/>
              </a:rPr>
              <a:t></a:t>
            </a:r>
            <a:r>
              <a:rPr lang="en-US" sz="2000">
                <a:latin typeface="Arial" charset="0"/>
                <a:sym typeface="Symbol" pitchFamily="18" charset="2"/>
              </a:rPr>
              <a:t> t.MA_NVIEN ))</a:t>
            </a:r>
          </a:p>
        </p:txBody>
      </p:sp>
      <p:sp>
        <p:nvSpPr>
          <p:cNvPr id="619539" name="Text Box 19"/>
          <p:cNvSpPr txBox="1">
            <a:spLocks noChangeArrowheads="1"/>
          </p:cNvSpPr>
          <p:nvPr/>
        </p:nvSpPr>
        <p:spPr bwMode="auto">
          <a:xfrm>
            <a:off x="1371600" y="4218887"/>
            <a:ext cx="5486400" cy="3968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000" dirty="0">
                <a:latin typeface="Arial" charset="0"/>
                <a:sym typeface="Symbol" pitchFamily="18" charset="2"/>
              </a:rPr>
              <a:t>THANNHAN.MA_NVIEN  NHANVIEN.MANV</a:t>
            </a:r>
          </a:p>
        </p:txBody>
      </p:sp>
      <p:sp>
        <p:nvSpPr>
          <p:cNvPr id="619540" name="Text Box 20"/>
          <p:cNvSpPr txBox="1">
            <a:spLocks noChangeArrowheads="1"/>
          </p:cNvSpPr>
          <p:nvPr/>
        </p:nvSpPr>
        <p:spPr bwMode="auto">
          <a:xfrm>
            <a:off x="623248" y="3907015"/>
            <a:ext cx="838200" cy="3667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800" dirty="0"/>
              <a:t>hay</a:t>
            </a:r>
          </a:p>
        </p:txBody>
      </p:sp>
      <p:grpSp>
        <p:nvGrpSpPr>
          <p:cNvPr id="619547" name="Group 27"/>
          <p:cNvGrpSpPr>
            <a:grpSpLocks/>
          </p:cNvGrpSpPr>
          <p:nvPr/>
        </p:nvGrpSpPr>
        <p:grpSpPr bwMode="auto">
          <a:xfrm>
            <a:off x="1371600" y="5181600"/>
            <a:ext cx="5638800" cy="1219200"/>
            <a:chOff x="864" y="3264"/>
            <a:chExt cx="3552" cy="768"/>
          </a:xfrm>
        </p:grpSpPr>
        <p:sp>
          <p:nvSpPr>
            <p:cNvPr id="619527" name="Text Box 7"/>
            <p:cNvSpPr txBox="1">
              <a:spLocks noChangeArrowheads="1"/>
            </p:cNvSpPr>
            <p:nvPr/>
          </p:nvSpPr>
          <p:spPr bwMode="auto">
            <a:xfrm>
              <a:off x="1056" y="3273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R</a:t>
              </a:r>
              <a:r>
                <a:rPr lang="en-US" sz="1400"/>
                <a:t>10</a:t>
              </a:r>
            </a:p>
          </p:txBody>
        </p:sp>
        <p:sp>
          <p:nvSpPr>
            <p:cNvPr id="619528" name="Text Box 8"/>
            <p:cNvSpPr txBox="1">
              <a:spLocks noChangeArrowheads="1"/>
            </p:cNvSpPr>
            <p:nvPr/>
          </p:nvSpPr>
          <p:spPr bwMode="auto">
            <a:xfrm>
              <a:off x="864" y="3532"/>
              <a:ext cx="912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NHANVIEN</a:t>
              </a:r>
            </a:p>
          </p:txBody>
        </p:sp>
        <p:grpSp>
          <p:nvGrpSpPr>
            <p:cNvPr id="619529" name="Group 9"/>
            <p:cNvGrpSpPr>
              <a:grpSpLocks/>
            </p:cNvGrpSpPr>
            <p:nvPr/>
          </p:nvGrpSpPr>
          <p:grpSpPr bwMode="auto">
            <a:xfrm>
              <a:off x="1776" y="3264"/>
              <a:ext cx="1488" cy="768"/>
              <a:chOff x="2160" y="3168"/>
              <a:chExt cx="1488" cy="624"/>
            </a:xfrm>
          </p:grpSpPr>
          <p:sp>
            <p:nvSpPr>
              <p:cNvPr id="619530" name="Line 10"/>
              <p:cNvSpPr>
                <a:spLocks noChangeShapeType="1"/>
              </p:cNvSpPr>
              <p:nvPr/>
            </p:nvSpPr>
            <p:spPr bwMode="auto">
              <a:xfrm>
                <a:off x="216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19531" name="Line 11"/>
              <p:cNvSpPr>
                <a:spLocks noChangeShapeType="1"/>
              </p:cNvSpPr>
              <p:nvPr/>
            </p:nvSpPr>
            <p:spPr bwMode="auto">
              <a:xfrm>
                <a:off x="288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19532" name="Line 12"/>
              <p:cNvSpPr>
                <a:spLocks noChangeShapeType="1"/>
              </p:cNvSpPr>
              <p:nvPr/>
            </p:nvSpPr>
            <p:spPr bwMode="auto">
              <a:xfrm>
                <a:off x="3648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619533" name="Text Box 13"/>
            <p:cNvSpPr txBox="1">
              <a:spLocks noChangeArrowheads="1"/>
            </p:cNvSpPr>
            <p:nvPr/>
          </p:nvSpPr>
          <p:spPr bwMode="auto">
            <a:xfrm>
              <a:off x="1776" y="3264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Thêm</a:t>
              </a:r>
            </a:p>
          </p:txBody>
        </p:sp>
        <p:sp>
          <p:nvSpPr>
            <p:cNvPr id="619534" name="Text Box 14"/>
            <p:cNvSpPr txBox="1">
              <a:spLocks noChangeArrowheads="1"/>
            </p:cNvSpPr>
            <p:nvPr/>
          </p:nvSpPr>
          <p:spPr bwMode="auto">
            <a:xfrm>
              <a:off x="2544" y="3264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Xóa</a:t>
              </a:r>
            </a:p>
          </p:txBody>
        </p:sp>
        <p:sp>
          <p:nvSpPr>
            <p:cNvPr id="619535" name="Text Box 15"/>
            <p:cNvSpPr txBox="1">
              <a:spLocks noChangeArrowheads="1"/>
            </p:cNvSpPr>
            <p:nvPr/>
          </p:nvSpPr>
          <p:spPr bwMode="auto">
            <a:xfrm>
              <a:off x="3264" y="3264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Sửa</a:t>
              </a:r>
            </a:p>
          </p:txBody>
        </p:sp>
        <p:sp>
          <p:nvSpPr>
            <p:cNvPr id="619536" name="Text Box 16"/>
            <p:cNvSpPr txBox="1">
              <a:spLocks noChangeArrowheads="1"/>
            </p:cNvSpPr>
            <p:nvPr/>
          </p:nvSpPr>
          <p:spPr bwMode="auto">
            <a:xfrm>
              <a:off x="1776" y="3541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ym typeface="Symbol" pitchFamily="18" charset="2"/>
                </a:rPr>
                <a:t></a:t>
              </a:r>
            </a:p>
          </p:txBody>
        </p:sp>
        <p:sp>
          <p:nvSpPr>
            <p:cNvPr id="619537" name="Text Box 17"/>
            <p:cNvSpPr txBox="1">
              <a:spLocks noChangeArrowheads="1"/>
            </p:cNvSpPr>
            <p:nvPr/>
          </p:nvSpPr>
          <p:spPr bwMode="auto">
            <a:xfrm>
              <a:off x="1776" y="3792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ym typeface="Symbol" pitchFamily="18" charset="2"/>
                </a:rPr>
                <a:t></a:t>
              </a:r>
            </a:p>
          </p:txBody>
        </p:sp>
        <p:sp>
          <p:nvSpPr>
            <p:cNvPr id="619538" name="Text Box 18"/>
            <p:cNvSpPr txBox="1">
              <a:spLocks noChangeArrowheads="1"/>
            </p:cNvSpPr>
            <p:nvPr/>
          </p:nvSpPr>
          <p:spPr bwMode="auto">
            <a:xfrm>
              <a:off x="3264" y="3532"/>
              <a:ext cx="912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ym typeface="Symbol" pitchFamily="18" charset="2"/>
                </a:rPr>
                <a:t></a:t>
              </a:r>
              <a:r>
                <a:rPr lang="en-US" sz="1800"/>
                <a:t> (MANV)</a:t>
              </a:r>
            </a:p>
          </p:txBody>
        </p:sp>
        <p:grpSp>
          <p:nvGrpSpPr>
            <p:cNvPr id="619546" name="Group 26"/>
            <p:cNvGrpSpPr>
              <a:grpSpLocks/>
            </p:cNvGrpSpPr>
            <p:nvPr/>
          </p:nvGrpSpPr>
          <p:grpSpPr bwMode="auto">
            <a:xfrm>
              <a:off x="864" y="3504"/>
              <a:ext cx="3552" cy="288"/>
              <a:chOff x="864" y="3504"/>
              <a:chExt cx="3216" cy="288"/>
            </a:xfrm>
          </p:grpSpPr>
          <p:sp>
            <p:nvSpPr>
              <p:cNvPr id="619526" name="Line 6"/>
              <p:cNvSpPr>
                <a:spLocks noChangeShapeType="1"/>
              </p:cNvSpPr>
              <p:nvPr/>
            </p:nvSpPr>
            <p:spPr bwMode="auto">
              <a:xfrm>
                <a:off x="864" y="3504"/>
                <a:ext cx="32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19541" name="Line 21"/>
              <p:cNvSpPr>
                <a:spLocks noChangeShapeType="1"/>
              </p:cNvSpPr>
              <p:nvPr/>
            </p:nvSpPr>
            <p:spPr bwMode="auto">
              <a:xfrm>
                <a:off x="864" y="3792"/>
                <a:ext cx="32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619542" name="Text Box 22"/>
            <p:cNvSpPr txBox="1">
              <a:spLocks noChangeArrowheads="1"/>
            </p:cNvSpPr>
            <p:nvPr/>
          </p:nvSpPr>
          <p:spPr bwMode="auto">
            <a:xfrm>
              <a:off x="864" y="3801"/>
              <a:ext cx="912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THANNHAN</a:t>
              </a:r>
            </a:p>
          </p:txBody>
        </p:sp>
        <p:sp>
          <p:nvSpPr>
            <p:cNvPr id="619543" name="Text Box 23"/>
            <p:cNvSpPr txBox="1">
              <a:spLocks noChangeArrowheads="1"/>
            </p:cNvSpPr>
            <p:nvPr/>
          </p:nvSpPr>
          <p:spPr bwMode="auto">
            <a:xfrm>
              <a:off x="2496" y="3513"/>
              <a:ext cx="76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ym typeface="Symbol" pitchFamily="18" charset="2"/>
                </a:rPr>
                <a:t></a:t>
              </a:r>
            </a:p>
          </p:txBody>
        </p:sp>
        <p:sp>
          <p:nvSpPr>
            <p:cNvPr id="619544" name="Text Box 24"/>
            <p:cNvSpPr txBox="1">
              <a:spLocks noChangeArrowheads="1"/>
            </p:cNvSpPr>
            <p:nvPr/>
          </p:nvSpPr>
          <p:spPr bwMode="auto">
            <a:xfrm>
              <a:off x="2496" y="3792"/>
              <a:ext cx="76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ym typeface="Symbol" pitchFamily="18" charset="2"/>
                </a:rPr>
                <a:t></a:t>
              </a:r>
            </a:p>
          </p:txBody>
        </p:sp>
        <p:sp>
          <p:nvSpPr>
            <p:cNvPr id="619545" name="Text Box 25"/>
            <p:cNvSpPr txBox="1">
              <a:spLocks noChangeArrowheads="1"/>
            </p:cNvSpPr>
            <p:nvPr/>
          </p:nvSpPr>
          <p:spPr bwMode="auto">
            <a:xfrm>
              <a:off x="3264" y="3792"/>
              <a:ext cx="1152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ym typeface="Symbol" pitchFamily="18" charset="2"/>
                </a:rPr>
                <a:t> </a:t>
              </a:r>
              <a:r>
                <a:rPr lang="en-US" sz="1800"/>
                <a:t>(MA_NVIEN)</a:t>
              </a:r>
            </a:p>
          </p:txBody>
        </p:sp>
      </p:grpSp>
      <p:sp>
        <p:nvSpPr>
          <p:cNvPr id="619548" name="Text Box 28"/>
          <p:cNvSpPr txBox="1">
            <a:spLocks noChangeArrowheads="1"/>
          </p:cNvSpPr>
          <p:nvPr/>
        </p:nvSpPr>
        <p:spPr bwMode="auto">
          <a:xfrm>
            <a:off x="2387221" y="2789237"/>
            <a:ext cx="3276600" cy="3968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000" dirty="0">
                <a:latin typeface="Arial" charset="0"/>
                <a:sym typeface="Symbol" pitchFamily="18" charset="2"/>
              </a:rPr>
              <a:t>THANNHAN, NHANVIEN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9608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9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19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19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19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619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9524" grpId="0"/>
      <p:bldP spid="619539" grpId="0"/>
      <p:bldP spid="619540" grpId="0"/>
      <p:bldP spid="61954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575" name="Rectangle 7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/>
              <a:t>3.2.1. RBTV - </a:t>
            </a:r>
            <a:r>
              <a:rPr lang="en-US" sz="3500" b="1" dirty="0" err="1"/>
              <a:t>Tham</a:t>
            </a:r>
            <a:r>
              <a:rPr lang="en-US" sz="3500" b="1" dirty="0"/>
              <a:t> </a:t>
            </a:r>
            <a:r>
              <a:rPr lang="en-US" sz="3500" b="1" dirty="0" err="1"/>
              <a:t>chiếu</a:t>
            </a:r>
            <a:endParaRPr lang="en-US" sz="3500" dirty="0"/>
          </a:p>
        </p:txBody>
      </p:sp>
      <p:sp>
        <p:nvSpPr>
          <p:cNvPr id="621576" name="Rectangle 8"/>
          <p:cNvSpPr>
            <a:spLocks noGrp="1" noChangeArrowheads="1"/>
          </p:cNvSpPr>
          <p:nvPr>
            <p:ph sz="quarter" idx="1"/>
          </p:nvPr>
        </p:nvSpPr>
        <p:spPr>
          <a:xfrm>
            <a:off x="457200" y="1447800"/>
            <a:ext cx="8229600" cy="4953000"/>
          </a:xfrm>
        </p:spPr>
        <p:txBody>
          <a:bodyPr/>
          <a:lstStyle/>
          <a:p>
            <a:pPr algn="just"/>
            <a:r>
              <a:rPr lang="en-US" sz="2400" dirty="0" err="1"/>
              <a:t>Còn</a:t>
            </a:r>
            <a:r>
              <a:rPr lang="en-US" sz="2400" dirty="0"/>
              <a:t> </a:t>
            </a:r>
            <a:r>
              <a:rPr lang="en-US" sz="2400" dirty="0" err="1"/>
              <a:t>gọi</a:t>
            </a:r>
            <a:r>
              <a:rPr lang="en-US" sz="2400" dirty="0"/>
              <a:t>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phụ</a:t>
            </a:r>
            <a:r>
              <a:rPr lang="en-US" sz="2400" dirty="0"/>
              <a:t> </a:t>
            </a:r>
            <a:r>
              <a:rPr lang="en-US" sz="2400" dirty="0" err="1"/>
              <a:t>thuộc</a:t>
            </a:r>
            <a:r>
              <a:rPr lang="en-US" sz="2400" dirty="0"/>
              <a:t> </a:t>
            </a:r>
            <a:r>
              <a:rPr lang="en-US" sz="2400" dirty="0" err="1"/>
              <a:t>tồn</a:t>
            </a:r>
            <a:r>
              <a:rPr lang="en-US" sz="2400" dirty="0"/>
              <a:t> </a:t>
            </a:r>
            <a:r>
              <a:rPr lang="en-US" sz="2400" dirty="0" err="1"/>
              <a:t>tại</a:t>
            </a:r>
            <a:endParaRPr lang="en-US" sz="2400" dirty="0"/>
          </a:p>
          <a:p>
            <a:pPr algn="just"/>
            <a:r>
              <a:rPr lang="en-US" sz="2400" dirty="0" err="1"/>
              <a:t>Thường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bối</a:t>
            </a:r>
            <a:r>
              <a:rPr lang="en-US" sz="2400" dirty="0"/>
              <a:t> </a:t>
            </a:r>
            <a:r>
              <a:rPr lang="en-US" sz="2400" dirty="0" err="1"/>
              <a:t>cảnh</a:t>
            </a:r>
            <a:r>
              <a:rPr lang="en-US" sz="2400" dirty="0"/>
              <a:t>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hai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endParaRPr lang="en-US" sz="2400" dirty="0"/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Nhưng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có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trường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hợp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suy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biến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thành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một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quan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hệ</a:t>
            </a:r>
            <a:endParaRPr lang="en-US" dirty="0">
              <a:solidFill>
                <a:schemeClr val="tx1"/>
              </a:solidFill>
            </a:endParaRP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Ví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dụ</a:t>
            </a:r>
            <a:r>
              <a:rPr lang="en-US" dirty="0">
                <a:solidFill>
                  <a:schemeClr val="tx1"/>
                </a:solidFill>
              </a:rPr>
              <a:t> (</a:t>
            </a:r>
            <a:r>
              <a:rPr lang="en-US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rPr>
              <a:t>R</a:t>
            </a:r>
            <a:r>
              <a:rPr lang="en-US" sz="18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lvl="2" algn="just"/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ty</a:t>
            </a:r>
          </a:p>
          <a:p>
            <a:pPr lvl="2" algn="just"/>
            <a:r>
              <a:rPr lang="en-US" dirty="0" err="1"/>
              <a:t>Bối</a:t>
            </a:r>
            <a:r>
              <a:rPr lang="en-US" dirty="0"/>
              <a:t> </a:t>
            </a:r>
            <a:r>
              <a:rPr lang="en-US" dirty="0" err="1"/>
              <a:t>cảnh</a:t>
            </a:r>
            <a:r>
              <a:rPr lang="en-US" dirty="0"/>
              <a:t>: </a:t>
            </a:r>
          </a:p>
          <a:p>
            <a:pPr lvl="2" algn="just"/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:</a:t>
            </a:r>
          </a:p>
          <a:p>
            <a:pPr lvl="3" algn="just"/>
            <a:endParaRPr lang="en-US" dirty="0">
              <a:solidFill>
                <a:schemeClr val="tx1"/>
              </a:solidFill>
            </a:endParaRPr>
          </a:p>
          <a:p>
            <a:pPr marL="868680" lvl="3" indent="0" algn="just">
              <a:buNone/>
            </a:pPr>
            <a:endParaRPr lang="en-US" dirty="0">
              <a:solidFill>
                <a:schemeClr val="tx1"/>
              </a:solidFill>
            </a:endParaRPr>
          </a:p>
          <a:p>
            <a:pPr lvl="2" algn="just"/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tầm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hưởng</a:t>
            </a:r>
            <a:endParaRPr lang="en-US" dirty="0"/>
          </a:p>
        </p:txBody>
      </p:sp>
      <p:sp>
        <p:nvSpPr>
          <p:cNvPr id="621627" name="Text Box 59"/>
          <p:cNvSpPr txBox="1">
            <a:spLocks noChangeArrowheads="1"/>
          </p:cNvSpPr>
          <p:nvPr/>
        </p:nvSpPr>
        <p:spPr bwMode="auto">
          <a:xfrm>
            <a:off x="1752600" y="4191000"/>
            <a:ext cx="6934200" cy="8540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000" b="1">
                <a:latin typeface="Arial" charset="0"/>
                <a:sym typeface="Symbol" pitchFamily="18" charset="2"/>
              </a:rPr>
              <a:t></a:t>
            </a:r>
            <a:r>
              <a:rPr lang="en-US" sz="2000">
                <a:latin typeface="Arial" charset="0"/>
                <a:sym typeface="Symbol" pitchFamily="18" charset="2"/>
              </a:rPr>
              <a:t>t </a:t>
            </a:r>
            <a:r>
              <a:rPr lang="en-US" sz="2000" b="1">
                <a:latin typeface="Arial" charset="0"/>
                <a:sym typeface="Symbol" pitchFamily="18" charset="2"/>
              </a:rPr>
              <a:t></a:t>
            </a:r>
            <a:r>
              <a:rPr lang="en-US" sz="2000">
                <a:latin typeface="Arial" charset="0"/>
                <a:sym typeface="Symbol" pitchFamily="18" charset="2"/>
              </a:rPr>
              <a:t> NHANVIEN ( t.MA_NQL </a:t>
            </a:r>
            <a:r>
              <a:rPr lang="en-US" sz="2000" b="1">
                <a:latin typeface="Arial" charset="0"/>
                <a:sym typeface="Symbol" pitchFamily="18" charset="2"/>
              </a:rPr>
              <a:t></a:t>
            </a:r>
            <a:r>
              <a:rPr lang="en-US" sz="2000">
                <a:latin typeface="Arial" charset="0"/>
                <a:sym typeface="Symbol" pitchFamily="18" charset="2"/>
              </a:rPr>
              <a:t> null </a:t>
            </a:r>
            <a:r>
              <a:rPr lang="en-US" sz="2000" b="1">
                <a:latin typeface="Arial" charset="0"/>
                <a:sym typeface="Symbol" pitchFamily="18" charset="2"/>
              </a:rPr>
              <a:t></a:t>
            </a:r>
          </a:p>
          <a:p>
            <a:pPr algn="l"/>
            <a:r>
              <a:rPr lang="en-US" sz="2000">
                <a:latin typeface="Arial" charset="0"/>
                <a:sym typeface="Symbol" pitchFamily="18" charset="2"/>
              </a:rPr>
              <a:t>		</a:t>
            </a:r>
            <a:r>
              <a:rPr lang="en-US" sz="2000" b="1">
                <a:latin typeface="Arial" charset="0"/>
                <a:sym typeface="Symbol" pitchFamily="18" charset="2"/>
              </a:rPr>
              <a:t></a:t>
            </a:r>
            <a:r>
              <a:rPr lang="en-US" sz="2000">
                <a:latin typeface="Arial" charset="0"/>
                <a:sym typeface="Symbol" pitchFamily="18" charset="2"/>
              </a:rPr>
              <a:t>s </a:t>
            </a:r>
            <a:r>
              <a:rPr lang="en-US" sz="2000" b="1">
                <a:latin typeface="Arial" charset="0"/>
                <a:sym typeface="Symbol" pitchFamily="18" charset="2"/>
              </a:rPr>
              <a:t></a:t>
            </a:r>
            <a:r>
              <a:rPr lang="en-US" sz="2000">
                <a:latin typeface="Arial" charset="0"/>
                <a:sym typeface="Symbol" pitchFamily="18" charset="2"/>
              </a:rPr>
              <a:t> NHANVIEN (t.MA_NQL </a:t>
            </a:r>
            <a:r>
              <a:rPr lang="en-US" sz="2000" b="1">
                <a:latin typeface="Arial" charset="0"/>
                <a:sym typeface="Symbol" pitchFamily="18" charset="2"/>
              </a:rPr>
              <a:t></a:t>
            </a:r>
            <a:r>
              <a:rPr lang="en-US" sz="2000">
                <a:latin typeface="Arial" charset="0"/>
                <a:sym typeface="Symbol" pitchFamily="18" charset="2"/>
              </a:rPr>
              <a:t> s.MANV ))</a:t>
            </a:r>
          </a:p>
        </p:txBody>
      </p:sp>
      <p:grpSp>
        <p:nvGrpSpPr>
          <p:cNvPr id="621642" name="Group 74"/>
          <p:cNvGrpSpPr>
            <a:grpSpLocks/>
          </p:cNvGrpSpPr>
          <p:nvPr/>
        </p:nvGrpSpPr>
        <p:grpSpPr bwMode="auto">
          <a:xfrm>
            <a:off x="1524000" y="5486400"/>
            <a:ext cx="6553200" cy="914400"/>
            <a:chOff x="960" y="3456"/>
            <a:chExt cx="4128" cy="576"/>
          </a:xfrm>
        </p:grpSpPr>
        <p:sp>
          <p:nvSpPr>
            <p:cNvPr id="621629" name="Line 61"/>
            <p:cNvSpPr>
              <a:spLocks noChangeShapeType="1"/>
            </p:cNvSpPr>
            <p:nvPr/>
          </p:nvSpPr>
          <p:spPr bwMode="auto">
            <a:xfrm>
              <a:off x="960" y="3696"/>
              <a:ext cx="39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21630" name="Text Box 62"/>
            <p:cNvSpPr txBox="1">
              <a:spLocks noChangeArrowheads="1"/>
            </p:cNvSpPr>
            <p:nvPr/>
          </p:nvSpPr>
          <p:spPr bwMode="auto">
            <a:xfrm>
              <a:off x="1152" y="3465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R</a:t>
              </a:r>
              <a:r>
                <a:rPr lang="en-US" sz="1400"/>
                <a:t>2</a:t>
              </a:r>
            </a:p>
          </p:txBody>
        </p:sp>
        <p:sp>
          <p:nvSpPr>
            <p:cNvPr id="621631" name="Text Box 63"/>
            <p:cNvSpPr txBox="1">
              <a:spLocks noChangeArrowheads="1"/>
            </p:cNvSpPr>
            <p:nvPr/>
          </p:nvSpPr>
          <p:spPr bwMode="auto">
            <a:xfrm>
              <a:off x="960" y="3724"/>
              <a:ext cx="912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NHANVIEN</a:t>
              </a:r>
            </a:p>
          </p:txBody>
        </p:sp>
        <p:grpSp>
          <p:nvGrpSpPr>
            <p:cNvPr id="621632" name="Group 64"/>
            <p:cNvGrpSpPr>
              <a:grpSpLocks/>
            </p:cNvGrpSpPr>
            <p:nvPr/>
          </p:nvGrpSpPr>
          <p:grpSpPr bwMode="auto">
            <a:xfrm>
              <a:off x="1872" y="3456"/>
              <a:ext cx="1488" cy="576"/>
              <a:chOff x="2160" y="3168"/>
              <a:chExt cx="1488" cy="624"/>
            </a:xfrm>
          </p:grpSpPr>
          <p:sp>
            <p:nvSpPr>
              <p:cNvPr id="621633" name="Line 65"/>
              <p:cNvSpPr>
                <a:spLocks noChangeShapeType="1"/>
              </p:cNvSpPr>
              <p:nvPr/>
            </p:nvSpPr>
            <p:spPr bwMode="auto">
              <a:xfrm>
                <a:off x="216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21634" name="Line 66"/>
              <p:cNvSpPr>
                <a:spLocks noChangeShapeType="1"/>
              </p:cNvSpPr>
              <p:nvPr/>
            </p:nvSpPr>
            <p:spPr bwMode="auto">
              <a:xfrm>
                <a:off x="288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21635" name="Line 67"/>
              <p:cNvSpPr>
                <a:spLocks noChangeShapeType="1"/>
              </p:cNvSpPr>
              <p:nvPr/>
            </p:nvSpPr>
            <p:spPr bwMode="auto">
              <a:xfrm>
                <a:off x="3648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621636" name="Text Box 68"/>
            <p:cNvSpPr txBox="1">
              <a:spLocks noChangeArrowheads="1"/>
            </p:cNvSpPr>
            <p:nvPr/>
          </p:nvSpPr>
          <p:spPr bwMode="auto">
            <a:xfrm>
              <a:off x="1872" y="3456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Thêm</a:t>
              </a:r>
            </a:p>
          </p:txBody>
        </p:sp>
        <p:sp>
          <p:nvSpPr>
            <p:cNvPr id="621637" name="Text Box 69"/>
            <p:cNvSpPr txBox="1">
              <a:spLocks noChangeArrowheads="1"/>
            </p:cNvSpPr>
            <p:nvPr/>
          </p:nvSpPr>
          <p:spPr bwMode="auto">
            <a:xfrm>
              <a:off x="2640" y="3456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Xóa</a:t>
              </a:r>
            </a:p>
          </p:txBody>
        </p:sp>
        <p:sp>
          <p:nvSpPr>
            <p:cNvPr id="621638" name="Text Box 70"/>
            <p:cNvSpPr txBox="1">
              <a:spLocks noChangeArrowheads="1"/>
            </p:cNvSpPr>
            <p:nvPr/>
          </p:nvSpPr>
          <p:spPr bwMode="auto">
            <a:xfrm>
              <a:off x="3360" y="3456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Sửa</a:t>
              </a:r>
            </a:p>
          </p:txBody>
        </p:sp>
        <p:sp>
          <p:nvSpPr>
            <p:cNvPr id="621639" name="Text Box 71"/>
            <p:cNvSpPr txBox="1">
              <a:spLocks noChangeArrowheads="1"/>
            </p:cNvSpPr>
            <p:nvPr/>
          </p:nvSpPr>
          <p:spPr bwMode="auto">
            <a:xfrm>
              <a:off x="1872" y="3733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ym typeface="Symbol" pitchFamily="18" charset="2"/>
                </a:rPr>
                <a:t></a:t>
              </a:r>
            </a:p>
          </p:txBody>
        </p:sp>
        <p:sp>
          <p:nvSpPr>
            <p:cNvPr id="621640" name="Text Box 72"/>
            <p:cNvSpPr txBox="1">
              <a:spLocks noChangeArrowheads="1"/>
            </p:cNvSpPr>
            <p:nvPr/>
          </p:nvSpPr>
          <p:spPr bwMode="auto">
            <a:xfrm>
              <a:off x="2592" y="3724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ym typeface="Symbol" pitchFamily="18" charset="2"/>
                </a:rPr>
                <a:t></a:t>
              </a:r>
            </a:p>
          </p:txBody>
        </p:sp>
        <p:sp>
          <p:nvSpPr>
            <p:cNvPr id="621641" name="Text Box 73"/>
            <p:cNvSpPr txBox="1">
              <a:spLocks noChangeArrowheads="1"/>
            </p:cNvSpPr>
            <p:nvPr/>
          </p:nvSpPr>
          <p:spPr bwMode="auto">
            <a:xfrm>
              <a:off x="3360" y="3744"/>
              <a:ext cx="172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ym typeface="Symbol" pitchFamily="18" charset="2"/>
                </a:rPr>
                <a:t></a:t>
              </a:r>
              <a:r>
                <a:rPr lang="en-US" sz="1800"/>
                <a:t> (MANV, MA_NQL)</a:t>
              </a:r>
            </a:p>
          </p:txBody>
        </p:sp>
      </p:grpSp>
      <p:sp>
        <p:nvSpPr>
          <p:cNvPr id="621643" name="Text Box 75"/>
          <p:cNvSpPr txBox="1">
            <a:spLocks noChangeArrowheads="1"/>
          </p:cNvSpPr>
          <p:nvPr/>
        </p:nvSpPr>
        <p:spPr bwMode="auto">
          <a:xfrm>
            <a:off x="2590800" y="3505200"/>
            <a:ext cx="1600200" cy="3968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000" dirty="0">
                <a:latin typeface="Arial" charset="0"/>
                <a:sym typeface="Symbol" pitchFamily="18" charset="2"/>
              </a:rPr>
              <a:t>NHANVIEN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0436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21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21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21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1627" grpId="0"/>
      <p:bldP spid="62164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337" name="Rectangle 9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smtClean="0"/>
              <a:t>3.2.2. RBTV </a:t>
            </a:r>
            <a:r>
              <a:rPr lang="en-US" sz="3500" b="1" dirty="0"/>
              <a:t>- </a:t>
            </a:r>
            <a:r>
              <a:rPr lang="en-US" sz="3500" b="1" dirty="0" err="1"/>
              <a:t>Liên</a:t>
            </a:r>
            <a:r>
              <a:rPr lang="en-US" sz="3500" b="1" dirty="0"/>
              <a:t> </a:t>
            </a:r>
            <a:r>
              <a:rPr lang="en-US" sz="3500" b="1" dirty="0" err="1"/>
              <a:t>bộ</a:t>
            </a:r>
            <a:r>
              <a:rPr lang="en-US" sz="3500" b="1" dirty="0"/>
              <a:t>, </a:t>
            </a:r>
            <a:r>
              <a:rPr lang="en-US" sz="3500" b="1" dirty="0" err="1"/>
              <a:t>liên</a:t>
            </a:r>
            <a:r>
              <a:rPr lang="en-US" sz="3500" b="1" dirty="0"/>
              <a:t> </a:t>
            </a:r>
            <a:r>
              <a:rPr lang="en-US" sz="3500" b="1" dirty="0" err="1"/>
              <a:t>quan</a:t>
            </a:r>
            <a:r>
              <a:rPr lang="en-US" sz="3500" b="1" dirty="0"/>
              <a:t> </a:t>
            </a:r>
            <a:r>
              <a:rPr lang="en-US" sz="3500" b="1" dirty="0" err="1"/>
              <a:t>hệ</a:t>
            </a:r>
            <a:endParaRPr lang="en-US" sz="3500" b="1" dirty="0"/>
          </a:p>
        </p:txBody>
      </p:sp>
      <p:sp>
        <p:nvSpPr>
          <p:cNvPr id="611338" name="Rectangle 10"/>
          <p:cNvSpPr>
            <a:spLocks noGrp="1" noChangeArrowheads="1"/>
          </p:cNvSpPr>
          <p:nvPr>
            <p:ph sz="quarter" idx="1"/>
          </p:nvPr>
        </p:nvSpPr>
        <p:spPr>
          <a:xfrm>
            <a:off x="457200" y="1447800"/>
            <a:ext cx="8229600" cy="4953000"/>
          </a:xfrm>
        </p:spPr>
        <p:txBody>
          <a:bodyPr/>
          <a:lstStyle/>
          <a:p>
            <a:pPr algn="just"/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 </a:t>
            </a:r>
            <a:r>
              <a:rPr lang="en-US" dirty="0" err="1" smtClean="0"/>
              <a:t>xảy</a:t>
            </a:r>
            <a:r>
              <a:rPr lang="en-US" dirty="0" smtClean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endParaRPr lang="en-US" dirty="0"/>
          </a:p>
        </p:txBody>
      </p:sp>
      <p:sp>
        <p:nvSpPr>
          <p:cNvPr id="611409" name="Rectangle 81"/>
          <p:cNvSpPr>
            <a:spLocks noChangeArrowheads="1"/>
          </p:cNvSpPr>
          <p:nvPr/>
        </p:nvSpPr>
        <p:spPr bwMode="auto">
          <a:xfrm>
            <a:off x="4038600" y="5867400"/>
            <a:ext cx="1371600" cy="304800"/>
          </a:xfrm>
          <a:prstGeom prst="rect">
            <a:avLst/>
          </a:prstGeom>
          <a:solidFill>
            <a:srgbClr val="CC99FF">
              <a:alpha val="80000"/>
            </a:srgbClr>
          </a:solidFill>
          <a:ln w="12700" algn="ctr">
            <a:solidFill>
              <a:srgbClr val="CC99FF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11404" name="Rectangle 76"/>
          <p:cNvSpPr>
            <a:spLocks noChangeArrowheads="1"/>
          </p:cNvSpPr>
          <p:nvPr/>
        </p:nvSpPr>
        <p:spPr bwMode="auto">
          <a:xfrm>
            <a:off x="4038600" y="5562600"/>
            <a:ext cx="1371600" cy="304800"/>
          </a:xfrm>
          <a:prstGeom prst="rect">
            <a:avLst/>
          </a:prstGeom>
          <a:solidFill>
            <a:srgbClr val="FF99CC">
              <a:alpha val="80000"/>
            </a:srgbClr>
          </a:solidFill>
          <a:ln w="12700" algn="ctr">
            <a:solidFill>
              <a:srgbClr val="FF99CC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11399" name="Rectangle 71"/>
          <p:cNvSpPr>
            <a:spLocks noChangeArrowheads="1"/>
          </p:cNvSpPr>
          <p:nvPr/>
        </p:nvSpPr>
        <p:spPr bwMode="auto">
          <a:xfrm>
            <a:off x="4038600" y="4953000"/>
            <a:ext cx="1371600" cy="609600"/>
          </a:xfrm>
          <a:prstGeom prst="rect">
            <a:avLst/>
          </a:prstGeom>
          <a:solidFill>
            <a:srgbClr val="99CCFF">
              <a:alpha val="80000"/>
            </a:srgbClr>
          </a:solidFill>
          <a:ln w="12700" algn="ctr">
            <a:solidFill>
              <a:srgbClr val="99CCFF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11371" name="Rectangle 43"/>
          <p:cNvSpPr>
            <a:spLocks noChangeArrowheads="1"/>
          </p:cNvSpPr>
          <p:nvPr/>
        </p:nvSpPr>
        <p:spPr bwMode="auto">
          <a:xfrm>
            <a:off x="3581400" y="3657600"/>
            <a:ext cx="1828800" cy="304800"/>
          </a:xfrm>
          <a:prstGeom prst="rect">
            <a:avLst/>
          </a:prstGeom>
          <a:solidFill>
            <a:srgbClr val="FFCC99">
              <a:alpha val="80000"/>
            </a:srgbClr>
          </a:solidFill>
          <a:ln w="12700" algn="ctr">
            <a:solidFill>
              <a:srgbClr val="FFCC99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11370" name="Rectangle 42"/>
          <p:cNvSpPr>
            <a:spLocks noChangeArrowheads="1"/>
          </p:cNvSpPr>
          <p:nvPr/>
        </p:nvSpPr>
        <p:spPr bwMode="auto">
          <a:xfrm>
            <a:off x="3581400" y="3352800"/>
            <a:ext cx="1828800" cy="304800"/>
          </a:xfrm>
          <a:prstGeom prst="rect">
            <a:avLst/>
          </a:prstGeom>
          <a:solidFill>
            <a:srgbClr val="CC99FF">
              <a:alpha val="80000"/>
            </a:srgbClr>
          </a:solidFill>
          <a:ln w="12700" algn="ctr">
            <a:solidFill>
              <a:srgbClr val="CC99FF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11331" name="Rectangle 3"/>
          <p:cNvSpPr>
            <a:spLocks noChangeArrowheads="1"/>
          </p:cNvSpPr>
          <p:nvPr/>
        </p:nvSpPr>
        <p:spPr bwMode="auto">
          <a:xfrm>
            <a:off x="3581400" y="3048000"/>
            <a:ext cx="1828800" cy="304800"/>
          </a:xfrm>
          <a:prstGeom prst="rect">
            <a:avLst/>
          </a:prstGeom>
          <a:solidFill>
            <a:srgbClr val="FF99CC">
              <a:alpha val="80000"/>
            </a:srgbClr>
          </a:solidFill>
          <a:ln w="12700" algn="ctr">
            <a:solidFill>
              <a:srgbClr val="FF99CC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11332" name="Rectangle 4"/>
          <p:cNvSpPr>
            <a:spLocks noChangeArrowheads="1"/>
          </p:cNvSpPr>
          <p:nvPr/>
        </p:nvSpPr>
        <p:spPr bwMode="auto">
          <a:xfrm>
            <a:off x="3581400" y="2743200"/>
            <a:ext cx="1828800" cy="304800"/>
          </a:xfrm>
          <a:prstGeom prst="rect">
            <a:avLst/>
          </a:prstGeom>
          <a:solidFill>
            <a:srgbClr val="99CCFF">
              <a:alpha val="80000"/>
            </a:srgbClr>
          </a:solidFill>
          <a:ln w="12700" algn="ctr">
            <a:solidFill>
              <a:srgbClr val="99CCFF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pSp>
        <p:nvGrpSpPr>
          <p:cNvPr id="611339" name="Group 11"/>
          <p:cNvGrpSpPr>
            <a:grpSpLocks/>
          </p:cNvGrpSpPr>
          <p:nvPr/>
        </p:nvGrpSpPr>
        <p:grpSpPr bwMode="auto">
          <a:xfrm>
            <a:off x="3048000" y="2362200"/>
            <a:ext cx="2362200" cy="1676400"/>
            <a:chOff x="624" y="1392"/>
            <a:chExt cx="1488" cy="1056"/>
          </a:xfrm>
        </p:grpSpPr>
        <p:sp>
          <p:nvSpPr>
            <p:cNvPr id="611340" name="Line 12"/>
            <p:cNvSpPr>
              <a:spLocks noChangeShapeType="1"/>
            </p:cNvSpPr>
            <p:nvPr/>
          </p:nvSpPr>
          <p:spPr bwMode="auto">
            <a:xfrm>
              <a:off x="624" y="1584"/>
              <a:ext cx="14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1341" name="Text Box 13"/>
            <p:cNvSpPr txBox="1">
              <a:spLocks noChangeArrowheads="1"/>
            </p:cNvSpPr>
            <p:nvPr/>
          </p:nvSpPr>
          <p:spPr bwMode="auto">
            <a:xfrm>
              <a:off x="960" y="139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A</a:t>
              </a:r>
            </a:p>
          </p:txBody>
        </p:sp>
        <p:sp>
          <p:nvSpPr>
            <p:cNvPr id="611342" name="Text Box 14"/>
            <p:cNvSpPr txBox="1">
              <a:spLocks noChangeArrowheads="1"/>
            </p:cNvSpPr>
            <p:nvPr/>
          </p:nvSpPr>
          <p:spPr bwMode="auto">
            <a:xfrm>
              <a:off x="1248" y="139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B</a:t>
              </a:r>
            </a:p>
          </p:txBody>
        </p:sp>
        <p:sp>
          <p:nvSpPr>
            <p:cNvPr id="611343" name="Text Box 15"/>
            <p:cNvSpPr txBox="1">
              <a:spLocks noChangeArrowheads="1"/>
            </p:cNvSpPr>
            <p:nvPr/>
          </p:nvSpPr>
          <p:spPr bwMode="auto">
            <a:xfrm>
              <a:off x="960" y="163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</a:t>
              </a:r>
            </a:p>
          </p:txBody>
        </p:sp>
        <p:sp>
          <p:nvSpPr>
            <p:cNvPr id="611344" name="Line 16"/>
            <p:cNvSpPr>
              <a:spLocks noChangeShapeType="1"/>
            </p:cNvSpPr>
            <p:nvPr/>
          </p:nvSpPr>
          <p:spPr bwMode="auto">
            <a:xfrm>
              <a:off x="624" y="1392"/>
              <a:ext cx="14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1345" name="Line 17"/>
            <p:cNvSpPr>
              <a:spLocks noChangeShapeType="1"/>
            </p:cNvSpPr>
            <p:nvPr/>
          </p:nvSpPr>
          <p:spPr bwMode="auto">
            <a:xfrm>
              <a:off x="960" y="2448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1346" name="Text Box 18"/>
            <p:cNvSpPr txBox="1">
              <a:spLocks noChangeArrowheads="1"/>
            </p:cNvSpPr>
            <p:nvPr/>
          </p:nvSpPr>
          <p:spPr bwMode="auto">
            <a:xfrm>
              <a:off x="624" y="1392"/>
              <a:ext cx="336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 b="1"/>
                <a:t>R</a:t>
              </a:r>
            </a:p>
          </p:txBody>
        </p:sp>
        <p:sp>
          <p:nvSpPr>
            <p:cNvPr id="611347" name="Line 19"/>
            <p:cNvSpPr>
              <a:spLocks noChangeShapeType="1"/>
            </p:cNvSpPr>
            <p:nvPr/>
          </p:nvSpPr>
          <p:spPr bwMode="auto">
            <a:xfrm>
              <a:off x="624" y="139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1348" name="Text Box 20"/>
            <p:cNvSpPr txBox="1">
              <a:spLocks noChangeArrowheads="1"/>
            </p:cNvSpPr>
            <p:nvPr/>
          </p:nvSpPr>
          <p:spPr bwMode="auto">
            <a:xfrm>
              <a:off x="960" y="1824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</a:t>
              </a:r>
            </a:p>
          </p:txBody>
        </p:sp>
        <p:sp>
          <p:nvSpPr>
            <p:cNvPr id="611349" name="Text Box 21"/>
            <p:cNvSpPr txBox="1">
              <a:spLocks noChangeArrowheads="1"/>
            </p:cNvSpPr>
            <p:nvPr/>
          </p:nvSpPr>
          <p:spPr bwMode="auto">
            <a:xfrm>
              <a:off x="960" y="2016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</a:t>
              </a:r>
            </a:p>
          </p:txBody>
        </p:sp>
        <p:sp>
          <p:nvSpPr>
            <p:cNvPr id="611350" name="Line 22"/>
            <p:cNvSpPr>
              <a:spLocks noChangeShapeType="1"/>
            </p:cNvSpPr>
            <p:nvPr/>
          </p:nvSpPr>
          <p:spPr bwMode="auto">
            <a:xfrm>
              <a:off x="1248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1351" name="Line 23"/>
            <p:cNvSpPr>
              <a:spLocks noChangeShapeType="1"/>
            </p:cNvSpPr>
            <p:nvPr/>
          </p:nvSpPr>
          <p:spPr bwMode="auto">
            <a:xfrm>
              <a:off x="960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1352" name="Line 24"/>
            <p:cNvSpPr>
              <a:spLocks noChangeShapeType="1"/>
            </p:cNvSpPr>
            <p:nvPr/>
          </p:nvSpPr>
          <p:spPr bwMode="auto">
            <a:xfrm>
              <a:off x="1536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1353" name="Text Box 25"/>
            <p:cNvSpPr txBox="1">
              <a:spLocks noChangeArrowheads="1"/>
            </p:cNvSpPr>
            <p:nvPr/>
          </p:nvSpPr>
          <p:spPr bwMode="auto">
            <a:xfrm>
              <a:off x="1536" y="139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C</a:t>
              </a:r>
            </a:p>
          </p:txBody>
        </p:sp>
        <p:sp>
          <p:nvSpPr>
            <p:cNvPr id="611354" name="Text Box 26"/>
            <p:cNvSpPr txBox="1">
              <a:spLocks noChangeArrowheads="1"/>
            </p:cNvSpPr>
            <p:nvPr/>
          </p:nvSpPr>
          <p:spPr bwMode="auto">
            <a:xfrm>
              <a:off x="1536" y="163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1</a:t>
              </a:r>
            </a:p>
          </p:txBody>
        </p:sp>
        <p:sp>
          <p:nvSpPr>
            <p:cNvPr id="611355" name="Text Box 27"/>
            <p:cNvSpPr txBox="1">
              <a:spLocks noChangeArrowheads="1"/>
            </p:cNvSpPr>
            <p:nvPr/>
          </p:nvSpPr>
          <p:spPr bwMode="auto">
            <a:xfrm>
              <a:off x="1536" y="1824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5</a:t>
              </a:r>
            </a:p>
          </p:txBody>
        </p:sp>
        <p:sp>
          <p:nvSpPr>
            <p:cNvPr id="611356" name="Text Box 28"/>
            <p:cNvSpPr txBox="1">
              <a:spLocks noChangeArrowheads="1"/>
            </p:cNvSpPr>
            <p:nvPr/>
          </p:nvSpPr>
          <p:spPr bwMode="auto">
            <a:xfrm>
              <a:off x="1536" y="2016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12</a:t>
              </a:r>
            </a:p>
          </p:txBody>
        </p:sp>
        <p:sp>
          <p:nvSpPr>
            <p:cNvPr id="611357" name="Line 29"/>
            <p:cNvSpPr>
              <a:spLocks noChangeShapeType="1"/>
            </p:cNvSpPr>
            <p:nvPr/>
          </p:nvSpPr>
          <p:spPr bwMode="auto">
            <a:xfrm>
              <a:off x="1824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1358" name="Text Box 30"/>
            <p:cNvSpPr txBox="1">
              <a:spLocks noChangeArrowheads="1"/>
            </p:cNvSpPr>
            <p:nvPr/>
          </p:nvSpPr>
          <p:spPr bwMode="auto">
            <a:xfrm>
              <a:off x="960" y="2208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</a:t>
              </a:r>
            </a:p>
          </p:txBody>
        </p:sp>
        <p:sp>
          <p:nvSpPr>
            <p:cNvPr id="611359" name="Text Box 31"/>
            <p:cNvSpPr txBox="1">
              <a:spLocks noChangeArrowheads="1"/>
            </p:cNvSpPr>
            <p:nvPr/>
          </p:nvSpPr>
          <p:spPr bwMode="auto">
            <a:xfrm>
              <a:off x="1536" y="2208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23</a:t>
              </a:r>
            </a:p>
          </p:txBody>
        </p:sp>
        <p:sp>
          <p:nvSpPr>
            <p:cNvPr id="611360" name="Text Box 32"/>
            <p:cNvSpPr txBox="1">
              <a:spLocks noChangeArrowheads="1"/>
            </p:cNvSpPr>
            <p:nvPr/>
          </p:nvSpPr>
          <p:spPr bwMode="auto">
            <a:xfrm>
              <a:off x="1824" y="139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D</a:t>
              </a:r>
            </a:p>
          </p:txBody>
        </p:sp>
        <p:sp>
          <p:nvSpPr>
            <p:cNvPr id="611361" name="Text Box 33"/>
            <p:cNvSpPr txBox="1">
              <a:spLocks noChangeArrowheads="1"/>
            </p:cNvSpPr>
            <p:nvPr/>
          </p:nvSpPr>
          <p:spPr bwMode="auto">
            <a:xfrm>
              <a:off x="1824" y="163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1</a:t>
              </a:r>
            </a:p>
          </p:txBody>
        </p:sp>
        <p:sp>
          <p:nvSpPr>
            <p:cNvPr id="611362" name="Text Box 34"/>
            <p:cNvSpPr txBox="1">
              <a:spLocks noChangeArrowheads="1"/>
            </p:cNvSpPr>
            <p:nvPr/>
          </p:nvSpPr>
          <p:spPr bwMode="auto">
            <a:xfrm>
              <a:off x="1824" y="1824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7</a:t>
              </a:r>
            </a:p>
          </p:txBody>
        </p:sp>
        <p:sp>
          <p:nvSpPr>
            <p:cNvPr id="611363" name="Text Box 35"/>
            <p:cNvSpPr txBox="1">
              <a:spLocks noChangeArrowheads="1"/>
            </p:cNvSpPr>
            <p:nvPr/>
          </p:nvSpPr>
          <p:spPr bwMode="auto">
            <a:xfrm>
              <a:off x="1824" y="2016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3</a:t>
              </a:r>
            </a:p>
          </p:txBody>
        </p:sp>
        <p:sp>
          <p:nvSpPr>
            <p:cNvPr id="611364" name="Text Box 36"/>
            <p:cNvSpPr txBox="1">
              <a:spLocks noChangeArrowheads="1"/>
            </p:cNvSpPr>
            <p:nvPr/>
          </p:nvSpPr>
          <p:spPr bwMode="auto">
            <a:xfrm>
              <a:off x="1824" y="2208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9</a:t>
              </a:r>
            </a:p>
          </p:txBody>
        </p:sp>
        <p:sp>
          <p:nvSpPr>
            <p:cNvPr id="611365" name="Text Box 37"/>
            <p:cNvSpPr txBox="1">
              <a:spLocks noChangeArrowheads="1"/>
            </p:cNvSpPr>
            <p:nvPr/>
          </p:nvSpPr>
          <p:spPr bwMode="auto">
            <a:xfrm>
              <a:off x="1248" y="163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</a:t>
              </a:r>
            </a:p>
          </p:txBody>
        </p:sp>
        <p:sp>
          <p:nvSpPr>
            <p:cNvPr id="611366" name="Text Box 38"/>
            <p:cNvSpPr txBox="1">
              <a:spLocks noChangeArrowheads="1"/>
            </p:cNvSpPr>
            <p:nvPr/>
          </p:nvSpPr>
          <p:spPr bwMode="auto">
            <a:xfrm>
              <a:off x="1248" y="1824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</a:t>
              </a:r>
            </a:p>
          </p:txBody>
        </p:sp>
        <p:sp>
          <p:nvSpPr>
            <p:cNvPr id="611367" name="Text Box 39"/>
            <p:cNvSpPr txBox="1">
              <a:spLocks noChangeArrowheads="1"/>
            </p:cNvSpPr>
            <p:nvPr/>
          </p:nvSpPr>
          <p:spPr bwMode="auto">
            <a:xfrm>
              <a:off x="1248" y="2016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</a:t>
              </a:r>
            </a:p>
          </p:txBody>
        </p:sp>
        <p:sp>
          <p:nvSpPr>
            <p:cNvPr id="611368" name="Text Box 40"/>
            <p:cNvSpPr txBox="1">
              <a:spLocks noChangeArrowheads="1"/>
            </p:cNvSpPr>
            <p:nvPr/>
          </p:nvSpPr>
          <p:spPr bwMode="auto">
            <a:xfrm>
              <a:off x="1248" y="2208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</a:t>
              </a:r>
            </a:p>
          </p:txBody>
        </p:sp>
        <p:sp>
          <p:nvSpPr>
            <p:cNvPr id="611369" name="Line 41"/>
            <p:cNvSpPr>
              <a:spLocks noChangeShapeType="1"/>
            </p:cNvSpPr>
            <p:nvPr/>
          </p:nvSpPr>
          <p:spPr bwMode="auto">
            <a:xfrm>
              <a:off x="2112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11372" name="Group 44"/>
          <p:cNvGrpSpPr>
            <a:grpSpLocks/>
          </p:cNvGrpSpPr>
          <p:nvPr/>
        </p:nvGrpSpPr>
        <p:grpSpPr bwMode="auto">
          <a:xfrm>
            <a:off x="3505200" y="4572000"/>
            <a:ext cx="1905000" cy="1600200"/>
            <a:chOff x="816" y="1584"/>
            <a:chExt cx="1200" cy="1008"/>
          </a:xfrm>
        </p:grpSpPr>
        <p:sp>
          <p:nvSpPr>
            <p:cNvPr id="611373" name="Text Box 45"/>
            <p:cNvSpPr txBox="1">
              <a:spLocks noChangeArrowheads="1"/>
            </p:cNvSpPr>
            <p:nvPr/>
          </p:nvSpPr>
          <p:spPr bwMode="auto">
            <a:xfrm>
              <a:off x="1152" y="1584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A</a:t>
              </a:r>
            </a:p>
          </p:txBody>
        </p:sp>
        <p:sp>
          <p:nvSpPr>
            <p:cNvPr id="611374" name="Text Box 46"/>
            <p:cNvSpPr txBox="1">
              <a:spLocks noChangeArrowheads="1"/>
            </p:cNvSpPr>
            <p:nvPr/>
          </p:nvSpPr>
          <p:spPr bwMode="auto">
            <a:xfrm>
              <a:off x="1440" y="1584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B</a:t>
              </a:r>
            </a:p>
          </p:txBody>
        </p:sp>
        <p:sp>
          <p:nvSpPr>
            <p:cNvPr id="611375" name="Text Box 47"/>
            <p:cNvSpPr txBox="1">
              <a:spLocks noChangeArrowheads="1"/>
            </p:cNvSpPr>
            <p:nvPr/>
          </p:nvSpPr>
          <p:spPr bwMode="auto">
            <a:xfrm>
              <a:off x="1152" y="1824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</a:t>
              </a:r>
            </a:p>
          </p:txBody>
        </p:sp>
        <p:grpSp>
          <p:nvGrpSpPr>
            <p:cNvPr id="611376" name="Group 48"/>
            <p:cNvGrpSpPr>
              <a:grpSpLocks/>
            </p:cNvGrpSpPr>
            <p:nvPr/>
          </p:nvGrpSpPr>
          <p:grpSpPr bwMode="auto">
            <a:xfrm>
              <a:off x="816" y="1584"/>
              <a:ext cx="1200" cy="192"/>
              <a:chOff x="816" y="1584"/>
              <a:chExt cx="1200" cy="192"/>
            </a:xfrm>
          </p:grpSpPr>
          <p:sp>
            <p:nvSpPr>
              <p:cNvPr id="611377" name="Line 49"/>
              <p:cNvSpPr>
                <a:spLocks noChangeShapeType="1"/>
              </p:cNvSpPr>
              <p:nvPr/>
            </p:nvSpPr>
            <p:spPr bwMode="auto">
              <a:xfrm>
                <a:off x="816" y="1776"/>
                <a:ext cx="12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11378" name="Line 50"/>
              <p:cNvSpPr>
                <a:spLocks noChangeShapeType="1"/>
              </p:cNvSpPr>
              <p:nvPr/>
            </p:nvSpPr>
            <p:spPr bwMode="auto">
              <a:xfrm>
                <a:off x="816" y="1584"/>
                <a:ext cx="12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611379" name="Line 51"/>
            <p:cNvSpPr>
              <a:spLocks noChangeShapeType="1"/>
            </p:cNvSpPr>
            <p:nvPr/>
          </p:nvSpPr>
          <p:spPr bwMode="auto">
            <a:xfrm>
              <a:off x="1152" y="2592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1380" name="Text Box 52"/>
            <p:cNvSpPr txBox="1">
              <a:spLocks noChangeArrowheads="1"/>
            </p:cNvSpPr>
            <p:nvPr/>
          </p:nvSpPr>
          <p:spPr bwMode="auto">
            <a:xfrm>
              <a:off x="816" y="1584"/>
              <a:ext cx="336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 b="1"/>
                <a:t>S</a:t>
              </a:r>
            </a:p>
          </p:txBody>
        </p:sp>
        <p:sp>
          <p:nvSpPr>
            <p:cNvPr id="611381" name="Line 53"/>
            <p:cNvSpPr>
              <a:spLocks noChangeShapeType="1"/>
            </p:cNvSpPr>
            <p:nvPr/>
          </p:nvSpPr>
          <p:spPr bwMode="auto">
            <a:xfrm>
              <a:off x="816" y="1584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1382" name="Text Box 54"/>
            <p:cNvSpPr txBox="1">
              <a:spLocks noChangeArrowheads="1"/>
            </p:cNvSpPr>
            <p:nvPr/>
          </p:nvSpPr>
          <p:spPr bwMode="auto">
            <a:xfrm>
              <a:off x="1152" y="2016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</a:t>
              </a:r>
            </a:p>
          </p:txBody>
        </p:sp>
        <p:sp>
          <p:nvSpPr>
            <p:cNvPr id="611383" name="Text Box 55"/>
            <p:cNvSpPr txBox="1">
              <a:spLocks noChangeArrowheads="1"/>
            </p:cNvSpPr>
            <p:nvPr/>
          </p:nvSpPr>
          <p:spPr bwMode="auto">
            <a:xfrm>
              <a:off x="1440" y="1824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2</a:t>
              </a:r>
            </a:p>
          </p:txBody>
        </p:sp>
        <p:sp>
          <p:nvSpPr>
            <p:cNvPr id="611384" name="Text Box 56"/>
            <p:cNvSpPr txBox="1">
              <a:spLocks noChangeArrowheads="1"/>
            </p:cNvSpPr>
            <p:nvPr/>
          </p:nvSpPr>
          <p:spPr bwMode="auto">
            <a:xfrm>
              <a:off x="1440" y="2016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4</a:t>
              </a:r>
            </a:p>
          </p:txBody>
        </p:sp>
        <p:sp>
          <p:nvSpPr>
            <p:cNvPr id="611385" name="Text Box 57"/>
            <p:cNvSpPr txBox="1">
              <a:spLocks noChangeArrowheads="1"/>
            </p:cNvSpPr>
            <p:nvPr/>
          </p:nvSpPr>
          <p:spPr bwMode="auto">
            <a:xfrm>
              <a:off x="1152" y="2208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</a:t>
              </a:r>
            </a:p>
          </p:txBody>
        </p:sp>
        <p:sp>
          <p:nvSpPr>
            <p:cNvPr id="611386" name="Text Box 58"/>
            <p:cNvSpPr txBox="1">
              <a:spLocks noChangeArrowheads="1"/>
            </p:cNvSpPr>
            <p:nvPr/>
          </p:nvSpPr>
          <p:spPr bwMode="auto">
            <a:xfrm>
              <a:off x="1152" y="2400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</a:t>
              </a:r>
            </a:p>
          </p:txBody>
        </p:sp>
        <p:sp>
          <p:nvSpPr>
            <p:cNvPr id="611387" name="Text Box 59"/>
            <p:cNvSpPr txBox="1">
              <a:spLocks noChangeArrowheads="1"/>
            </p:cNvSpPr>
            <p:nvPr/>
          </p:nvSpPr>
          <p:spPr bwMode="auto">
            <a:xfrm>
              <a:off x="1440" y="2208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2</a:t>
              </a:r>
            </a:p>
          </p:txBody>
        </p:sp>
        <p:sp>
          <p:nvSpPr>
            <p:cNvPr id="611388" name="Text Box 60"/>
            <p:cNvSpPr txBox="1">
              <a:spLocks noChangeArrowheads="1"/>
            </p:cNvSpPr>
            <p:nvPr/>
          </p:nvSpPr>
          <p:spPr bwMode="auto">
            <a:xfrm>
              <a:off x="1440" y="2400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2</a:t>
              </a:r>
            </a:p>
          </p:txBody>
        </p:sp>
        <p:sp>
          <p:nvSpPr>
            <p:cNvPr id="611389" name="Text Box 61"/>
            <p:cNvSpPr txBox="1">
              <a:spLocks noChangeArrowheads="1"/>
            </p:cNvSpPr>
            <p:nvPr/>
          </p:nvSpPr>
          <p:spPr bwMode="auto">
            <a:xfrm>
              <a:off x="1728" y="1584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C</a:t>
              </a:r>
            </a:p>
          </p:txBody>
        </p:sp>
        <p:sp>
          <p:nvSpPr>
            <p:cNvPr id="611390" name="Text Box 62"/>
            <p:cNvSpPr txBox="1">
              <a:spLocks noChangeArrowheads="1"/>
            </p:cNvSpPr>
            <p:nvPr/>
          </p:nvSpPr>
          <p:spPr bwMode="auto">
            <a:xfrm>
              <a:off x="1728" y="1824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7</a:t>
              </a:r>
            </a:p>
          </p:txBody>
        </p:sp>
        <p:sp>
          <p:nvSpPr>
            <p:cNvPr id="611391" name="Text Box 63"/>
            <p:cNvSpPr txBox="1">
              <a:spLocks noChangeArrowheads="1"/>
            </p:cNvSpPr>
            <p:nvPr/>
          </p:nvSpPr>
          <p:spPr bwMode="auto">
            <a:xfrm>
              <a:off x="1728" y="2016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7</a:t>
              </a:r>
            </a:p>
          </p:txBody>
        </p:sp>
        <p:sp>
          <p:nvSpPr>
            <p:cNvPr id="611392" name="Text Box 64"/>
            <p:cNvSpPr txBox="1">
              <a:spLocks noChangeArrowheads="1"/>
            </p:cNvSpPr>
            <p:nvPr/>
          </p:nvSpPr>
          <p:spPr bwMode="auto">
            <a:xfrm>
              <a:off x="1728" y="2208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3</a:t>
              </a:r>
            </a:p>
          </p:txBody>
        </p:sp>
        <p:sp>
          <p:nvSpPr>
            <p:cNvPr id="611393" name="Text Box 65"/>
            <p:cNvSpPr txBox="1">
              <a:spLocks noChangeArrowheads="1"/>
            </p:cNvSpPr>
            <p:nvPr/>
          </p:nvSpPr>
          <p:spPr bwMode="auto">
            <a:xfrm>
              <a:off x="1728" y="2400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10</a:t>
              </a:r>
            </a:p>
          </p:txBody>
        </p:sp>
        <p:grpSp>
          <p:nvGrpSpPr>
            <p:cNvPr id="611394" name="Group 66"/>
            <p:cNvGrpSpPr>
              <a:grpSpLocks/>
            </p:cNvGrpSpPr>
            <p:nvPr/>
          </p:nvGrpSpPr>
          <p:grpSpPr bwMode="auto">
            <a:xfrm>
              <a:off x="1152" y="1584"/>
              <a:ext cx="864" cy="1008"/>
              <a:chOff x="1152" y="1584"/>
              <a:chExt cx="864" cy="1008"/>
            </a:xfrm>
          </p:grpSpPr>
          <p:sp>
            <p:nvSpPr>
              <p:cNvPr id="611395" name="Line 67"/>
              <p:cNvSpPr>
                <a:spLocks noChangeShapeType="1"/>
              </p:cNvSpPr>
              <p:nvPr/>
            </p:nvSpPr>
            <p:spPr bwMode="auto">
              <a:xfrm>
                <a:off x="1440" y="1584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11396" name="Line 68"/>
              <p:cNvSpPr>
                <a:spLocks noChangeShapeType="1"/>
              </p:cNvSpPr>
              <p:nvPr/>
            </p:nvSpPr>
            <p:spPr bwMode="auto">
              <a:xfrm>
                <a:off x="1152" y="1584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11397" name="Line 69"/>
              <p:cNvSpPr>
                <a:spLocks noChangeShapeType="1"/>
              </p:cNvSpPr>
              <p:nvPr/>
            </p:nvSpPr>
            <p:spPr bwMode="auto">
              <a:xfrm>
                <a:off x="1728" y="1584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11398" name="Line 70"/>
              <p:cNvSpPr>
                <a:spLocks noChangeShapeType="1"/>
              </p:cNvSpPr>
              <p:nvPr/>
            </p:nvSpPr>
            <p:spPr bwMode="auto">
              <a:xfrm>
                <a:off x="2016" y="1584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611403" name="Group 75"/>
          <p:cNvGrpSpPr>
            <a:grpSpLocks/>
          </p:cNvGrpSpPr>
          <p:nvPr/>
        </p:nvGrpSpPr>
        <p:grpSpPr bwMode="auto">
          <a:xfrm>
            <a:off x="3352800" y="2895600"/>
            <a:ext cx="838200" cy="2362200"/>
            <a:chOff x="2112" y="1824"/>
            <a:chExt cx="528" cy="1488"/>
          </a:xfrm>
        </p:grpSpPr>
        <p:sp>
          <p:nvSpPr>
            <p:cNvPr id="611400" name="Line 72"/>
            <p:cNvSpPr>
              <a:spLocks noChangeShapeType="1"/>
            </p:cNvSpPr>
            <p:nvPr/>
          </p:nvSpPr>
          <p:spPr bwMode="auto">
            <a:xfrm flipH="1">
              <a:off x="2112" y="1824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1401" name="Line 73"/>
            <p:cNvSpPr>
              <a:spLocks noChangeShapeType="1"/>
            </p:cNvSpPr>
            <p:nvPr/>
          </p:nvSpPr>
          <p:spPr bwMode="auto">
            <a:xfrm>
              <a:off x="2112" y="182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11402" name="Line 74"/>
            <p:cNvSpPr>
              <a:spLocks noChangeShapeType="1"/>
            </p:cNvSpPr>
            <p:nvPr/>
          </p:nvSpPr>
          <p:spPr bwMode="auto">
            <a:xfrm>
              <a:off x="2112" y="3312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11408" name="Group 80"/>
          <p:cNvGrpSpPr>
            <a:grpSpLocks/>
          </p:cNvGrpSpPr>
          <p:nvPr/>
        </p:nvGrpSpPr>
        <p:grpSpPr bwMode="auto">
          <a:xfrm>
            <a:off x="3200400" y="3200400"/>
            <a:ext cx="990600" cy="2514600"/>
            <a:chOff x="2016" y="2016"/>
            <a:chExt cx="624" cy="1584"/>
          </a:xfrm>
        </p:grpSpPr>
        <p:sp>
          <p:nvSpPr>
            <p:cNvPr id="611405" name="Line 77"/>
            <p:cNvSpPr>
              <a:spLocks noChangeShapeType="1"/>
            </p:cNvSpPr>
            <p:nvPr/>
          </p:nvSpPr>
          <p:spPr bwMode="auto">
            <a:xfrm flipH="1">
              <a:off x="2016" y="2016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1406" name="Line 78"/>
            <p:cNvSpPr>
              <a:spLocks noChangeShapeType="1"/>
            </p:cNvSpPr>
            <p:nvPr/>
          </p:nvSpPr>
          <p:spPr bwMode="auto">
            <a:xfrm>
              <a:off x="2016" y="2016"/>
              <a:ext cx="0" cy="15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1407" name="Line 79"/>
            <p:cNvSpPr>
              <a:spLocks noChangeShapeType="1"/>
            </p:cNvSpPr>
            <p:nvPr/>
          </p:nvSpPr>
          <p:spPr bwMode="auto">
            <a:xfrm>
              <a:off x="2016" y="3600"/>
              <a:ext cx="62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11414" name="Group 86"/>
          <p:cNvGrpSpPr>
            <a:grpSpLocks/>
          </p:cNvGrpSpPr>
          <p:nvPr/>
        </p:nvGrpSpPr>
        <p:grpSpPr bwMode="auto">
          <a:xfrm>
            <a:off x="3048000" y="3505200"/>
            <a:ext cx="1143000" cy="2514600"/>
            <a:chOff x="1920" y="2208"/>
            <a:chExt cx="720" cy="1584"/>
          </a:xfrm>
        </p:grpSpPr>
        <p:sp>
          <p:nvSpPr>
            <p:cNvPr id="611411" name="Line 83"/>
            <p:cNvSpPr>
              <a:spLocks noChangeShapeType="1"/>
            </p:cNvSpPr>
            <p:nvPr/>
          </p:nvSpPr>
          <p:spPr bwMode="auto">
            <a:xfrm flipH="1">
              <a:off x="1920" y="220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1412" name="Line 84"/>
            <p:cNvSpPr>
              <a:spLocks noChangeShapeType="1"/>
            </p:cNvSpPr>
            <p:nvPr/>
          </p:nvSpPr>
          <p:spPr bwMode="auto">
            <a:xfrm>
              <a:off x="1920" y="2208"/>
              <a:ext cx="0" cy="15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1413" name="Line 85"/>
            <p:cNvSpPr>
              <a:spLocks noChangeShapeType="1"/>
            </p:cNvSpPr>
            <p:nvPr/>
          </p:nvSpPr>
          <p:spPr bwMode="auto">
            <a:xfrm>
              <a:off x="1920" y="3792"/>
              <a:ext cx="7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0557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1409" grpId="0" animBg="1"/>
      <p:bldP spid="611404" grpId="0" animBg="1"/>
      <p:bldP spid="611399" grpId="0" animBg="1"/>
      <p:bldP spid="611371" grpId="0" animBg="1"/>
      <p:bldP spid="611370" grpId="0" animBg="1"/>
      <p:bldP spid="611331" grpId="0" animBg="1"/>
      <p:bldP spid="61133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6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11 </a:t>
            </a:r>
          </a:p>
        </p:txBody>
      </p:sp>
      <p:sp>
        <p:nvSpPr>
          <p:cNvPr id="6236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447800"/>
            <a:ext cx="8229600" cy="4953000"/>
          </a:xfrm>
        </p:spPr>
        <p:txBody>
          <a:bodyPr/>
          <a:lstStyle/>
          <a:p>
            <a:pPr algn="just"/>
            <a:r>
              <a:rPr lang="en-US" sz="2400" dirty="0"/>
              <a:t>HOADON(</a:t>
            </a:r>
            <a:r>
              <a:rPr lang="en-US" sz="2400" u="sng" dirty="0"/>
              <a:t>SOHD</a:t>
            </a:r>
            <a:r>
              <a:rPr lang="en-US" sz="2400" dirty="0"/>
              <a:t>, MAKH, NGAYHD)</a:t>
            </a:r>
          </a:p>
          <a:p>
            <a:pPr algn="just"/>
            <a:r>
              <a:rPr lang="en-US" sz="2400" dirty="0"/>
              <a:t>CTHD(</a:t>
            </a:r>
            <a:r>
              <a:rPr lang="en-US" sz="2400" u="sng" dirty="0"/>
              <a:t>SOHD, MAHH</a:t>
            </a:r>
            <a:r>
              <a:rPr lang="en-US" sz="2400" dirty="0"/>
              <a:t>, DGIA, SLG)</a:t>
            </a:r>
          </a:p>
          <a:p>
            <a:pPr algn="just"/>
            <a:r>
              <a:rPr lang="en-US" sz="2400" dirty="0" err="1"/>
              <a:t>Mỗi</a:t>
            </a:r>
            <a:r>
              <a:rPr lang="en-US" sz="2400" dirty="0"/>
              <a:t> </a:t>
            </a:r>
            <a:r>
              <a:rPr lang="en-US" sz="2400" dirty="0" err="1"/>
              <a:t>hóa</a:t>
            </a:r>
            <a:r>
              <a:rPr lang="en-US" sz="2400" dirty="0"/>
              <a:t> </a:t>
            </a:r>
            <a:r>
              <a:rPr lang="en-US" sz="2400" dirty="0" err="1"/>
              <a:t>đơn</a:t>
            </a:r>
            <a:r>
              <a:rPr lang="en-US" sz="2400" dirty="0"/>
              <a:t> </a:t>
            </a:r>
            <a:r>
              <a:rPr lang="en-US" sz="2400" dirty="0" err="1"/>
              <a:t>phải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ít</a:t>
            </a:r>
            <a:r>
              <a:rPr lang="en-US" sz="2400" dirty="0"/>
              <a:t> </a:t>
            </a:r>
            <a:r>
              <a:rPr lang="en-US" sz="2400" dirty="0" err="1"/>
              <a:t>nhất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chi </a:t>
            </a:r>
            <a:r>
              <a:rPr lang="en-US" sz="2400" dirty="0" err="1"/>
              <a:t>tiết</a:t>
            </a:r>
            <a:r>
              <a:rPr lang="en-US" sz="2400" dirty="0"/>
              <a:t> </a:t>
            </a:r>
            <a:r>
              <a:rPr lang="en-US" sz="2400" dirty="0" err="1"/>
              <a:t>hóa</a:t>
            </a:r>
            <a:r>
              <a:rPr lang="en-US" sz="2400" dirty="0"/>
              <a:t> </a:t>
            </a:r>
            <a:r>
              <a:rPr lang="en-US" sz="2400" dirty="0" err="1" smtClean="0"/>
              <a:t>đơn</a:t>
            </a:r>
            <a:endParaRPr lang="en-US" sz="2400" dirty="0"/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Bối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cảnh</a:t>
            </a:r>
            <a:r>
              <a:rPr lang="en-US" dirty="0">
                <a:solidFill>
                  <a:schemeClr val="tx1"/>
                </a:solidFill>
              </a:rPr>
              <a:t>: </a:t>
            </a:r>
          </a:p>
          <a:p>
            <a:pPr lvl="1" algn="just"/>
            <a:endParaRPr lang="en-US" dirty="0" smtClean="0">
              <a:solidFill>
                <a:schemeClr val="tx1"/>
              </a:solidFill>
            </a:endParaRPr>
          </a:p>
          <a:p>
            <a:pPr lvl="1" algn="just"/>
            <a:r>
              <a:rPr lang="en-US" dirty="0" err="1" smtClean="0">
                <a:solidFill>
                  <a:schemeClr val="tx1"/>
                </a:solidFill>
              </a:rPr>
              <a:t>Biểu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diễn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lvl="2" algn="just"/>
            <a:endParaRPr lang="en-US" dirty="0"/>
          </a:p>
          <a:p>
            <a:pPr lvl="2" algn="just"/>
            <a:endParaRPr lang="en-US" dirty="0"/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Bảng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tầm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ảnh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hưởng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623643" name="Text Box 27"/>
          <p:cNvSpPr txBox="1">
            <a:spLocks noChangeArrowheads="1"/>
          </p:cNvSpPr>
          <p:nvPr/>
        </p:nvSpPr>
        <p:spPr bwMode="auto">
          <a:xfrm>
            <a:off x="1485900" y="4191000"/>
            <a:ext cx="6248400" cy="3968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000" b="1" dirty="0">
                <a:latin typeface="Arial" charset="0"/>
                <a:sym typeface="Symbol" pitchFamily="18" charset="2"/>
              </a:rPr>
              <a:t></a:t>
            </a:r>
            <a:r>
              <a:rPr lang="en-US" sz="2000" dirty="0">
                <a:latin typeface="Arial" charset="0"/>
                <a:sym typeface="Symbol" pitchFamily="18" charset="2"/>
              </a:rPr>
              <a:t>t </a:t>
            </a:r>
            <a:r>
              <a:rPr lang="en-US" sz="2000" b="1" dirty="0">
                <a:latin typeface="Arial" charset="0"/>
                <a:sym typeface="Symbol" pitchFamily="18" charset="2"/>
              </a:rPr>
              <a:t></a:t>
            </a:r>
            <a:r>
              <a:rPr lang="en-US" sz="2000" dirty="0">
                <a:latin typeface="Arial" charset="0"/>
                <a:sym typeface="Symbol" pitchFamily="18" charset="2"/>
              </a:rPr>
              <a:t> HOADON ( </a:t>
            </a:r>
            <a:r>
              <a:rPr lang="en-US" sz="2000" b="1" dirty="0">
                <a:latin typeface="Arial" charset="0"/>
                <a:sym typeface="Symbol" pitchFamily="18" charset="2"/>
              </a:rPr>
              <a:t></a:t>
            </a:r>
            <a:r>
              <a:rPr lang="en-US" sz="2000" dirty="0">
                <a:latin typeface="Arial" charset="0"/>
                <a:sym typeface="Symbol" pitchFamily="18" charset="2"/>
              </a:rPr>
              <a:t>s </a:t>
            </a:r>
            <a:r>
              <a:rPr lang="en-US" sz="2000" b="1" dirty="0">
                <a:latin typeface="Arial" charset="0"/>
                <a:sym typeface="Symbol" pitchFamily="18" charset="2"/>
              </a:rPr>
              <a:t></a:t>
            </a:r>
            <a:r>
              <a:rPr lang="en-US" sz="2000" dirty="0">
                <a:latin typeface="Arial" charset="0"/>
                <a:sym typeface="Symbol" pitchFamily="18" charset="2"/>
              </a:rPr>
              <a:t> CTHD ( </a:t>
            </a:r>
            <a:r>
              <a:rPr lang="en-US" sz="2000" dirty="0" err="1">
                <a:latin typeface="Arial" charset="0"/>
                <a:sym typeface="Symbol" pitchFamily="18" charset="2"/>
              </a:rPr>
              <a:t>t.SOHD</a:t>
            </a:r>
            <a:r>
              <a:rPr lang="en-US" sz="2000" dirty="0">
                <a:latin typeface="Arial" charset="0"/>
                <a:sym typeface="Symbol" pitchFamily="18" charset="2"/>
              </a:rPr>
              <a:t> </a:t>
            </a:r>
            <a:r>
              <a:rPr lang="en-US" sz="2000" b="1" dirty="0">
                <a:latin typeface="Arial" charset="0"/>
                <a:sym typeface="Symbol" pitchFamily="18" charset="2"/>
              </a:rPr>
              <a:t></a:t>
            </a:r>
            <a:r>
              <a:rPr lang="en-US" sz="2000" dirty="0">
                <a:latin typeface="Arial" charset="0"/>
                <a:sym typeface="Symbol" pitchFamily="18" charset="2"/>
              </a:rPr>
              <a:t> </a:t>
            </a:r>
            <a:r>
              <a:rPr lang="en-US" sz="2000" dirty="0" err="1">
                <a:latin typeface="Arial" charset="0"/>
                <a:sym typeface="Symbol" pitchFamily="18" charset="2"/>
              </a:rPr>
              <a:t>s.SOHD</a:t>
            </a:r>
            <a:r>
              <a:rPr lang="en-US" sz="2000" dirty="0">
                <a:latin typeface="Arial" charset="0"/>
                <a:sym typeface="Symbol" pitchFamily="18" charset="2"/>
              </a:rPr>
              <a:t> ))</a:t>
            </a:r>
          </a:p>
        </p:txBody>
      </p:sp>
      <p:grpSp>
        <p:nvGrpSpPr>
          <p:cNvPr id="623664" name="Group 48"/>
          <p:cNvGrpSpPr>
            <a:grpSpLocks/>
          </p:cNvGrpSpPr>
          <p:nvPr/>
        </p:nvGrpSpPr>
        <p:grpSpPr bwMode="auto">
          <a:xfrm>
            <a:off x="1371600" y="5181600"/>
            <a:ext cx="5334000" cy="1219200"/>
            <a:chOff x="864" y="3264"/>
            <a:chExt cx="3360" cy="768"/>
          </a:xfrm>
        </p:grpSpPr>
        <p:sp>
          <p:nvSpPr>
            <p:cNvPr id="623645" name="Text Box 29"/>
            <p:cNvSpPr txBox="1">
              <a:spLocks noChangeArrowheads="1"/>
            </p:cNvSpPr>
            <p:nvPr/>
          </p:nvSpPr>
          <p:spPr bwMode="auto">
            <a:xfrm>
              <a:off x="1056" y="3273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R</a:t>
              </a:r>
              <a:r>
                <a:rPr lang="en-US" sz="1400"/>
                <a:t>11</a:t>
              </a:r>
            </a:p>
          </p:txBody>
        </p:sp>
        <p:sp>
          <p:nvSpPr>
            <p:cNvPr id="623646" name="Text Box 30"/>
            <p:cNvSpPr txBox="1">
              <a:spLocks noChangeArrowheads="1"/>
            </p:cNvSpPr>
            <p:nvPr/>
          </p:nvSpPr>
          <p:spPr bwMode="auto">
            <a:xfrm>
              <a:off x="864" y="3532"/>
              <a:ext cx="912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HOADON</a:t>
              </a:r>
            </a:p>
          </p:txBody>
        </p:sp>
        <p:grpSp>
          <p:nvGrpSpPr>
            <p:cNvPr id="623647" name="Group 31"/>
            <p:cNvGrpSpPr>
              <a:grpSpLocks/>
            </p:cNvGrpSpPr>
            <p:nvPr/>
          </p:nvGrpSpPr>
          <p:grpSpPr bwMode="auto">
            <a:xfrm>
              <a:off x="1776" y="3264"/>
              <a:ext cx="1488" cy="768"/>
              <a:chOff x="2160" y="3168"/>
              <a:chExt cx="1488" cy="624"/>
            </a:xfrm>
          </p:grpSpPr>
          <p:sp>
            <p:nvSpPr>
              <p:cNvPr id="623648" name="Line 32"/>
              <p:cNvSpPr>
                <a:spLocks noChangeShapeType="1"/>
              </p:cNvSpPr>
              <p:nvPr/>
            </p:nvSpPr>
            <p:spPr bwMode="auto">
              <a:xfrm>
                <a:off x="216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23649" name="Line 33"/>
              <p:cNvSpPr>
                <a:spLocks noChangeShapeType="1"/>
              </p:cNvSpPr>
              <p:nvPr/>
            </p:nvSpPr>
            <p:spPr bwMode="auto">
              <a:xfrm>
                <a:off x="288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23650" name="Line 34"/>
              <p:cNvSpPr>
                <a:spLocks noChangeShapeType="1"/>
              </p:cNvSpPr>
              <p:nvPr/>
            </p:nvSpPr>
            <p:spPr bwMode="auto">
              <a:xfrm>
                <a:off x="3648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623651" name="Text Box 35"/>
            <p:cNvSpPr txBox="1">
              <a:spLocks noChangeArrowheads="1"/>
            </p:cNvSpPr>
            <p:nvPr/>
          </p:nvSpPr>
          <p:spPr bwMode="auto">
            <a:xfrm>
              <a:off x="1776" y="3264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Thêm</a:t>
              </a:r>
            </a:p>
          </p:txBody>
        </p:sp>
        <p:sp>
          <p:nvSpPr>
            <p:cNvPr id="623652" name="Text Box 36"/>
            <p:cNvSpPr txBox="1">
              <a:spLocks noChangeArrowheads="1"/>
            </p:cNvSpPr>
            <p:nvPr/>
          </p:nvSpPr>
          <p:spPr bwMode="auto">
            <a:xfrm>
              <a:off x="2544" y="3264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Xóa</a:t>
              </a:r>
            </a:p>
          </p:txBody>
        </p:sp>
        <p:sp>
          <p:nvSpPr>
            <p:cNvPr id="623653" name="Text Box 37"/>
            <p:cNvSpPr txBox="1">
              <a:spLocks noChangeArrowheads="1"/>
            </p:cNvSpPr>
            <p:nvPr/>
          </p:nvSpPr>
          <p:spPr bwMode="auto">
            <a:xfrm>
              <a:off x="3264" y="3264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Sửa</a:t>
              </a:r>
            </a:p>
          </p:txBody>
        </p:sp>
        <p:sp>
          <p:nvSpPr>
            <p:cNvPr id="623654" name="Text Box 38"/>
            <p:cNvSpPr txBox="1">
              <a:spLocks noChangeArrowheads="1"/>
            </p:cNvSpPr>
            <p:nvPr/>
          </p:nvSpPr>
          <p:spPr bwMode="auto">
            <a:xfrm>
              <a:off x="1776" y="3541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ym typeface="Symbol" pitchFamily="18" charset="2"/>
                </a:rPr>
                <a:t></a:t>
              </a:r>
            </a:p>
          </p:txBody>
        </p:sp>
        <p:sp>
          <p:nvSpPr>
            <p:cNvPr id="623655" name="Text Box 39"/>
            <p:cNvSpPr txBox="1">
              <a:spLocks noChangeArrowheads="1"/>
            </p:cNvSpPr>
            <p:nvPr/>
          </p:nvSpPr>
          <p:spPr bwMode="auto">
            <a:xfrm>
              <a:off x="1776" y="3792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ym typeface="Symbol" pitchFamily="18" charset="2"/>
                </a:rPr>
                <a:t></a:t>
              </a:r>
            </a:p>
          </p:txBody>
        </p:sp>
        <p:sp>
          <p:nvSpPr>
            <p:cNvPr id="623656" name="Text Box 40"/>
            <p:cNvSpPr txBox="1">
              <a:spLocks noChangeArrowheads="1"/>
            </p:cNvSpPr>
            <p:nvPr/>
          </p:nvSpPr>
          <p:spPr bwMode="auto">
            <a:xfrm>
              <a:off x="3264" y="3532"/>
              <a:ext cx="912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 dirty="0">
                  <a:sym typeface="Symbol" pitchFamily="18" charset="2"/>
                </a:rPr>
                <a:t> </a:t>
              </a:r>
              <a:r>
                <a:rPr lang="en-US" sz="1800" dirty="0"/>
                <a:t>(SOHD)</a:t>
              </a:r>
            </a:p>
          </p:txBody>
        </p:sp>
        <p:grpSp>
          <p:nvGrpSpPr>
            <p:cNvPr id="623657" name="Group 41"/>
            <p:cNvGrpSpPr>
              <a:grpSpLocks/>
            </p:cNvGrpSpPr>
            <p:nvPr/>
          </p:nvGrpSpPr>
          <p:grpSpPr bwMode="auto">
            <a:xfrm>
              <a:off x="864" y="3504"/>
              <a:ext cx="3360" cy="288"/>
              <a:chOff x="864" y="3504"/>
              <a:chExt cx="3216" cy="288"/>
            </a:xfrm>
          </p:grpSpPr>
          <p:sp>
            <p:nvSpPr>
              <p:cNvPr id="623658" name="Line 42"/>
              <p:cNvSpPr>
                <a:spLocks noChangeShapeType="1"/>
              </p:cNvSpPr>
              <p:nvPr/>
            </p:nvSpPr>
            <p:spPr bwMode="auto">
              <a:xfrm>
                <a:off x="864" y="3504"/>
                <a:ext cx="32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23659" name="Line 43"/>
              <p:cNvSpPr>
                <a:spLocks noChangeShapeType="1"/>
              </p:cNvSpPr>
              <p:nvPr/>
            </p:nvSpPr>
            <p:spPr bwMode="auto">
              <a:xfrm>
                <a:off x="864" y="3792"/>
                <a:ext cx="32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623660" name="Text Box 44"/>
            <p:cNvSpPr txBox="1">
              <a:spLocks noChangeArrowheads="1"/>
            </p:cNvSpPr>
            <p:nvPr/>
          </p:nvSpPr>
          <p:spPr bwMode="auto">
            <a:xfrm>
              <a:off x="864" y="3801"/>
              <a:ext cx="912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dirty="0"/>
                <a:t>CTHD</a:t>
              </a:r>
            </a:p>
          </p:txBody>
        </p:sp>
        <p:sp>
          <p:nvSpPr>
            <p:cNvPr id="623661" name="Text Box 45"/>
            <p:cNvSpPr txBox="1">
              <a:spLocks noChangeArrowheads="1"/>
            </p:cNvSpPr>
            <p:nvPr/>
          </p:nvSpPr>
          <p:spPr bwMode="auto">
            <a:xfrm>
              <a:off x="2496" y="3513"/>
              <a:ext cx="76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ym typeface="Symbol" pitchFamily="18" charset="2"/>
                </a:rPr>
                <a:t></a:t>
              </a:r>
            </a:p>
          </p:txBody>
        </p:sp>
        <p:sp>
          <p:nvSpPr>
            <p:cNvPr id="623662" name="Text Box 46"/>
            <p:cNvSpPr txBox="1">
              <a:spLocks noChangeArrowheads="1"/>
            </p:cNvSpPr>
            <p:nvPr/>
          </p:nvSpPr>
          <p:spPr bwMode="auto">
            <a:xfrm>
              <a:off x="2496" y="3792"/>
              <a:ext cx="76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ym typeface="Symbol" pitchFamily="18" charset="2"/>
                </a:rPr>
                <a:t></a:t>
              </a:r>
            </a:p>
          </p:txBody>
        </p:sp>
        <p:sp>
          <p:nvSpPr>
            <p:cNvPr id="623663" name="Text Box 47"/>
            <p:cNvSpPr txBox="1">
              <a:spLocks noChangeArrowheads="1"/>
            </p:cNvSpPr>
            <p:nvPr/>
          </p:nvSpPr>
          <p:spPr bwMode="auto">
            <a:xfrm>
              <a:off x="3264" y="3792"/>
              <a:ext cx="912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ym typeface="Symbol" pitchFamily="18" charset="2"/>
                </a:rPr>
                <a:t></a:t>
              </a:r>
              <a:r>
                <a:rPr lang="en-US" sz="1800"/>
                <a:t> (SOHD)</a:t>
              </a:r>
            </a:p>
          </p:txBody>
        </p:sp>
      </p:grpSp>
      <p:sp>
        <p:nvSpPr>
          <p:cNvPr id="623665" name="Text Box 49"/>
          <p:cNvSpPr txBox="1">
            <a:spLocks noChangeArrowheads="1"/>
          </p:cNvSpPr>
          <p:nvPr/>
        </p:nvSpPr>
        <p:spPr bwMode="auto">
          <a:xfrm>
            <a:off x="2438400" y="3140075"/>
            <a:ext cx="2286000" cy="3968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000" dirty="0">
                <a:latin typeface="Arial" charset="0"/>
                <a:sym typeface="Symbol" pitchFamily="18" charset="2"/>
              </a:rPr>
              <a:t>HOADON, CTHD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186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23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23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23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3643" grpId="0"/>
      <p:bldP spid="62366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385" name="Rectangle 9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r>
              <a:rPr lang="en-US" sz="3000" b="1" dirty="0" smtClean="0"/>
              <a:t>3.2.3. RBTV </a:t>
            </a:r>
            <a:r>
              <a:rPr lang="en-US" sz="3000" b="1" dirty="0"/>
              <a:t>- </a:t>
            </a:r>
            <a:r>
              <a:rPr lang="en-US" sz="3000" b="1" dirty="0" err="1"/>
              <a:t>Liên</a:t>
            </a:r>
            <a:r>
              <a:rPr lang="en-US" sz="3000" b="1" dirty="0"/>
              <a:t> </a:t>
            </a:r>
            <a:r>
              <a:rPr lang="en-US" sz="3000" b="1" dirty="0" err="1"/>
              <a:t>thuộc</a:t>
            </a:r>
            <a:r>
              <a:rPr lang="en-US" sz="3000" b="1" dirty="0"/>
              <a:t> </a:t>
            </a:r>
            <a:r>
              <a:rPr lang="en-US" sz="3000" b="1" dirty="0" err="1"/>
              <a:t>tính</a:t>
            </a:r>
            <a:r>
              <a:rPr lang="en-US" sz="3000" b="1" dirty="0"/>
              <a:t>, </a:t>
            </a:r>
            <a:r>
              <a:rPr lang="en-US" sz="3000" b="1" dirty="0" err="1"/>
              <a:t>liên</a:t>
            </a:r>
            <a:r>
              <a:rPr lang="en-US" sz="3000" b="1" dirty="0"/>
              <a:t> </a:t>
            </a:r>
            <a:r>
              <a:rPr lang="en-US" sz="3000" b="1" dirty="0" err="1"/>
              <a:t>quan</a:t>
            </a:r>
            <a:r>
              <a:rPr lang="en-US" sz="3000" b="1" dirty="0"/>
              <a:t> </a:t>
            </a:r>
            <a:r>
              <a:rPr lang="en-US" sz="3000" b="1" dirty="0" err="1"/>
              <a:t>hệ</a:t>
            </a:r>
            <a:endParaRPr lang="en-US" sz="3000" b="1" dirty="0"/>
          </a:p>
        </p:txBody>
      </p:sp>
      <p:sp>
        <p:nvSpPr>
          <p:cNvPr id="613386" name="Rectangle 10"/>
          <p:cNvSpPr>
            <a:spLocks noGrp="1" noChangeArrowheads="1"/>
          </p:cNvSpPr>
          <p:nvPr>
            <p:ph sz="quarter" idx="1"/>
          </p:nvPr>
        </p:nvSpPr>
        <p:spPr>
          <a:xfrm>
            <a:off x="457200" y="1676400"/>
            <a:ext cx="8229600" cy="4724400"/>
          </a:xfrm>
        </p:spPr>
        <p:txBody>
          <a:bodyPr/>
          <a:lstStyle/>
          <a:p>
            <a:pPr algn="just"/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 </a:t>
            </a:r>
            <a:r>
              <a:rPr lang="en-US" dirty="0" err="1"/>
              <a:t>xảy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endParaRPr lang="en-US" dirty="0"/>
          </a:p>
        </p:txBody>
      </p:sp>
      <p:sp>
        <p:nvSpPr>
          <p:cNvPr id="613446" name="Rectangle 70"/>
          <p:cNvSpPr>
            <a:spLocks noChangeArrowheads="1"/>
          </p:cNvSpPr>
          <p:nvPr/>
        </p:nvSpPr>
        <p:spPr bwMode="auto">
          <a:xfrm>
            <a:off x="6019800" y="3429000"/>
            <a:ext cx="457200" cy="1600200"/>
          </a:xfrm>
          <a:prstGeom prst="rect">
            <a:avLst/>
          </a:prstGeom>
          <a:solidFill>
            <a:srgbClr val="99CCFF">
              <a:alpha val="80000"/>
            </a:srgbClr>
          </a:solidFill>
          <a:ln w="12700" algn="ctr">
            <a:solidFill>
              <a:srgbClr val="99CCFF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13445" name="Rectangle 69"/>
          <p:cNvSpPr>
            <a:spLocks noChangeArrowheads="1"/>
          </p:cNvSpPr>
          <p:nvPr/>
        </p:nvSpPr>
        <p:spPr bwMode="auto">
          <a:xfrm>
            <a:off x="3124200" y="3429000"/>
            <a:ext cx="457200" cy="1676400"/>
          </a:xfrm>
          <a:prstGeom prst="rect">
            <a:avLst/>
          </a:prstGeom>
          <a:solidFill>
            <a:srgbClr val="99CCFF">
              <a:alpha val="80000"/>
            </a:srgbClr>
          </a:solidFill>
          <a:ln w="12700" algn="ctr">
            <a:solidFill>
              <a:srgbClr val="99CCFF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613387" name="Group 11"/>
          <p:cNvGrpSpPr>
            <a:grpSpLocks/>
          </p:cNvGrpSpPr>
          <p:nvPr/>
        </p:nvGrpSpPr>
        <p:grpSpPr bwMode="auto">
          <a:xfrm>
            <a:off x="1676400" y="3429000"/>
            <a:ext cx="2362200" cy="1676400"/>
            <a:chOff x="624" y="1392"/>
            <a:chExt cx="1488" cy="1056"/>
          </a:xfrm>
        </p:grpSpPr>
        <p:sp>
          <p:nvSpPr>
            <p:cNvPr id="613388" name="Line 12"/>
            <p:cNvSpPr>
              <a:spLocks noChangeShapeType="1"/>
            </p:cNvSpPr>
            <p:nvPr/>
          </p:nvSpPr>
          <p:spPr bwMode="auto">
            <a:xfrm>
              <a:off x="624" y="1584"/>
              <a:ext cx="14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3389" name="Text Box 13"/>
            <p:cNvSpPr txBox="1">
              <a:spLocks noChangeArrowheads="1"/>
            </p:cNvSpPr>
            <p:nvPr/>
          </p:nvSpPr>
          <p:spPr bwMode="auto">
            <a:xfrm>
              <a:off x="960" y="139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A</a:t>
              </a:r>
            </a:p>
          </p:txBody>
        </p:sp>
        <p:sp>
          <p:nvSpPr>
            <p:cNvPr id="613390" name="Text Box 14"/>
            <p:cNvSpPr txBox="1">
              <a:spLocks noChangeArrowheads="1"/>
            </p:cNvSpPr>
            <p:nvPr/>
          </p:nvSpPr>
          <p:spPr bwMode="auto">
            <a:xfrm>
              <a:off x="1248" y="139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B</a:t>
              </a:r>
            </a:p>
          </p:txBody>
        </p:sp>
        <p:sp>
          <p:nvSpPr>
            <p:cNvPr id="613391" name="Text Box 15"/>
            <p:cNvSpPr txBox="1">
              <a:spLocks noChangeArrowheads="1"/>
            </p:cNvSpPr>
            <p:nvPr/>
          </p:nvSpPr>
          <p:spPr bwMode="auto">
            <a:xfrm>
              <a:off x="960" y="163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</a:t>
              </a:r>
            </a:p>
          </p:txBody>
        </p:sp>
        <p:sp>
          <p:nvSpPr>
            <p:cNvPr id="613392" name="Line 16"/>
            <p:cNvSpPr>
              <a:spLocks noChangeShapeType="1"/>
            </p:cNvSpPr>
            <p:nvPr/>
          </p:nvSpPr>
          <p:spPr bwMode="auto">
            <a:xfrm>
              <a:off x="624" y="1392"/>
              <a:ext cx="14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3393" name="Line 17"/>
            <p:cNvSpPr>
              <a:spLocks noChangeShapeType="1"/>
            </p:cNvSpPr>
            <p:nvPr/>
          </p:nvSpPr>
          <p:spPr bwMode="auto">
            <a:xfrm>
              <a:off x="960" y="2448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3394" name="Text Box 18"/>
            <p:cNvSpPr txBox="1">
              <a:spLocks noChangeArrowheads="1"/>
            </p:cNvSpPr>
            <p:nvPr/>
          </p:nvSpPr>
          <p:spPr bwMode="auto">
            <a:xfrm>
              <a:off x="624" y="1392"/>
              <a:ext cx="336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 b="1"/>
                <a:t>R</a:t>
              </a:r>
            </a:p>
          </p:txBody>
        </p:sp>
        <p:sp>
          <p:nvSpPr>
            <p:cNvPr id="613395" name="Line 19"/>
            <p:cNvSpPr>
              <a:spLocks noChangeShapeType="1"/>
            </p:cNvSpPr>
            <p:nvPr/>
          </p:nvSpPr>
          <p:spPr bwMode="auto">
            <a:xfrm>
              <a:off x="624" y="139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3396" name="Text Box 20"/>
            <p:cNvSpPr txBox="1">
              <a:spLocks noChangeArrowheads="1"/>
            </p:cNvSpPr>
            <p:nvPr/>
          </p:nvSpPr>
          <p:spPr bwMode="auto">
            <a:xfrm>
              <a:off x="960" y="1824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</a:t>
              </a:r>
            </a:p>
          </p:txBody>
        </p:sp>
        <p:sp>
          <p:nvSpPr>
            <p:cNvPr id="613397" name="Text Box 21"/>
            <p:cNvSpPr txBox="1">
              <a:spLocks noChangeArrowheads="1"/>
            </p:cNvSpPr>
            <p:nvPr/>
          </p:nvSpPr>
          <p:spPr bwMode="auto">
            <a:xfrm>
              <a:off x="960" y="2016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</a:t>
              </a:r>
            </a:p>
          </p:txBody>
        </p:sp>
        <p:sp>
          <p:nvSpPr>
            <p:cNvPr id="613398" name="Line 22"/>
            <p:cNvSpPr>
              <a:spLocks noChangeShapeType="1"/>
            </p:cNvSpPr>
            <p:nvPr/>
          </p:nvSpPr>
          <p:spPr bwMode="auto">
            <a:xfrm>
              <a:off x="1248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3399" name="Line 23"/>
            <p:cNvSpPr>
              <a:spLocks noChangeShapeType="1"/>
            </p:cNvSpPr>
            <p:nvPr/>
          </p:nvSpPr>
          <p:spPr bwMode="auto">
            <a:xfrm>
              <a:off x="960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3400" name="Line 24"/>
            <p:cNvSpPr>
              <a:spLocks noChangeShapeType="1"/>
            </p:cNvSpPr>
            <p:nvPr/>
          </p:nvSpPr>
          <p:spPr bwMode="auto">
            <a:xfrm>
              <a:off x="1536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3401" name="Text Box 25"/>
            <p:cNvSpPr txBox="1">
              <a:spLocks noChangeArrowheads="1"/>
            </p:cNvSpPr>
            <p:nvPr/>
          </p:nvSpPr>
          <p:spPr bwMode="auto">
            <a:xfrm>
              <a:off x="1536" y="139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C</a:t>
              </a:r>
            </a:p>
          </p:txBody>
        </p:sp>
        <p:sp>
          <p:nvSpPr>
            <p:cNvPr id="613402" name="Text Box 26"/>
            <p:cNvSpPr txBox="1">
              <a:spLocks noChangeArrowheads="1"/>
            </p:cNvSpPr>
            <p:nvPr/>
          </p:nvSpPr>
          <p:spPr bwMode="auto">
            <a:xfrm>
              <a:off x="1536" y="163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1</a:t>
              </a:r>
            </a:p>
          </p:txBody>
        </p:sp>
        <p:sp>
          <p:nvSpPr>
            <p:cNvPr id="613403" name="Text Box 27"/>
            <p:cNvSpPr txBox="1">
              <a:spLocks noChangeArrowheads="1"/>
            </p:cNvSpPr>
            <p:nvPr/>
          </p:nvSpPr>
          <p:spPr bwMode="auto">
            <a:xfrm>
              <a:off x="1536" y="1824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5</a:t>
              </a:r>
            </a:p>
          </p:txBody>
        </p:sp>
        <p:sp>
          <p:nvSpPr>
            <p:cNvPr id="613404" name="Text Box 28"/>
            <p:cNvSpPr txBox="1">
              <a:spLocks noChangeArrowheads="1"/>
            </p:cNvSpPr>
            <p:nvPr/>
          </p:nvSpPr>
          <p:spPr bwMode="auto">
            <a:xfrm>
              <a:off x="1536" y="2016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12</a:t>
              </a:r>
            </a:p>
          </p:txBody>
        </p:sp>
        <p:sp>
          <p:nvSpPr>
            <p:cNvPr id="613405" name="Line 29"/>
            <p:cNvSpPr>
              <a:spLocks noChangeShapeType="1"/>
            </p:cNvSpPr>
            <p:nvPr/>
          </p:nvSpPr>
          <p:spPr bwMode="auto">
            <a:xfrm>
              <a:off x="1824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3406" name="Text Box 30"/>
            <p:cNvSpPr txBox="1">
              <a:spLocks noChangeArrowheads="1"/>
            </p:cNvSpPr>
            <p:nvPr/>
          </p:nvSpPr>
          <p:spPr bwMode="auto">
            <a:xfrm>
              <a:off x="960" y="2208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</a:t>
              </a:r>
            </a:p>
          </p:txBody>
        </p:sp>
        <p:sp>
          <p:nvSpPr>
            <p:cNvPr id="613407" name="Text Box 31"/>
            <p:cNvSpPr txBox="1">
              <a:spLocks noChangeArrowheads="1"/>
            </p:cNvSpPr>
            <p:nvPr/>
          </p:nvSpPr>
          <p:spPr bwMode="auto">
            <a:xfrm>
              <a:off x="1536" y="2208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23</a:t>
              </a:r>
            </a:p>
          </p:txBody>
        </p:sp>
        <p:sp>
          <p:nvSpPr>
            <p:cNvPr id="613408" name="Text Box 32"/>
            <p:cNvSpPr txBox="1">
              <a:spLocks noChangeArrowheads="1"/>
            </p:cNvSpPr>
            <p:nvPr/>
          </p:nvSpPr>
          <p:spPr bwMode="auto">
            <a:xfrm>
              <a:off x="1824" y="139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D</a:t>
              </a:r>
            </a:p>
          </p:txBody>
        </p:sp>
        <p:sp>
          <p:nvSpPr>
            <p:cNvPr id="613409" name="Text Box 33"/>
            <p:cNvSpPr txBox="1">
              <a:spLocks noChangeArrowheads="1"/>
            </p:cNvSpPr>
            <p:nvPr/>
          </p:nvSpPr>
          <p:spPr bwMode="auto">
            <a:xfrm>
              <a:off x="1824" y="163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1</a:t>
              </a:r>
            </a:p>
          </p:txBody>
        </p:sp>
        <p:sp>
          <p:nvSpPr>
            <p:cNvPr id="613410" name="Text Box 34"/>
            <p:cNvSpPr txBox="1">
              <a:spLocks noChangeArrowheads="1"/>
            </p:cNvSpPr>
            <p:nvPr/>
          </p:nvSpPr>
          <p:spPr bwMode="auto">
            <a:xfrm>
              <a:off x="1824" y="1824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7</a:t>
              </a:r>
            </a:p>
          </p:txBody>
        </p:sp>
        <p:sp>
          <p:nvSpPr>
            <p:cNvPr id="613411" name="Text Box 35"/>
            <p:cNvSpPr txBox="1">
              <a:spLocks noChangeArrowheads="1"/>
            </p:cNvSpPr>
            <p:nvPr/>
          </p:nvSpPr>
          <p:spPr bwMode="auto">
            <a:xfrm>
              <a:off x="1824" y="2016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3</a:t>
              </a:r>
            </a:p>
          </p:txBody>
        </p:sp>
        <p:sp>
          <p:nvSpPr>
            <p:cNvPr id="613412" name="Text Box 36"/>
            <p:cNvSpPr txBox="1">
              <a:spLocks noChangeArrowheads="1"/>
            </p:cNvSpPr>
            <p:nvPr/>
          </p:nvSpPr>
          <p:spPr bwMode="auto">
            <a:xfrm>
              <a:off x="1824" y="2208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9</a:t>
              </a:r>
            </a:p>
          </p:txBody>
        </p:sp>
        <p:sp>
          <p:nvSpPr>
            <p:cNvPr id="613413" name="Text Box 37"/>
            <p:cNvSpPr txBox="1">
              <a:spLocks noChangeArrowheads="1"/>
            </p:cNvSpPr>
            <p:nvPr/>
          </p:nvSpPr>
          <p:spPr bwMode="auto">
            <a:xfrm>
              <a:off x="1248" y="1632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</a:t>
              </a:r>
            </a:p>
          </p:txBody>
        </p:sp>
        <p:sp>
          <p:nvSpPr>
            <p:cNvPr id="613414" name="Text Box 38"/>
            <p:cNvSpPr txBox="1">
              <a:spLocks noChangeArrowheads="1"/>
            </p:cNvSpPr>
            <p:nvPr/>
          </p:nvSpPr>
          <p:spPr bwMode="auto">
            <a:xfrm>
              <a:off x="1248" y="1824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</a:t>
              </a:r>
            </a:p>
          </p:txBody>
        </p:sp>
        <p:sp>
          <p:nvSpPr>
            <p:cNvPr id="613415" name="Text Box 39"/>
            <p:cNvSpPr txBox="1">
              <a:spLocks noChangeArrowheads="1"/>
            </p:cNvSpPr>
            <p:nvPr/>
          </p:nvSpPr>
          <p:spPr bwMode="auto">
            <a:xfrm>
              <a:off x="1248" y="2016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</a:t>
              </a:r>
            </a:p>
          </p:txBody>
        </p:sp>
        <p:sp>
          <p:nvSpPr>
            <p:cNvPr id="613416" name="Text Box 40"/>
            <p:cNvSpPr txBox="1">
              <a:spLocks noChangeArrowheads="1"/>
            </p:cNvSpPr>
            <p:nvPr/>
          </p:nvSpPr>
          <p:spPr bwMode="auto">
            <a:xfrm>
              <a:off x="1248" y="2208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</a:t>
              </a:r>
            </a:p>
          </p:txBody>
        </p:sp>
        <p:sp>
          <p:nvSpPr>
            <p:cNvPr id="613417" name="Line 41"/>
            <p:cNvSpPr>
              <a:spLocks noChangeShapeType="1"/>
            </p:cNvSpPr>
            <p:nvPr/>
          </p:nvSpPr>
          <p:spPr bwMode="auto">
            <a:xfrm>
              <a:off x="2112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13418" name="Group 42"/>
          <p:cNvGrpSpPr>
            <a:grpSpLocks/>
          </p:cNvGrpSpPr>
          <p:nvPr/>
        </p:nvGrpSpPr>
        <p:grpSpPr bwMode="auto">
          <a:xfrm>
            <a:off x="5029200" y="3429000"/>
            <a:ext cx="1905000" cy="1600200"/>
            <a:chOff x="816" y="1584"/>
            <a:chExt cx="1200" cy="1008"/>
          </a:xfrm>
        </p:grpSpPr>
        <p:sp>
          <p:nvSpPr>
            <p:cNvPr id="613419" name="Text Box 43"/>
            <p:cNvSpPr txBox="1">
              <a:spLocks noChangeArrowheads="1"/>
            </p:cNvSpPr>
            <p:nvPr/>
          </p:nvSpPr>
          <p:spPr bwMode="auto">
            <a:xfrm>
              <a:off x="1152" y="1584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A</a:t>
              </a:r>
            </a:p>
          </p:txBody>
        </p:sp>
        <p:sp>
          <p:nvSpPr>
            <p:cNvPr id="613420" name="Text Box 44"/>
            <p:cNvSpPr txBox="1">
              <a:spLocks noChangeArrowheads="1"/>
            </p:cNvSpPr>
            <p:nvPr/>
          </p:nvSpPr>
          <p:spPr bwMode="auto">
            <a:xfrm>
              <a:off x="1440" y="1584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B</a:t>
              </a:r>
            </a:p>
          </p:txBody>
        </p:sp>
        <p:sp>
          <p:nvSpPr>
            <p:cNvPr id="613421" name="Text Box 45"/>
            <p:cNvSpPr txBox="1">
              <a:spLocks noChangeArrowheads="1"/>
            </p:cNvSpPr>
            <p:nvPr/>
          </p:nvSpPr>
          <p:spPr bwMode="auto">
            <a:xfrm>
              <a:off x="1152" y="1824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</a:t>
              </a:r>
            </a:p>
          </p:txBody>
        </p:sp>
        <p:grpSp>
          <p:nvGrpSpPr>
            <p:cNvPr id="613422" name="Group 46"/>
            <p:cNvGrpSpPr>
              <a:grpSpLocks/>
            </p:cNvGrpSpPr>
            <p:nvPr/>
          </p:nvGrpSpPr>
          <p:grpSpPr bwMode="auto">
            <a:xfrm>
              <a:off x="816" y="1584"/>
              <a:ext cx="1200" cy="192"/>
              <a:chOff x="816" y="1584"/>
              <a:chExt cx="1200" cy="192"/>
            </a:xfrm>
          </p:grpSpPr>
          <p:sp>
            <p:nvSpPr>
              <p:cNvPr id="613423" name="Line 47"/>
              <p:cNvSpPr>
                <a:spLocks noChangeShapeType="1"/>
              </p:cNvSpPr>
              <p:nvPr/>
            </p:nvSpPr>
            <p:spPr bwMode="auto">
              <a:xfrm>
                <a:off x="816" y="1776"/>
                <a:ext cx="12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13424" name="Line 48"/>
              <p:cNvSpPr>
                <a:spLocks noChangeShapeType="1"/>
              </p:cNvSpPr>
              <p:nvPr/>
            </p:nvSpPr>
            <p:spPr bwMode="auto">
              <a:xfrm>
                <a:off x="816" y="1584"/>
                <a:ext cx="12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613425" name="Line 49"/>
            <p:cNvSpPr>
              <a:spLocks noChangeShapeType="1"/>
            </p:cNvSpPr>
            <p:nvPr/>
          </p:nvSpPr>
          <p:spPr bwMode="auto">
            <a:xfrm>
              <a:off x="1152" y="2592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3426" name="Text Box 50"/>
            <p:cNvSpPr txBox="1">
              <a:spLocks noChangeArrowheads="1"/>
            </p:cNvSpPr>
            <p:nvPr/>
          </p:nvSpPr>
          <p:spPr bwMode="auto">
            <a:xfrm>
              <a:off x="816" y="1584"/>
              <a:ext cx="336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 b="1"/>
                <a:t>S</a:t>
              </a:r>
            </a:p>
          </p:txBody>
        </p:sp>
        <p:sp>
          <p:nvSpPr>
            <p:cNvPr id="613427" name="Line 51"/>
            <p:cNvSpPr>
              <a:spLocks noChangeShapeType="1"/>
            </p:cNvSpPr>
            <p:nvPr/>
          </p:nvSpPr>
          <p:spPr bwMode="auto">
            <a:xfrm>
              <a:off x="816" y="1584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3428" name="Text Box 52"/>
            <p:cNvSpPr txBox="1">
              <a:spLocks noChangeArrowheads="1"/>
            </p:cNvSpPr>
            <p:nvPr/>
          </p:nvSpPr>
          <p:spPr bwMode="auto">
            <a:xfrm>
              <a:off x="1152" y="2016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</a:t>
              </a:r>
            </a:p>
          </p:txBody>
        </p:sp>
        <p:sp>
          <p:nvSpPr>
            <p:cNvPr id="613429" name="Text Box 53"/>
            <p:cNvSpPr txBox="1">
              <a:spLocks noChangeArrowheads="1"/>
            </p:cNvSpPr>
            <p:nvPr/>
          </p:nvSpPr>
          <p:spPr bwMode="auto">
            <a:xfrm>
              <a:off x="1440" y="1824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2</a:t>
              </a:r>
            </a:p>
          </p:txBody>
        </p:sp>
        <p:sp>
          <p:nvSpPr>
            <p:cNvPr id="613430" name="Text Box 54"/>
            <p:cNvSpPr txBox="1">
              <a:spLocks noChangeArrowheads="1"/>
            </p:cNvSpPr>
            <p:nvPr/>
          </p:nvSpPr>
          <p:spPr bwMode="auto">
            <a:xfrm>
              <a:off x="1440" y="2016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4</a:t>
              </a:r>
            </a:p>
          </p:txBody>
        </p:sp>
        <p:sp>
          <p:nvSpPr>
            <p:cNvPr id="613431" name="Text Box 55"/>
            <p:cNvSpPr txBox="1">
              <a:spLocks noChangeArrowheads="1"/>
            </p:cNvSpPr>
            <p:nvPr/>
          </p:nvSpPr>
          <p:spPr bwMode="auto">
            <a:xfrm>
              <a:off x="1152" y="2208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</a:t>
              </a:r>
            </a:p>
          </p:txBody>
        </p:sp>
        <p:sp>
          <p:nvSpPr>
            <p:cNvPr id="613432" name="Text Box 56"/>
            <p:cNvSpPr txBox="1">
              <a:spLocks noChangeArrowheads="1"/>
            </p:cNvSpPr>
            <p:nvPr/>
          </p:nvSpPr>
          <p:spPr bwMode="auto">
            <a:xfrm>
              <a:off x="1152" y="2400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</a:t>
              </a:r>
            </a:p>
          </p:txBody>
        </p:sp>
        <p:sp>
          <p:nvSpPr>
            <p:cNvPr id="613433" name="Text Box 57"/>
            <p:cNvSpPr txBox="1">
              <a:spLocks noChangeArrowheads="1"/>
            </p:cNvSpPr>
            <p:nvPr/>
          </p:nvSpPr>
          <p:spPr bwMode="auto">
            <a:xfrm>
              <a:off x="1440" y="2208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2</a:t>
              </a:r>
            </a:p>
          </p:txBody>
        </p:sp>
        <p:sp>
          <p:nvSpPr>
            <p:cNvPr id="613434" name="Text Box 58"/>
            <p:cNvSpPr txBox="1">
              <a:spLocks noChangeArrowheads="1"/>
            </p:cNvSpPr>
            <p:nvPr/>
          </p:nvSpPr>
          <p:spPr bwMode="auto">
            <a:xfrm>
              <a:off x="1440" y="2400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2</a:t>
              </a:r>
            </a:p>
          </p:txBody>
        </p:sp>
        <p:sp>
          <p:nvSpPr>
            <p:cNvPr id="613435" name="Text Box 59"/>
            <p:cNvSpPr txBox="1">
              <a:spLocks noChangeArrowheads="1"/>
            </p:cNvSpPr>
            <p:nvPr/>
          </p:nvSpPr>
          <p:spPr bwMode="auto">
            <a:xfrm>
              <a:off x="1728" y="1584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C</a:t>
              </a:r>
            </a:p>
          </p:txBody>
        </p:sp>
        <p:sp>
          <p:nvSpPr>
            <p:cNvPr id="613436" name="Text Box 60"/>
            <p:cNvSpPr txBox="1">
              <a:spLocks noChangeArrowheads="1"/>
            </p:cNvSpPr>
            <p:nvPr/>
          </p:nvSpPr>
          <p:spPr bwMode="auto">
            <a:xfrm>
              <a:off x="1728" y="1824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7</a:t>
              </a:r>
            </a:p>
          </p:txBody>
        </p:sp>
        <p:sp>
          <p:nvSpPr>
            <p:cNvPr id="613437" name="Text Box 61"/>
            <p:cNvSpPr txBox="1">
              <a:spLocks noChangeArrowheads="1"/>
            </p:cNvSpPr>
            <p:nvPr/>
          </p:nvSpPr>
          <p:spPr bwMode="auto">
            <a:xfrm>
              <a:off x="1728" y="2016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7</a:t>
              </a:r>
            </a:p>
          </p:txBody>
        </p:sp>
        <p:sp>
          <p:nvSpPr>
            <p:cNvPr id="613438" name="Text Box 62"/>
            <p:cNvSpPr txBox="1">
              <a:spLocks noChangeArrowheads="1"/>
            </p:cNvSpPr>
            <p:nvPr/>
          </p:nvSpPr>
          <p:spPr bwMode="auto">
            <a:xfrm>
              <a:off x="1728" y="2208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3</a:t>
              </a:r>
            </a:p>
          </p:txBody>
        </p:sp>
        <p:sp>
          <p:nvSpPr>
            <p:cNvPr id="613439" name="Text Box 63"/>
            <p:cNvSpPr txBox="1">
              <a:spLocks noChangeArrowheads="1"/>
            </p:cNvSpPr>
            <p:nvPr/>
          </p:nvSpPr>
          <p:spPr bwMode="auto">
            <a:xfrm>
              <a:off x="1728" y="2400"/>
              <a:ext cx="288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ym typeface="Symbol" pitchFamily="18" charset="2"/>
                </a:rPr>
                <a:t>10</a:t>
              </a:r>
            </a:p>
          </p:txBody>
        </p:sp>
        <p:grpSp>
          <p:nvGrpSpPr>
            <p:cNvPr id="613440" name="Group 64"/>
            <p:cNvGrpSpPr>
              <a:grpSpLocks/>
            </p:cNvGrpSpPr>
            <p:nvPr/>
          </p:nvGrpSpPr>
          <p:grpSpPr bwMode="auto">
            <a:xfrm>
              <a:off x="1152" y="1584"/>
              <a:ext cx="864" cy="1008"/>
              <a:chOff x="1152" y="1584"/>
              <a:chExt cx="864" cy="1008"/>
            </a:xfrm>
          </p:grpSpPr>
          <p:sp>
            <p:nvSpPr>
              <p:cNvPr id="613441" name="Line 65"/>
              <p:cNvSpPr>
                <a:spLocks noChangeShapeType="1"/>
              </p:cNvSpPr>
              <p:nvPr/>
            </p:nvSpPr>
            <p:spPr bwMode="auto">
              <a:xfrm>
                <a:off x="1440" y="1584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13442" name="Line 66"/>
              <p:cNvSpPr>
                <a:spLocks noChangeShapeType="1"/>
              </p:cNvSpPr>
              <p:nvPr/>
            </p:nvSpPr>
            <p:spPr bwMode="auto">
              <a:xfrm>
                <a:off x="1152" y="1584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13443" name="Line 67"/>
              <p:cNvSpPr>
                <a:spLocks noChangeShapeType="1"/>
              </p:cNvSpPr>
              <p:nvPr/>
            </p:nvSpPr>
            <p:spPr bwMode="auto">
              <a:xfrm>
                <a:off x="1728" y="1584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13444" name="Line 68"/>
              <p:cNvSpPr>
                <a:spLocks noChangeShapeType="1"/>
              </p:cNvSpPr>
              <p:nvPr/>
            </p:nvSpPr>
            <p:spPr bwMode="auto">
              <a:xfrm>
                <a:off x="2016" y="1584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613450" name="Group 74"/>
          <p:cNvGrpSpPr>
            <a:grpSpLocks/>
          </p:cNvGrpSpPr>
          <p:nvPr/>
        </p:nvGrpSpPr>
        <p:grpSpPr bwMode="auto">
          <a:xfrm>
            <a:off x="3429000" y="2971800"/>
            <a:ext cx="2895600" cy="609600"/>
            <a:chOff x="2160" y="1872"/>
            <a:chExt cx="1824" cy="384"/>
          </a:xfrm>
        </p:grpSpPr>
        <p:sp>
          <p:nvSpPr>
            <p:cNvPr id="613447" name="Line 71"/>
            <p:cNvSpPr>
              <a:spLocks noChangeShapeType="1"/>
            </p:cNvSpPr>
            <p:nvPr/>
          </p:nvSpPr>
          <p:spPr bwMode="auto">
            <a:xfrm flipV="1">
              <a:off x="2160" y="1872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13448" name="Line 72"/>
            <p:cNvSpPr>
              <a:spLocks noChangeShapeType="1"/>
            </p:cNvSpPr>
            <p:nvPr/>
          </p:nvSpPr>
          <p:spPr bwMode="auto">
            <a:xfrm>
              <a:off x="2160" y="1872"/>
              <a:ext cx="182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13449" name="Line 73"/>
            <p:cNvSpPr>
              <a:spLocks noChangeShapeType="1"/>
            </p:cNvSpPr>
            <p:nvPr/>
          </p:nvSpPr>
          <p:spPr bwMode="auto">
            <a:xfrm>
              <a:off x="3984" y="1872"/>
              <a:ext cx="0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7157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3446" grpId="0" animBg="1"/>
      <p:bldP spid="61344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7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/>
              <a:t>Ví dụ 12 </a:t>
            </a:r>
          </a:p>
        </p:txBody>
      </p:sp>
      <p:sp>
        <p:nvSpPr>
          <p:cNvPr id="62771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pPr algn="just"/>
            <a:r>
              <a:rPr lang="en-US" dirty="0" err="1"/>
              <a:t>Ngày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trưởng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nhỏ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ngày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 smtClean="0"/>
              <a:t>chức</a:t>
            </a:r>
            <a:endParaRPr lang="en-US" dirty="0"/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Bối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cảnh</a:t>
            </a:r>
            <a:r>
              <a:rPr lang="en-US" dirty="0">
                <a:solidFill>
                  <a:schemeClr val="tx1"/>
                </a:solidFill>
              </a:rPr>
              <a:t>: </a:t>
            </a: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Biểu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diễn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lvl="2" algn="just"/>
            <a:endParaRPr lang="en-US" dirty="0"/>
          </a:p>
          <a:p>
            <a:pPr lvl="2" algn="just"/>
            <a:endParaRPr lang="en-US" dirty="0"/>
          </a:p>
          <a:p>
            <a:pPr marL="594360" lvl="2" indent="0" algn="just">
              <a:buNone/>
            </a:pPr>
            <a:endParaRPr lang="en-US" dirty="0"/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Bảng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tầm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ảnh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hưởng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627716" name="Text Box 4"/>
          <p:cNvSpPr txBox="1">
            <a:spLocks noChangeArrowheads="1"/>
          </p:cNvSpPr>
          <p:nvPr/>
        </p:nvSpPr>
        <p:spPr bwMode="auto">
          <a:xfrm>
            <a:off x="1524000" y="3200401"/>
            <a:ext cx="6096000" cy="1169551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lang="en-US" sz="2000" b="1" dirty="0">
                <a:latin typeface="Arial" charset="0"/>
                <a:sym typeface="Symbol" pitchFamily="18" charset="2"/>
              </a:rPr>
              <a:t></a:t>
            </a:r>
            <a:r>
              <a:rPr lang="en-US" sz="2000" dirty="0">
                <a:latin typeface="Arial" charset="0"/>
                <a:sym typeface="Symbol" pitchFamily="18" charset="2"/>
              </a:rPr>
              <a:t>t </a:t>
            </a:r>
            <a:r>
              <a:rPr lang="en-US" sz="2000" b="1" dirty="0">
                <a:latin typeface="Arial" charset="0"/>
                <a:sym typeface="Symbol" pitchFamily="18" charset="2"/>
              </a:rPr>
              <a:t></a:t>
            </a:r>
            <a:r>
              <a:rPr lang="en-US" sz="2000" dirty="0">
                <a:latin typeface="Arial" charset="0"/>
                <a:sym typeface="Symbol" pitchFamily="18" charset="2"/>
              </a:rPr>
              <a:t> PHONGBAN ( </a:t>
            </a:r>
            <a:r>
              <a:rPr lang="en-US" sz="2000" b="1" dirty="0">
                <a:latin typeface="Arial" charset="0"/>
                <a:sym typeface="Symbol" pitchFamily="18" charset="2"/>
              </a:rPr>
              <a:t></a:t>
            </a:r>
            <a:r>
              <a:rPr lang="en-US" sz="2000" dirty="0">
                <a:latin typeface="Arial" charset="0"/>
                <a:sym typeface="Symbol" pitchFamily="18" charset="2"/>
              </a:rPr>
              <a:t>s </a:t>
            </a:r>
            <a:r>
              <a:rPr lang="en-US" sz="2000" b="1" dirty="0">
                <a:latin typeface="Arial" charset="0"/>
                <a:sym typeface="Symbol" pitchFamily="18" charset="2"/>
              </a:rPr>
              <a:t></a:t>
            </a:r>
            <a:r>
              <a:rPr lang="en-US" sz="2000" dirty="0">
                <a:latin typeface="Arial" charset="0"/>
                <a:sym typeface="Symbol" pitchFamily="18" charset="2"/>
              </a:rPr>
              <a:t> NHANVIEN ( </a:t>
            </a:r>
          </a:p>
          <a:p>
            <a:pPr algn="l">
              <a:spcBef>
                <a:spcPts val="600"/>
              </a:spcBef>
            </a:pPr>
            <a:r>
              <a:rPr lang="en-US" sz="2000" dirty="0">
                <a:latin typeface="Arial" charset="0"/>
                <a:sym typeface="Symbol" pitchFamily="18" charset="2"/>
              </a:rPr>
              <a:t>	</a:t>
            </a:r>
            <a:r>
              <a:rPr lang="en-US" sz="2000" dirty="0" err="1">
                <a:latin typeface="Arial" charset="0"/>
                <a:sym typeface="Symbol" pitchFamily="18" charset="2"/>
              </a:rPr>
              <a:t>s.MANV</a:t>
            </a:r>
            <a:r>
              <a:rPr lang="en-US" sz="2000" dirty="0">
                <a:latin typeface="Arial" charset="0"/>
                <a:sym typeface="Symbol" pitchFamily="18" charset="2"/>
              </a:rPr>
              <a:t> </a:t>
            </a:r>
            <a:r>
              <a:rPr lang="en-US" sz="2000" b="1" dirty="0">
                <a:latin typeface="Arial" charset="0"/>
                <a:sym typeface="Symbol" pitchFamily="18" charset="2"/>
              </a:rPr>
              <a:t></a:t>
            </a:r>
            <a:r>
              <a:rPr lang="en-US" sz="2000" dirty="0">
                <a:latin typeface="Arial" charset="0"/>
                <a:sym typeface="Symbol" pitchFamily="18" charset="2"/>
              </a:rPr>
              <a:t> </a:t>
            </a:r>
            <a:r>
              <a:rPr lang="en-US" sz="2000" dirty="0" err="1">
                <a:latin typeface="Arial" charset="0"/>
                <a:sym typeface="Symbol" pitchFamily="18" charset="2"/>
              </a:rPr>
              <a:t>t.TRPHG</a:t>
            </a:r>
            <a:r>
              <a:rPr lang="en-US" sz="2000" dirty="0">
                <a:latin typeface="Arial" charset="0"/>
                <a:sym typeface="Symbol" pitchFamily="18" charset="2"/>
              </a:rPr>
              <a:t> </a:t>
            </a:r>
          </a:p>
          <a:p>
            <a:pPr algn="l">
              <a:spcBef>
                <a:spcPts val="600"/>
              </a:spcBef>
            </a:pPr>
            <a:r>
              <a:rPr lang="en-US" sz="2000" dirty="0">
                <a:latin typeface="Arial" charset="0"/>
                <a:sym typeface="Symbol" pitchFamily="18" charset="2"/>
              </a:rPr>
              <a:t>	</a:t>
            </a:r>
            <a:r>
              <a:rPr lang="en-US" sz="2000" dirty="0" err="1">
                <a:latin typeface="Arial" charset="0"/>
                <a:sym typeface="Symbol" pitchFamily="18" charset="2"/>
              </a:rPr>
              <a:t>t.NG_NHANCHUC</a:t>
            </a:r>
            <a:r>
              <a:rPr lang="en-US" sz="2000" dirty="0">
                <a:latin typeface="Arial" charset="0"/>
                <a:sym typeface="Symbol" pitchFamily="18" charset="2"/>
              </a:rPr>
              <a:t>  </a:t>
            </a:r>
            <a:r>
              <a:rPr lang="en-US" sz="2000" dirty="0" err="1">
                <a:latin typeface="Arial" charset="0"/>
                <a:sym typeface="Symbol" pitchFamily="18" charset="2"/>
              </a:rPr>
              <a:t>s.NGSINH</a:t>
            </a:r>
            <a:r>
              <a:rPr lang="en-US" sz="2000" dirty="0">
                <a:latin typeface="Arial" charset="0"/>
                <a:sym typeface="Symbol" pitchFamily="18" charset="2"/>
              </a:rPr>
              <a:t> ))</a:t>
            </a:r>
          </a:p>
        </p:txBody>
      </p:sp>
      <p:grpSp>
        <p:nvGrpSpPr>
          <p:cNvPr id="627739" name="Group 27"/>
          <p:cNvGrpSpPr>
            <a:grpSpLocks/>
          </p:cNvGrpSpPr>
          <p:nvPr/>
        </p:nvGrpSpPr>
        <p:grpSpPr bwMode="auto">
          <a:xfrm>
            <a:off x="1295400" y="4876800"/>
            <a:ext cx="7010400" cy="1219200"/>
            <a:chOff x="816" y="3360"/>
            <a:chExt cx="4416" cy="768"/>
          </a:xfrm>
        </p:grpSpPr>
        <p:sp>
          <p:nvSpPr>
            <p:cNvPr id="627718" name="Text Box 6"/>
            <p:cNvSpPr txBox="1">
              <a:spLocks noChangeArrowheads="1"/>
            </p:cNvSpPr>
            <p:nvPr/>
          </p:nvSpPr>
          <p:spPr bwMode="auto">
            <a:xfrm>
              <a:off x="1008" y="3369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R</a:t>
              </a:r>
              <a:r>
                <a:rPr lang="en-US" sz="1400"/>
                <a:t>12</a:t>
              </a:r>
            </a:p>
          </p:txBody>
        </p:sp>
        <p:sp>
          <p:nvSpPr>
            <p:cNvPr id="627719" name="Text Box 7"/>
            <p:cNvSpPr txBox="1">
              <a:spLocks noChangeArrowheads="1"/>
            </p:cNvSpPr>
            <p:nvPr/>
          </p:nvSpPr>
          <p:spPr bwMode="auto">
            <a:xfrm>
              <a:off x="816" y="3628"/>
              <a:ext cx="912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NHANVIEN</a:t>
              </a:r>
            </a:p>
          </p:txBody>
        </p:sp>
        <p:grpSp>
          <p:nvGrpSpPr>
            <p:cNvPr id="627720" name="Group 8"/>
            <p:cNvGrpSpPr>
              <a:grpSpLocks/>
            </p:cNvGrpSpPr>
            <p:nvPr/>
          </p:nvGrpSpPr>
          <p:grpSpPr bwMode="auto">
            <a:xfrm>
              <a:off x="1728" y="3360"/>
              <a:ext cx="1488" cy="768"/>
              <a:chOff x="2160" y="3168"/>
              <a:chExt cx="1488" cy="624"/>
            </a:xfrm>
          </p:grpSpPr>
          <p:sp>
            <p:nvSpPr>
              <p:cNvPr id="627721" name="Line 9"/>
              <p:cNvSpPr>
                <a:spLocks noChangeShapeType="1"/>
              </p:cNvSpPr>
              <p:nvPr/>
            </p:nvSpPr>
            <p:spPr bwMode="auto">
              <a:xfrm>
                <a:off x="216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27722" name="Line 10"/>
              <p:cNvSpPr>
                <a:spLocks noChangeShapeType="1"/>
              </p:cNvSpPr>
              <p:nvPr/>
            </p:nvSpPr>
            <p:spPr bwMode="auto">
              <a:xfrm>
                <a:off x="288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27723" name="Line 11"/>
              <p:cNvSpPr>
                <a:spLocks noChangeShapeType="1"/>
              </p:cNvSpPr>
              <p:nvPr/>
            </p:nvSpPr>
            <p:spPr bwMode="auto">
              <a:xfrm>
                <a:off x="3648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627724" name="Text Box 12"/>
            <p:cNvSpPr txBox="1">
              <a:spLocks noChangeArrowheads="1"/>
            </p:cNvSpPr>
            <p:nvPr/>
          </p:nvSpPr>
          <p:spPr bwMode="auto">
            <a:xfrm>
              <a:off x="1728" y="3360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Thêm</a:t>
              </a:r>
            </a:p>
          </p:txBody>
        </p:sp>
        <p:sp>
          <p:nvSpPr>
            <p:cNvPr id="627725" name="Text Box 13"/>
            <p:cNvSpPr txBox="1">
              <a:spLocks noChangeArrowheads="1"/>
            </p:cNvSpPr>
            <p:nvPr/>
          </p:nvSpPr>
          <p:spPr bwMode="auto">
            <a:xfrm>
              <a:off x="2496" y="3360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Xóa</a:t>
              </a:r>
            </a:p>
          </p:txBody>
        </p:sp>
        <p:sp>
          <p:nvSpPr>
            <p:cNvPr id="627726" name="Text Box 14"/>
            <p:cNvSpPr txBox="1">
              <a:spLocks noChangeArrowheads="1"/>
            </p:cNvSpPr>
            <p:nvPr/>
          </p:nvSpPr>
          <p:spPr bwMode="auto">
            <a:xfrm>
              <a:off x="3216" y="3360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Sửa</a:t>
              </a:r>
            </a:p>
          </p:txBody>
        </p:sp>
        <p:sp>
          <p:nvSpPr>
            <p:cNvPr id="627727" name="Text Box 15"/>
            <p:cNvSpPr txBox="1">
              <a:spLocks noChangeArrowheads="1"/>
            </p:cNvSpPr>
            <p:nvPr/>
          </p:nvSpPr>
          <p:spPr bwMode="auto">
            <a:xfrm>
              <a:off x="1728" y="3637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ym typeface="Symbol" pitchFamily="18" charset="2"/>
                </a:rPr>
                <a:t></a:t>
              </a:r>
            </a:p>
          </p:txBody>
        </p:sp>
        <p:sp>
          <p:nvSpPr>
            <p:cNvPr id="627728" name="Text Box 16"/>
            <p:cNvSpPr txBox="1">
              <a:spLocks noChangeArrowheads="1"/>
            </p:cNvSpPr>
            <p:nvPr/>
          </p:nvSpPr>
          <p:spPr bwMode="auto">
            <a:xfrm>
              <a:off x="1728" y="3888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 dirty="0">
                  <a:sym typeface="Symbol" pitchFamily="18" charset="2"/>
                </a:rPr>
                <a:t></a:t>
              </a:r>
            </a:p>
          </p:txBody>
        </p:sp>
        <p:sp>
          <p:nvSpPr>
            <p:cNvPr id="627729" name="Text Box 17"/>
            <p:cNvSpPr txBox="1">
              <a:spLocks noChangeArrowheads="1"/>
            </p:cNvSpPr>
            <p:nvPr/>
          </p:nvSpPr>
          <p:spPr bwMode="auto">
            <a:xfrm>
              <a:off x="3216" y="3897"/>
              <a:ext cx="2016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ym typeface="Symbol" pitchFamily="18" charset="2"/>
                </a:rPr>
                <a:t></a:t>
              </a:r>
              <a:r>
                <a:rPr lang="en-US" sz="1800"/>
                <a:t> (NG_NHANCHUC, TRPHG)</a:t>
              </a:r>
            </a:p>
          </p:txBody>
        </p:sp>
        <p:grpSp>
          <p:nvGrpSpPr>
            <p:cNvPr id="627730" name="Group 18"/>
            <p:cNvGrpSpPr>
              <a:grpSpLocks/>
            </p:cNvGrpSpPr>
            <p:nvPr/>
          </p:nvGrpSpPr>
          <p:grpSpPr bwMode="auto">
            <a:xfrm>
              <a:off x="816" y="3648"/>
              <a:ext cx="4368" cy="240"/>
              <a:chOff x="864" y="3504"/>
              <a:chExt cx="3216" cy="288"/>
            </a:xfrm>
          </p:grpSpPr>
          <p:sp>
            <p:nvSpPr>
              <p:cNvPr id="627731" name="Line 19"/>
              <p:cNvSpPr>
                <a:spLocks noChangeShapeType="1"/>
              </p:cNvSpPr>
              <p:nvPr/>
            </p:nvSpPr>
            <p:spPr bwMode="auto">
              <a:xfrm>
                <a:off x="864" y="3504"/>
                <a:ext cx="32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27732" name="Line 20"/>
              <p:cNvSpPr>
                <a:spLocks noChangeShapeType="1"/>
              </p:cNvSpPr>
              <p:nvPr/>
            </p:nvSpPr>
            <p:spPr bwMode="auto">
              <a:xfrm>
                <a:off x="864" y="3792"/>
                <a:ext cx="32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627733" name="Text Box 21"/>
            <p:cNvSpPr txBox="1">
              <a:spLocks noChangeArrowheads="1"/>
            </p:cNvSpPr>
            <p:nvPr/>
          </p:nvSpPr>
          <p:spPr bwMode="auto">
            <a:xfrm>
              <a:off x="816" y="3897"/>
              <a:ext cx="912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PHONGBAN</a:t>
              </a:r>
            </a:p>
          </p:txBody>
        </p:sp>
        <p:sp>
          <p:nvSpPr>
            <p:cNvPr id="627734" name="Text Box 22"/>
            <p:cNvSpPr txBox="1">
              <a:spLocks noChangeArrowheads="1"/>
            </p:cNvSpPr>
            <p:nvPr/>
          </p:nvSpPr>
          <p:spPr bwMode="auto">
            <a:xfrm>
              <a:off x="2448" y="3609"/>
              <a:ext cx="76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dirty="0" smtClean="0">
                  <a:sym typeface="Symbol" pitchFamily="18" charset="2"/>
                </a:rPr>
                <a:t>+</a:t>
              </a:r>
              <a:endParaRPr lang="en-US" sz="1800" dirty="0">
                <a:sym typeface="Symbol" pitchFamily="18" charset="2"/>
              </a:endParaRPr>
            </a:p>
          </p:txBody>
        </p:sp>
        <p:sp>
          <p:nvSpPr>
            <p:cNvPr id="627735" name="Text Box 23"/>
            <p:cNvSpPr txBox="1">
              <a:spLocks noChangeArrowheads="1"/>
            </p:cNvSpPr>
            <p:nvPr/>
          </p:nvSpPr>
          <p:spPr bwMode="auto">
            <a:xfrm>
              <a:off x="2448" y="3888"/>
              <a:ext cx="76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ym typeface="Symbol" pitchFamily="18" charset="2"/>
                </a:rPr>
                <a:t></a:t>
              </a:r>
            </a:p>
          </p:txBody>
        </p:sp>
        <p:sp>
          <p:nvSpPr>
            <p:cNvPr id="627736" name="Text Box 24"/>
            <p:cNvSpPr txBox="1">
              <a:spLocks noChangeArrowheads="1"/>
            </p:cNvSpPr>
            <p:nvPr/>
          </p:nvSpPr>
          <p:spPr bwMode="auto">
            <a:xfrm>
              <a:off x="3216" y="3648"/>
              <a:ext cx="148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ym typeface="Symbol" pitchFamily="18" charset="2"/>
                </a:rPr>
                <a:t></a:t>
              </a:r>
              <a:r>
                <a:rPr lang="en-US" sz="1800"/>
                <a:t> (NGSINH, MANV)</a:t>
              </a:r>
            </a:p>
          </p:txBody>
        </p:sp>
      </p:grpSp>
      <p:sp>
        <p:nvSpPr>
          <p:cNvPr id="627740" name="Text Box 28"/>
          <p:cNvSpPr txBox="1">
            <a:spLocks noChangeArrowheads="1"/>
          </p:cNvSpPr>
          <p:nvPr/>
        </p:nvSpPr>
        <p:spPr bwMode="auto">
          <a:xfrm>
            <a:off x="2514600" y="2438400"/>
            <a:ext cx="3276600" cy="3968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000" dirty="0">
                <a:latin typeface="Arial" charset="0"/>
                <a:sym typeface="Symbol" pitchFamily="18" charset="2"/>
              </a:rPr>
              <a:t>NHANVIEN, PHONGBAN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5398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27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27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27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7716" grpId="0"/>
      <p:bldP spid="62774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433" name="Rectangle 9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smtClean="0"/>
              <a:t>3.2.4. RBTV </a:t>
            </a:r>
            <a:r>
              <a:rPr lang="en-US" sz="3500" b="1" dirty="0"/>
              <a:t>- </a:t>
            </a:r>
            <a:r>
              <a:rPr lang="en-US" sz="3500" b="1" dirty="0" err="1"/>
              <a:t>Thuộc</a:t>
            </a:r>
            <a:r>
              <a:rPr lang="en-US" sz="3500" b="1" dirty="0"/>
              <a:t> </a:t>
            </a:r>
            <a:r>
              <a:rPr lang="en-US" sz="3500" b="1" dirty="0" err="1"/>
              <a:t>tính</a:t>
            </a:r>
            <a:r>
              <a:rPr lang="en-US" sz="3500" b="1" dirty="0"/>
              <a:t> </a:t>
            </a:r>
            <a:r>
              <a:rPr lang="en-US" sz="3500" b="1" dirty="0" err="1"/>
              <a:t>tổng</a:t>
            </a:r>
            <a:r>
              <a:rPr lang="en-US" sz="3500" b="1" dirty="0"/>
              <a:t> </a:t>
            </a:r>
            <a:r>
              <a:rPr lang="en-US" sz="3500" b="1" dirty="0" err="1"/>
              <a:t>hợp</a:t>
            </a:r>
            <a:endParaRPr lang="en-US" sz="3500" b="1" dirty="0"/>
          </a:p>
        </p:txBody>
      </p:sp>
      <p:sp>
        <p:nvSpPr>
          <p:cNvPr id="615434" name="Rectangle 10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pPr algn="just"/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hợp</a:t>
            </a:r>
            <a:endParaRPr lang="en-US" dirty="0"/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Là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thuộc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tính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có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giá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trị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được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tính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toán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từ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thuộc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tính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khác</a:t>
            </a:r>
            <a:endParaRPr lang="en-US" dirty="0">
              <a:solidFill>
                <a:schemeClr val="tx1"/>
              </a:solidFill>
            </a:endParaRPr>
          </a:p>
          <a:p>
            <a:pPr lvl="1" algn="just"/>
            <a:endParaRPr lang="en-US" dirty="0">
              <a:solidFill>
                <a:schemeClr val="tx1"/>
              </a:solidFill>
            </a:endParaRPr>
          </a:p>
          <a:p>
            <a:pPr algn="just"/>
            <a:r>
              <a:rPr lang="en-US" dirty="0" err="1"/>
              <a:t>Khi</a:t>
            </a:r>
            <a:r>
              <a:rPr lang="en-US" dirty="0"/>
              <a:t> CSDL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hợp</a:t>
            </a:r>
            <a:endParaRPr lang="en-US" dirty="0"/>
          </a:p>
          <a:p>
            <a:pPr lvl="1" algn="just"/>
            <a:r>
              <a:rPr lang="en-US" dirty="0">
                <a:solidFill>
                  <a:schemeClr val="tx1"/>
                </a:solidFill>
              </a:rPr>
              <a:t>RBTV </a:t>
            </a:r>
            <a:r>
              <a:rPr lang="en-US" dirty="0" err="1">
                <a:solidFill>
                  <a:schemeClr val="tx1"/>
                </a:solidFill>
              </a:rPr>
              <a:t>bảo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đảm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quan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hệ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giữa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thuộc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tính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tổng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hợp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và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thuộc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tính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nguồn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8544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7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13 </a:t>
            </a:r>
          </a:p>
        </p:txBody>
      </p:sp>
      <p:sp>
        <p:nvSpPr>
          <p:cNvPr id="62976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371600"/>
            <a:ext cx="8229600" cy="5029200"/>
          </a:xfrm>
        </p:spPr>
        <p:txBody>
          <a:bodyPr/>
          <a:lstStyle/>
          <a:p>
            <a:pPr algn="just"/>
            <a:r>
              <a:rPr lang="en-US" sz="2400" dirty="0"/>
              <a:t>PHONGBAN(TENPHG, MAPHG, TRPHG, NG_NHANCHUC, SO_NV)</a:t>
            </a:r>
          </a:p>
          <a:p>
            <a:pPr algn="just"/>
            <a:r>
              <a:rPr lang="en-US" sz="2400" dirty="0" err="1"/>
              <a:t>Số</a:t>
            </a:r>
            <a:r>
              <a:rPr lang="en-US" sz="2400" dirty="0"/>
              <a:t> </a:t>
            </a:r>
            <a:r>
              <a:rPr lang="en-US" sz="2400" dirty="0" err="1"/>
              <a:t>nhân</a:t>
            </a:r>
            <a:r>
              <a:rPr lang="en-US" sz="2400" dirty="0"/>
              <a:t> </a:t>
            </a:r>
            <a:r>
              <a:rPr lang="en-US" sz="2400" dirty="0" err="1"/>
              <a:t>viên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phòng</a:t>
            </a:r>
            <a:r>
              <a:rPr lang="en-US" sz="2400" dirty="0"/>
              <a:t> ban </a:t>
            </a:r>
            <a:r>
              <a:rPr lang="en-US" sz="2400" dirty="0" err="1"/>
              <a:t>phải</a:t>
            </a:r>
            <a:r>
              <a:rPr lang="en-US" sz="2400" dirty="0"/>
              <a:t> </a:t>
            </a:r>
            <a:r>
              <a:rPr lang="en-US" sz="2400" dirty="0" err="1"/>
              <a:t>bằng</a:t>
            </a:r>
            <a:r>
              <a:rPr lang="en-US" sz="2400" dirty="0"/>
              <a:t> </a:t>
            </a:r>
            <a:r>
              <a:rPr lang="en-US" sz="2400" dirty="0" err="1"/>
              <a:t>tổng</a:t>
            </a:r>
            <a:r>
              <a:rPr lang="en-US" sz="2400" dirty="0"/>
              <a:t> </a:t>
            </a:r>
            <a:r>
              <a:rPr lang="en-US" sz="2400" dirty="0" err="1"/>
              <a:t>số</a:t>
            </a:r>
            <a:r>
              <a:rPr lang="en-US" sz="2400" dirty="0"/>
              <a:t> </a:t>
            </a:r>
            <a:r>
              <a:rPr lang="en-US" sz="2400" dirty="0" err="1"/>
              <a:t>lượng</a:t>
            </a:r>
            <a:r>
              <a:rPr lang="en-US" sz="2400" dirty="0"/>
              <a:t> </a:t>
            </a:r>
            <a:r>
              <a:rPr lang="en-US" sz="2400" dirty="0" err="1"/>
              <a:t>nhân</a:t>
            </a:r>
            <a:r>
              <a:rPr lang="en-US" sz="2400" dirty="0"/>
              <a:t> </a:t>
            </a:r>
            <a:r>
              <a:rPr lang="en-US" sz="2400" dirty="0" err="1"/>
              <a:t>viên</a:t>
            </a:r>
            <a:r>
              <a:rPr lang="en-US" sz="2400" dirty="0"/>
              <a:t> </a:t>
            </a:r>
            <a:r>
              <a:rPr lang="en-US" sz="2400" dirty="0" err="1"/>
              <a:t>thuộc</a:t>
            </a:r>
            <a:r>
              <a:rPr lang="en-US" sz="2400" dirty="0"/>
              <a:t> </a:t>
            </a:r>
            <a:r>
              <a:rPr lang="en-US" sz="2400" dirty="0" err="1"/>
              <a:t>phòng</a:t>
            </a:r>
            <a:r>
              <a:rPr lang="en-US" sz="2400" dirty="0"/>
              <a:t> </a:t>
            </a:r>
            <a:r>
              <a:rPr lang="en-US" sz="2400" dirty="0" err="1"/>
              <a:t>đó</a:t>
            </a:r>
            <a:endParaRPr lang="en-US" sz="2400" dirty="0"/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Bối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cảnh</a:t>
            </a:r>
            <a:r>
              <a:rPr lang="en-US" dirty="0">
                <a:solidFill>
                  <a:schemeClr val="tx1"/>
                </a:solidFill>
              </a:rPr>
              <a:t>: </a:t>
            </a: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Biểu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diễn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Bảng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tầm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ảnh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hưởng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629785" name="Text Box 25"/>
          <p:cNvSpPr txBox="1">
            <a:spLocks noChangeArrowheads="1"/>
          </p:cNvSpPr>
          <p:nvPr/>
        </p:nvSpPr>
        <p:spPr bwMode="auto">
          <a:xfrm>
            <a:off x="1586552" y="3733800"/>
            <a:ext cx="7162800" cy="8540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000" b="1" dirty="0">
                <a:latin typeface="Arial" charset="0"/>
                <a:sym typeface="Symbol" pitchFamily="18" charset="2"/>
              </a:rPr>
              <a:t></a:t>
            </a:r>
            <a:r>
              <a:rPr lang="en-US" sz="2000" dirty="0">
                <a:latin typeface="Arial" charset="0"/>
                <a:sym typeface="Symbol" pitchFamily="18" charset="2"/>
              </a:rPr>
              <a:t>t </a:t>
            </a:r>
            <a:r>
              <a:rPr lang="en-US" sz="2000" b="1" dirty="0">
                <a:latin typeface="Arial" charset="0"/>
                <a:sym typeface="Symbol" pitchFamily="18" charset="2"/>
              </a:rPr>
              <a:t></a:t>
            </a:r>
            <a:r>
              <a:rPr lang="en-US" sz="2000" dirty="0">
                <a:latin typeface="Arial" charset="0"/>
                <a:sym typeface="Symbol" pitchFamily="18" charset="2"/>
              </a:rPr>
              <a:t> PHONGBAN ( </a:t>
            </a:r>
          </a:p>
          <a:p>
            <a:pPr algn="l"/>
            <a:r>
              <a:rPr lang="en-US" sz="2000" dirty="0">
                <a:latin typeface="Arial" charset="0"/>
                <a:sym typeface="Symbol" pitchFamily="18" charset="2"/>
              </a:rPr>
              <a:t>	</a:t>
            </a:r>
            <a:r>
              <a:rPr lang="en-US" sz="2000" dirty="0" err="1">
                <a:latin typeface="Arial" charset="0"/>
                <a:sym typeface="Symbol" pitchFamily="18" charset="2"/>
              </a:rPr>
              <a:t>t.SO_NV</a:t>
            </a:r>
            <a:r>
              <a:rPr lang="en-US" sz="2000" dirty="0">
                <a:latin typeface="Arial" charset="0"/>
                <a:sym typeface="Symbol" pitchFamily="18" charset="2"/>
              </a:rPr>
              <a:t>   { s  NHANVIEN | </a:t>
            </a:r>
            <a:r>
              <a:rPr lang="en-US" sz="2000" dirty="0" err="1">
                <a:latin typeface="Arial" charset="0"/>
                <a:sym typeface="Symbol" pitchFamily="18" charset="2"/>
              </a:rPr>
              <a:t>s.PHG</a:t>
            </a:r>
            <a:r>
              <a:rPr lang="en-US" sz="2000" dirty="0">
                <a:latin typeface="Arial" charset="0"/>
                <a:sym typeface="Symbol" pitchFamily="18" charset="2"/>
              </a:rPr>
              <a:t>  </a:t>
            </a:r>
            <a:r>
              <a:rPr lang="en-US" sz="2000" dirty="0" err="1">
                <a:latin typeface="Arial" charset="0"/>
                <a:sym typeface="Symbol" pitchFamily="18" charset="2"/>
              </a:rPr>
              <a:t>t.MAPHG</a:t>
            </a:r>
            <a:r>
              <a:rPr lang="en-US" sz="2000" dirty="0">
                <a:latin typeface="Arial" charset="0"/>
                <a:sym typeface="Symbol" pitchFamily="18" charset="2"/>
              </a:rPr>
              <a:t>} )</a:t>
            </a:r>
          </a:p>
        </p:txBody>
      </p:sp>
      <p:grpSp>
        <p:nvGrpSpPr>
          <p:cNvPr id="629806" name="Group 46"/>
          <p:cNvGrpSpPr>
            <a:grpSpLocks/>
          </p:cNvGrpSpPr>
          <p:nvPr/>
        </p:nvGrpSpPr>
        <p:grpSpPr bwMode="auto">
          <a:xfrm>
            <a:off x="1295400" y="5029200"/>
            <a:ext cx="6172200" cy="1219200"/>
            <a:chOff x="816" y="3312"/>
            <a:chExt cx="3888" cy="768"/>
          </a:xfrm>
        </p:grpSpPr>
        <p:sp>
          <p:nvSpPr>
            <p:cNvPr id="629787" name="Text Box 27"/>
            <p:cNvSpPr txBox="1">
              <a:spLocks noChangeArrowheads="1"/>
            </p:cNvSpPr>
            <p:nvPr/>
          </p:nvSpPr>
          <p:spPr bwMode="auto">
            <a:xfrm>
              <a:off x="1008" y="3321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R</a:t>
              </a:r>
              <a:r>
                <a:rPr lang="en-US" sz="1400"/>
                <a:t>13</a:t>
              </a:r>
            </a:p>
          </p:txBody>
        </p:sp>
        <p:sp>
          <p:nvSpPr>
            <p:cNvPr id="629788" name="Text Box 28"/>
            <p:cNvSpPr txBox="1">
              <a:spLocks noChangeArrowheads="1"/>
            </p:cNvSpPr>
            <p:nvPr/>
          </p:nvSpPr>
          <p:spPr bwMode="auto">
            <a:xfrm>
              <a:off x="816" y="3580"/>
              <a:ext cx="912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NHANVIEN</a:t>
              </a:r>
            </a:p>
          </p:txBody>
        </p:sp>
        <p:grpSp>
          <p:nvGrpSpPr>
            <p:cNvPr id="629789" name="Group 29"/>
            <p:cNvGrpSpPr>
              <a:grpSpLocks/>
            </p:cNvGrpSpPr>
            <p:nvPr/>
          </p:nvGrpSpPr>
          <p:grpSpPr bwMode="auto">
            <a:xfrm>
              <a:off x="1728" y="3312"/>
              <a:ext cx="1488" cy="768"/>
              <a:chOff x="2160" y="3168"/>
              <a:chExt cx="1488" cy="624"/>
            </a:xfrm>
          </p:grpSpPr>
          <p:sp>
            <p:nvSpPr>
              <p:cNvPr id="629790" name="Line 30"/>
              <p:cNvSpPr>
                <a:spLocks noChangeShapeType="1"/>
              </p:cNvSpPr>
              <p:nvPr/>
            </p:nvSpPr>
            <p:spPr bwMode="auto">
              <a:xfrm>
                <a:off x="216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29791" name="Line 31"/>
              <p:cNvSpPr>
                <a:spLocks noChangeShapeType="1"/>
              </p:cNvSpPr>
              <p:nvPr/>
            </p:nvSpPr>
            <p:spPr bwMode="auto">
              <a:xfrm>
                <a:off x="288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29792" name="Line 32"/>
              <p:cNvSpPr>
                <a:spLocks noChangeShapeType="1"/>
              </p:cNvSpPr>
              <p:nvPr/>
            </p:nvSpPr>
            <p:spPr bwMode="auto">
              <a:xfrm>
                <a:off x="3648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629793" name="Text Box 33"/>
            <p:cNvSpPr txBox="1">
              <a:spLocks noChangeArrowheads="1"/>
            </p:cNvSpPr>
            <p:nvPr/>
          </p:nvSpPr>
          <p:spPr bwMode="auto">
            <a:xfrm>
              <a:off x="1728" y="3312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Thêm</a:t>
              </a:r>
            </a:p>
          </p:txBody>
        </p:sp>
        <p:sp>
          <p:nvSpPr>
            <p:cNvPr id="629794" name="Text Box 34"/>
            <p:cNvSpPr txBox="1">
              <a:spLocks noChangeArrowheads="1"/>
            </p:cNvSpPr>
            <p:nvPr/>
          </p:nvSpPr>
          <p:spPr bwMode="auto">
            <a:xfrm>
              <a:off x="2496" y="3312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Xóa</a:t>
              </a:r>
            </a:p>
          </p:txBody>
        </p:sp>
        <p:sp>
          <p:nvSpPr>
            <p:cNvPr id="629795" name="Text Box 35"/>
            <p:cNvSpPr txBox="1">
              <a:spLocks noChangeArrowheads="1"/>
            </p:cNvSpPr>
            <p:nvPr/>
          </p:nvSpPr>
          <p:spPr bwMode="auto">
            <a:xfrm>
              <a:off x="3216" y="3312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Sửa</a:t>
              </a:r>
            </a:p>
          </p:txBody>
        </p:sp>
        <p:sp>
          <p:nvSpPr>
            <p:cNvPr id="629796" name="Text Box 36"/>
            <p:cNvSpPr txBox="1">
              <a:spLocks noChangeArrowheads="1"/>
            </p:cNvSpPr>
            <p:nvPr/>
          </p:nvSpPr>
          <p:spPr bwMode="auto">
            <a:xfrm>
              <a:off x="1728" y="3589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ym typeface="Symbol" pitchFamily="18" charset="2"/>
                </a:rPr>
                <a:t></a:t>
              </a:r>
            </a:p>
          </p:txBody>
        </p:sp>
        <p:sp>
          <p:nvSpPr>
            <p:cNvPr id="629797" name="Text Box 37"/>
            <p:cNvSpPr txBox="1">
              <a:spLocks noChangeArrowheads="1"/>
            </p:cNvSpPr>
            <p:nvPr/>
          </p:nvSpPr>
          <p:spPr bwMode="auto">
            <a:xfrm>
              <a:off x="1728" y="3840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>
                  <a:sym typeface="Symbol" pitchFamily="18" charset="2"/>
                </a:rPr>
                <a:t></a:t>
              </a:r>
            </a:p>
          </p:txBody>
        </p:sp>
        <p:sp>
          <p:nvSpPr>
            <p:cNvPr id="629798" name="Text Box 38"/>
            <p:cNvSpPr txBox="1">
              <a:spLocks noChangeArrowheads="1"/>
            </p:cNvSpPr>
            <p:nvPr/>
          </p:nvSpPr>
          <p:spPr bwMode="auto">
            <a:xfrm>
              <a:off x="3216" y="3580"/>
              <a:ext cx="816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ym typeface="Symbol" pitchFamily="18" charset="2"/>
                </a:rPr>
                <a:t></a:t>
              </a:r>
              <a:r>
                <a:rPr lang="en-US" sz="1800"/>
                <a:t> (PHG)</a:t>
              </a:r>
            </a:p>
          </p:txBody>
        </p:sp>
        <p:grpSp>
          <p:nvGrpSpPr>
            <p:cNvPr id="629799" name="Group 39"/>
            <p:cNvGrpSpPr>
              <a:grpSpLocks/>
            </p:cNvGrpSpPr>
            <p:nvPr/>
          </p:nvGrpSpPr>
          <p:grpSpPr bwMode="auto">
            <a:xfrm>
              <a:off x="816" y="3600"/>
              <a:ext cx="3840" cy="240"/>
              <a:chOff x="864" y="3504"/>
              <a:chExt cx="3216" cy="288"/>
            </a:xfrm>
          </p:grpSpPr>
          <p:sp>
            <p:nvSpPr>
              <p:cNvPr id="629800" name="Line 40"/>
              <p:cNvSpPr>
                <a:spLocks noChangeShapeType="1"/>
              </p:cNvSpPr>
              <p:nvPr/>
            </p:nvSpPr>
            <p:spPr bwMode="auto">
              <a:xfrm>
                <a:off x="864" y="3504"/>
                <a:ext cx="32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29801" name="Line 41"/>
              <p:cNvSpPr>
                <a:spLocks noChangeShapeType="1"/>
              </p:cNvSpPr>
              <p:nvPr/>
            </p:nvSpPr>
            <p:spPr bwMode="auto">
              <a:xfrm>
                <a:off x="864" y="3792"/>
                <a:ext cx="32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629802" name="Text Box 42"/>
            <p:cNvSpPr txBox="1">
              <a:spLocks noChangeArrowheads="1"/>
            </p:cNvSpPr>
            <p:nvPr/>
          </p:nvSpPr>
          <p:spPr bwMode="auto">
            <a:xfrm>
              <a:off x="816" y="3849"/>
              <a:ext cx="912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PHONGBAN</a:t>
              </a:r>
            </a:p>
          </p:txBody>
        </p:sp>
        <p:sp>
          <p:nvSpPr>
            <p:cNvPr id="629803" name="Text Box 43"/>
            <p:cNvSpPr txBox="1">
              <a:spLocks noChangeArrowheads="1"/>
            </p:cNvSpPr>
            <p:nvPr/>
          </p:nvSpPr>
          <p:spPr bwMode="auto">
            <a:xfrm>
              <a:off x="2448" y="3561"/>
              <a:ext cx="76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ym typeface="Symbol" pitchFamily="18" charset="2"/>
                </a:rPr>
                <a:t></a:t>
              </a:r>
            </a:p>
          </p:txBody>
        </p:sp>
        <p:sp>
          <p:nvSpPr>
            <p:cNvPr id="629804" name="Text Box 44"/>
            <p:cNvSpPr txBox="1">
              <a:spLocks noChangeArrowheads="1"/>
            </p:cNvSpPr>
            <p:nvPr/>
          </p:nvSpPr>
          <p:spPr bwMode="auto">
            <a:xfrm>
              <a:off x="2448" y="3840"/>
              <a:ext cx="76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>
                  <a:sym typeface="Symbol" pitchFamily="18" charset="2"/>
                </a:rPr>
                <a:t></a:t>
              </a:r>
            </a:p>
          </p:txBody>
        </p:sp>
        <p:sp>
          <p:nvSpPr>
            <p:cNvPr id="629805" name="Text Box 45"/>
            <p:cNvSpPr txBox="1">
              <a:spLocks noChangeArrowheads="1"/>
            </p:cNvSpPr>
            <p:nvPr/>
          </p:nvSpPr>
          <p:spPr bwMode="auto">
            <a:xfrm>
              <a:off x="3216" y="3840"/>
              <a:ext cx="148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ym typeface="Symbol" pitchFamily="18" charset="2"/>
                </a:rPr>
                <a:t></a:t>
              </a:r>
              <a:r>
                <a:rPr lang="en-US" sz="1800"/>
                <a:t> (SO_NV, MAPHG)</a:t>
              </a:r>
            </a:p>
          </p:txBody>
        </p:sp>
      </p:grpSp>
      <p:sp>
        <p:nvSpPr>
          <p:cNvPr id="629807" name="Text Box 47"/>
          <p:cNvSpPr txBox="1">
            <a:spLocks noChangeArrowheads="1"/>
          </p:cNvSpPr>
          <p:nvPr/>
        </p:nvSpPr>
        <p:spPr bwMode="auto">
          <a:xfrm>
            <a:off x="2514600" y="3076575"/>
            <a:ext cx="3352800" cy="3968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000" dirty="0">
                <a:latin typeface="Arial" charset="0"/>
                <a:sym typeface="Symbol" pitchFamily="18" charset="2"/>
              </a:rPr>
              <a:t>NHANVIEN, PHONGBAN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9324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29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29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29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9785" grpId="0"/>
      <p:bldP spid="62980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smtClean="0"/>
              <a:t>3.2.5. RBTV </a:t>
            </a:r>
            <a:r>
              <a:rPr lang="en-US" sz="3500" b="1" dirty="0"/>
              <a:t>– Chu </a:t>
            </a:r>
            <a:r>
              <a:rPr lang="en-US" sz="3500" b="1" dirty="0" err="1"/>
              <a:t>trình</a:t>
            </a:r>
            <a:endParaRPr lang="en-US" sz="3500" b="1" dirty="0"/>
          </a:p>
        </p:txBody>
      </p:sp>
      <p:sp>
        <p:nvSpPr>
          <p:cNvPr id="64614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pPr algn="just"/>
            <a:r>
              <a:rPr lang="en-US" sz="2400" dirty="0" err="1"/>
              <a:t>Lược</a:t>
            </a:r>
            <a:r>
              <a:rPr lang="en-US" sz="2400" dirty="0"/>
              <a:t> </a:t>
            </a:r>
            <a:r>
              <a:rPr lang="en-US" sz="2400" dirty="0" err="1"/>
              <a:t>đồ</a:t>
            </a:r>
            <a:r>
              <a:rPr lang="en-US" sz="2400" dirty="0"/>
              <a:t> CSDL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biểu</a:t>
            </a:r>
            <a:r>
              <a:rPr lang="en-US" sz="2400" dirty="0"/>
              <a:t> </a:t>
            </a:r>
            <a:r>
              <a:rPr lang="en-US" sz="2400" dirty="0" err="1"/>
              <a:t>diễn</a:t>
            </a:r>
            <a:r>
              <a:rPr lang="en-US" sz="2400" dirty="0"/>
              <a:t> </a:t>
            </a:r>
            <a:r>
              <a:rPr lang="en-US" sz="2400" dirty="0" err="1"/>
              <a:t>bằng</a:t>
            </a:r>
            <a:r>
              <a:rPr lang="en-US" sz="2400" dirty="0"/>
              <a:t> </a:t>
            </a:r>
            <a:r>
              <a:rPr lang="en-US" sz="2400" dirty="0" err="1"/>
              <a:t>đồ</a:t>
            </a:r>
            <a:r>
              <a:rPr lang="en-US" sz="2400" dirty="0"/>
              <a:t> </a:t>
            </a:r>
            <a:r>
              <a:rPr lang="en-US" sz="2400" dirty="0" err="1"/>
              <a:t>thị</a:t>
            </a:r>
            <a:endParaRPr lang="en-US" sz="2400" dirty="0"/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Đỉnh</a:t>
            </a:r>
            <a:endParaRPr lang="en-US" dirty="0">
              <a:solidFill>
                <a:schemeClr val="tx1"/>
              </a:solidFill>
            </a:endParaRPr>
          </a:p>
          <a:p>
            <a:pPr lvl="2" algn="just"/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hệ</a:t>
            </a:r>
            <a:endParaRPr lang="en-US" dirty="0"/>
          </a:p>
          <a:p>
            <a:pPr lvl="2" algn="just"/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endParaRPr lang="en-US" dirty="0"/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Cạnh</a:t>
            </a:r>
            <a:endParaRPr lang="en-US" dirty="0">
              <a:solidFill>
                <a:schemeClr val="tx1"/>
              </a:solidFill>
            </a:endParaRPr>
          </a:p>
          <a:p>
            <a:pPr lvl="2" algn="just"/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đỉnh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đỉnh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lược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CSDL</a:t>
            </a:r>
          </a:p>
          <a:p>
            <a:pPr lvl="2" algn="just"/>
            <a:endParaRPr lang="en-US" dirty="0"/>
          </a:p>
          <a:p>
            <a:pPr lvl="2" algn="just"/>
            <a:endParaRPr lang="en-US" dirty="0"/>
          </a:p>
          <a:p>
            <a:pPr algn="just"/>
            <a:r>
              <a:rPr lang="en-US" sz="2400" dirty="0"/>
              <a:t>Chu </a:t>
            </a:r>
            <a:r>
              <a:rPr lang="en-US" sz="2400" dirty="0" err="1"/>
              <a:t>trình</a:t>
            </a:r>
            <a:endParaRPr lang="en-US" sz="2400" dirty="0"/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Đồ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thị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xuất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hiện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đường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khép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kín</a:t>
            </a:r>
            <a:r>
              <a:rPr lang="en-US" dirty="0">
                <a:solidFill>
                  <a:schemeClr val="tx1"/>
                </a:solidFill>
              </a:rPr>
              <a:t> ~ </a:t>
            </a:r>
            <a:r>
              <a:rPr lang="en-US" dirty="0" err="1">
                <a:solidFill>
                  <a:schemeClr val="tx1"/>
                </a:solidFill>
              </a:rPr>
              <a:t>Lược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đồ</a:t>
            </a:r>
            <a:r>
              <a:rPr lang="en-US" dirty="0">
                <a:solidFill>
                  <a:schemeClr val="tx1"/>
                </a:solidFill>
              </a:rPr>
              <a:t> CSDL </a:t>
            </a:r>
            <a:r>
              <a:rPr lang="en-US" dirty="0" err="1">
                <a:solidFill>
                  <a:schemeClr val="tx1"/>
                </a:solidFill>
              </a:rPr>
              <a:t>có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chu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trình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46148" name="Oval 4"/>
          <p:cNvSpPr>
            <a:spLocks noChangeArrowheads="1"/>
          </p:cNvSpPr>
          <p:nvPr/>
        </p:nvSpPr>
        <p:spPr bwMode="auto">
          <a:xfrm>
            <a:off x="2936875" y="2262188"/>
            <a:ext cx="1593850" cy="404812"/>
          </a:xfrm>
          <a:prstGeom prst="ellips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400"/>
              <a:t>Tên quan hệ</a:t>
            </a:r>
          </a:p>
        </p:txBody>
      </p:sp>
      <p:grpSp>
        <p:nvGrpSpPr>
          <p:cNvPr id="646151" name="Group 7"/>
          <p:cNvGrpSpPr>
            <a:grpSpLocks/>
          </p:cNvGrpSpPr>
          <p:nvPr/>
        </p:nvGrpSpPr>
        <p:grpSpPr bwMode="auto">
          <a:xfrm>
            <a:off x="3048001" y="2743200"/>
            <a:ext cx="1793875" cy="392113"/>
            <a:chOff x="1872" y="1728"/>
            <a:chExt cx="1130" cy="247"/>
          </a:xfrm>
        </p:grpSpPr>
        <p:sp>
          <p:nvSpPr>
            <p:cNvPr id="646149" name="Oval 5"/>
            <p:cNvSpPr>
              <a:spLocks noChangeArrowheads="1"/>
            </p:cNvSpPr>
            <p:nvPr/>
          </p:nvSpPr>
          <p:spPr bwMode="auto">
            <a:xfrm>
              <a:off x="1872" y="1824"/>
              <a:ext cx="96" cy="96"/>
            </a:xfrm>
            <a:prstGeom prst="ellipse">
              <a:avLst/>
            </a:prstGeom>
            <a:solidFill>
              <a:schemeClr val="tx1"/>
            </a:solidFill>
            <a:ln w="1270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46150" name="Oval 6"/>
            <p:cNvSpPr>
              <a:spLocks noChangeArrowheads="1"/>
            </p:cNvSpPr>
            <p:nvPr/>
          </p:nvSpPr>
          <p:spPr bwMode="auto">
            <a:xfrm>
              <a:off x="1872" y="1728"/>
              <a:ext cx="1130" cy="247"/>
            </a:xfrm>
            <a:prstGeom prst="ellipse">
              <a:avLst/>
            </a:prstGeom>
            <a:noFill/>
            <a:ln w="127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1400" dirty="0" err="1"/>
                <a:t>Tên</a:t>
              </a:r>
              <a:r>
                <a:rPr lang="en-US" sz="1400" dirty="0"/>
                <a:t> </a:t>
              </a:r>
              <a:r>
                <a:rPr lang="en-US" sz="1400" dirty="0" err="1"/>
                <a:t>thuộc</a:t>
              </a:r>
              <a:r>
                <a:rPr lang="en-US" sz="1400" dirty="0"/>
                <a:t> </a:t>
              </a:r>
              <a:r>
                <a:rPr lang="en-US" sz="1400" dirty="0" err="1"/>
                <a:t>tính</a:t>
              </a:r>
              <a:endParaRPr lang="en-US" sz="1400" dirty="0"/>
            </a:p>
          </p:txBody>
        </p:sp>
      </p:grpSp>
      <p:grpSp>
        <p:nvGrpSpPr>
          <p:cNvPr id="646157" name="Group 13"/>
          <p:cNvGrpSpPr>
            <a:grpSpLocks/>
          </p:cNvGrpSpPr>
          <p:nvPr/>
        </p:nvGrpSpPr>
        <p:grpSpPr bwMode="auto">
          <a:xfrm>
            <a:off x="2168525" y="4165600"/>
            <a:ext cx="4460875" cy="558800"/>
            <a:chOff x="1296" y="2591"/>
            <a:chExt cx="2810" cy="352"/>
          </a:xfrm>
        </p:grpSpPr>
        <p:sp>
          <p:nvSpPr>
            <p:cNvPr id="646152" name="Oval 8"/>
            <p:cNvSpPr>
              <a:spLocks noChangeArrowheads="1"/>
            </p:cNvSpPr>
            <p:nvPr/>
          </p:nvSpPr>
          <p:spPr bwMode="auto">
            <a:xfrm>
              <a:off x="1296" y="2688"/>
              <a:ext cx="1004" cy="255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1400"/>
                <a:t>Tên quan hệ</a:t>
              </a:r>
            </a:p>
          </p:txBody>
        </p:sp>
        <p:grpSp>
          <p:nvGrpSpPr>
            <p:cNvPr id="646153" name="Group 9"/>
            <p:cNvGrpSpPr>
              <a:grpSpLocks/>
            </p:cNvGrpSpPr>
            <p:nvPr/>
          </p:nvGrpSpPr>
          <p:grpSpPr bwMode="auto">
            <a:xfrm>
              <a:off x="2976" y="2640"/>
              <a:ext cx="1130" cy="247"/>
              <a:chOff x="2304" y="1632"/>
              <a:chExt cx="1130" cy="247"/>
            </a:xfrm>
          </p:grpSpPr>
          <p:sp>
            <p:nvSpPr>
              <p:cNvPr id="646154" name="Oval 10"/>
              <p:cNvSpPr>
                <a:spLocks noChangeArrowheads="1"/>
              </p:cNvSpPr>
              <p:nvPr/>
            </p:nvSpPr>
            <p:spPr bwMode="auto">
              <a:xfrm>
                <a:off x="2352" y="17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46155" name="Oval 11"/>
              <p:cNvSpPr>
                <a:spLocks noChangeArrowheads="1"/>
              </p:cNvSpPr>
              <p:nvPr/>
            </p:nvSpPr>
            <p:spPr bwMode="auto">
              <a:xfrm>
                <a:off x="2304" y="1632"/>
                <a:ext cx="1130" cy="247"/>
              </a:xfrm>
              <a:prstGeom prst="ellipse">
                <a:avLst/>
              </a:prstGeom>
              <a:noFill/>
              <a:ln w="12700" algn="ctr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r>
                  <a:rPr lang="en-US" sz="1400"/>
                  <a:t>Tên thuộc tính</a:t>
                </a:r>
              </a:p>
            </p:txBody>
          </p:sp>
        </p:grpSp>
        <p:sp>
          <p:nvSpPr>
            <p:cNvPr id="646156" name="Freeform 12"/>
            <p:cNvSpPr>
              <a:spLocks/>
            </p:cNvSpPr>
            <p:nvPr/>
          </p:nvSpPr>
          <p:spPr bwMode="auto">
            <a:xfrm>
              <a:off x="2213" y="2591"/>
              <a:ext cx="859" cy="193"/>
            </a:xfrm>
            <a:custGeom>
              <a:avLst/>
              <a:gdLst/>
              <a:ahLst/>
              <a:cxnLst>
                <a:cxn ang="0">
                  <a:pos x="0" y="141"/>
                </a:cxn>
                <a:cxn ang="0">
                  <a:pos x="404" y="9"/>
                </a:cxn>
                <a:cxn ang="0">
                  <a:pos x="859" y="193"/>
                </a:cxn>
              </a:cxnLst>
              <a:rect l="0" t="0" r="r" b="b"/>
              <a:pathLst>
                <a:path w="859" h="193">
                  <a:moveTo>
                    <a:pt x="0" y="141"/>
                  </a:moveTo>
                  <a:cubicBezTo>
                    <a:pt x="67" y="119"/>
                    <a:pt x="261" y="0"/>
                    <a:pt x="404" y="9"/>
                  </a:cubicBezTo>
                  <a:cubicBezTo>
                    <a:pt x="547" y="18"/>
                    <a:pt x="764" y="155"/>
                    <a:pt x="859" y="193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3043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14 </a:t>
            </a:r>
          </a:p>
        </p:txBody>
      </p:sp>
      <p:sp>
        <p:nvSpPr>
          <p:cNvPr id="6481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pPr algn="just"/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do </a:t>
            </a:r>
            <a:r>
              <a:rPr lang="en-US" dirty="0" err="1"/>
              <a:t>phòng</a:t>
            </a:r>
            <a:r>
              <a:rPr lang="en-US" dirty="0"/>
              <a:t> ban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mình</a:t>
            </a:r>
            <a:r>
              <a:rPr lang="en-US" dirty="0"/>
              <a:t> </a:t>
            </a:r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trách</a:t>
            </a:r>
            <a:endParaRPr lang="en-US" dirty="0"/>
          </a:p>
          <a:p>
            <a:pPr algn="just"/>
            <a:endParaRPr lang="en-US" dirty="0"/>
          </a:p>
        </p:txBody>
      </p:sp>
      <p:grpSp>
        <p:nvGrpSpPr>
          <p:cNvPr id="648260" name="Group 68"/>
          <p:cNvGrpSpPr>
            <a:grpSpLocks/>
          </p:cNvGrpSpPr>
          <p:nvPr/>
        </p:nvGrpSpPr>
        <p:grpSpPr bwMode="auto">
          <a:xfrm>
            <a:off x="1900238" y="2514600"/>
            <a:ext cx="4887912" cy="2438400"/>
            <a:chOff x="1197" y="1584"/>
            <a:chExt cx="3079" cy="1536"/>
          </a:xfrm>
        </p:grpSpPr>
        <p:sp>
          <p:nvSpPr>
            <p:cNvPr id="648251" name="Oval 59"/>
            <p:cNvSpPr>
              <a:spLocks noChangeArrowheads="1"/>
            </p:cNvSpPr>
            <p:nvPr/>
          </p:nvSpPr>
          <p:spPr bwMode="auto">
            <a:xfrm>
              <a:off x="1197" y="2300"/>
              <a:ext cx="896" cy="263"/>
            </a:xfrm>
            <a:prstGeom prst="ellipse">
              <a:avLst/>
            </a:prstGeom>
            <a:solidFill>
              <a:srgbClr val="99CCFF">
                <a:alpha val="80000"/>
              </a:srgbClr>
            </a:solidFill>
            <a:ln w="25400" algn="ctr">
              <a:solidFill>
                <a:srgbClr val="99CCFF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1400"/>
                <a:t>NHANVIEN</a:t>
              </a:r>
            </a:p>
          </p:txBody>
        </p:sp>
        <p:sp>
          <p:nvSpPr>
            <p:cNvPr id="648252" name="Oval 60"/>
            <p:cNvSpPr>
              <a:spLocks noChangeArrowheads="1"/>
            </p:cNvSpPr>
            <p:nvPr/>
          </p:nvSpPr>
          <p:spPr bwMode="auto">
            <a:xfrm>
              <a:off x="3747" y="2252"/>
              <a:ext cx="529" cy="263"/>
            </a:xfrm>
            <a:prstGeom prst="ellipse">
              <a:avLst/>
            </a:prstGeom>
            <a:solidFill>
              <a:srgbClr val="99CCFF">
                <a:alpha val="80000"/>
              </a:srgbClr>
            </a:solidFill>
            <a:ln w="25400" algn="ctr">
              <a:solidFill>
                <a:srgbClr val="99CCFF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1400"/>
                <a:t>DEAN</a:t>
              </a:r>
            </a:p>
          </p:txBody>
        </p:sp>
        <p:grpSp>
          <p:nvGrpSpPr>
            <p:cNvPr id="648253" name="Group 61"/>
            <p:cNvGrpSpPr>
              <a:grpSpLocks/>
            </p:cNvGrpSpPr>
            <p:nvPr/>
          </p:nvGrpSpPr>
          <p:grpSpPr bwMode="auto">
            <a:xfrm>
              <a:off x="2352" y="1584"/>
              <a:ext cx="1056" cy="336"/>
              <a:chOff x="2496" y="1248"/>
              <a:chExt cx="1056" cy="336"/>
            </a:xfrm>
          </p:grpSpPr>
          <p:sp>
            <p:nvSpPr>
              <p:cNvPr id="648254" name="Oval 62"/>
              <p:cNvSpPr>
                <a:spLocks noChangeArrowheads="1"/>
              </p:cNvSpPr>
              <p:nvPr/>
            </p:nvSpPr>
            <p:spPr bwMode="auto">
              <a:xfrm>
                <a:off x="2928" y="1488"/>
                <a:ext cx="96" cy="96"/>
              </a:xfrm>
              <a:prstGeom prst="ellipse">
                <a:avLst/>
              </a:prstGeom>
              <a:solidFill>
                <a:srgbClr val="99CCFF"/>
              </a:solidFill>
              <a:ln w="25400" algn="ctr">
                <a:solidFill>
                  <a:srgbClr val="99CCFF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48255" name="Text Box 63"/>
              <p:cNvSpPr txBox="1">
                <a:spLocks noChangeArrowheads="1"/>
              </p:cNvSpPr>
              <p:nvPr/>
            </p:nvSpPr>
            <p:spPr bwMode="auto">
              <a:xfrm>
                <a:off x="2496" y="1248"/>
                <a:ext cx="1056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sz="1400"/>
                  <a:t>PHG=PHONG</a:t>
                </a:r>
              </a:p>
            </p:txBody>
          </p:sp>
        </p:grpSp>
        <p:sp>
          <p:nvSpPr>
            <p:cNvPr id="648256" name="Line 64"/>
            <p:cNvSpPr>
              <a:spLocks noChangeShapeType="1"/>
            </p:cNvSpPr>
            <p:nvPr/>
          </p:nvSpPr>
          <p:spPr bwMode="auto">
            <a:xfrm flipH="1">
              <a:off x="1728" y="1872"/>
              <a:ext cx="1104" cy="432"/>
            </a:xfrm>
            <a:prstGeom prst="line">
              <a:avLst/>
            </a:prstGeom>
            <a:noFill/>
            <a:ln w="25400">
              <a:solidFill>
                <a:srgbClr val="99CCFF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48257" name="Freeform 65"/>
            <p:cNvSpPr>
              <a:spLocks/>
            </p:cNvSpPr>
            <p:nvPr/>
          </p:nvSpPr>
          <p:spPr bwMode="auto">
            <a:xfrm>
              <a:off x="1680" y="2556"/>
              <a:ext cx="1" cy="56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564"/>
                </a:cxn>
              </a:cxnLst>
              <a:rect l="0" t="0" r="r" b="b"/>
              <a:pathLst>
                <a:path w="1" h="564">
                  <a:moveTo>
                    <a:pt x="0" y="0"/>
                  </a:moveTo>
                  <a:lnTo>
                    <a:pt x="1" y="564"/>
                  </a:lnTo>
                </a:path>
              </a:pathLst>
            </a:custGeom>
            <a:noFill/>
            <a:ln w="25400" cap="flat" cmpd="sng">
              <a:solidFill>
                <a:srgbClr val="99CC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48258" name="Freeform 66"/>
            <p:cNvSpPr>
              <a:spLocks/>
            </p:cNvSpPr>
            <p:nvPr/>
          </p:nvSpPr>
          <p:spPr bwMode="auto">
            <a:xfrm>
              <a:off x="3984" y="2507"/>
              <a:ext cx="1" cy="56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565"/>
                </a:cxn>
              </a:cxnLst>
              <a:rect l="0" t="0" r="r" b="b"/>
              <a:pathLst>
                <a:path w="1" h="565">
                  <a:moveTo>
                    <a:pt x="0" y="0"/>
                  </a:moveTo>
                  <a:lnTo>
                    <a:pt x="1" y="565"/>
                  </a:lnTo>
                </a:path>
              </a:pathLst>
            </a:custGeom>
            <a:noFill/>
            <a:ln w="25400" cap="flat" cmpd="sng">
              <a:solidFill>
                <a:srgbClr val="99CC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48259" name="Line 67"/>
            <p:cNvSpPr>
              <a:spLocks noChangeShapeType="1"/>
            </p:cNvSpPr>
            <p:nvPr/>
          </p:nvSpPr>
          <p:spPr bwMode="auto">
            <a:xfrm>
              <a:off x="2832" y="1872"/>
              <a:ext cx="1152" cy="384"/>
            </a:xfrm>
            <a:prstGeom prst="line">
              <a:avLst/>
            </a:prstGeom>
            <a:noFill/>
            <a:ln w="25400">
              <a:solidFill>
                <a:srgbClr val="99CCFF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48261" name="Group 69"/>
          <p:cNvGrpSpPr>
            <a:grpSpLocks/>
          </p:cNvGrpSpPr>
          <p:nvPr/>
        </p:nvGrpSpPr>
        <p:grpSpPr bwMode="auto">
          <a:xfrm>
            <a:off x="2667000" y="4953000"/>
            <a:ext cx="3657600" cy="990600"/>
            <a:chOff x="1680" y="3120"/>
            <a:chExt cx="2304" cy="624"/>
          </a:xfrm>
        </p:grpSpPr>
        <p:sp>
          <p:nvSpPr>
            <p:cNvPr id="648218" name="Oval 26"/>
            <p:cNvSpPr>
              <a:spLocks noChangeArrowheads="1"/>
            </p:cNvSpPr>
            <p:nvPr/>
          </p:nvSpPr>
          <p:spPr bwMode="auto">
            <a:xfrm>
              <a:off x="2421" y="3489"/>
              <a:ext cx="939" cy="255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1400"/>
                <a:t>PHANCONG</a:t>
              </a:r>
            </a:p>
          </p:txBody>
        </p:sp>
        <p:sp>
          <p:nvSpPr>
            <p:cNvPr id="648242" name="Freeform 50"/>
            <p:cNvSpPr>
              <a:spLocks/>
            </p:cNvSpPr>
            <p:nvPr/>
          </p:nvSpPr>
          <p:spPr bwMode="auto">
            <a:xfrm>
              <a:off x="1680" y="3120"/>
              <a:ext cx="741" cy="48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41" y="481"/>
                </a:cxn>
              </a:cxnLst>
              <a:rect l="0" t="0" r="r" b="b"/>
              <a:pathLst>
                <a:path w="741" h="481">
                  <a:moveTo>
                    <a:pt x="0" y="0"/>
                  </a:moveTo>
                  <a:lnTo>
                    <a:pt x="741" y="481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48244" name="Line 52"/>
            <p:cNvSpPr>
              <a:spLocks noChangeShapeType="1"/>
            </p:cNvSpPr>
            <p:nvPr/>
          </p:nvSpPr>
          <p:spPr bwMode="auto">
            <a:xfrm flipH="1">
              <a:off x="3360" y="3120"/>
              <a:ext cx="624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48250" name="Group 58"/>
          <p:cNvGrpSpPr>
            <a:grpSpLocks/>
          </p:cNvGrpSpPr>
          <p:nvPr/>
        </p:nvGrpSpPr>
        <p:grpSpPr bwMode="auto">
          <a:xfrm>
            <a:off x="1905000" y="2514600"/>
            <a:ext cx="4876800" cy="2438400"/>
            <a:chOff x="1200" y="1584"/>
            <a:chExt cx="3072" cy="1536"/>
          </a:xfrm>
        </p:grpSpPr>
        <p:sp>
          <p:nvSpPr>
            <p:cNvPr id="648217" name="Oval 25"/>
            <p:cNvSpPr>
              <a:spLocks noChangeArrowheads="1"/>
            </p:cNvSpPr>
            <p:nvPr/>
          </p:nvSpPr>
          <p:spPr bwMode="auto">
            <a:xfrm>
              <a:off x="1200" y="2304"/>
              <a:ext cx="888" cy="255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1400"/>
                <a:t>NHANVIEN</a:t>
              </a:r>
            </a:p>
          </p:txBody>
        </p:sp>
        <p:sp>
          <p:nvSpPr>
            <p:cNvPr id="648219" name="Oval 27"/>
            <p:cNvSpPr>
              <a:spLocks noChangeArrowheads="1"/>
            </p:cNvSpPr>
            <p:nvPr/>
          </p:nvSpPr>
          <p:spPr bwMode="auto">
            <a:xfrm>
              <a:off x="3751" y="2256"/>
              <a:ext cx="521" cy="255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1400"/>
                <a:t>DEAN</a:t>
              </a:r>
            </a:p>
          </p:txBody>
        </p:sp>
        <p:grpSp>
          <p:nvGrpSpPr>
            <p:cNvPr id="648239" name="Group 47"/>
            <p:cNvGrpSpPr>
              <a:grpSpLocks/>
            </p:cNvGrpSpPr>
            <p:nvPr/>
          </p:nvGrpSpPr>
          <p:grpSpPr bwMode="auto">
            <a:xfrm>
              <a:off x="2352" y="1584"/>
              <a:ext cx="1056" cy="336"/>
              <a:chOff x="2496" y="1248"/>
              <a:chExt cx="1056" cy="336"/>
            </a:xfrm>
          </p:grpSpPr>
          <p:sp>
            <p:nvSpPr>
              <p:cNvPr id="648236" name="Oval 44"/>
              <p:cNvSpPr>
                <a:spLocks noChangeArrowheads="1"/>
              </p:cNvSpPr>
              <p:nvPr/>
            </p:nvSpPr>
            <p:spPr bwMode="auto">
              <a:xfrm>
                <a:off x="2928" y="14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48237" name="Text Box 45"/>
              <p:cNvSpPr txBox="1">
                <a:spLocks noChangeArrowheads="1"/>
              </p:cNvSpPr>
              <p:nvPr/>
            </p:nvSpPr>
            <p:spPr bwMode="auto">
              <a:xfrm>
                <a:off x="2496" y="1248"/>
                <a:ext cx="1056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sz="1400"/>
                  <a:t>PHG=PHONG</a:t>
                </a:r>
              </a:p>
            </p:txBody>
          </p:sp>
        </p:grpSp>
        <p:sp>
          <p:nvSpPr>
            <p:cNvPr id="648240" name="Line 48"/>
            <p:cNvSpPr>
              <a:spLocks noChangeShapeType="1"/>
            </p:cNvSpPr>
            <p:nvPr/>
          </p:nvSpPr>
          <p:spPr bwMode="auto">
            <a:xfrm flipH="1">
              <a:off x="1728" y="1872"/>
              <a:ext cx="1104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48241" name="Freeform 49"/>
            <p:cNvSpPr>
              <a:spLocks/>
            </p:cNvSpPr>
            <p:nvPr/>
          </p:nvSpPr>
          <p:spPr bwMode="auto">
            <a:xfrm>
              <a:off x="1680" y="2556"/>
              <a:ext cx="1" cy="56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564"/>
                </a:cxn>
              </a:cxnLst>
              <a:rect l="0" t="0" r="r" b="b"/>
              <a:pathLst>
                <a:path w="1" h="564">
                  <a:moveTo>
                    <a:pt x="0" y="0"/>
                  </a:moveTo>
                  <a:lnTo>
                    <a:pt x="1" y="564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48243" name="Freeform 51"/>
            <p:cNvSpPr>
              <a:spLocks/>
            </p:cNvSpPr>
            <p:nvPr/>
          </p:nvSpPr>
          <p:spPr bwMode="auto">
            <a:xfrm>
              <a:off x="3984" y="2507"/>
              <a:ext cx="1" cy="56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565"/>
                </a:cxn>
              </a:cxnLst>
              <a:rect l="0" t="0" r="r" b="b"/>
              <a:pathLst>
                <a:path w="1" h="565">
                  <a:moveTo>
                    <a:pt x="0" y="0"/>
                  </a:moveTo>
                  <a:lnTo>
                    <a:pt x="1" y="565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48245" name="Line 53"/>
            <p:cNvSpPr>
              <a:spLocks noChangeShapeType="1"/>
            </p:cNvSpPr>
            <p:nvPr/>
          </p:nvSpPr>
          <p:spPr bwMode="auto">
            <a:xfrm>
              <a:off x="2832" y="1872"/>
              <a:ext cx="1152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48265" name="Group 73"/>
          <p:cNvGrpSpPr>
            <a:grpSpLocks/>
          </p:cNvGrpSpPr>
          <p:nvPr/>
        </p:nvGrpSpPr>
        <p:grpSpPr bwMode="auto">
          <a:xfrm>
            <a:off x="2667000" y="4953000"/>
            <a:ext cx="3657600" cy="996950"/>
            <a:chOff x="1680" y="3120"/>
            <a:chExt cx="2304" cy="628"/>
          </a:xfrm>
        </p:grpSpPr>
        <p:sp>
          <p:nvSpPr>
            <p:cNvPr id="648262" name="Oval 70"/>
            <p:cNvSpPr>
              <a:spLocks noChangeArrowheads="1"/>
            </p:cNvSpPr>
            <p:nvPr/>
          </p:nvSpPr>
          <p:spPr bwMode="auto">
            <a:xfrm>
              <a:off x="2417" y="3485"/>
              <a:ext cx="947" cy="263"/>
            </a:xfrm>
            <a:prstGeom prst="ellipse">
              <a:avLst/>
            </a:prstGeom>
            <a:solidFill>
              <a:srgbClr val="FF99CC">
                <a:alpha val="80000"/>
              </a:srgbClr>
            </a:solidFill>
            <a:ln w="25400" algn="ctr">
              <a:solidFill>
                <a:srgbClr val="FF99CC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1400"/>
                <a:t>PHANCONG</a:t>
              </a:r>
            </a:p>
          </p:txBody>
        </p:sp>
        <p:sp>
          <p:nvSpPr>
            <p:cNvPr id="648263" name="Freeform 71"/>
            <p:cNvSpPr>
              <a:spLocks/>
            </p:cNvSpPr>
            <p:nvPr/>
          </p:nvSpPr>
          <p:spPr bwMode="auto">
            <a:xfrm>
              <a:off x="1680" y="3120"/>
              <a:ext cx="741" cy="48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41" y="481"/>
                </a:cxn>
              </a:cxnLst>
              <a:rect l="0" t="0" r="r" b="b"/>
              <a:pathLst>
                <a:path w="741" h="481">
                  <a:moveTo>
                    <a:pt x="0" y="0"/>
                  </a:moveTo>
                  <a:lnTo>
                    <a:pt x="741" y="481"/>
                  </a:lnTo>
                </a:path>
              </a:pathLst>
            </a:custGeom>
            <a:noFill/>
            <a:ln w="25400" cap="flat" cmpd="sng">
              <a:solidFill>
                <a:srgbClr val="FF99C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48264" name="Line 72"/>
            <p:cNvSpPr>
              <a:spLocks noChangeShapeType="1"/>
            </p:cNvSpPr>
            <p:nvPr/>
          </p:nvSpPr>
          <p:spPr bwMode="auto">
            <a:xfrm flipH="1">
              <a:off x="3360" y="3120"/>
              <a:ext cx="624" cy="480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48235" name="Group 43"/>
          <p:cNvGrpSpPr>
            <a:grpSpLocks/>
          </p:cNvGrpSpPr>
          <p:nvPr/>
        </p:nvGrpSpPr>
        <p:grpSpPr bwMode="auto">
          <a:xfrm>
            <a:off x="6248400" y="4800600"/>
            <a:ext cx="1447800" cy="304800"/>
            <a:chOff x="4176" y="2736"/>
            <a:chExt cx="912" cy="192"/>
          </a:xfrm>
        </p:grpSpPr>
        <p:sp>
          <p:nvSpPr>
            <p:cNvPr id="648221" name="Oval 29"/>
            <p:cNvSpPr>
              <a:spLocks noChangeArrowheads="1"/>
            </p:cNvSpPr>
            <p:nvPr/>
          </p:nvSpPr>
          <p:spPr bwMode="auto">
            <a:xfrm>
              <a:off x="4176" y="2784"/>
              <a:ext cx="96" cy="96"/>
            </a:xfrm>
            <a:prstGeom prst="ellipse">
              <a:avLst/>
            </a:prstGeom>
            <a:solidFill>
              <a:schemeClr val="tx1"/>
            </a:solidFill>
            <a:ln w="1270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48224" name="Text Box 32"/>
            <p:cNvSpPr txBox="1">
              <a:spLocks noChangeArrowheads="1"/>
            </p:cNvSpPr>
            <p:nvPr/>
          </p:nvSpPr>
          <p:spPr bwMode="auto">
            <a:xfrm>
              <a:off x="4224" y="2736"/>
              <a:ext cx="86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SODA=MADA</a:t>
              </a:r>
            </a:p>
          </p:txBody>
        </p:sp>
      </p:grpSp>
      <p:grpSp>
        <p:nvGrpSpPr>
          <p:cNvPr id="648246" name="Group 54"/>
          <p:cNvGrpSpPr>
            <a:grpSpLocks/>
          </p:cNvGrpSpPr>
          <p:nvPr/>
        </p:nvGrpSpPr>
        <p:grpSpPr bwMode="auto">
          <a:xfrm>
            <a:off x="838200" y="4800600"/>
            <a:ext cx="1905000" cy="304800"/>
            <a:chOff x="576" y="2640"/>
            <a:chExt cx="1200" cy="192"/>
          </a:xfrm>
        </p:grpSpPr>
        <p:sp>
          <p:nvSpPr>
            <p:cNvPr id="648227" name="Oval 35"/>
            <p:cNvSpPr>
              <a:spLocks noChangeArrowheads="1"/>
            </p:cNvSpPr>
            <p:nvPr/>
          </p:nvSpPr>
          <p:spPr bwMode="auto">
            <a:xfrm>
              <a:off x="1680" y="2688"/>
              <a:ext cx="96" cy="96"/>
            </a:xfrm>
            <a:prstGeom prst="ellipse">
              <a:avLst/>
            </a:prstGeom>
            <a:solidFill>
              <a:schemeClr val="tx1"/>
            </a:solidFill>
            <a:ln w="1270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48228" name="Text Box 36"/>
            <p:cNvSpPr txBox="1">
              <a:spLocks noChangeArrowheads="1"/>
            </p:cNvSpPr>
            <p:nvPr/>
          </p:nvSpPr>
          <p:spPr bwMode="auto">
            <a:xfrm>
              <a:off x="576" y="2640"/>
              <a:ext cx="1056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MANV=MA_NVIEN</a:t>
              </a:r>
            </a:p>
          </p:txBody>
        </p:sp>
      </p:grpSp>
      <p:grpSp>
        <p:nvGrpSpPr>
          <p:cNvPr id="648270" name="Group 78"/>
          <p:cNvGrpSpPr>
            <a:grpSpLocks/>
          </p:cNvGrpSpPr>
          <p:nvPr/>
        </p:nvGrpSpPr>
        <p:grpSpPr bwMode="auto">
          <a:xfrm>
            <a:off x="3005138" y="3352800"/>
            <a:ext cx="2989262" cy="1450975"/>
            <a:chOff x="1893" y="2112"/>
            <a:chExt cx="1883" cy="914"/>
          </a:xfrm>
        </p:grpSpPr>
        <p:sp>
          <p:nvSpPr>
            <p:cNvPr id="648266" name="Freeform 74"/>
            <p:cNvSpPr>
              <a:spLocks/>
            </p:cNvSpPr>
            <p:nvPr/>
          </p:nvSpPr>
          <p:spPr bwMode="auto">
            <a:xfrm>
              <a:off x="1893" y="2112"/>
              <a:ext cx="1883" cy="914"/>
            </a:xfrm>
            <a:custGeom>
              <a:avLst/>
              <a:gdLst/>
              <a:ahLst/>
              <a:cxnLst>
                <a:cxn ang="0">
                  <a:pos x="0" y="914"/>
                </a:cxn>
                <a:cxn ang="0">
                  <a:pos x="457" y="284"/>
                </a:cxn>
                <a:cxn ang="0">
                  <a:pos x="950" y="1"/>
                </a:cxn>
                <a:cxn ang="0">
                  <a:pos x="1453" y="275"/>
                </a:cxn>
                <a:cxn ang="0">
                  <a:pos x="1883" y="787"/>
                </a:cxn>
              </a:cxnLst>
              <a:rect l="0" t="0" r="r" b="b"/>
              <a:pathLst>
                <a:path w="1883" h="914">
                  <a:moveTo>
                    <a:pt x="0" y="914"/>
                  </a:moveTo>
                  <a:cubicBezTo>
                    <a:pt x="76" y="811"/>
                    <a:pt x="299" y="436"/>
                    <a:pt x="457" y="284"/>
                  </a:cubicBezTo>
                  <a:cubicBezTo>
                    <a:pt x="615" y="132"/>
                    <a:pt x="784" y="2"/>
                    <a:pt x="950" y="1"/>
                  </a:cubicBezTo>
                  <a:cubicBezTo>
                    <a:pt x="1116" y="0"/>
                    <a:pt x="1298" y="144"/>
                    <a:pt x="1453" y="275"/>
                  </a:cubicBezTo>
                  <a:cubicBezTo>
                    <a:pt x="1608" y="406"/>
                    <a:pt x="1794" y="680"/>
                    <a:pt x="1883" y="787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48268" name="Text Box 76"/>
            <p:cNvSpPr txBox="1">
              <a:spLocks noChangeArrowheads="1"/>
            </p:cNvSpPr>
            <p:nvPr/>
          </p:nvSpPr>
          <p:spPr bwMode="auto">
            <a:xfrm>
              <a:off x="2400" y="2304"/>
              <a:ext cx="864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MANV, MADA</a:t>
              </a:r>
            </a:p>
          </p:txBody>
        </p:sp>
      </p:grpSp>
      <p:grpSp>
        <p:nvGrpSpPr>
          <p:cNvPr id="648271" name="Group 79"/>
          <p:cNvGrpSpPr>
            <a:grpSpLocks/>
          </p:cNvGrpSpPr>
          <p:nvPr/>
        </p:nvGrpSpPr>
        <p:grpSpPr bwMode="auto">
          <a:xfrm>
            <a:off x="3062288" y="4800600"/>
            <a:ext cx="2881312" cy="611188"/>
            <a:chOff x="1929" y="3024"/>
            <a:chExt cx="1815" cy="385"/>
          </a:xfrm>
        </p:grpSpPr>
        <p:sp>
          <p:nvSpPr>
            <p:cNvPr id="648267" name="Freeform 75"/>
            <p:cNvSpPr>
              <a:spLocks/>
            </p:cNvSpPr>
            <p:nvPr/>
          </p:nvSpPr>
          <p:spPr bwMode="auto">
            <a:xfrm>
              <a:off x="1929" y="3024"/>
              <a:ext cx="1815" cy="385"/>
            </a:xfrm>
            <a:custGeom>
              <a:avLst/>
              <a:gdLst/>
              <a:ahLst/>
              <a:cxnLst>
                <a:cxn ang="0">
                  <a:pos x="0" y="121"/>
                </a:cxn>
                <a:cxn ang="0">
                  <a:pos x="412" y="286"/>
                </a:cxn>
                <a:cxn ang="0">
                  <a:pos x="951" y="377"/>
                </a:cxn>
                <a:cxn ang="0">
                  <a:pos x="1417" y="240"/>
                </a:cxn>
                <a:cxn ang="0">
                  <a:pos x="1815" y="0"/>
                </a:cxn>
              </a:cxnLst>
              <a:rect l="0" t="0" r="r" b="b"/>
              <a:pathLst>
                <a:path w="1815" h="385">
                  <a:moveTo>
                    <a:pt x="0" y="121"/>
                  </a:moveTo>
                  <a:cubicBezTo>
                    <a:pt x="68" y="148"/>
                    <a:pt x="253" y="243"/>
                    <a:pt x="412" y="286"/>
                  </a:cubicBezTo>
                  <a:cubicBezTo>
                    <a:pt x="571" y="329"/>
                    <a:pt x="784" y="385"/>
                    <a:pt x="951" y="377"/>
                  </a:cubicBezTo>
                  <a:cubicBezTo>
                    <a:pt x="1118" y="369"/>
                    <a:pt x="1273" y="303"/>
                    <a:pt x="1417" y="240"/>
                  </a:cubicBezTo>
                  <a:cubicBezTo>
                    <a:pt x="1561" y="177"/>
                    <a:pt x="1732" y="50"/>
                    <a:pt x="1815" y="0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48269" name="Text Box 77"/>
            <p:cNvSpPr txBox="1">
              <a:spLocks noChangeArrowheads="1"/>
            </p:cNvSpPr>
            <p:nvPr/>
          </p:nvSpPr>
          <p:spPr bwMode="auto">
            <a:xfrm>
              <a:off x="2256" y="3120"/>
              <a:ext cx="1152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MA_NVIEN, SODA</a:t>
              </a:r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1112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244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</a:t>
            </a:r>
            <a:r>
              <a:rPr lang="en-US" sz="3500" b="1" dirty="0" smtClean="0"/>
              <a:t>14</a:t>
            </a:r>
            <a:endParaRPr lang="en-US" sz="3500" b="1" dirty="0"/>
          </a:p>
        </p:txBody>
      </p:sp>
      <p:sp>
        <p:nvSpPr>
          <p:cNvPr id="650245" name="Rectangle 5"/>
          <p:cNvSpPr>
            <a:spLocks noGrp="1" noChangeArrowheads="1"/>
          </p:cNvSpPr>
          <p:nvPr>
            <p:ph sz="quarter" idx="1"/>
          </p:nvPr>
        </p:nvSpPr>
        <p:spPr>
          <a:xfrm>
            <a:off x="381000" y="1447800"/>
            <a:ext cx="8458200" cy="4953000"/>
          </a:xfrm>
        </p:spPr>
        <p:txBody>
          <a:bodyPr>
            <a:normAutofit/>
          </a:bodyPr>
          <a:lstStyle/>
          <a:p>
            <a:pPr algn="just"/>
            <a:r>
              <a:rPr lang="en-US" sz="2400" dirty="0" err="1"/>
              <a:t>Nhân</a:t>
            </a:r>
            <a:r>
              <a:rPr lang="en-US" sz="2400" dirty="0"/>
              <a:t> </a:t>
            </a:r>
            <a:r>
              <a:rPr lang="en-US" sz="2400" dirty="0" err="1"/>
              <a:t>viên</a:t>
            </a:r>
            <a:r>
              <a:rPr lang="en-US" sz="2400" dirty="0"/>
              <a:t> </a:t>
            </a:r>
            <a:r>
              <a:rPr lang="en-US" sz="2400" dirty="0" err="1"/>
              <a:t>chỉ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phân</a:t>
            </a:r>
            <a:r>
              <a:rPr lang="en-US" sz="2400" dirty="0"/>
              <a:t> </a:t>
            </a:r>
            <a:r>
              <a:rPr lang="en-US" sz="2400" dirty="0" err="1"/>
              <a:t>công</a:t>
            </a:r>
            <a:r>
              <a:rPr lang="en-US" sz="2400" dirty="0"/>
              <a:t> </a:t>
            </a:r>
            <a:r>
              <a:rPr lang="en-US" sz="2400" dirty="0" err="1"/>
              <a:t>vào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đề</a:t>
            </a:r>
            <a:r>
              <a:rPr lang="en-US" sz="2400" dirty="0"/>
              <a:t> </a:t>
            </a:r>
            <a:r>
              <a:rPr lang="en-US" sz="2400" dirty="0" err="1"/>
              <a:t>án</a:t>
            </a:r>
            <a:r>
              <a:rPr lang="en-US" sz="2400" dirty="0"/>
              <a:t> do </a:t>
            </a:r>
            <a:r>
              <a:rPr lang="en-US" sz="2400" dirty="0" err="1"/>
              <a:t>phòng</a:t>
            </a:r>
            <a:r>
              <a:rPr lang="en-US" sz="2400" dirty="0"/>
              <a:t> ban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mình</a:t>
            </a:r>
            <a:r>
              <a:rPr lang="en-US" sz="2400" dirty="0"/>
              <a:t> </a:t>
            </a:r>
            <a:r>
              <a:rPr lang="en-US" sz="2400" dirty="0" err="1"/>
              <a:t>phụ</a:t>
            </a:r>
            <a:r>
              <a:rPr lang="en-US" sz="2400" dirty="0"/>
              <a:t> </a:t>
            </a:r>
            <a:r>
              <a:rPr lang="en-US" sz="2400" dirty="0" err="1"/>
              <a:t>trách</a:t>
            </a:r>
            <a:endParaRPr lang="en-US" sz="2400" dirty="0"/>
          </a:p>
          <a:p>
            <a:pPr lvl="1" algn="just"/>
            <a:r>
              <a:rPr lang="en-US" sz="2000" dirty="0" err="1">
                <a:solidFill>
                  <a:schemeClr val="tx1"/>
                </a:solidFill>
              </a:rPr>
              <a:t>Bối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cảnh</a:t>
            </a:r>
            <a:r>
              <a:rPr lang="en-US" sz="2000" dirty="0">
                <a:solidFill>
                  <a:schemeClr val="tx1"/>
                </a:solidFill>
              </a:rPr>
              <a:t>:</a:t>
            </a:r>
          </a:p>
          <a:p>
            <a:pPr lvl="1" algn="just"/>
            <a:r>
              <a:rPr lang="en-US" sz="2000" dirty="0" err="1">
                <a:solidFill>
                  <a:schemeClr val="tx1"/>
                </a:solidFill>
              </a:rPr>
              <a:t>Biểu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diễn</a:t>
            </a:r>
            <a:r>
              <a:rPr lang="en-US" sz="2000" dirty="0">
                <a:solidFill>
                  <a:schemeClr val="tx1"/>
                </a:solidFill>
              </a:rPr>
              <a:t>:</a:t>
            </a:r>
          </a:p>
          <a:p>
            <a:pPr lvl="2" algn="just"/>
            <a:endParaRPr lang="en-US" sz="1800" dirty="0"/>
          </a:p>
          <a:p>
            <a:pPr lvl="2" algn="just"/>
            <a:endParaRPr lang="en-US" sz="1800" dirty="0"/>
          </a:p>
          <a:p>
            <a:pPr lvl="2" algn="just"/>
            <a:endParaRPr lang="en-US" sz="1800" dirty="0"/>
          </a:p>
          <a:p>
            <a:pPr lvl="2" algn="just"/>
            <a:endParaRPr lang="en-US" sz="1800" dirty="0"/>
          </a:p>
          <a:p>
            <a:pPr lvl="1" algn="just"/>
            <a:r>
              <a:rPr lang="en-US" sz="2000" dirty="0" err="1">
                <a:solidFill>
                  <a:schemeClr val="tx1"/>
                </a:solidFill>
              </a:rPr>
              <a:t>Bảng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tầm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ảnh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hưởng</a:t>
            </a:r>
            <a:r>
              <a:rPr lang="en-US" sz="2000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650265" name="Text Box 25"/>
          <p:cNvSpPr txBox="1">
            <a:spLocks noChangeArrowheads="1"/>
          </p:cNvSpPr>
          <p:nvPr/>
        </p:nvSpPr>
        <p:spPr bwMode="auto">
          <a:xfrm>
            <a:off x="2590800" y="2209800"/>
            <a:ext cx="4114800" cy="3968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000">
                <a:latin typeface="Arial" charset="0"/>
                <a:sym typeface="Symbol" pitchFamily="18" charset="2"/>
              </a:rPr>
              <a:t>NHANVIEN, DEAN, PHANCONG</a:t>
            </a:r>
          </a:p>
        </p:txBody>
      </p:sp>
      <p:grpSp>
        <p:nvGrpSpPr>
          <p:cNvPr id="650296" name="Group 56"/>
          <p:cNvGrpSpPr>
            <a:grpSpLocks/>
          </p:cNvGrpSpPr>
          <p:nvPr/>
        </p:nvGrpSpPr>
        <p:grpSpPr bwMode="auto">
          <a:xfrm>
            <a:off x="1295400" y="4724400"/>
            <a:ext cx="6248400" cy="1524000"/>
            <a:chOff x="816" y="3072"/>
            <a:chExt cx="3936" cy="960"/>
          </a:xfrm>
        </p:grpSpPr>
        <p:sp>
          <p:nvSpPr>
            <p:cNvPr id="650269" name="Text Box 29"/>
            <p:cNvSpPr txBox="1">
              <a:spLocks noChangeArrowheads="1"/>
            </p:cNvSpPr>
            <p:nvPr/>
          </p:nvSpPr>
          <p:spPr bwMode="auto">
            <a:xfrm>
              <a:off x="1008" y="3081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R</a:t>
              </a:r>
              <a:r>
                <a:rPr lang="en-US" sz="1400"/>
                <a:t>14</a:t>
              </a:r>
            </a:p>
          </p:txBody>
        </p:sp>
        <p:sp>
          <p:nvSpPr>
            <p:cNvPr id="650270" name="Text Box 30"/>
            <p:cNvSpPr txBox="1">
              <a:spLocks noChangeArrowheads="1"/>
            </p:cNvSpPr>
            <p:nvPr/>
          </p:nvSpPr>
          <p:spPr bwMode="auto">
            <a:xfrm>
              <a:off x="816" y="3283"/>
              <a:ext cx="912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NHANVIEN</a:t>
              </a:r>
            </a:p>
          </p:txBody>
        </p:sp>
        <p:grpSp>
          <p:nvGrpSpPr>
            <p:cNvPr id="650271" name="Group 31"/>
            <p:cNvGrpSpPr>
              <a:grpSpLocks/>
            </p:cNvGrpSpPr>
            <p:nvPr/>
          </p:nvGrpSpPr>
          <p:grpSpPr bwMode="auto">
            <a:xfrm>
              <a:off x="1728" y="3072"/>
              <a:ext cx="1488" cy="912"/>
              <a:chOff x="2160" y="3168"/>
              <a:chExt cx="1488" cy="624"/>
            </a:xfrm>
          </p:grpSpPr>
          <p:sp>
            <p:nvSpPr>
              <p:cNvPr id="650272" name="Line 32"/>
              <p:cNvSpPr>
                <a:spLocks noChangeShapeType="1"/>
              </p:cNvSpPr>
              <p:nvPr/>
            </p:nvSpPr>
            <p:spPr bwMode="auto">
              <a:xfrm>
                <a:off x="216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50273" name="Line 33"/>
              <p:cNvSpPr>
                <a:spLocks noChangeShapeType="1"/>
              </p:cNvSpPr>
              <p:nvPr/>
            </p:nvSpPr>
            <p:spPr bwMode="auto">
              <a:xfrm>
                <a:off x="288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50274" name="Line 34"/>
              <p:cNvSpPr>
                <a:spLocks noChangeShapeType="1"/>
              </p:cNvSpPr>
              <p:nvPr/>
            </p:nvSpPr>
            <p:spPr bwMode="auto">
              <a:xfrm>
                <a:off x="3648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650275" name="Text Box 35"/>
            <p:cNvSpPr txBox="1">
              <a:spLocks noChangeArrowheads="1"/>
            </p:cNvSpPr>
            <p:nvPr/>
          </p:nvSpPr>
          <p:spPr bwMode="auto">
            <a:xfrm>
              <a:off x="1728" y="3072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Thêm</a:t>
              </a:r>
            </a:p>
          </p:txBody>
        </p:sp>
        <p:sp>
          <p:nvSpPr>
            <p:cNvPr id="650276" name="Text Box 36"/>
            <p:cNvSpPr txBox="1">
              <a:spLocks noChangeArrowheads="1"/>
            </p:cNvSpPr>
            <p:nvPr/>
          </p:nvSpPr>
          <p:spPr bwMode="auto">
            <a:xfrm>
              <a:off x="2496" y="3072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Xóa</a:t>
              </a:r>
            </a:p>
          </p:txBody>
        </p:sp>
        <p:sp>
          <p:nvSpPr>
            <p:cNvPr id="650277" name="Text Box 37"/>
            <p:cNvSpPr txBox="1">
              <a:spLocks noChangeArrowheads="1"/>
            </p:cNvSpPr>
            <p:nvPr/>
          </p:nvSpPr>
          <p:spPr bwMode="auto">
            <a:xfrm>
              <a:off x="3216" y="3072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Sửa</a:t>
              </a:r>
            </a:p>
          </p:txBody>
        </p:sp>
        <p:sp>
          <p:nvSpPr>
            <p:cNvPr id="650278" name="Text Box 38"/>
            <p:cNvSpPr txBox="1">
              <a:spLocks noChangeArrowheads="1"/>
            </p:cNvSpPr>
            <p:nvPr/>
          </p:nvSpPr>
          <p:spPr bwMode="auto">
            <a:xfrm>
              <a:off x="1728" y="3292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ym typeface="Symbol" pitchFamily="18" charset="2"/>
                </a:rPr>
                <a:t></a:t>
              </a:r>
            </a:p>
          </p:txBody>
        </p:sp>
        <p:sp>
          <p:nvSpPr>
            <p:cNvPr id="650279" name="Text Box 39"/>
            <p:cNvSpPr txBox="1">
              <a:spLocks noChangeArrowheads="1"/>
            </p:cNvSpPr>
            <p:nvPr/>
          </p:nvSpPr>
          <p:spPr bwMode="auto">
            <a:xfrm>
              <a:off x="1728" y="3543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ym typeface="Symbol" pitchFamily="18" charset="2"/>
                </a:rPr>
                <a:t></a:t>
              </a:r>
            </a:p>
          </p:txBody>
        </p:sp>
        <p:sp>
          <p:nvSpPr>
            <p:cNvPr id="650280" name="Text Box 40"/>
            <p:cNvSpPr txBox="1">
              <a:spLocks noChangeArrowheads="1"/>
            </p:cNvSpPr>
            <p:nvPr/>
          </p:nvSpPr>
          <p:spPr bwMode="auto">
            <a:xfrm>
              <a:off x="3264" y="3312"/>
              <a:ext cx="1392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en-US" sz="1800" b="1">
                  <a:sym typeface="Symbol" pitchFamily="18" charset="2"/>
                </a:rPr>
                <a:t></a:t>
              </a:r>
              <a:r>
                <a:rPr lang="en-US" sz="1800"/>
                <a:t> (MANV,PHG)</a:t>
              </a:r>
            </a:p>
          </p:txBody>
        </p:sp>
        <p:grpSp>
          <p:nvGrpSpPr>
            <p:cNvPr id="650281" name="Group 41"/>
            <p:cNvGrpSpPr>
              <a:grpSpLocks/>
            </p:cNvGrpSpPr>
            <p:nvPr/>
          </p:nvGrpSpPr>
          <p:grpSpPr bwMode="auto">
            <a:xfrm>
              <a:off x="816" y="3303"/>
              <a:ext cx="3840" cy="240"/>
              <a:chOff x="864" y="3504"/>
              <a:chExt cx="3216" cy="288"/>
            </a:xfrm>
          </p:grpSpPr>
          <p:sp>
            <p:nvSpPr>
              <p:cNvPr id="650282" name="Line 42"/>
              <p:cNvSpPr>
                <a:spLocks noChangeShapeType="1"/>
              </p:cNvSpPr>
              <p:nvPr/>
            </p:nvSpPr>
            <p:spPr bwMode="auto">
              <a:xfrm>
                <a:off x="864" y="3504"/>
                <a:ext cx="32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50283" name="Line 43"/>
              <p:cNvSpPr>
                <a:spLocks noChangeShapeType="1"/>
              </p:cNvSpPr>
              <p:nvPr/>
            </p:nvSpPr>
            <p:spPr bwMode="auto">
              <a:xfrm>
                <a:off x="864" y="3792"/>
                <a:ext cx="32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650284" name="Text Box 44"/>
            <p:cNvSpPr txBox="1">
              <a:spLocks noChangeArrowheads="1"/>
            </p:cNvSpPr>
            <p:nvPr/>
          </p:nvSpPr>
          <p:spPr bwMode="auto">
            <a:xfrm>
              <a:off x="816" y="3552"/>
              <a:ext cx="912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DEAN</a:t>
              </a:r>
            </a:p>
          </p:txBody>
        </p:sp>
        <p:sp>
          <p:nvSpPr>
            <p:cNvPr id="650285" name="Text Box 45"/>
            <p:cNvSpPr txBox="1">
              <a:spLocks noChangeArrowheads="1"/>
            </p:cNvSpPr>
            <p:nvPr/>
          </p:nvSpPr>
          <p:spPr bwMode="auto">
            <a:xfrm>
              <a:off x="2448" y="3264"/>
              <a:ext cx="76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ym typeface="Symbol" pitchFamily="18" charset="2"/>
                </a:rPr>
                <a:t></a:t>
              </a:r>
            </a:p>
          </p:txBody>
        </p:sp>
        <p:sp>
          <p:nvSpPr>
            <p:cNvPr id="650286" name="Text Box 46"/>
            <p:cNvSpPr txBox="1">
              <a:spLocks noChangeArrowheads="1"/>
            </p:cNvSpPr>
            <p:nvPr/>
          </p:nvSpPr>
          <p:spPr bwMode="auto">
            <a:xfrm>
              <a:off x="2448" y="3543"/>
              <a:ext cx="76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ym typeface="Symbol" pitchFamily="18" charset="2"/>
                </a:rPr>
                <a:t></a:t>
              </a:r>
            </a:p>
          </p:txBody>
        </p:sp>
        <p:sp>
          <p:nvSpPr>
            <p:cNvPr id="650287" name="Text Box 47"/>
            <p:cNvSpPr txBox="1">
              <a:spLocks noChangeArrowheads="1"/>
            </p:cNvSpPr>
            <p:nvPr/>
          </p:nvSpPr>
          <p:spPr bwMode="auto">
            <a:xfrm>
              <a:off x="3240" y="3543"/>
              <a:ext cx="13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ym typeface="Symbol" pitchFamily="18" charset="2"/>
                </a:rPr>
                <a:t></a:t>
              </a:r>
              <a:r>
                <a:rPr lang="en-US" sz="1800"/>
                <a:t> (MADA,PHONG)</a:t>
              </a:r>
            </a:p>
          </p:txBody>
        </p:sp>
        <p:sp>
          <p:nvSpPr>
            <p:cNvPr id="650289" name="Line 49"/>
            <p:cNvSpPr>
              <a:spLocks noChangeShapeType="1"/>
            </p:cNvSpPr>
            <p:nvPr/>
          </p:nvSpPr>
          <p:spPr bwMode="auto">
            <a:xfrm>
              <a:off x="816" y="3792"/>
              <a:ext cx="38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50291" name="Text Box 51"/>
            <p:cNvSpPr txBox="1">
              <a:spLocks noChangeArrowheads="1"/>
            </p:cNvSpPr>
            <p:nvPr/>
          </p:nvSpPr>
          <p:spPr bwMode="auto">
            <a:xfrm>
              <a:off x="816" y="3801"/>
              <a:ext cx="912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/>
                <a:t>PHANCONG</a:t>
              </a:r>
            </a:p>
          </p:txBody>
        </p:sp>
        <p:sp>
          <p:nvSpPr>
            <p:cNvPr id="650293" name="Text Box 53"/>
            <p:cNvSpPr txBox="1">
              <a:spLocks noChangeArrowheads="1"/>
            </p:cNvSpPr>
            <p:nvPr/>
          </p:nvSpPr>
          <p:spPr bwMode="auto">
            <a:xfrm>
              <a:off x="1728" y="3801"/>
              <a:ext cx="720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ym typeface="Symbol" pitchFamily="18" charset="2"/>
                </a:rPr>
                <a:t></a:t>
              </a:r>
            </a:p>
          </p:txBody>
        </p:sp>
        <p:sp>
          <p:nvSpPr>
            <p:cNvPr id="650294" name="Text Box 54"/>
            <p:cNvSpPr txBox="1">
              <a:spLocks noChangeArrowheads="1"/>
            </p:cNvSpPr>
            <p:nvPr/>
          </p:nvSpPr>
          <p:spPr bwMode="auto">
            <a:xfrm>
              <a:off x="2448" y="3792"/>
              <a:ext cx="76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ym typeface="Symbol" pitchFamily="18" charset="2"/>
                </a:rPr>
                <a:t></a:t>
              </a:r>
            </a:p>
          </p:txBody>
        </p:sp>
        <p:sp>
          <p:nvSpPr>
            <p:cNvPr id="650295" name="Text Box 55"/>
            <p:cNvSpPr txBox="1">
              <a:spLocks noChangeArrowheads="1"/>
            </p:cNvSpPr>
            <p:nvPr/>
          </p:nvSpPr>
          <p:spPr bwMode="auto">
            <a:xfrm>
              <a:off x="3264" y="3801"/>
              <a:ext cx="148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en-US" sz="1800" b="1">
                  <a:sym typeface="Symbol" pitchFamily="18" charset="2"/>
                </a:rPr>
                <a:t></a:t>
              </a:r>
              <a:r>
                <a:rPr lang="en-US" sz="1800"/>
                <a:t> (MA_NVIEN,SODA)</a:t>
              </a:r>
            </a:p>
          </p:txBody>
        </p:sp>
      </p:grpSp>
      <p:grpSp>
        <p:nvGrpSpPr>
          <p:cNvPr id="650297" name="Group 57"/>
          <p:cNvGrpSpPr>
            <a:grpSpLocks/>
          </p:cNvGrpSpPr>
          <p:nvPr/>
        </p:nvGrpSpPr>
        <p:grpSpPr bwMode="auto">
          <a:xfrm>
            <a:off x="1752600" y="2971800"/>
            <a:ext cx="6781800" cy="1311275"/>
            <a:chOff x="912" y="1910"/>
            <a:chExt cx="4272" cy="826"/>
          </a:xfrm>
        </p:grpSpPr>
        <p:sp>
          <p:nvSpPr>
            <p:cNvPr id="650298" name="Text Box 58"/>
            <p:cNvSpPr txBox="1">
              <a:spLocks noChangeArrowheads="1"/>
            </p:cNvSpPr>
            <p:nvPr/>
          </p:nvSpPr>
          <p:spPr bwMode="auto">
            <a:xfrm>
              <a:off x="912" y="1910"/>
              <a:ext cx="4272" cy="82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en-US" sz="2000" dirty="0">
                  <a:latin typeface="Arial" charset="0"/>
                  <a:sym typeface="Symbol" pitchFamily="18" charset="2"/>
                </a:rPr>
                <a:t>NVDA </a:t>
              </a:r>
              <a:r>
                <a:rPr lang="en-US" sz="2000" b="1" dirty="0">
                  <a:latin typeface="Arial" charset="0"/>
                  <a:sym typeface="Symbol" pitchFamily="18" charset="2"/>
                </a:rPr>
                <a:t></a:t>
              </a:r>
              <a:r>
                <a:rPr lang="en-US" sz="2000" dirty="0">
                  <a:latin typeface="Arial" charset="0"/>
                  <a:sym typeface="Symbol" pitchFamily="18" charset="2"/>
                </a:rPr>
                <a:t> NHANVIEN       </a:t>
              </a:r>
              <a:r>
                <a:rPr lang="en-US" sz="2000" baseline="-25000" dirty="0">
                  <a:latin typeface="Arial" charset="0"/>
                  <a:sym typeface="Symbol" pitchFamily="18" charset="2"/>
                </a:rPr>
                <a:t>PHG=PHONG</a:t>
              </a:r>
              <a:r>
                <a:rPr lang="en-US" sz="2000" dirty="0">
                  <a:latin typeface="Arial" charset="0"/>
                  <a:sym typeface="Symbol" pitchFamily="18" charset="2"/>
                </a:rPr>
                <a:t> DEAN </a:t>
              </a:r>
            </a:p>
            <a:p>
              <a:pPr algn="l"/>
              <a:r>
                <a:rPr lang="en-US" sz="2000" b="1" dirty="0">
                  <a:latin typeface="Arial" charset="0"/>
                  <a:sym typeface="Symbol" pitchFamily="18" charset="2"/>
                </a:rPr>
                <a:t></a:t>
              </a:r>
              <a:r>
                <a:rPr lang="en-US" sz="2000" dirty="0">
                  <a:latin typeface="Arial" charset="0"/>
                  <a:sym typeface="Symbol" pitchFamily="18" charset="2"/>
                </a:rPr>
                <a:t>t </a:t>
              </a:r>
              <a:r>
                <a:rPr lang="en-US" sz="2000" b="1" dirty="0">
                  <a:latin typeface="Arial" charset="0"/>
                  <a:sym typeface="Symbol" pitchFamily="18" charset="2"/>
                </a:rPr>
                <a:t></a:t>
              </a:r>
              <a:r>
                <a:rPr lang="en-US" sz="2000" dirty="0">
                  <a:latin typeface="Arial" charset="0"/>
                  <a:sym typeface="Symbol" pitchFamily="18" charset="2"/>
                </a:rPr>
                <a:t> PHANCONG ( </a:t>
              </a:r>
              <a:r>
                <a:rPr lang="en-US" sz="2000" b="1" dirty="0">
                  <a:latin typeface="Arial" charset="0"/>
                  <a:sym typeface="Symbol" pitchFamily="18" charset="2"/>
                </a:rPr>
                <a:t></a:t>
              </a:r>
              <a:r>
                <a:rPr lang="en-US" sz="2000" dirty="0">
                  <a:latin typeface="Arial" charset="0"/>
                  <a:sym typeface="Symbol" pitchFamily="18" charset="2"/>
                </a:rPr>
                <a:t>s </a:t>
              </a:r>
              <a:r>
                <a:rPr lang="en-US" sz="2000" b="1" dirty="0">
                  <a:latin typeface="Arial" charset="0"/>
                  <a:sym typeface="Symbol" pitchFamily="18" charset="2"/>
                </a:rPr>
                <a:t></a:t>
              </a:r>
              <a:r>
                <a:rPr lang="en-US" sz="2000" dirty="0">
                  <a:latin typeface="Arial" charset="0"/>
                  <a:sym typeface="Symbol" pitchFamily="18" charset="2"/>
                </a:rPr>
                <a:t> NVDA ( </a:t>
              </a:r>
            </a:p>
            <a:p>
              <a:pPr algn="l"/>
              <a:r>
                <a:rPr lang="en-US" sz="2000" dirty="0">
                  <a:latin typeface="Arial" charset="0"/>
                  <a:sym typeface="Symbol" pitchFamily="18" charset="2"/>
                </a:rPr>
                <a:t>	</a:t>
              </a:r>
              <a:r>
                <a:rPr lang="en-US" sz="2000" dirty="0" err="1">
                  <a:latin typeface="Arial" charset="0"/>
                  <a:sym typeface="Symbol" pitchFamily="18" charset="2"/>
                </a:rPr>
                <a:t>t.MA_NVIEN</a:t>
              </a:r>
              <a:r>
                <a:rPr lang="en-US" sz="2000" dirty="0">
                  <a:latin typeface="Arial" charset="0"/>
                  <a:sym typeface="Symbol" pitchFamily="18" charset="2"/>
                </a:rPr>
                <a:t> </a:t>
              </a:r>
              <a:r>
                <a:rPr lang="en-US" sz="2000" b="1" dirty="0">
                  <a:latin typeface="Arial" charset="0"/>
                  <a:sym typeface="Symbol" pitchFamily="18" charset="2"/>
                </a:rPr>
                <a:t></a:t>
              </a:r>
              <a:r>
                <a:rPr lang="en-US" sz="2000" dirty="0">
                  <a:latin typeface="Arial" charset="0"/>
                  <a:sym typeface="Symbol" pitchFamily="18" charset="2"/>
                </a:rPr>
                <a:t> </a:t>
              </a:r>
              <a:r>
                <a:rPr lang="en-US" sz="2000" dirty="0" err="1">
                  <a:latin typeface="Arial" charset="0"/>
                  <a:sym typeface="Symbol" pitchFamily="18" charset="2"/>
                </a:rPr>
                <a:t>s.MANV</a:t>
              </a:r>
              <a:r>
                <a:rPr lang="en-US" sz="2000" dirty="0">
                  <a:latin typeface="Arial" charset="0"/>
                  <a:sym typeface="Symbol" pitchFamily="18" charset="2"/>
                </a:rPr>
                <a:t> </a:t>
              </a:r>
              <a:r>
                <a:rPr lang="en-US" sz="2000" b="1" dirty="0">
                  <a:latin typeface="Arial" charset="0"/>
                  <a:sym typeface="Symbol" pitchFamily="18" charset="2"/>
                </a:rPr>
                <a:t></a:t>
              </a:r>
              <a:r>
                <a:rPr lang="en-US" sz="2000" dirty="0">
                  <a:latin typeface="Arial" charset="0"/>
                  <a:sym typeface="Symbol" pitchFamily="18" charset="2"/>
                </a:rPr>
                <a:t> </a:t>
              </a:r>
              <a:r>
                <a:rPr lang="en-US" sz="2000" dirty="0" err="1">
                  <a:latin typeface="Arial" charset="0"/>
                  <a:sym typeface="Symbol" pitchFamily="18" charset="2"/>
                </a:rPr>
                <a:t>t.MADA</a:t>
              </a:r>
              <a:r>
                <a:rPr lang="en-US" sz="2000" dirty="0">
                  <a:latin typeface="Arial" charset="0"/>
                  <a:sym typeface="Symbol" pitchFamily="18" charset="2"/>
                </a:rPr>
                <a:t> </a:t>
              </a:r>
              <a:r>
                <a:rPr lang="en-US" sz="2000" b="1" dirty="0">
                  <a:latin typeface="Arial" charset="0"/>
                  <a:sym typeface="Symbol" pitchFamily="18" charset="2"/>
                </a:rPr>
                <a:t></a:t>
              </a:r>
              <a:r>
                <a:rPr lang="en-US" sz="2000" dirty="0">
                  <a:latin typeface="Arial" charset="0"/>
                  <a:sym typeface="Symbol" pitchFamily="18" charset="2"/>
                </a:rPr>
                <a:t> </a:t>
              </a:r>
              <a:r>
                <a:rPr lang="en-US" sz="2000" dirty="0" err="1">
                  <a:latin typeface="Arial" charset="0"/>
                  <a:sym typeface="Symbol" pitchFamily="18" charset="2"/>
                </a:rPr>
                <a:t>s.SODA</a:t>
              </a:r>
              <a:r>
                <a:rPr lang="en-US" sz="2000" dirty="0">
                  <a:latin typeface="Arial" charset="0"/>
                  <a:sym typeface="Symbol" pitchFamily="18" charset="2"/>
                </a:rPr>
                <a:t> ))</a:t>
              </a:r>
            </a:p>
          </p:txBody>
        </p:sp>
        <p:sp>
          <p:nvSpPr>
            <p:cNvPr id="650299" name="AutoShape 59"/>
            <p:cNvSpPr>
              <a:spLocks noChangeArrowheads="1"/>
            </p:cNvSpPr>
            <p:nvPr/>
          </p:nvSpPr>
          <p:spPr bwMode="auto">
            <a:xfrm rot="16200000">
              <a:off x="2613" y="1962"/>
              <a:ext cx="96" cy="144"/>
            </a:xfrm>
            <a:prstGeom prst="flowChartCollat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8633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50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50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50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026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smtClean="0"/>
              <a:t>4. </a:t>
            </a:r>
            <a:r>
              <a:rPr lang="en-US" sz="3500" b="1" dirty="0" err="1" smtClean="0"/>
              <a:t>Cài</a:t>
            </a:r>
            <a:r>
              <a:rPr lang="en-US" sz="3500" b="1" dirty="0" smtClean="0"/>
              <a:t> </a:t>
            </a:r>
            <a:r>
              <a:rPr lang="en-US" sz="3500" b="1" dirty="0" err="1" smtClean="0"/>
              <a:t>đặt</a:t>
            </a:r>
            <a:endParaRPr lang="en-US" sz="3500" b="1" dirty="0"/>
          </a:p>
        </p:txBody>
      </p:sp>
      <p:sp>
        <p:nvSpPr>
          <p:cNvPr id="64409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0"/>
            <a:ext cx="8229600" cy="4876800"/>
          </a:xfrm>
        </p:spPr>
        <p:txBody>
          <a:bodyPr>
            <a:normAutofit/>
          </a:bodyPr>
          <a:lstStyle/>
          <a:p>
            <a:pPr marL="731520" lvl="1" indent="-457200">
              <a:buFont typeface="+mj-lt"/>
              <a:buAutoNum type="alphaLcParenR"/>
            </a:pPr>
            <a:r>
              <a:rPr lang="en-US" sz="2400" dirty="0" smtClean="0">
                <a:solidFill>
                  <a:schemeClr val="tx1"/>
                </a:solidFill>
              </a:rPr>
              <a:t>Assertion</a:t>
            </a:r>
            <a:endParaRPr lang="en-US" sz="2400" dirty="0">
              <a:solidFill>
                <a:schemeClr val="tx1"/>
              </a:solidFill>
            </a:endParaRPr>
          </a:p>
          <a:p>
            <a:pPr marL="731520" lvl="1" indent="-457200">
              <a:buFont typeface="+mj-lt"/>
              <a:buAutoNum type="alphaLcParenR"/>
            </a:pPr>
            <a:r>
              <a:rPr lang="en-US" sz="2400" dirty="0">
                <a:solidFill>
                  <a:schemeClr val="tx1"/>
                </a:solidFill>
              </a:rPr>
              <a:t>Trigger</a:t>
            </a:r>
          </a:p>
          <a:p>
            <a:pPr marL="731520" lvl="1" indent="-457200">
              <a:buFont typeface="+mj-lt"/>
              <a:buAutoNum type="alphaLcParenR"/>
            </a:pPr>
            <a:r>
              <a:rPr lang="en-US" sz="2400" dirty="0">
                <a:solidFill>
                  <a:schemeClr val="tx1"/>
                </a:solidFill>
              </a:rPr>
              <a:t>Transaction (</a:t>
            </a:r>
            <a:r>
              <a:rPr lang="en-US" sz="2400" dirty="0" err="1">
                <a:solidFill>
                  <a:schemeClr val="tx1"/>
                </a:solidFill>
              </a:rPr>
              <a:t>giao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tác</a:t>
            </a:r>
            <a:r>
              <a:rPr lang="en-US" sz="2400" dirty="0">
                <a:solidFill>
                  <a:schemeClr val="tx1"/>
                </a:solidFill>
              </a:rPr>
              <a:t>)</a:t>
            </a:r>
          </a:p>
          <a:p>
            <a:pPr marL="731520" lvl="1" indent="-457200">
              <a:buFont typeface="+mj-lt"/>
              <a:buAutoNum type="alphaLcParenR"/>
            </a:pPr>
            <a:r>
              <a:rPr lang="en-US" sz="2400" dirty="0">
                <a:solidFill>
                  <a:schemeClr val="tx1"/>
                </a:solidFill>
              </a:rPr>
              <a:t>Stored Procedure (</a:t>
            </a:r>
            <a:r>
              <a:rPr lang="en-US" sz="2400" dirty="0" err="1">
                <a:solidFill>
                  <a:schemeClr val="tx1"/>
                </a:solidFill>
              </a:rPr>
              <a:t>thủ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tục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lưu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trữ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nội</a:t>
            </a:r>
            <a:r>
              <a:rPr lang="en-US" sz="2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8663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smtClean="0"/>
              <a:t>4. </a:t>
            </a:r>
            <a:r>
              <a:rPr lang="en-US" sz="3500" b="1" dirty="0" err="1" smtClean="0"/>
              <a:t>Cài</a:t>
            </a:r>
            <a:r>
              <a:rPr lang="en-US" sz="3500" b="1" dirty="0" smtClean="0"/>
              <a:t> </a:t>
            </a:r>
            <a:r>
              <a:rPr lang="en-US" sz="3500" b="1" dirty="0" err="1"/>
              <a:t>đặt</a:t>
            </a:r>
            <a:endParaRPr lang="en-US" sz="3500" b="1" dirty="0"/>
          </a:p>
        </p:txBody>
      </p:sp>
      <p:sp>
        <p:nvSpPr>
          <p:cNvPr id="65229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229600" cy="4800600"/>
          </a:xfrm>
        </p:spPr>
        <p:txBody>
          <a:bodyPr/>
          <a:lstStyle/>
          <a:p>
            <a:pPr algn="just"/>
            <a:r>
              <a:rPr lang="en-US" dirty="0" err="1"/>
              <a:t>Các</a:t>
            </a:r>
            <a:r>
              <a:rPr lang="en-US" dirty="0"/>
              <a:t> RBTV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bởi</a:t>
            </a:r>
            <a:endParaRPr lang="en-US" dirty="0"/>
          </a:p>
          <a:p>
            <a:pPr lvl="1" algn="just"/>
            <a:r>
              <a:rPr lang="en-US" dirty="0">
                <a:solidFill>
                  <a:schemeClr val="tx1"/>
                </a:solidFill>
              </a:rPr>
              <a:t>Primary key</a:t>
            </a:r>
          </a:p>
          <a:p>
            <a:pPr lvl="1" algn="just"/>
            <a:r>
              <a:rPr lang="en-US" dirty="0">
                <a:solidFill>
                  <a:schemeClr val="tx1"/>
                </a:solidFill>
              </a:rPr>
              <a:t>Foreign key</a:t>
            </a:r>
          </a:p>
          <a:p>
            <a:pPr lvl="1" algn="just"/>
            <a:r>
              <a:rPr lang="en-US" dirty="0">
                <a:solidFill>
                  <a:schemeClr val="tx1"/>
                </a:solidFill>
              </a:rPr>
              <a:t>Check </a:t>
            </a:r>
            <a:r>
              <a:rPr lang="en-US" dirty="0" err="1">
                <a:solidFill>
                  <a:schemeClr val="tx1"/>
                </a:solidFill>
              </a:rPr>
              <a:t>contraint</a:t>
            </a:r>
            <a:endParaRPr lang="en-US" dirty="0">
              <a:solidFill>
                <a:schemeClr val="tx1"/>
              </a:solidFill>
            </a:endParaRPr>
          </a:p>
          <a:p>
            <a:pPr lvl="1" algn="just"/>
            <a:endParaRPr lang="en-US" dirty="0">
              <a:solidFill>
                <a:schemeClr val="tx1"/>
              </a:solidFill>
            </a:endParaRPr>
          </a:p>
          <a:p>
            <a:pPr lvl="1" algn="just"/>
            <a:r>
              <a:rPr lang="en-US" dirty="0">
                <a:solidFill>
                  <a:schemeClr val="tx1"/>
                </a:solidFill>
              </a:rPr>
              <a:t>Assertion</a:t>
            </a:r>
          </a:p>
          <a:p>
            <a:pPr lvl="1" algn="just"/>
            <a:r>
              <a:rPr lang="en-US" dirty="0">
                <a:solidFill>
                  <a:schemeClr val="tx1"/>
                </a:solidFill>
              </a:rPr>
              <a:t>Trigger</a:t>
            </a:r>
          </a:p>
          <a:p>
            <a:pPr lvl="1" algn="just"/>
            <a:r>
              <a:rPr lang="en-US" dirty="0">
                <a:solidFill>
                  <a:schemeClr val="tx1"/>
                </a:solidFill>
              </a:rPr>
              <a:t>Transaction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776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39</a:t>
            </a:fld>
            <a:endParaRPr lang="en-US" altLang="en-US"/>
          </a:p>
        </p:txBody>
      </p:sp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0" y="152400"/>
            <a:ext cx="8229600" cy="533400"/>
          </a:xfrm>
        </p:spPr>
        <p:txBody>
          <a:bodyPr>
            <a:normAutofit fontScale="90000"/>
          </a:bodyPr>
          <a:lstStyle/>
          <a:p>
            <a:r>
              <a:rPr lang="en-US" sz="3200" dirty="0" err="1" smtClean="0"/>
              <a:t>Bài</a:t>
            </a:r>
            <a:r>
              <a:rPr lang="en-US" sz="3200" dirty="0" smtClean="0"/>
              <a:t> </a:t>
            </a:r>
            <a:r>
              <a:rPr lang="en-US" sz="3200" dirty="0" err="1" smtClean="0"/>
              <a:t>tập</a:t>
            </a:r>
            <a:r>
              <a:rPr lang="en-US" sz="3200" dirty="0" smtClean="0"/>
              <a:t> 1 : </a:t>
            </a:r>
            <a:r>
              <a:rPr lang="en-US" sz="3200" dirty="0" err="1" smtClean="0"/>
              <a:t>Xác</a:t>
            </a:r>
            <a:r>
              <a:rPr lang="en-US" sz="3200" dirty="0" smtClean="0"/>
              <a:t> </a:t>
            </a:r>
            <a:r>
              <a:rPr lang="en-US" sz="3200" dirty="0" err="1" smtClean="0"/>
              <a:t>định</a:t>
            </a:r>
            <a:r>
              <a:rPr lang="en-US" sz="3200" dirty="0" smtClean="0"/>
              <a:t> PK, FK, RBTV</a:t>
            </a:r>
            <a:endParaRPr lang="en-US" sz="3200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4294967295"/>
          </p:nvPr>
        </p:nvSpPr>
        <p:spPr>
          <a:xfrm>
            <a:off x="228600" y="685800"/>
            <a:ext cx="8915400" cy="60960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3300"/>
                </a:solidFill>
              </a:rPr>
              <a:t>•PHONGBAN (MAPHG, TENPHG, TRPHG, NGNC)</a:t>
            </a:r>
          </a:p>
          <a:p>
            <a:pPr marL="0" indent="0">
              <a:buNone/>
            </a:pPr>
            <a:r>
              <a:rPr lang="en-US" sz="2800" b="1" i="1" dirty="0" err="1" smtClean="0"/>
              <a:t>Mỗi</a:t>
            </a:r>
            <a:r>
              <a:rPr lang="en-US" sz="2800" b="1" i="1" dirty="0" smtClean="0"/>
              <a:t> </a:t>
            </a:r>
            <a:r>
              <a:rPr lang="en-US" sz="2800" b="1" i="1" dirty="0" err="1"/>
              <a:t>phòng</a:t>
            </a:r>
            <a:r>
              <a:rPr lang="en-US" sz="2800" b="1" i="1" dirty="0"/>
              <a:t> </a:t>
            </a:r>
            <a:r>
              <a:rPr lang="en-US" sz="2800" b="1" i="1" dirty="0" smtClean="0"/>
              <a:t>ban: </a:t>
            </a:r>
            <a:r>
              <a:rPr lang="en-US" sz="2800" b="1" i="1" dirty="0" err="1" smtClean="0"/>
              <a:t>tên</a:t>
            </a:r>
            <a:r>
              <a:rPr lang="en-US" sz="2800" b="1" i="1" dirty="0"/>
              <a:t>, </a:t>
            </a:r>
            <a:r>
              <a:rPr lang="en-US" sz="2800" b="1" i="1" dirty="0" err="1" smtClean="0"/>
              <a:t>mã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phòng</a:t>
            </a:r>
            <a:r>
              <a:rPr lang="en-US" sz="2800" b="1" i="1" dirty="0" smtClean="0"/>
              <a:t> </a:t>
            </a:r>
            <a:r>
              <a:rPr lang="en-US" sz="2800" b="1" i="1" dirty="0" err="1"/>
              <a:t>duy</a:t>
            </a:r>
            <a:r>
              <a:rPr lang="en-US" sz="2800" b="1" i="1" dirty="0"/>
              <a:t> </a:t>
            </a:r>
            <a:r>
              <a:rPr lang="en-US" sz="2800" b="1" i="1" dirty="0" err="1" smtClean="0"/>
              <a:t>nhất</a:t>
            </a:r>
            <a:r>
              <a:rPr lang="en-US" sz="2800" b="1" i="1" dirty="0" smtClean="0"/>
              <a:t>. </a:t>
            </a:r>
            <a:r>
              <a:rPr lang="en-US" sz="2800" b="1" i="1" dirty="0" err="1"/>
              <a:t>T</a:t>
            </a:r>
            <a:r>
              <a:rPr lang="en-US" sz="2800" b="1" i="1" dirty="0" err="1" smtClean="0"/>
              <a:t>rưởng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phòng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là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nhân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viên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của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công</a:t>
            </a:r>
            <a:r>
              <a:rPr lang="en-US" sz="2800" b="1" i="1" dirty="0" smtClean="0"/>
              <a:t> ty. </a:t>
            </a:r>
            <a:r>
              <a:rPr lang="en-US" sz="2800" b="1" i="1" dirty="0" err="1" smtClean="0"/>
              <a:t>Ngày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nhận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chức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phải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lớn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hơn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ngày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sinh</a:t>
            </a:r>
            <a:r>
              <a:rPr lang="en-US" sz="2800" b="1" i="1" dirty="0"/>
              <a:t> </a:t>
            </a:r>
            <a:r>
              <a:rPr lang="en-US" sz="2800" b="1" i="1" dirty="0" err="1" smtClean="0"/>
              <a:t>của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nhân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viên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đó</a:t>
            </a:r>
            <a:r>
              <a:rPr lang="en-US" sz="2800" b="1" i="1" dirty="0" smtClean="0"/>
              <a:t>. </a:t>
            </a:r>
            <a:endParaRPr lang="en-US" sz="2800" b="1" i="1" dirty="0"/>
          </a:p>
          <a:p>
            <a:pPr marL="0" indent="0">
              <a:buNone/>
            </a:pPr>
            <a:r>
              <a:rPr lang="en-US" sz="2800" b="1" dirty="0">
                <a:solidFill>
                  <a:srgbClr val="FF3300"/>
                </a:solidFill>
              </a:rPr>
              <a:t>•DIADIEM_PHG (</a:t>
            </a:r>
            <a:r>
              <a:rPr lang="en-US" sz="2800" b="1" dirty="0" smtClean="0">
                <a:solidFill>
                  <a:srgbClr val="FF3300"/>
                </a:solidFill>
              </a:rPr>
              <a:t>MAPHG, DIADIEM</a:t>
            </a:r>
            <a:r>
              <a:rPr lang="en-US" sz="2800" b="1" dirty="0">
                <a:solidFill>
                  <a:srgbClr val="FF3300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800" b="1" i="1" dirty="0" err="1"/>
              <a:t>Mỗi</a:t>
            </a:r>
            <a:r>
              <a:rPr lang="en-US" sz="2800" b="1" i="1" dirty="0"/>
              <a:t> </a:t>
            </a:r>
            <a:r>
              <a:rPr lang="en-US" sz="2800" b="1" i="1" dirty="0" err="1"/>
              <a:t>phòng</a:t>
            </a:r>
            <a:r>
              <a:rPr lang="en-US" sz="2800" b="1" i="1" dirty="0"/>
              <a:t> ban </a:t>
            </a:r>
            <a:r>
              <a:rPr lang="en-US" sz="2800" b="1" i="1" dirty="0" err="1"/>
              <a:t>có</a:t>
            </a:r>
            <a:r>
              <a:rPr lang="en-US" sz="2800" b="1" i="1" dirty="0"/>
              <a:t> </a:t>
            </a:r>
            <a:r>
              <a:rPr lang="en-US" sz="2800" b="1" i="1" dirty="0" err="1"/>
              <a:t>thể</a:t>
            </a:r>
            <a:r>
              <a:rPr lang="en-US" sz="2800" b="1" i="1" dirty="0"/>
              <a:t> </a:t>
            </a:r>
            <a:r>
              <a:rPr lang="en-US" sz="2800" b="1" i="1" dirty="0" err="1"/>
              <a:t>có</a:t>
            </a:r>
            <a:r>
              <a:rPr lang="en-US" sz="2800" b="1" i="1" dirty="0"/>
              <a:t> </a:t>
            </a:r>
            <a:r>
              <a:rPr lang="en-US" sz="2800" b="1" i="1" dirty="0" err="1"/>
              <a:t>nhiều</a:t>
            </a:r>
            <a:r>
              <a:rPr lang="en-US" sz="2800" b="1" i="1" dirty="0"/>
              <a:t> </a:t>
            </a:r>
            <a:r>
              <a:rPr lang="en-US" sz="2800" b="1" i="1" dirty="0" err="1"/>
              <a:t>địa</a:t>
            </a:r>
            <a:r>
              <a:rPr lang="en-US" sz="2800" b="1" i="1" dirty="0"/>
              <a:t> </a:t>
            </a:r>
            <a:r>
              <a:rPr lang="en-US" sz="2800" b="1" i="1" dirty="0" err="1"/>
              <a:t>điểm</a:t>
            </a:r>
            <a:r>
              <a:rPr lang="en-US" sz="2800" b="1" i="1" dirty="0"/>
              <a:t> </a:t>
            </a:r>
            <a:r>
              <a:rPr lang="en-US" sz="2800" b="1" i="1" dirty="0" err="1"/>
              <a:t>khác</a:t>
            </a:r>
            <a:r>
              <a:rPr lang="en-US" sz="2800" b="1" i="1" dirty="0"/>
              <a:t> </a:t>
            </a:r>
            <a:r>
              <a:rPr lang="en-US" sz="2800" b="1" i="1" dirty="0" err="1"/>
              <a:t>nhau</a:t>
            </a:r>
            <a:r>
              <a:rPr lang="en-US" sz="2800" b="1" i="1" dirty="0"/>
              <a:t>.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FF3300"/>
                </a:solidFill>
              </a:rPr>
              <a:t>•DEAN (MADA, TENDA, DDIEM_DA, PHONG, NGBD_DK, NGKT_DK)</a:t>
            </a:r>
          </a:p>
          <a:p>
            <a:pPr marL="0" indent="0">
              <a:buNone/>
            </a:pPr>
            <a:r>
              <a:rPr lang="en-US" sz="2800" b="1" i="1" dirty="0" err="1" smtClean="0"/>
              <a:t>Mỗi</a:t>
            </a:r>
            <a:r>
              <a:rPr lang="en-US" sz="2800" b="1" i="1" dirty="0" smtClean="0"/>
              <a:t> </a:t>
            </a:r>
            <a:r>
              <a:rPr lang="en-US" sz="2800" b="1" i="1" dirty="0" err="1"/>
              <a:t>đề</a:t>
            </a:r>
            <a:r>
              <a:rPr lang="en-US" sz="2800" b="1" i="1" dirty="0"/>
              <a:t> </a:t>
            </a:r>
            <a:r>
              <a:rPr lang="en-US" sz="2800" b="1" i="1" dirty="0" err="1" smtClean="0"/>
              <a:t>án</a:t>
            </a:r>
            <a:r>
              <a:rPr lang="en-US" sz="2800" b="1" i="1" dirty="0" smtClean="0"/>
              <a:t>: </a:t>
            </a:r>
            <a:r>
              <a:rPr lang="en-US" sz="2800" b="1" i="1" dirty="0" err="1" smtClean="0"/>
              <a:t>tên</a:t>
            </a:r>
            <a:r>
              <a:rPr lang="en-US" sz="2800" b="1" i="1" dirty="0"/>
              <a:t>, </a:t>
            </a:r>
            <a:r>
              <a:rPr lang="en-US" sz="2800" b="1" i="1" dirty="0" err="1" smtClean="0"/>
              <a:t>mã</a:t>
            </a:r>
            <a:r>
              <a:rPr lang="en-US" sz="2800" b="1" i="1" dirty="0" smtClean="0"/>
              <a:t> </a:t>
            </a:r>
            <a:r>
              <a:rPr lang="en-US" sz="2800" b="1" i="1" dirty="0" err="1"/>
              <a:t>duy</a:t>
            </a:r>
            <a:r>
              <a:rPr lang="en-US" sz="2800" b="1" i="1" dirty="0"/>
              <a:t> </a:t>
            </a:r>
            <a:r>
              <a:rPr lang="en-US" sz="2800" b="1" i="1" dirty="0" err="1" smtClean="0"/>
              <a:t>nhất</a:t>
            </a:r>
            <a:r>
              <a:rPr lang="en-US" sz="2800" b="1" i="1" dirty="0" smtClean="0"/>
              <a:t>. </a:t>
            </a:r>
            <a:r>
              <a:rPr lang="en-US" sz="2800" b="1" i="1" dirty="0" err="1"/>
              <a:t>N</a:t>
            </a:r>
            <a:r>
              <a:rPr lang="en-US" sz="2800" b="1" i="1" dirty="0" err="1" smtClean="0"/>
              <a:t>gày</a:t>
            </a:r>
            <a:r>
              <a:rPr lang="en-US" sz="2800" b="1" i="1" dirty="0" smtClean="0"/>
              <a:t> </a:t>
            </a:r>
            <a:r>
              <a:rPr lang="en-US" sz="2800" b="1" i="1" dirty="0" err="1"/>
              <a:t>bắt</a:t>
            </a:r>
            <a:r>
              <a:rPr lang="en-US" sz="2800" b="1" i="1" dirty="0"/>
              <a:t> </a:t>
            </a:r>
            <a:r>
              <a:rPr lang="en-US" sz="2800" b="1" i="1" dirty="0" err="1"/>
              <a:t>đầu</a:t>
            </a:r>
            <a:r>
              <a:rPr lang="en-US" sz="2800" b="1" i="1" dirty="0"/>
              <a:t> </a:t>
            </a:r>
            <a:r>
              <a:rPr lang="en-US" sz="2800" b="1" i="1" dirty="0" err="1" smtClean="0"/>
              <a:t>phải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nhỏ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hơn</a:t>
            </a:r>
            <a:r>
              <a:rPr lang="en-US" sz="2800" b="1" i="1" dirty="0" smtClean="0"/>
              <a:t> </a:t>
            </a:r>
            <a:r>
              <a:rPr lang="en-US" sz="2800" b="1" i="1" dirty="0" err="1"/>
              <a:t>ngày</a:t>
            </a:r>
            <a:r>
              <a:rPr lang="en-US" sz="2800" b="1" i="1" dirty="0"/>
              <a:t> </a:t>
            </a:r>
            <a:r>
              <a:rPr lang="en-US" sz="2800" b="1" i="1" dirty="0" err="1"/>
              <a:t>kết</a:t>
            </a:r>
            <a:r>
              <a:rPr lang="en-US" sz="2800" b="1" i="1" dirty="0"/>
              <a:t> </a:t>
            </a:r>
            <a:r>
              <a:rPr lang="en-US" sz="2800" b="1" i="1" dirty="0" err="1"/>
              <a:t>thúc</a:t>
            </a:r>
            <a:r>
              <a:rPr lang="en-US" sz="2800" b="1" i="1" dirty="0"/>
              <a:t> </a:t>
            </a:r>
            <a:r>
              <a:rPr lang="en-US" sz="2800" b="1" i="1" dirty="0" err="1"/>
              <a:t>dư</a:t>
            </a:r>
            <a:r>
              <a:rPr lang="en-US" sz="2800" b="1" i="1" dirty="0"/>
              <a:t>̣ </a:t>
            </a:r>
            <a:r>
              <a:rPr lang="en-US" sz="2800" b="1" i="1" dirty="0" err="1"/>
              <a:t>kiến</a:t>
            </a:r>
            <a:r>
              <a:rPr lang="en-US" sz="2800" b="1" i="1" dirty="0"/>
              <a:t> </a:t>
            </a:r>
            <a:r>
              <a:rPr lang="en-US" sz="2800" b="1" i="1" dirty="0" err="1"/>
              <a:t>của</a:t>
            </a:r>
            <a:r>
              <a:rPr lang="en-US" sz="2800" b="1" i="1" dirty="0"/>
              <a:t> </a:t>
            </a:r>
            <a:r>
              <a:rPr lang="en-US" sz="2800" b="1" i="1" dirty="0" err="1"/>
              <a:t>đê</a:t>
            </a:r>
            <a:r>
              <a:rPr lang="en-US" sz="2800" b="1" i="1" dirty="0"/>
              <a:t>̀ </a:t>
            </a:r>
            <a:r>
              <a:rPr lang="en-US" sz="2800" b="1" i="1" dirty="0" err="1"/>
              <a:t>án</a:t>
            </a:r>
            <a:r>
              <a:rPr lang="en-US" sz="2800" b="1" i="1" dirty="0"/>
              <a:t>.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FF3300"/>
                </a:solidFill>
              </a:rPr>
              <a:t>•NHANVIEN (MANV, HONV, TENLOT, TENNV, NGSINH, PHAI, DCHI, MA_NQL, PHONG, </a:t>
            </a:r>
            <a:r>
              <a:rPr lang="en-US" sz="2800" b="1" dirty="0" smtClean="0">
                <a:solidFill>
                  <a:srgbClr val="FF3300"/>
                </a:solidFill>
              </a:rPr>
              <a:t>LUONG</a:t>
            </a:r>
            <a:r>
              <a:rPr lang="en-US" sz="2800" b="1" dirty="0">
                <a:solidFill>
                  <a:srgbClr val="FF3300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800" b="1" i="1" dirty="0" err="1" smtClean="0"/>
              <a:t>Phái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phải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là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nam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hoặc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nữ</a:t>
            </a:r>
            <a:r>
              <a:rPr lang="en-US" sz="2800" b="1" i="1" dirty="0" smtClean="0"/>
              <a:t>. </a:t>
            </a:r>
            <a:r>
              <a:rPr lang="en-US" sz="2800" b="1" i="1" dirty="0" err="1" smtClean="0"/>
              <a:t>Lương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của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nhân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viên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phải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nhỏ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hơn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lương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của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người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quản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lý</a:t>
            </a:r>
            <a:endParaRPr lang="en-US" sz="2800" b="1" i="1" dirty="0"/>
          </a:p>
          <a:p>
            <a:pPr marL="0" indent="0">
              <a:buNone/>
            </a:pPr>
            <a:r>
              <a:rPr lang="en-US" sz="2800" b="1" dirty="0">
                <a:solidFill>
                  <a:srgbClr val="FF3300"/>
                </a:solidFill>
              </a:rPr>
              <a:t>•PHANCONG (MANV, MADA, THOIGIAN)</a:t>
            </a:r>
          </a:p>
          <a:p>
            <a:pPr marL="0" indent="0">
              <a:buNone/>
            </a:pPr>
            <a:r>
              <a:rPr lang="en-US" sz="2800" b="1" i="1" dirty="0" err="1"/>
              <a:t>Mỗi</a:t>
            </a:r>
            <a:r>
              <a:rPr lang="en-US" sz="2800" b="1" i="1" dirty="0"/>
              <a:t> </a:t>
            </a:r>
            <a:r>
              <a:rPr lang="en-US" sz="2800" b="1" i="1" dirty="0" err="1"/>
              <a:t>nhân</a:t>
            </a:r>
            <a:r>
              <a:rPr lang="en-US" sz="2800" b="1" i="1" dirty="0"/>
              <a:t> </a:t>
            </a:r>
            <a:r>
              <a:rPr lang="en-US" sz="2800" b="1" i="1" dirty="0" err="1"/>
              <a:t>viên</a:t>
            </a:r>
            <a:r>
              <a:rPr lang="en-US" sz="2800" b="1" i="1" dirty="0"/>
              <a:t> </a:t>
            </a:r>
            <a:r>
              <a:rPr lang="en-US" sz="2800" b="1" i="1" dirty="0" err="1" smtClean="0"/>
              <a:t>chỉ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có</a:t>
            </a:r>
            <a:r>
              <a:rPr lang="en-US" sz="2800" b="1" i="1" dirty="0" smtClean="0"/>
              <a:t> </a:t>
            </a:r>
            <a:r>
              <a:rPr lang="en-US" sz="2800" b="1" i="1" dirty="0" err="1"/>
              <a:t>thể</a:t>
            </a:r>
            <a:r>
              <a:rPr lang="en-US" sz="2800" b="1" i="1" dirty="0"/>
              <a:t> </a:t>
            </a:r>
            <a:r>
              <a:rPr lang="en-US" sz="2800" b="1" i="1" dirty="0" err="1"/>
              <a:t>tham</a:t>
            </a:r>
            <a:r>
              <a:rPr lang="en-US" sz="2800" b="1" i="1" dirty="0"/>
              <a:t> </a:t>
            </a:r>
            <a:r>
              <a:rPr lang="en-US" sz="2800" b="1" i="1" dirty="0" err="1"/>
              <a:t>gia</a:t>
            </a:r>
            <a:r>
              <a:rPr lang="en-US" sz="2800" b="1" i="1" dirty="0"/>
              <a:t> </a:t>
            </a:r>
            <a:r>
              <a:rPr lang="en-US" sz="2800" b="1" i="1" dirty="0" err="1" smtClean="0"/>
              <a:t>không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quá</a:t>
            </a:r>
            <a:r>
              <a:rPr lang="en-US" sz="2800" b="1" i="1" dirty="0" smtClean="0"/>
              <a:t> 3 </a:t>
            </a:r>
            <a:r>
              <a:rPr lang="en-US" sz="2800" b="1" i="1" dirty="0" err="1" smtClean="0"/>
              <a:t>đề</a:t>
            </a:r>
            <a:r>
              <a:rPr lang="en-US" sz="2800" b="1" i="1" dirty="0" smtClean="0"/>
              <a:t> </a:t>
            </a:r>
            <a:r>
              <a:rPr lang="en-US" sz="2800" b="1" i="1" dirty="0" err="1"/>
              <a:t>án</a:t>
            </a:r>
            <a:r>
              <a:rPr lang="en-US" sz="2800" b="1" i="1" dirty="0"/>
              <a:t> </a:t>
            </a:r>
            <a:r>
              <a:rPr lang="en-US" sz="2800" b="1" i="1" dirty="0" err="1" smtClean="0"/>
              <a:t>và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các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đề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án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phải</a:t>
            </a:r>
            <a:r>
              <a:rPr lang="en-US" sz="2800" b="1" i="1" dirty="0" smtClean="0"/>
              <a:t> do </a:t>
            </a:r>
            <a:r>
              <a:rPr lang="en-US" sz="2800" b="1" i="1" dirty="0" err="1" smtClean="0"/>
              <a:t>phòng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của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mình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chủ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trì</a:t>
            </a:r>
            <a:r>
              <a:rPr lang="en-US" sz="2800" b="1" i="1" dirty="0" smtClean="0"/>
              <a:t>. </a:t>
            </a:r>
            <a:r>
              <a:rPr lang="en-US" sz="2800" b="1" i="1" dirty="0" err="1" smtClean="0"/>
              <a:t>Tổng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thời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gian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tham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gia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đề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án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của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mỗi</a:t>
            </a:r>
            <a:r>
              <a:rPr lang="en-US" sz="2800" b="1" i="1" dirty="0" smtClean="0"/>
              <a:t> NV </a:t>
            </a:r>
            <a:r>
              <a:rPr lang="en-US" sz="2800" b="1" i="1" dirty="0" err="1" smtClean="0"/>
              <a:t>không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quá</a:t>
            </a:r>
            <a:r>
              <a:rPr lang="en-US" sz="2800" b="1" i="1" dirty="0" smtClean="0"/>
              <a:t> 40h</a:t>
            </a:r>
            <a:endParaRPr lang="en-US" sz="2800" b="1" i="1" dirty="0"/>
          </a:p>
          <a:p>
            <a:pPr marL="0" indent="0">
              <a:buNone/>
            </a:pPr>
            <a:r>
              <a:rPr lang="en-US" sz="2800" b="1" dirty="0">
                <a:solidFill>
                  <a:srgbClr val="FF3300"/>
                </a:solidFill>
              </a:rPr>
              <a:t>•THANNHAN (MANV, MATN, TENTN, PHAI, NGSINH, QUANHE)</a:t>
            </a:r>
          </a:p>
          <a:p>
            <a:pPr marL="0" indent="0">
              <a:buNone/>
            </a:pPr>
            <a:r>
              <a:rPr lang="en-US" sz="2800" b="1" i="1" dirty="0" err="1" smtClean="0"/>
              <a:t>Mỗi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thân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nhân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phải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có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quan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hệ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với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nhân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viên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trong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công</a:t>
            </a:r>
            <a:r>
              <a:rPr lang="en-US" sz="2800" b="1" i="1" dirty="0" smtClean="0"/>
              <a:t> ty, </a:t>
            </a:r>
            <a:r>
              <a:rPr lang="en-US" sz="2800" b="1" i="1" dirty="0" err="1" smtClean="0"/>
              <a:t>và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chỉ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có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thể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là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quan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hệ</a:t>
            </a:r>
            <a:r>
              <a:rPr lang="en-US" sz="2800" b="1" i="1" dirty="0" smtClean="0"/>
              <a:t> Vo </a:t>
            </a:r>
            <a:r>
              <a:rPr lang="en-US" sz="2800" b="1" i="1" dirty="0" err="1" smtClean="0"/>
              <a:t>chong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hoặc</a:t>
            </a:r>
            <a:r>
              <a:rPr lang="en-US" sz="2800" b="1" i="1" dirty="0" smtClean="0"/>
              <a:t> Con</a:t>
            </a:r>
            <a:endParaRPr lang="en-US" sz="2800" b="1" i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8138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40</a:t>
            </a:fld>
            <a:endParaRPr lang="en-US" altLang="en-US"/>
          </a:p>
        </p:txBody>
      </p:sp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0" y="152400"/>
            <a:ext cx="8229600" cy="533400"/>
          </a:xfrm>
        </p:spPr>
        <p:txBody>
          <a:bodyPr>
            <a:normAutofit fontScale="90000"/>
          </a:bodyPr>
          <a:lstStyle/>
          <a:p>
            <a:r>
              <a:rPr lang="en-US" sz="3200" dirty="0" err="1" smtClean="0"/>
              <a:t>Sửa</a:t>
            </a:r>
            <a:r>
              <a:rPr lang="en-US" sz="3200" dirty="0" smtClean="0"/>
              <a:t> </a:t>
            </a:r>
            <a:r>
              <a:rPr lang="en-US" sz="3200" dirty="0" err="1" smtClean="0"/>
              <a:t>bài</a:t>
            </a:r>
            <a:endParaRPr lang="en-US" sz="3200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4294967295"/>
          </p:nvPr>
        </p:nvSpPr>
        <p:spPr>
          <a:xfrm>
            <a:off x="228600" y="685800"/>
            <a:ext cx="8915400" cy="6096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3300"/>
                </a:solidFill>
              </a:rPr>
              <a:t>•PHONGBAN (MAPHG, TENPHG, TRPHG, NGNC)</a:t>
            </a:r>
          </a:p>
          <a:p>
            <a:pPr marL="0" indent="0">
              <a:buNone/>
            </a:pPr>
            <a:r>
              <a:rPr lang="en-US" sz="2800" b="1" i="1" dirty="0" err="1" smtClean="0"/>
              <a:t>Mỗi</a:t>
            </a:r>
            <a:r>
              <a:rPr lang="en-US" sz="2800" b="1" i="1" dirty="0" smtClean="0"/>
              <a:t> </a:t>
            </a:r>
            <a:r>
              <a:rPr lang="en-US" sz="2800" b="1" i="1" dirty="0" err="1"/>
              <a:t>phòng</a:t>
            </a:r>
            <a:r>
              <a:rPr lang="en-US" sz="2800" b="1" i="1" dirty="0"/>
              <a:t> </a:t>
            </a:r>
            <a:r>
              <a:rPr lang="en-US" sz="2800" b="1" i="1" dirty="0" smtClean="0"/>
              <a:t>ban: </a:t>
            </a:r>
            <a:r>
              <a:rPr lang="en-US" sz="2800" b="1" i="1" dirty="0" err="1" smtClean="0"/>
              <a:t>tên</a:t>
            </a:r>
            <a:r>
              <a:rPr lang="en-US" sz="2800" b="1" i="1" dirty="0"/>
              <a:t>, </a:t>
            </a:r>
            <a:r>
              <a:rPr lang="en-US" sz="2800" b="1" i="1" dirty="0" err="1" smtClean="0"/>
              <a:t>mã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phòng</a:t>
            </a:r>
            <a:r>
              <a:rPr lang="en-US" sz="2800" b="1" i="1" dirty="0" smtClean="0"/>
              <a:t> </a:t>
            </a:r>
            <a:r>
              <a:rPr lang="en-US" sz="2800" b="1" i="1" dirty="0" err="1"/>
              <a:t>duy</a:t>
            </a:r>
            <a:r>
              <a:rPr lang="en-US" sz="2800" b="1" i="1" dirty="0"/>
              <a:t> </a:t>
            </a:r>
            <a:r>
              <a:rPr lang="en-US" sz="2800" b="1" i="1" dirty="0" err="1" smtClean="0"/>
              <a:t>nhất</a:t>
            </a:r>
            <a:r>
              <a:rPr lang="en-US" sz="2800" b="1" i="1" dirty="0" smtClean="0"/>
              <a:t>. </a:t>
            </a:r>
            <a:r>
              <a:rPr lang="en-US" sz="2800" b="1" i="1" dirty="0" err="1"/>
              <a:t>T</a:t>
            </a:r>
            <a:r>
              <a:rPr lang="en-US" sz="2800" b="1" i="1" dirty="0" err="1" smtClean="0"/>
              <a:t>rưởng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phòng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là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nhân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viên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của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công</a:t>
            </a:r>
            <a:r>
              <a:rPr lang="en-US" sz="2800" b="1" i="1" dirty="0" smtClean="0"/>
              <a:t> ty. </a:t>
            </a:r>
            <a:r>
              <a:rPr lang="en-US" sz="2800" b="1" i="1" dirty="0" err="1" smtClean="0"/>
              <a:t>Ngày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nhận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chức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phải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lớn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hơn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ngày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sinh</a:t>
            </a:r>
            <a:r>
              <a:rPr lang="en-US" sz="2800" b="1" i="1" dirty="0"/>
              <a:t> </a:t>
            </a:r>
            <a:r>
              <a:rPr lang="en-US" sz="2800" b="1" i="1" dirty="0" err="1" smtClean="0"/>
              <a:t>của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nhân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viên</a:t>
            </a:r>
            <a:r>
              <a:rPr lang="en-US" sz="2800" b="1" i="1" dirty="0" smtClean="0"/>
              <a:t> </a:t>
            </a:r>
            <a:r>
              <a:rPr lang="en-US" sz="2800" b="1" i="1" dirty="0" err="1" smtClean="0"/>
              <a:t>đó</a:t>
            </a:r>
            <a:r>
              <a:rPr lang="en-US" sz="2800" b="1" i="1" dirty="0" smtClean="0"/>
              <a:t>. </a:t>
            </a:r>
            <a:endParaRPr lang="en-US" sz="2800" b="1" i="1" dirty="0"/>
          </a:p>
          <a:p>
            <a:pPr marL="0" indent="0">
              <a:buNone/>
            </a:pPr>
            <a:r>
              <a:rPr lang="en-US" sz="2800" b="1" dirty="0" smtClean="0">
                <a:solidFill>
                  <a:srgbClr val="FF3300"/>
                </a:solidFill>
              </a:rPr>
              <a:t>1. </a:t>
            </a:r>
            <a:r>
              <a:rPr lang="en-US" sz="2800" b="1" dirty="0" err="1" smtClean="0">
                <a:solidFill>
                  <a:srgbClr val="FF3300"/>
                </a:solidFill>
              </a:rPr>
              <a:t>Tên</a:t>
            </a:r>
            <a:r>
              <a:rPr lang="en-US" sz="2800" b="1" dirty="0" smtClean="0">
                <a:solidFill>
                  <a:srgbClr val="FF3300"/>
                </a:solidFill>
              </a:rPr>
              <a:t> </a:t>
            </a:r>
            <a:r>
              <a:rPr lang="en-US" sz="2800" b="1" dirty="0" err="1" smtClean="0">
                <a:solidFill>
                  <a:srgbClr val="FF3300"/>
                </a:solidFill>
              </a:rPr>
              <a:t>phòng</a:t>
            </a:r>
            <a:r>
              <a:rPr lang="en-US" sz="2800" b="1" dirty="0" smtClean="0">
                <a:solidFill>
                  <a:srgbClr val="FF3300"/>
                </a:solidFill>
              </a:rPr>
              <a:t> ban </a:t>
            </a:r>
            <a:r>
              <a:rPr lang="en-US" sz="2800" b="1" dirty="0" err="1" smtClean="0">
                <a:solidFill>
                  <a:srgbClr val="FF3300"/>
                </a:solidFill>
              </a:rPr>
              <a:t>duy</a:t>
            </a:r>
            <a:r>
              <a:rPr lang="en-US" sz="2800" b="1" dirty="0" smtClean="0">
                <a:solidFill>
                  <a:srgbClr val="FF3300"/>
                </a:solidFill>
              </a:rPr>
              <a:t> </a:t>
            </a:r>
            <a:r>
              <a:rPr lang="en-US" sz="2800" b="1" dirty="0" err="1" smtClean="0">
                <a:solidFill>
                  <a:srgbClr val="FF3300"/>
                </a:solidFill>
              </a:rPr>
              <a:t>nhất</a:t>
            </a:r>
            <a:r>
              <a:rPr lang="en-US" sz="2800" b="1" dirty="0" smtClean="0">
                <a:solidFill>
                  <a:srgbClr val="FF3300"/>
                </a:solidFill>
              </a:rPr>
              <a:t>:</a:t>
            </a:r>
          </a:p>
          <a:p>
            <a:pPr marL="514350" indent="-514350">
              <a:buAutoNum type="arabicPeriod"/>
            </a:pPr>
            <a:endParaRPr lang="en-US" sz="2800" b="1" dirty="0">
              <a:solidFill>
                <a:srgbClr val="FF3300"/>
              </a:solidFill>
            </a:endParaRPr>
          </a:p>
          <a:p>
            <a:pPr marL="0" indent="0">
              <a:buNone/>
            </a:pPr>
            <a:r>
              <a:rPr lang="en-US" sz="2800" b="1" dirty="0" smtClean="0">
                <a:solidFill>
                  <a:srgbClr val="FF3300"/>
                </a:solidFill>
              </a:rPr>
              <a:t>2. </a:t>
            </a:r>
            <a:r>
              <a:rPr lang="en-US" sz="2800" b="1" dirty="0" err="1" smtClean="0">
                <a:solidFill>
                  <a:srgbClr val="FF3300"/>
                </a:solidFill>
              </a:rPr>
              <a:t>Trưởng</a:t>
            </a:r>
            <a:r>
              <a:rPr lang="en-US" sz="2800" b="1" dirty="0" smtClean="0">
                <a:solidFill>
                  <a:srgbClr val="FF3300"/>
                </a:solidFill>
              </a:rPr>
              <a:t> </a:t>
            </a:r>
            <a:r>
              <a:rPr lang="en-US" sz="2800" b="1" dirty="0" err="1" smtClean="0">
                <a:solidFill>
                  <a:srgbClr val="FF3300"/>
                </a:solidFill>
              </a:rPr>
              <a:t>phòng</a:t>
            </a:r>
            <a:r>
              <a:rPr lang="en-US" sz="2800" b="1" dirty="0" smtClean="0">
                <a:solidFill>
                  <a:srgbClr val="FF3300"/>
                </a:solidFill>
              </a:rPr>
              <a:t> </a:t>
            </a:r>
            <a:r>
              <a:rPr lang="en-US" sz="2800" b="1" dirty="0" err="1" smtClean="0">
                <a:solidFill>
                  <a:srgbClr val="FF3300"/>
                </a:solidFill>
              </a:rPr>
              <a:t>là</a:t>
            </a:r>
            <a:r>
              <a:rPr lang="en-US" sz="2800" b="1" dirty="0" smtClean="0">
                <a:solidFill>
                  <a:srgbClr val="FF3300"/>
                </a:solidFill>
              </a:rPr>
              <a:t> NV </a:t>
            </a:r>
            <a:r>
              <a:rPr lang="en-US" sz="2800" b="1" dirty="0" err="1" smtClean="0">
                <a:solidFill>
                  <a:srgbClr val="FF3300"/>
                </a:solidFill>
              </a:rPr>
              <a:t>của</a:t>
            </a:r>
            <a:r>
              <a:rPr lang="en-US" sz="2800" b="1" dirty="0" smtClean="0">
                <a:solidFill>
                  <a:srgbClr val="FF3300"/>
                </a:solidFill>
              </a:rPr>
              <a:t> </a:t>
            </a:r>
            <a:r>
              <a:rPr lang="en-US" sz="2800" b="1" dirty="0" err="1" smtClean="0">
                <a:solidFill>
                  <a:srgbClr val="FF3300"/>
                </a:solidFill>
              </a:rPr>
              <a:t>công</a:t>
            </a:r>
            <a:r>
              <a:rPr lang="en-US" sz="2800" b="1" dirty="0" smtClean="0">
                <a:solidFill>
                  <a:srgbClr val="FF3300"/>
                </a:solidFill>
              </a:rPr>
              <a:t> ty:</a:t>
            </a:r>
          </a:p>
          <a:p>
            <a:pPr marL="514350" indent="-514350">
              <a:buAutoNum type="arabicPeriod"/>
            </a:pPr>
            <a:endParaRPr lang="en-US" sz="2800" b="1" dirty="0">
              <a:solidFill>
                <a:srgbClr val="FF3300"/>
              </a:solidFill>
            </a:endParaRPr>
          </a:p>
          <a:p>
            <a:pPr marL="0" indent="0">
              <a:buNone/>
            </a:pPr>
            <a:r>
              <a:rPr lang="en-US" sz="2800" b="1" dirty="0" smtClean="0">
                <a:solidFill>
                  <a:srgbClr val="FF3300"/>
                </a:solidFill>
              </a:rPr>
              <a:t>3. </a:t>
            </a:r>
            <a:r>
              <a:rPr lang="en-US" sz="2800" b="1" dirty="0" err="1" smtClean="0">
                <a:solidFill>
                  <a:srgbClr val="FF3300"/>
                </a:solidFill>
              </a:rPr>
              <a:t>Ngày</a:t>
            </a:r>
            <a:r>
              <a:rPr lang="en-US" sz="2800" b="1" dirty="0" smtClean="0">
                <a:solidFill>
                  <a:srgbClr val="FF3300"/>
                </a:solidFill>
              </a:rPr>
              <a:t> </a:t>
            </a:r>
            <a:r>
              <a:rPr lang="en-US" sz="2800" b="1" dirty="0" err="1" smtClean="0">
                <a:solidFill>
                  <a:srgbClr val="FF3300"/>
                </a:solidFill>
              </a:rPr>
              <a:t>nhận</a:t>
            </a:r>
            <a:r>
              <a:rPr lang="en-US" sz="2800" b="1" dirty="0" smtClean="0">
                <a:solidFill>
                  <a:srgbClr val="FF3300"/>
                </a:solidFill>
              </a:rPr>
              <a:t> </a:t>
            </a:r>
            <a:r>
              <a:rPr lang="en-US" sz="2800" b="1" dirty="0" err="1" smtClean="0">
                <a:solidFill>
                  <a:srgbClr val="FF3300"/>
                </a:solidFill>
              </a:rPr>
              <a:t>chức</a:t>
            </a:r>
            <a:r>
              <a:rPr lang="en-US" sz="2800" b="1" dirty="0" smtClean="0">
                <a:solidFill>
                  <a:srgbClr val="FF3300"/>
                </a:solidFill>
              </a:rPr>
              <a:t> </a:t>
            </a:r>
            <a:r>
              <a:rPr lang="en-US" sz="2800" b="1" dirty="0" err="1" smtClean="0">
                <a:solidFill>
                  <a:srgbClr val="FF3300"/>
                </a:solidFill>
              </a:rPr>
              <a:t>phải</a:t>
            </a:r>
            <a:r>
              <a:rPr lang="en-US" sz="2800" b="1" dirty="0" smtClean="0">
                <a:solidFill>
                  <a:srgbClr val="FF3300"/>
                </a:solidFill>
              </a:rPr>
              <a:t> </a:t>
            </a:r>
            <a:r>
              <a:rPr lang="en-US" sz="2800" b="1" dirty="0" err="1" smtClean="0">
                <a:solidFill>
                  <a:srgbClr val="FF3300"/>
                </a:solidFill>
              </a:rPr>
              <a:t>lớn</a:t>
            </a:r>
            <a:r>
              <a:rPr lang="en-US" sz="2800" b="1" dirty="0" smtClean="0">
                <a:solidFill>
                  <a:srgbClr val="FF3300"/>
                </a:solidFill>
              </a:rPr>
              <a:t> </a:t>
            </a:r>
            <a:r>
              <a:rPr lang="en-US" sz="2800" b="1" dirty="0" err="1" smtClean="0">
                <a:solidFill>
                  <a:srgbClr val="FF3300"/>
                </a:solidFill>
              </a:rPr>
              <a:t>hơn</a:t>
            </a:r>
            <a:r>
              <a:rPr lang="en-US" sz="2800" b="1" dirty="0" smtClean="0">
                <a:solidFill>
                  <a:srgbClr val="FF3300"/>
                </a:solidFill>
              </a:rPr>
              <a:t> </a:t>
            </a:r>
            <a:r>
              <a:rPr lang="en-US" sz="2800" b="1" dirty="0" err="1" smtClean="0">
                <a:solidFill>
                  <a:srgbClr val="FF3300"/>
                </a:solidFill>
              </a:rPr>
              <a:t>ngày</a:t>
            </a:r>
            <a:r>
              <a:rPr lang="en-US" sz="2800" b="1" dirty="0" smtClean="0">
                <a:solidFill>
                  <a:srgbClr val="FF3300"/>
                </a:solidFill>
              </a:rPr>
              <a:t> </a:t>
            </a:r>
            <a:r>
              <a:rPr lang="en-US" sz="2800" b="1" dirty="0" err="1" smtClean="0">
                <a:solidFill>
                  <a:srgbClr val="FF3300"/>
                </a:solidFill>
              </a:rPr>
              <a:t>sinh</a:t>
            </a:r>
            <a:r>
              <a:rPr lang="en-US" sz="2800" b="1" dirty="0" smtClean="0">
                <a:solidFill>
                  <a:srgbClr val="FF3300"/>
                </a:solidFill>
              </a:rPr>
              <a:t>:</a:t>
            </a:r>
          </a:p>
          <a:p>
            <a:pPr marL="514350" indent="-514350">
              <a:buAutoNum type="arabicPeriod"/>
            </a:pPr>
            <a:endParaRPr lang="en-US" sz="2800" b="1" dirty="0" smtClean="0">
              <a:solidFill>
                <a:srgbClr val="FF3300"/>
              </a:solidFill>
            </a:endParaRPr>
          </a:p>
          <a:p>
            <a:pPr marL="0" indent="0">
              <a:buNone/>
            </a:pPr>
            <a:endParaRPr lang="en-US" sz="2800" b="1" dirty="0" smtClean="0">
              <a:solidFill>
                <a:srgbClr val="FF33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762000" y="3165415"/>
            <a:ext cx="7315200" cy="40011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sz="2000" b="1" dirty="0">
                <a:latin typeface="Arial" charset="0"/>
                <a:sym typeface="Symbol" pitchFamily="18" charset="2"/>
              </a:rPr>
              <a:t></a:t>
            </a:r>
            <a:r>
              <a:rPr lang="en-US" sz="2000" dirty="0">
                <a:latin typeface="Arial" charset="0"/>
                <a:sym typeface="Symbol" pitchFamily="18" charset="2"/>
              </a:rPr>
              <a:t>t1, t2 </a:t>
            </a:r>
            <a:r>
              <a:rPr lang="en-US" sz="2000" b="1" dirty="0">
                <a:latin typeface="Arial" charset="0"/>
                <a:sym typeface="Symbol" pitchFamily="18" charset="2"/>
              </a:rPr>
              <a:t></a:t>
            </a:r>
            <a:r>
              <a:rPr lang="en-US" sz="2000" dirty="0">
                <a:latin typeface="Arial" charset="0"/>
                <a:sym typeface="Symbol" pitchFamily="18" charset="2"/>
              </a:rPr>
              <a:t> PHONGBAN ( 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t1</a:t>
            </a:r>
            <a:r>
              <a:rPr lang="en-US" sz="2000" b="1" dirty="0">
                <a:latin typeface="Arial" charset="0"/>
                <a:sym typeface="Symbol" pitchFamily="18" charset="2"/>
              </a:rPr>
              <a:t></a:t>
            </a:r>
            <a:r>
              <a:rPr lang="en-US" sz="2000" dirty="0">
                <a:latin typeface="Arial" charset="0"/>
                <a:sym typeface="Symbol" pitchFamily="18" charset="2"/>
              </a:rPr>
              <a:t> t2 </a:t>
            </a:r>
            <a:r>
              <a:rPr lang="en-US" sz="2000" b="1" dirty="0">
                <a:latin typeface="Arial" charset="0"/>
                <a:sym typeface="Symbol" pitchFamily="18" charset="2"/>
              </a:rPr>
              <a:t></a:t>
            </a:r>
            <a:r>
              <a:rPr lang="en-US" sz="2000" dirty="0">
                <a:latin typeface="Arial" charset="0"/>
                <a:sym typeface="Symbol" pitchFamily="18" charset="2"/>
              </a:rPr>
              <a:t> t1.TENPHG </a:t>
            </a:r>
            <a:r>
              <a:rPr lang="en-US" sz="2000" b="1" dirty="0">
                <a:latin typeface="Arial" charset="0"/>
                <a:sym typeface="Symbol" pitchFamily="18" charset="2"/>
              </a:rPr>
              <a:t></a:t>
            </a:r>
            <a:r>
              <a:rPr lang="en-US" sz="2000" dirty="0">
                <a:latin typeface="Arial" charset="0"/>
                <a:sym typeface="Symbol" pitchFamily="18" charset="2"/>
              </a:rPr>
              <a:t> 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t2.TENPHG </a:t>
            </a:r>
            <a:r>
              <a:rPr lang="en-US" sz="2000" dirty="0">
                <a:latin typeface="Arial" charset="0"/>
                <a:sym typeface="Symbol" pitchFamily="18" charset="2"/>
              </a:rPr>
              <a:t>)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788719" y="4191000"/>
            <a:ext cx="7315200" cy="40011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sz="2000" b="1" dirty="0">
                <a:latin typeface="Arial" charset="0"/>
                <a:sym typeface="Symbol" pitchFamily="18" charset="2"/>
              </a:rPr>
              <a:t>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t</a:t>
            </a:r>
            <a:r>
              <a:rPr lang="en-US" sz="2000" b="1" dirty="0" smtClean="0">
                <a:latin typeface="Arial" charset="0"/>
                <a:sym typeface="Symbol" pitchFamily="18" charset="2"/>
              </a:rPr>
              <a:t>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 </a:t>
            </a:r>
            <a:r>
              <a:rPr lang="en-US" sz="2000" dirty="0">
                <a:latin typeface="Arial" charset="0"/>
                <a:sym typeface="Symbol" pitchFamily="18" charset="2"/>
              </a:rPr>
              <a:t>PHONGBAN ( 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t1</a:t>
            </a:r>
            <a:r>
              <a:rPr lang="en-US" sz="2000" b="1" dirty="0">
                <a:latin typeface="Arial" charset="0"/>
                <a:sym typeface="Symbol" pitchFamily="18" charset="2"/>
              </a:rPr>
              <a:t></a:t>
            </a:r>
            <a:r>
              <a:rPr lang="en-US" sz="2000" dirty="0">
                <a:latin typeface="Arial" charset="0"/>
                <a:sym typeface="Symbol" pitchFamily="18" charset="2"/>
              </a:rPr>
              <a:t> t2 </a:t>
            </a:r>
            <a:r>
              <a:rPr lang="en-US" sz="2000" b="1" dirty="0">
                <a:latin typeface="Arial" charset="0"/>
                <a:sym typeface="Symbol" pitchFamily="18" charset="2"/>
              </a:rPr>
              <a:t></a:t>
            </a:r>
            <a:r>
              <a:rPr lang="en-US" sz="2000" dirty="0">
                <a:latin typeface="Arial" charset="0"/>
                <a:sym typeface="Symbol" pitchFamily="18" charset="2"/>
              </a:rPr>
              <a:t> t1.TENPHG </a:t>
            </a:r>
            <a:r>
              <a:rPr lang="en-US" sz="2000" b="1" dirty="0">
                <a:latin typeface="Arial" charset="0"/>
                <a:sym typeface="Symbol" pitchFamily="18" charset="2"/>
              </a:rPr>
              <a:t></a:t>
            </a:r>
            <a:r>
              <a:rPr lang="en-US" sz="2000" dirty="0">
                <a:latin typeface="Arial" charset="0"/>
                <a:sym typeface="Symbol" pitchFamily="18" charset="2"/>
              </a:rPr>
              <a:t> 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t2.TENPHG </a:t>
            </a:r>
            <a:r>
              <a:rPr lang="en-US" sz="2000" dirty="0">
                <a:latin typeface="Arial" charset="0"/>
                <a:sym typeface="Symbol" pitchFamily="18" charset="2"/>
              </a:rPr>
              <a:t>)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762000" y="5181600"/>
            <a:ext cx="7467600" cy="861774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sz="2000" b="1" dirty="0">
                <a:latin typeface="Arial" charset="0"/>
                <a:sym typeface="Symbol" pitchFamily="18" charset="2"/>
              </a:rPr>
              <a:t>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t </a:t>
            </a:r>
            <a:r>
              <a:rPr lang="en-US" sz="2000" b="1" dirty="0" smtClean="0">
                <a:latin typeface="Arial" charset="0"/>
                <a:sym typeface="Symbol" pitchFamily="18" charset="2"/>
              </a:rPr>
              <a:t> 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PHONGBAN ( </a:t>
            </a:r>
            <a:r>
              <a:rPr lang="en-US" sz="2000" b="1" dirty="0" smtClean="0">
                <a:latin typeface="Arial" charset="0"/>
                <a:sym typeface="Symbol" pitchFamily="18" charset="2"/>
              </a:rPr>
              <a:t>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s </a:t>
            </a:r>
            <a:r>
              <a:rPr lang="en-US" sz="2000" b="1" dirty="0" smtClean="0">
                <a:latin typeface="Arial" charset="0"/>
                <a:sym typeface="Symbol" pitchFamily="18" charset="2"/>
              </a:rPr>
              <a:t> 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NHANVIEN ( </a:t>
            </a:r>
            <a:r>
              <a:rPr lang="en-US" sz="2000" dirty="0" err="1" smtClean="0">
                <a:latin typeface="Arial" charset="0"/>
                <a:sym typeface="Symbol" pitchFamily="18" charset="2"/>
              </a:rPr>
              <a:t>s.MANV</a:t>
            </a:r>
            <a:r>
              <a:rPr lang="en-US" sz="2000" b="1" dirty="0" smtClean="0">
                <a:latin typeface="Arial" charset="0"/>
                <a:sym typeface="Symbol" pitchFamily="18" charset="2"/>
              </a:rPr>
              <a:t>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 </a:t>
            </a:r>
            <a:r>
              <a:rPr lang="en-US" sz="2000" dirty="0" err="1" smtClean="0">
                <a:latin typeface="Arial" charset="0"/>
                <a:sym typeface="Symbol" pitchFamily="18" charset="2"/>
              </a:rPr>
              <a:t>t.TRPHG</a:t>
            </a:r>
            <a:endParaRPr lang="en-US" sz="2000" dirty="0" smtClean="0">
              <a:latin typeface="Arial" charset="0"/>
              <a:sym typeface="Symbol" pitchFamily="18" charset="2"/>
            </a:endParaRPr>
          </a:p>
          <a:p>
            <a:pPr algn="l"/>
            <a:r>
              <a:rPr lang="en-US" sz="2000" dirty="0" smtClean="0">
                <a:latin typeface="Arial" charset="0"/>
                <a:sym typeface="Symbol" pitchFamily="18" charset="2"/>
              </a:rPr>
              <a:t>				         </a:t>
            </a:r>
            <a:r>
              <a:rPr lang="en-US" sz="2000" dirty="0" err="1" smtClean="0">
                <a:latin typeface="Arial" charset="0"/>
                <a:sym typeface="Symbol" pitchFamily="18" charset="2"/>
              </a:rPr>
              <a:t>t.NGNC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  </a:t>
            </a:r>
            <a:r>
              <a:rPr lang="en-US" sz="2000" dirty="0" err="1" smtClean="0">
                <a:latin typeface="Arial" charset="0"/>
                <a:sym typeface="Symbol" pitchFamily="18" charset="2"/>
              </a:rPr>
              <a:t>s.NGSINH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 ))</a:t>
            </a:r>
            <a:endParaRPr lang="en-US" sz="2000" dirty="0">
              <a:latin typeface="Arial" charset="0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678036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41</a:t>
            </a:fld>
            <a:endParaRPr lang="en-US" altLang="en-US"/>
          </a:p>
        </p:txBody>
      </p:sp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0" y="152400"/>
            <a:ext cx="8229600" cy="533400"/>
          </a:xfrm>
        </p:spPr>
        <p:txBody>
          <a:bodyPr>
            <a:normAutofit fontScale="90000"/>
          </a:bodyPr>
          <a:lstStyle/>
          <a:p>
            <a:r>
              <a:rPr lang="en-US" sz="3200" dirty="0" err="1" smtClean="0"/>
              <a:t>Sửa</a:t>
            </a:r>
            <a:r>
              <a:rPr lang="en-US" sz="3200" dirty="0" smtClean="0"/>
              <a:t> </a:t>
            </a:r>
            <a:r>
              <a:rPr lang="en-US" sz="3200" dirty="0" err="1" smtClean="0"/>
              <a:t>bài</a:t>
            </a:r>
            <a:endParaRPr lang="en-US" sz="3200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4294967295"/>
          </p:nvPr>
        </p:nvSpPr>
        <p:spPr>
          <a:xfrm>
            <a:off x="228600" y="685800"/>
            <a:ext cx="8915400" cy="6096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 smtClean="0">
                <a:solidFill>
                  <a:srgbClr val="FF3300"/>
                </a:solidFill>
              </a:rPr>
              <a:t>•</a:t>
            </a:r>
            <a:r>
              <a:rPr lang="en-US" sz="2800" b="1" dirty="0">
                <a:solidFill>
                  <a:srgbClr val="FF3300"/>
                </a:solidFill>
              </a:rPr>
              <a:t>DEAN (MADA, TENDA, DDIEM_DA, PHONG, NGBD_DK, NGKT_DK)</a:t>
            </a:r>
          </a:p>
          <a:p>
            <a:pPr marL="0" indent="0">
              <a:buNone/>
            </a:pPr>
            <a:r>
              <a:rPr lang="en-US" sz="2800" b="1" i="1" dirty="0" err="1"/>
              <a:t>Mỗi</a:t>
            </a:r>
            <a:r>
              <a:rPr lang="en-US" sz="2800" b="1" i="1" dirty="0"/>
              <a:t> </a:t>
            </a:r>
            <a:r>
              <a:rPr lang="en-US" sz="2800" b="1" i="1" dirty="0" err="1"/>
              <a:t>đề</a:t>
            </a:r>
            <a:r>
              <a:rPr lang="en-US" sz="2800" b="1" i="1" dirty="0"/>
              <a:t> </a:t>
            </a:r>
            <a:r>
              <a:rPr lang="en-US" sz="2800" b="1" i="1" dirty="0" err="1"/>
              <a:t>án</a:t>
            </a:r>
            <a:r>
              <a:rPr lang="en-US" sz="2800" b="1" i="1" dirty="0"/>
              <a:t>: </a:t>
            </a:r>
            <a:r>
              <a:rPr lang="en-US" sz="2800" b="1" i="1" dirty="0" err="1"/>
              <a:t>tên</a:t>
            </a:r>
            <a:r>
              <a:rPr lang="en-US" sz="2800" b="1" i="1" dirty="0"/>
              <a:t>, </a:t>
            </a:r>
            <a:r>
              <a:rPr lang="en-US" sz="2800" b="1" i="1" dirty="0" err="1"/>
              <a:t>mã</a:t>
            </a:r>
            <a:r>
              <a:rPr lang="en-US" sz="2800" b="1" i="1" dirty="0"/>
              <a:t> </a:t>
            </a:r>
            <a:r>
              <a:rPr lang="en-US" sz="2800" b="1" i="1" dirty="0" err="1"/>
              <a:t>duy</a:t>
            </a:r>
            <a:r>
              <a:rPr lang="en-US" sz="2800" b="1" i="1" dirty="0"/>
              <a:t> </a:t>
            </a:r>
            <a:r>
              <a:rPr lang="en-US" sz="2800" b="1" i="1" dirty="0" err="1"/>
              <a:t>nhất</a:t>
            </a:r>
            <a:r>
              <a:rPr lang="en-US" sz="2800" b="1" i="1" dirty="0"/>
              <a:t>. </a:t>
            </a:r>
            <a:r>
              <a:rPr lang="en-US" sz="2800" b="1" i="1" dirty="0" err="1"/>
              <a:t>Ngày</a:t>
            </a:r>
            <a:r>
              <a:rPr lang="en-US" sz="2800" b="1" i="1" dirty="0"/>
              <a:t> </a:t>
            </a:r>
            <a:r>
              <a:rPr lang="en-US" sz="2800" b="1" i="1" dirty="0" err="1"/>
              <a:t>bắt</a:t>
            </a:r>
            <a:r>
              <a:rPr lang="en-US" sz="2800" b="1" i="1" dirty="0"/>
              <a:t> </a:t>
            </a:r>
            <a:r>
              <a:rPr lang="en-US" sz="2800" b="1" i="1" dirty="0" err="1"/>
              <a:t>đầu</a:t>
            </a:r>
            <a:r>
              <a:rPr lang="en-US" sz="2800" b="1" i="1" dirty="0"/>
              <a:t> </a:t>
            </a:r>
            <a:r>
              <a:rPr lang="en-US" sz="2800" b="1" i="1" dirty="0" err="1"/>
              <a:t>phải</a:t>
            </a:r>
            <a:r>
              <a:rPr lang="en-US" sz="2800" b="1" i="1" dirty="0"/>
              <a:t> </a:t>
            </a:r>
            <a:r>
              <a:rPr lang="en-US" sz="2800" b="1" i="1" dirty="0" err="1"/>
              <a:t>nhỏ</a:t>
            </a:r>
            <a:r>
              <a:rPr lang="en-US" sz="2800" b="1" i="1" dirty="0"/>
              <a:t> </a:t>
            </a:r>
            <a:r>
              <a:rPr lang="en-US" sz="2800" b="1" i="1" dirty="0" err="1"/>
              <a:t>hơn</a:t>
            </a:r>
            <a:r>
              <a:rPr lang="en-US" sz="2800" b="1" i="1" dirty="0"/>
              <a:t> </a:t>
            </a:r>
            <a:r>
              <a:rPr lang="en-US" sz="2800" b="1" i="1" dirty="0" err="1"/>
              <a:t>ngày</a:t>
            </a:r>
            <a:r>
              <a:rPr lang="en-US" sz="2800" b="1" i="1" dirty="0"/>
              <a:t> </a:t>
            </a:r>
            <a:r>
              <a:rPr lang="en-US" sz="2800" b="1" i="1" dirty="0" err="1"/>
              <a:t>kết</a:t>
            </a:r>
            <a:r>
              <a:rPr lang="en-US" sz="2800" b="1" i="1" dirty="0"/>
              <a:t> </a:t>
            </a:r>
            <a:r>
              <a:rPr lang="en-US" sz="2800" b="1" i="1" dirty="0" err="1"/>
              <a:t>thúc</a:t>
            </a:r>
            <a:r>
              <a:rPr lang="en-US" sz="2800" b="1" i="1" dirty="0"/>
              <a:t> </a:t>
            </a:r>
            <a:r>
              <a:rPr lang="en-US" sz="2800" b="1" i="1" dirty="0" err="1"/>
              <a:t>dư</a:t>
            </a:r>
            <a:r>
              <a:rPr lang="en-US" sz="2800" b="1" i="1" dirty="0"/>
              <a:t>̣ </a:t>
            </a:r>
            <a:r>
              <a:rPr lang="en-US" sz="2800" b="1" i="1" dirty="0" err="1"/>
              <a:t>kiến</a:t>
            </a:r>
            <a:r>
              <a:rPr lang="en-US" sz="2800" b="1" i="1" dirty="0"/>
              <a:t> </a:t>
            </a:r>
            <a:r>
              <a:rPr lang="en-US" sz="2800" b="1" i="1" dirty="0" err="1"/>
              <a:t>của</a:t>
            </a:r>
            <a:r>
              <a:rPr lang="en-US" sz="2800" b="1" i="1" dirty="0"/>
              <a:t> </a:t>
            </a:r>
            <a:r>
              <a:rPr lang="en-US" sz="2800" b="1" i="1" dirty="0" err="1"/>
              <a:t>đê</a:t>
            </a:r>
            <a:r>
              <a:rPr lang="en-US" sz="2800" b="1" i="1" dirty="0"/>
              <a:t>̀ </a:t>
            </a:r>
            <a:r>
              <a:rPr lang="en-US" sz="2800" b="1" i="1" dirty="0" err="1"/>
              <a:t>án</a:t>
            </a:r>
            <a:r>
              <a:rPr lang="en-US" sz="2800" b="1" i="1" dirty="0"/>
              <a:t>.</a:t>
            </a:r>
          </a:p>
          <a:p>
            <a:pPr marL="0" indent="0">
              <a:buNone/>
            </a:pPr>
            <a:r>
              <a:rPr lang="en-US" sz="2800" b="1" dirty="0" smtClean="0">
                <a:solidFill>
                  <a:srgbClr val="FF3300"/>
                </a:solidFill>
              </a:rPr>
              <a:t>4. </a:t>
            </a:r>
            <a:r>
              <a:rPr lang="en-US" sz="2800" b="1" dirty="0" err="1" smtClean="0">
                <a:solidFill>
                  <a:srgbClr val="FF3300"/>
                </a:solidFill>
              </a:rPr>
              <a:t>Tên</a:t>
            </a:r>
            <a:r>
              <a:rPr lang="en-US" sz="2800" b="1" dirty="0" smtClean="0">
                <a:solidFill>
                  <a:srgbClr val="FF3300"/>
                </a:solidFill>
              </a:rPr>
              <a:t> </a:t>
            </a:r>
            <a:r>
              <a:rPr lang="en-US" sz="2800" b="1" dirty="0" err="1" smtClean="0">
                <a:solidFill>
                  <a:srgbClr val="FF3300"/>
                </a:solidFill>
              </a:rPr>
              <a:t>đề</a:t>
            </a:r>
            <a:r>
              <a:rPr lang="en-US" sz="2800" b="1" dirty="0" smtClean="0">
                <a:solidFill>
                  <a:srgbClr val="FF3300"/>
                </a:solidFill>
              </a:rPr>
              <a:t> </a:t>
            </a:r>
            <a:r>
              <a:rPr lang="en-US" sz="2800" b="1" dirty="0" err="1" smtClean="0">
                <a:solidFill>
                  <a:srgbClr val="FF3300"/>
                </a:solidFill>
              </a:rPr>
              <a:t>án</a:t>
            </a:r>
            <a:r>
              <a:rPr lang="en-US" sz="2800" b="1" dirty="0" smtClean="0">
                <a:solidFill>
                  <a:srgbClr val="FF3300"/>
                </a:solidFill>
              </a:rPr>
              <a:t> </a:t>
            </a:r>
            <a:r>
              <a:rPr lang="en-US" sz="2800" b="1" dirty="0" err="1" smtClean="0">
                <a:solidFill>
                  <a:srgbClr val="FF3300"/>
                </a:solidFill>
              </a:rPr>
              <a:t>duy</a:t>
            </a:r>
            <a:r>
              <a:rPr lang="en-US" sz="2800" b="1" dirty="0" smtClean="0">
                <a:solidFill>
                  <a:srgbClr val="FF3300"/>
                </a:solidFill>
              </a:rPr>
              <a:t> </a:t>
            </a:r>
            <a:r>
              <a:rPr lang="en-US" sz="2800" b="1" dirty="0" err="1" smtClean="0">
                <a:solidFill>
                  <a:srgbClr val="FF3300"/>
                </a:solidFill>
              </a:rPr>
              <a:t>nhất</a:t>
            </a:r>
            <a:r>
              <a:rPr lang="en-US" sz="2800" b="1" dirty="0" smtClean="0">
                <a:solidFill>
                  <a:srgbClr val="FF3300"/>
                </a:solidFill>
              </a:rPr>
              <a:t>:</a:t>
            </a:r>
          </a:p>
          <a:p>
            <a:pPr marL="514350" indent="-514350">
              <a:buAutoNum type="arabicPeriod"/>
            </a:pPr>
            <a:endParaRPr lang="en-US" sz="2800" b="1" dirty="0">
              <a:solidFill>
                <a:srgbClr val="FF3300"/>
              </a:solidFill>
            </a:endParaRPr>
          </a:p>
          <a:p>
            <a:pPr marL="0" indent="0">
              <a:buNone/>
            </a:pPr>
            <a:r>
              <a:rPr lang="en-US" sz="2800" b="1" dirty="0" smtClean="0">
                <a:solidFill>
                  <a:srgbClr val="FF3300"/>
                </a:solidFill>
              </a:rPr>
              <a:t>5. </a:t>
            </a:r>
            <a:r>
              <a:rPr lang="en-US" sz="2800" b="1" dirty="0" err="1" smtClean="0">
                <a:solidFill>
                  <a:srgbClr val="FF3300"/>
                </a:solidFill>
              </a:rPr>
              <a:t>Ngày</a:t>
            </a:r>
            <a:r>
              <a:rPr lang="en-US" sz="2800" b="1" dirty="0" smtClean="0">
                <a:solidFill>
                  <a:srgbClr val="FF3300"/>
                </a:solidFill>
              </a:rPr>
              <a:t> </a:t>
            </a:r>
            <a:r>
              <a:rPr lang="en-US" sz="2800" b="1" dirty="0" err="1" smtClean="0">
                <a:solidFill>
                  <a:srgbClr val="FF3300"/>
                </a:solidFill>
              </a:rPr>
              <a:t>bắt</a:t>
            </a:r>
            <a:r>
              <a:rPr lang="en-US" sz="2800" b="1" dirty="0" smtClean="0">
                <a:solidFill>
                  <a:srgbClr val="FF3300"/>
                </a:solidFill>
              </a:rPr>
              <a:t> </a:t>
            </a:r>
            <a:r>
              <a:rPr lang="en-US" sz="2800" b="1" dirty="0" err="1" smtClean="0">
                <a:solidFill>
                  <a:srgbClr val="FF3300"/>
                </a:solidFill>
              </a:rPr>
              <a:t>đầu</a:t>
            </a:r>
            <a:r>
              <a:rPr lang="en-US" sz="2800" b="1" dirty="0" smtClean="0">
                <a:solidFill>
                  <a:srgbClr val="FF3300"/>
                </a:solidFill>
              </a:rPr>
              <a:t> </a:t>
            </a:r>
            <a:r>
              <a:rPr lang="en-US" sz="2800" b="1" dirty="0" err="1" smtClean="0">
                <a:solidFill>
                  <a:srgbClr val="FF3300"/>
                </a:solidFill>
              </a:rPr>
              <a:t>nhỏ</a:t>
            </a:r>
            <a:r>
              <a:rPr lang="en-US" sz="2800" b="1" dirty="0" smtClean="0">
                <a:solidFill>
                  <a:srgbClr val="FF3300"/>
                </a:solidFill>
              </a:rPr>
              <a:t> </a:t>
            </a:r>
            <a:r>
              <a:rPr lang="en-US" sz="2800" b="1" dirty="0" err="1" smtClean="0">
                <a:solidFill>
                  <a:srgbClr val="FF3300"/>
                </a:solidFill>
              </a:rPr>
              <a:t>hơn</a:t>
            </a:r>
            <a:r>
              <a:rPr lang="en-US" sz="2800" b="1" dirty="0" smtClean="0">
                <a:solidFill>
                  <a:srgbClr val="FF3300"/>
                </a:solidFill>
              </a:rPr>
              <a:t> </a:t>
            </a:r>
            <a:r>
              <a:rPr lang="en-US" sz="2800" b="1" dirty="0" err="1" smtClean="0">
                <a:solidFill>
                  <a:srgbClr val="FF3300"/>
                </a:solidFill>
              </a:rPr>
              <a:t>ngày</a:t>
            </a:r>
            <a:r>
              <a:rPr lang="en-US" sz="2800" b="1" dirty="0" smtClean="0">
                <a:solidFill>
                  <a:srgbClr val="FF3300"/>
                </a:solidFill>
              </a:rPr>
              <a:t> </a:t>
            </a:r>
            <a:r>
              <a:rPr lang="en-US" sz="2800" b="1" dirty="0" err="1" smtClean="0">
                <a:solidFill>
                  <a:srgbClr val="FF3300"/>
                </a:solidFill>
              </a:rPr>
              <a:t>kết</a:t>
            </a:r>
            <a:r>
              <a:rPr lang="en-US" sz="2800" b="1" dirty="0" smtClean="0">
                <a:solidFill>
                  <a:srgbClr val="FF3300"/>
                </a:solidFill>
              </a:rPr>
              <a:t> </a:t>
            </a:r>
            <a:r>
              <a:rPr lang="en-US" sz="2800" b="1" dirty="0" err="1" smtClean="0">
                <a:solidFill>
                  <a:srgbClr val="FF3300"/>
                </a:solidFill>
              </a:rPr>
              <a:t>thúc</a:t>
            </a:r>
            <a:r>
              <a:rPr lang="en-US" sz="2800" b="1" dirty="0" smtClean="0">
                <a:solidFill>
                  <a:srgbClr val="FF3300"/>
                </a:solidFill>
              </a:rPr>
              <a:t>:</a:t>
            </a:r>
          </a:p>
          <a:p>
            <a:pPr marL="514350" indent="-514350">
              <a:buAutoNum type="arabicPeriod"/>
            </a:pPr>
            <a:endParaRPr lang="en-US" sz="2800" b="1" dirty="0">
              <a:solidFill>
                <a:srgbClr val="FF33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762000" y="3165415"/>
            <a:ext cx="7315200" cy="40011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sz="2000" b="1" dirty="0">
                <a:latin typeface="Arial" charset="0"/>
                <a:sym typeface="Symbol" pitchFamily="18" charset="2"/>
              </a:rPr>
              <a:t></a:t>
            </a:r>
            <a:r>
              <a:rPr lang="en-US" sz="2000" dirty="0">
                <a:latin typeface="Arial" charset="0"/>
                <a:sym typeface="Symbol" pitchFamily="18" charset="2"/>
              </a:rPr>
              <a:t>t1, t2 </a:t>
            </a:r>
            <a:r>
              <a:rPr lang="en-US" sz="2000" b="1" dirty="0">
                <a:latin typeface="Arial" charset="0"/>
                <a:sym typeface="Symbol" pitchFamily="18" charset="2"/>
              </a:rPr>
              <a:t></a:t>
            </a:r>
            <a:r>
              <a:rPr lang="en-US" sz="2000" dirty="0">
                <a:latin typeface="Arial" charset="0"/>
                <a:sym typeface="Symbol" pitchFamily="18" charset="2"/>
              </a:rPr>
              <a:t> 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DEAN </a:t>
            </a:r>
            <a:r>
              <a:rPr lang="en-US" sz="2000" dirty="0">
                <a:latin typeface="Arial" charset="0"/>
                <a:sym typeface="Symbol" pitchFamily="18" charset="2"/>
              </a:rPr>
              <a:t>( 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t1</a:t>
            </a:r>
            <a:r>
              <a:rPr lang="en-US" sz="2000" b="1" dirty="0">
                <a:latin typeface="Arial" charset="0"/>
                <a:sym typeface="Symbol" pitchFamily="18" charset="2"/>
              </a:rPr>
              <a:t></a:t>
            </a:r>
            <a:r>
              <a:rPr lang="en-US" sz="2000" dirty="0">
                <a:latin typeface="Arial" charset="0"/>
                <a:sym typeface="Symbol" pitchFamily="18" charset="2"/>
              </a:rPr>
              <a:t> t2 </a:t>
            </a:r>
            <a:r>
              <a:rPr lang="en-US" sz="2000" b="1" dirty="0">
                <a:latin typeface="Arial" charset="0"/>
                <a:sym typeface="Symbol" pitchFamily="18" charset="2"/>
              </a:rPr>
              <a:t></a:t>
            </a:r>
            <a:r>
              <a:rPr lang="en-US" sz="2000" dirty="0">
                <a:latin typeface="Arial" charset="0"/>
                <a:sym typeface="Symbol" pitchFamily="18" charset="2"/>
              </a:rPr>
              <a:t> 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t1.TENDA </a:t>
            </a:r>
            <a:r>
              <a:rPr lang="en-US" sz="2000" b="1" dirty="0">
                <a:latin typeface="Arial" charset="0"/>
                <a:sym typeface="Symbol" pitchFamily="18" charset="2"/>
              </a:rPr>
              <a:t></a:t>
            </a:r>
            <a:r>
              <a:rPr lang="en-US" sz="2000" dirty="0">
                <a:latin typeface="Arial" charset="0"/>
                <a:sym typeface="Symbol" pitchFamily="18" charset="2"/>
              </a:rPr>
              <a:t> 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t2.TENDA </a:t>
            </a:r>
            <a:r>
              <a:rPr lang="en-US" sz="2000" dirty="0">
                <a:latin typeface="Arial" charset="0"/>
                <a:sym typeface="Symbol" pitchFamily="18" charset="2"/>
              </a:rPr>
              <a:t>)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788719" y="4191000"/>
            <a:ext cx="7315200" cy="40011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sz="2000" b="1" dirty="0">
                <a:latin typeface="Arial" charset="0"/>
                <a:sym typeface="Symbol" pitchFamily="18" charset="2"/>
              </a:rPr>
              <a:t>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t</a:t>
            </a:r>
            <a:r>
              <a:rPr lang="en-US" sz="2000" b="1" dirty="0" smtClean="0">
                <a:latin typeface="Arial" charset="0"/>
                <a:sym typeface="Symbol" pitchFamily="18" charset="2"/>
              </a:rPr>
              <a:t>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 DEAN </a:t>
            </a:r>
            <a:r>
              <a:rPr lang="en-US" sz="2000" dirty="0">
                <a:latin typeface="Arial" charset="0"/>
                <a:sym typeface="Symbol" pitchFamily="18" charset="2"/>
              </a:rPr>
              <a:t>( </a:t>
            </a:r>
            <a:r>
              <a:rPr lang="en-US" sz="2000" dirty="0" err="1" smtClean="0">
                <a:latin typeface="Arial" charset="0"/>
                <a:sym typeface="Symbol" pitchFamily="18" charset="2"/>
              </a:rPr>
              <a:t>t.NGBD_DK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 </a:t>
            </a:r>
            <a:r>
              <a:rPr lang="en-US" sz="2000" b="1" dirty="0" smtClean="0">
                <a:latin typeface="Arial" charset="0"/>
                <a:sym typeface="Symbol" pitchFamily="18" charset="2"/>
              </a:rPr>
              <a:t>&lt; 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 </a:t>
            </a:r>
            <a:r>
              <a:rPr lang="en-US" sz="2000" dirty="0" err="1" smtClean="0">
                <a:latin typeface="Arial" charset="0"/>
                <a:sym typeface="Symbol" pitchFamily="18" charset="2"/>
              </a:rPr>
              <a:t>t.NGKT_DK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 </a:t>
            </a:r>
            <a:r>
              <a:rPr lang="en-US" sz="2000" dirty="0">
                <a:latin typeface="Arial" charset="0"/>
                <a:sym typeface="Symbol" pitchFamily="18" charset="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0893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42</a:t>
            </a:fld>
            <a:endParaRPr lang="en-US" altLang="en-US"/>
          </a:p>
        </p:txBody>
      </p:sp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0" y="152400"/>
            <a:ext cx="8229600" cy="533400"/>
          </a:xfrm>
        </p:spPr>
        <p:txBody>
          <a:bodyPr>
            <a:normAutofit fontScale="90000"/>
          </a:bodyPr>
          <a:lstStyle/>
          <a:p>
            <a:r>
              <a:rPr lang="en-US" sz="3200" dirty="0" err="1" smtClean="0"/>
              <a:t>Sửa</a:t>
            </a:r>
            <a:r>
              <a:rPr lang="en-US" sz="3200" dirty="0" smtClean="0"/>
              <a:t> </a:t>
            </a:r>
            <a:r>
              <a:rPr lang="en-US" sz="3200" dirty="0" err="1" smtClean="0"/>
              <a:t>bài</a:t>
            </a:r>
            <a:endParaRPr lang="en-US" sz="3200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4294967295"/>
          </p:nvPr>
        </p:nvSpPr>
        <p:spPr>
          <a:xfrm>
            <a:off x="228600" y="685800"/>
            <a:ext cx="8915400" cy="6096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 smtClean="0">
                <a:solidFill>
                  <a:srgbClr val="FF3300"/>
                </a:solidFill>
              </a:rPr>
              <a:t>•</a:t>
            </a:r>
            <a:r>
              <a:rPr lang="en-US" sz="2800" b="1" dirty="0">
                <a:solidFill>
                  <a:srgbClr val="FF3300"/>
                </a:solidFill>
              </a:rPr>
              <a:t>NHANVIEN (MANV, HONV, TENLOT, TENNV, NGSINH, PHAI, DCHI, MA_NQL, PHONG, LUONG)</a:t>
            </a:r>
          </a:p>
          <a:p>
            <a:pPr marL="0" indent="0">
              <a:buNone/>
            </a:pPr>
            <a:r>
              <a:rPr lang="en-US" sz="2800" b="1" i="1" dirty="0" err="1"/>
              <a:t>Phái</a:t>
            </a:r>
            <a:r>
              <a:rPr lang="en-US" sz="2800" b="1" i="1" dirty="0"/>
              <a:t> </a:t>
            </a:r>
            <a:r>
              <a:rPr lang="en-US" sz="2800" b="1" i="1" dirty="0" err="1"/>
              <a:t>phải</a:t>
            </a:r>
            <a:r>
              <a:rPr lang="en-US" sz="2800" b="1" i="1" dirty="0"/>
              <a:t> </a:t>
            </a:r>
            <a:r>
              <a:rPr lang="en-US" sz="2800" b="1" i="1" dirty="0" err="1"/>
              <a:t>là</a:t>
            </a:r>
            <a:r>
              <a:rPr lang="en-US" sz="2800" b="1" i="1" dirty="0"/>
              <a:t> </a:t>
            </a:r>
            <a:r>
              <a:rPr lang="en-US" sz="2800" b="1" i="1" dirty="0" err="1"/>
              <a:t>nam</a:t>
            </a:r>
            <a:r>
              <a:rPr lang="en-US" sz="2800" b="1" i="1" dirty="0"/>
              <a:t> </a:t>
            </a:r>
            <a:r>
              <a:rPr lang="en-US" sz="2800" b="1" i="1" dirty="0" err="1"/>
              <a:t>hoặc</a:t>
            </a:r>
            <a:r>
              <a:rPr lang="en-US" sz="2800" b="1" i="1" dirty="0"/>
              <a:t> </a:t>
            </a:r>
            <a:r>
              <a:rPr lang="en-US" sz="2800" b="1" i="1" dirty="0" err="1"/>
              <a:t>nữ</a:t>
            </a:r>
            <a:r>
              <a:rPr lang="en-US" sz="2800" b="1" i="1" dirty="0"/>
              <a:t>. </a:t>
            </a:r>
            <a:r>
              <a:rPr lang="en-US" sz="2800" b="1" i="1" dirty="0" err="1"/>
              <a:t>Lương</a:t>
            </a:r>
            <a:r>
              <a:rPr lang="en-US" sz="2800" b="1" i="1" dirty="0"/>
              <a:t> </a:t>
            </a:r>
            <a:r>
              <a:rPr lang="en-US" sz="2800" b="1" i="1" dirty="0" err="1"/>
              <a:t>của</a:t>
            </a:r>
            <a:r>
              <a:rPr lang="en-US" sz="2800" b="1" i="1" dirty="0"/>
              <a:t> </a:t>
            </a:r>
            <a:r>
              <a:rPr lang="en-US" sz="2800" b="1" i="1" dirty="0" err="1"/>
              <a:t>nhân</a:t>
            </a:r>
            <a:r>
              <a:rPr lang="en-US" sz="2800" b="1" i="1" dirty="0"/>
              <a:t> </a:t>
            </a:r>
            <a:r>
              <a:rPr lang="en-US" sz="2800" b="1" i="1" dirty="0" err="1"/>
              <a:t>viên</a:t>
            </a:r>
            <a:r>
              <a:rPr lang="en-US" sz="2800" b="1" i="1" dirty="0"/>
              <a:t> </a:t>
            </a:r>
            <a:r>
              <a:rPr lang="en-US" sz="2800" b="1" i="1" dirty="0" err="1"/>
              <a:t>phải</a:t>
            </a:r>
            <a:r>
              <a:rPr lang="en-US" sz="2800" b="1" i="1" dirty="0"/>
              <a:t> </a:t>
            </a:r>
            <a:r>
              <a:rPr lang="en-US" sz="2800" b="1" i="1" dirty="0" err="1"/>
              <a:t>nhỏ</a:t>
            </a:r>
            <a:r>
              <a:rPr lang="en-US" sz="2800" b="1" i="1" dirty="0"/>
              <a:t> </a:t>
            </a:r>
            <a:r>
              <a:rPr lang="en-US" sz="2800" b="1" i="1" dirty="0" err="1"/>
              <a:t>hơn</a:t>
            </a:r>
            <a:r>
              <a:rPr lang="en-US" sz="2800" b="1" i="1" dirty="0"/>
              <a:t> </a:t>
            </a:r>
            <a:r>
              <a:rPr lang="en-US" sz="2800" b="1" i="1" dirty="0" err="1"/>
              <a:t>lương</a:t>
            </a:r>
            <a:r>
              <a:rPr lang="en-US" sz="2800" b="1" i="1" dirty="0"/>
              <a:t> </a:t>
            </a:r>
            <a:r>
              <a:rPr lang="en-US" sz="2800" b="1" i="1" dirty="0" err="1"/>
              <a:t>của</a:t>
            </a:r>
            <a:r>
              <a:rPr lang="en-US" sz="2800" b="1" i="1" dirty="0"/>
              <a:t> </a:t>
            </a:r>
            <a:r>
              <a:rPr lang="en-US" sz="2800" b="1" i="1" dirty="0" err="1"/>
              <a:t>người</a:t>
            </a:r>
            <a:r>
              <a:rPr lang="en-US" sz="2800" b="1" i="1" dirty="0"/>
              <a:t> </a:t>
            </a:r>
            <a:r>
              <a:rPr lang="en-US" sz="2800" b="1" i="1" dirty="0" err="1"/>
              <a:t>quản</a:t>
            </a:r>
            <a:r>
              <a:rPr lang="en-US" sz="2800" b="1" i="1" dirty="0"/>
              <a:t> </a:t>
            </a:r>
            <a:r>
              <a:rPr lang="en-US" sz="2800" b="1" i="1" dirty="0" err="1"/>
              <a:t>lý</a:t>
            </a:r>
            <a:endParaRPr lang="en-US" sz="2800" b="1" i="1" dirty="0"/>
          </a:p>
          <a:p>
            <a:pPr marL="0" indent="0">
              <a:buNone/>
            </a:pPr>
            <a:r>
              <a:rPr lang="en-US" sz="2800" b="1" dirty="0">
                <a:solidFill>
                  <a:srgbClr val="FF3300"/>
                </a:solidFill>
              </a:rPr>
              <a:t>6</a:t>
            </a:r>
            <a:r>
              <a:rPr lang="en-US" sz="2800" b="1" dirty="0" smtClean="0">
                <a:solidFill>
                  <a:srgbClr val="FF3300"/>
                </a:solidFill>
              </a:rPr>
              <a:t>. </a:t>
            </a:r>
            <a:r>
              <a:rPr lang="en-US" sz="2800" b="1" dirty="0" err="1" smtClean="0">
                <a:solidFill>
                  <a:srgbClr val="FF3300"/>
                </a:solidFill>
              </a:rPr>
              <a:t>Phái</a:t>
            </a:r>
            <a:r>
              <a:rPr lang="en-US" sz="2800" b="1" dirty="0" smtClean="0">
                <a:solidFill>
                  <a:srgbClr val="FF3300"/>
                </a:solidFill>
              </a:rPr>
              <a:t> </a:t>
            </a:r>
            <a:r>
              <a:rPr lang="en-US" sz="2800" b="1" dirty="0" err="1" smtClean="0">
                <a:solidFill>
                  <a:srgbClr val="FF3300"/>
                </a:solidFill>
              </a:rPr>
              <a:t>phải</a:t>
            </a:r>
            <a:r>
              <a:rPr lang="en-US" sz="2800" b="1" dirty="0" smtClean="0">
                <a:solidFill>
                  <a:srgbClr val="FF3300"/>
                </a:solidFill>
              </a:rPr>
              <a:t> </a:t>
            </a:r>
            <a:r>
              <a:rPr lang="en-US" sz="2800" b="1" dirty="0" err="1" smtClean="0">
                <a:solidFill>
                  <a:srgbClr val="FF3300"/>
                </a:solidFill>
              </a:rPr>
              <a:t>là</a:t>
            </a:r>
            <a:r>
              <a:rPr lang="en-US" sz="2800" b="1" dirty="0" smtClean="0">
                <a:solidFill>
                  <a:srgbClr val="FF3300"/>
                </a:solidFill>
              </a:rPr>
              <a:t> </a:t>
            </a:r>
            <a:r>
              <a:rPr lang="en-US" sz="2800" b="1" dirty="0" err="1" smtClean="0">
                <a:solidFill>
                  <a:srgbClr val="FF3300"/>
                </a:solidFill>
              </a:rPr>
              <a:t>nam</a:t>
            </a:r>
            <a:r>
              <a:rPr lang="en-US" sz="2800" b="1" dirty="0" smtClean="0">
                <a:solidFill>
                  <a:srgbClr val="FF3300"/>
                </a:solidFill>
              </a:rPr>
              <a:t> </a:t>
            </a:r>
            <a:r>
              <a:rPr lang="en-US" sz="2800" b="1" dirty="0" err="1" smtClean="0">
                <a:solidFill>
                  <a:srgbClr val="FF3300"/>
                </a:solidFill>
              </a:rPr>
              <a:t>hoặc</a:t>
            </a:r>
            <a:r>
              <a:rPr lang="en-US" sz="2800" b="1" dirty="0" smtClean="0">
                <a:solidFill>
                  <a:srgbClr val="FF3300"/>
                </a:solidFill>
              </a:rPr>
              <a:t> </a:t>
            </a:r>
            <a:r>
              <a:rPr lang="en-US" sz="2800" b="1" dirty="0" err="1" smtClean="0">
                <a:solidFill>
                  <a:srgbClr val="FF3300"/>
                </a:solidFill>
              </a:rPr>
              <a:t>là</a:t>
            </a:r>
            <a:r>
              <a:rPr lang="en-US" sz="2800" b="1" dirty="0" smtClean="0">
                <a:solidFill>
                  <a:srgbClr val="FF3300"/>
                </a:solidFill>
              </a:rPr>
              <a:t> </a:t>
            </a:r>
            <a:r>
              <a:rPr lang="en-US" sz="2800" b="1" dirty="0" err="1" smtClean="0">
                <a:solidFill>
                  <a:srgbClr val="FF3300"/>
                </a:solidFill>
              </a:rPr>
              <a:t>nữ</a:t>
            </a:r>
            <a:r>
              <a:rPr lang="en-US" sz="2800" b="1" dirty="0" smtClean="0">
                <a:solidFill>
                  <a:srgbClr val="FF3300"/>
                </a:solidFill>
              </a:rPr>
              <a:t>:</a:t>
            </a:r>
          </a:p>
          <a:p>
            <a:pPr marL="514350" indent="-514350">
              <a:buAutoNum type="arabicPeriod"/>
            </a:pPr>
            <a:endParaRPr lang="en-US" sz="2800" b="1" dirty="0">
              <a:solidFill>
                <a:srgbClr val="FF3300"/>
              </a:solidFill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FF3300"/>
                </a:solidFill>
              </a:rPr>
              <a:t>7</a:t>
            </a:r>
            <a:r>
              <a:rPr lang="en-US" sz="2800" b="1" dirty="0" smtClean="0">
                <a:solidFill>
                  <a:srgbClr val="FF3300"/>
                </a:solidFill>
              </a:rPr>
              <a:t>. </a:t>
            </a:r>
            <a:r>
              <a:rPr lang="en-US" sz="2800" b="1" dirty="0" err="1" smtClean="0">
                <a:solidFill>
                  <a:srgbClr val="FF3300"/>
                </a:solidFill>
              </a:rPr>
              <a:t>Lương</a:t>
            </a:r>
            <a:r>
              <a:rPr lang="en-US" sz="2800" b="1" dirty="0" smtClean="0">
                <a:solidFill>
                  <a:srgbClr val="FF3300"/>
                </a:solidFill>
              </a:rPr>
              <a:t> NV </a:t>
            </a:r>
            <a:r>
              <a:rPr lang="en-US" sz="2800" b="1" dirty="0" err="1" smtClean="0">
                <a:solidFill>
                  <a:srgbClr val="FF3300"/>
                </a:solidFill>
              </a:rPr>
              <a:t>nhỏ</a:t>
            </a:r>
            <a:r>
              <a:rPr lang="en-US" sz="2800" b="1" dirty="0" smtClean="0">
                <a:solidFill>
                  <a:srgbClr val="FF3300"/>
                </a:solidFill>
              </a:rPr>
              <a:t> </a:t>
            </a:r>
            <a:r>
              <a:rPr lang="en-US" sz="2800" b="1" dirty="0" err="1" smtClean="0">
                <a:solidFill>
                  <a:srgbClr val="FF3300"/>
                </a:solidFill>
              </a:rPr>
              <a:t>hơn</a:t>
            </a:r>
            <a:r>
              <a:rPr lang="en-US" sz="2800" b="1" dirty="0" smtClean="0">
                <a:solidFill>
                  <a:srgbClr val="FF3300"/>
                </a:solidFill>
              </a:rPr>
              <a:t> </a:t>
            </a:r>
            <a:r>
              <a:rPr lang="en-US" sz="2800" b="1" dirty="0" err="1" smtClean="0">
                <a:solidFill>
                  <a:srgbClr val="FF3300"/>
                </a:solidFill>
              </a:rPr>
              <a:t>lương</a:t>
            </a:r>
            <a:r>
              <a:rPr lang="en-US" sz="2800" b="1" dirty="0" smtClean="0">
                <a:solidFill>
                  <a:srgbClr val="FF3300"/>
                </a:solidFill>
              </a:rPr>
              <a:t> </a:t>
            </a:r>
            <a:r>
              <a:rPr lang="en-US" sz="2800" b="1" dirty="0" err="1" smtClean="0">
                <a:solidFill>
                  <a:srgbClr val="FF3300"/>
                </a:solidFill>
              </a:rPr>
              <a:t>của</a:t>
            </a:r>
            <a:r>
              <a:rPr lang="en-US" sz="2800" b="1" dirty="0" smtClean="0">
                <a:solidFill>
                  <a:srgbClr val="FF3300"/>
                </a:solidFill>
              </a:rPr>
              <a:t> </a:t>
            </a:r>
            <a:r>
              <a:rPr lang="en-US" sz="2800" b="1" dirty="0" err="1" smtClean="0">
                <a:solidFill>
                  <a:srgbClr val="FF3300"/>
                </a:solidFill>
              </a:rPr>
              <a:t>người</a:t>
            </a:r>
            <a:r>
              <a:rPr lang="en-US" sz="2800" b="1" dirty="0" smtClean="0">
                <a:solidFill>
                  <a:srgbClr val="FF3300"/>
                </a:solidFill>
              </a:rPr>
              <a:t> </a:t>
            </a:r>
            <a:r>
              <a:rPr lang="en-US" sz="2800" b="1" dirty="0" err="1" smtClean="0">
                <a:solidFill>
                  <a:srgbClr val="FF3300"/>
                </a:solidFill>
              </a:rPr>
              <a:t>quản</a:t>
            </a:r>
            <a:r>
              <a:rPr lang="en-US" sz="2800" b="1" dirty="0" smtClean="0">
                <a:solidFill>
                  <a:srgbClr val="FF3300"/>
                </a:solidFill>
              </a:rPr>
              <a:t> </a:t>
            </a:r>
            <a:r>
              <a:rPr lang="en-US" sz="2800" b="1" dirty="0" err="1" smtClean="0">
                <a:solidFill>
                  <a:srgbClr val="FF3300"/>
                </a:solidFill>
              </a:rPr>
              <a:t>lý</a:t>
            </a:r>
            <a:r>
              <a:rPr lang="en-US" sz="2800" b="1" dirty="0" smtClean="0">
                <a:solidFill>
                  <a:srgbClr val="FF3300"/>
                </a:solidFill>
              </a:rPr>
              <a:t>:</a:t>
            </a:r>
          </a:p>
          <a:p>
            <a:pPr marL="514350" indent="-514350">
              <a:buAutoNum type="arabicPeriod"/>
            </a:pPr>
            <a:endParaRPr lang="en-US" sz="2800" b="1" dirty="0">
              <a:solidFill>
                <a:srgbClr val="FF3300"/>
              </a:solidFill>
            </a:endParaRPr>
          </a:p>
          <a:p>
            <a:pPr marL="0" indent="0">
              <a:buNone/>
            </a:pPr>
            <a:endParaRPr lang="en-US" sz="2800" b="1" dirty="0" smtClean="0">
              <a:solidFill>
                <a:srgbClr val="FF33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52400" y="4191000"/>
            <a:ext cx="8686800" cy="861774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sz="2000" b="1" dirty="0">
                <a:latin typeface="Arial" charset="0"/>
                <a:sym typeface="Symbol" pitchFamily="18" charset="2"/>
              </a:rPr>
              <a:t>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t </a:t>
            </a:r>
            <a:r>
              <a:rPr lang="en-US" sz="2000" b="1" dirty="0" smtClean="0">
                <a:latin typeface="Arial" charset="0"/>
                <a:sym typeface="Symbol" pitchFamily="18" charset="2"/>
              </a:rPr>
              <a:t>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  NHANVIEN ( </a:t>
            </a:r>
            <a:r>
              <a:rPr lang="en-US" sz="2000" b="1" dirty="0" smtClean="0">
                <a:latin typeface="Arial" charset="0"/>
                <a:sym typeface="Symbol" pitchFamily="18" charset="2"/>
              </a:rPr>
              <a:t>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s </a:t>
            </a:r>
            <a:r>
              <a:rPr lang="en-US" sz="2000" b="1" dirty="0" smtClean="0">
                <a:latin typeface="Arial" charset="0"/>
                <a:sym typeface="Symbol" pitchFamily="18" charset="2"/>
              </a:rPr>
              <a:t> 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NHANVIEN ( </a:t>
            </a:r>
            <a:r>
              <a:rPr lang="en-US" sz="2000" dirty="0" err="1" smtClean="0">
                <a:latin typeface="Arial" charset="0"/>
                <a:sym typeface="Symbol" pitchFamily="18" charset="2"/>
              </a:rPr>
              <a:t>t.MA_NQL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 = </a:t>
            </a:r>
            <a:r>
              <a:rPr lang="en-US" sz="2000" dirty="0" err="1" smtClean="0">
                <a:latin typeface="Arial" charset="0"/>
                <a:sym typeface="Symbol" pitchFamily="18" charset="2"/>
              </a:rPr>
              <a:t>s.MANV</a:t>
            </a:r>
            <a:endParaRPr lang="en-US" sz="2000" dirty="0" smtClean="0">
              <a:latin typeface="Arial" charset="0"/>
              <a:sym typeface="Symbol" pitchFamily="18" charset="2"/>
            </a:endParaRPr>
          </a:p>
          <a:p>
            <a:pPr algn="l"/>
            <a:r>
              <a:rPr lang="en-US" sz="2000" b="1" dirty="0" smtClean="0">
                <a:latin typeface="Arial" charset="0"/>
                <a:sym typeface="Symbol" pitchFamily="18" charset="2"/>
              </a:rPr>
              <a:t>				        </a:t>
            </a:r>
            <a:r>
              <a:rPr lang="en-US" sz="2000" dirty="0" err="1" smtClean="0">
                <a:latin typeface="Arial" charset="0"/>
                <a:sym typeface="Symbol" pitchFamily="18" charset="2"/>
              </a:rPr>
              <a:t>t.LUONG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 &lt; </a:t>
            </a:r>
            <a:r>
              <a:rPr lang="en-US" sz="2000" dirty="0" err="1" smtClean="0">
                <a:latin typeface="Arial" charset="0"/>
                <a:sym typeface="Symbol" pitchFamily="18" charset="2"/>
              </a:rPr>
              <a:t>s.LUONG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 )) </a:t>
            </a:r>
            <a:endParaRPr lang="en-US" sz="2000" dirty="0">
              <a:latin typeface="Arial" charset="0"/>
              <a:sym typeface="Symbol" pitchFamily="18" charset="2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600200" y="3159702"/>
            <a:ext cx="5181600" cy="3968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000" b="1" dirty="0">
                <a:latin typeface="Arial" charset="0"/>
                <a:sym typeface="Symbol" pitchFamily="18" charset="2"/>
              </a:rPr>
              <a:t></a:t>
            </a:r>
            <a:r>
              <a:rPr lang="en-US" sz="2000" dirty="0">
                <a:latin typeface="Arial" charset="0"/>
                <a:sym typeface="Symbol" pitchFamily="18" charset="2"/>
              </a:rPr>
              <a:t>t </a:t>
            </a:r>
            <a:r>
              <a:rPr lang="en-US" sz="2000" b="1" dirty="0">
                <a:latin typeface="Arial" charset="0"/>
                <a:sym typeface="Symbol" pitchFamily="18" charset="2"/>
              </a:rPr>
              <a:t></a:t>
            </a:r>
            <a:r>
              <a:rPr lang="en-US" sz="2000" dirty="0">
                <a:latin typeface="Arial" charset="0"/>
                <a:sym typeface="Symbol" pitchFamily="18" charset="2"/>
              </a:rPr>
              <a:t> NHANVIEN ( </a:t>
            </a:r>
            <a:r>
              <a:rPr lang="en-US" sz="2000" dirty="0" err="1">
                <a:latin typeface="Arial" charset="0"/>
                <a:sym typeface="Symbol" pitchFamily="18" charset="2"/>
              </a:rPr>
              <a:t>t.PHAI</a:t>
            </a:r>
            <a:r>
              <a:rPr lang="en-US" sz="2000" dirty="0">
                <a:latin typeface="Arial" charset="0"/>
                <a:sym typeface="Symbol" pitchFamily="18" charset="2"/>
              </a:rPr>
              <a:t> </a:t>
            </a:r>
            <a:r>
              <a:rPr lang="en-US" sz="2000" b="1" dirty="0">
                <a:latin typeface="Arial" charset="0"/>
                <a:sym typeface="Symbol" pitchFamily="18" charset="2"/>
              </a:rPr>
              <a:t></a:t>
            </a:r>
            <a:r>
              <a:rPr lang="en-US" sz="2000" dirty="0">
                <a:latin typeface="Arial" charset="0"/>
                <a:sym typeface="Symbol" pitchFamily="18" charset="2"/>
              </a:rPr>
              <a:t> {‘Nam’, ‘Nu’} )</a:t>
            </a:r>
          </a:p>
        </p:txBody>
      </p:sp>
    </p:spTree>
    <p:extLst>
      <p:ext uri="{BB962C8B-B14F-4D97-AF65-F5344CB8AC3E}">
        <p14:creationId xmlns:p14="http://schemas.microsoft.com/office/powerpoint/2010/main" val="2093340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43</a:t>
            </a:fld>
            <a:endParaRPr lang="en-US" altLang="en-US"/>
          </a:p>
        </p:txBody>
      </p:sp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0" y="152400"/>
            <a:ext cx="8229600" cy="533400"/>
          </a:xfrm>
        </p:spPr>
        <p:txBody>
          <a:bodyPr>
            <a:normAutofit fontScale="90000"/>
          </a:bodyPr>
          <a:lstStyle/>
          <a:p>
            <a:r>
              <a:rPr lang="en-US" sz="3200" dirty="0" err="1" smtClean="0"/>
              <a:t>Sửa</a:t>
            </a:r>
            <a:r>
              <a:rPr lang="en-US" sz="3200" dirty="0" smtClean="0"/>
              <a:t> </a:t>
            </a:r>
            <a:r>
              <a:rPr lang="en-US" sz="3200" dirty="0" err="1" smtClean="0"/>
              <a:t>bài</a:t>
            </a:r>
            <a:endParaRPr lang="en-US" sz="3200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4294967295"/>
          </p:nvPr>
        </p:nvSpPr>
        <p:spPr>
          <a:xfrm>
            <a:off x="228600" y="685800"/>
            <a:ext cx="8915400" cy="6096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>
                <a:solidFill>
                  <a:srgbClr val="FF3300"/>
                </a:solidFill>
              </a:rPr>
              <a:t>•</a:t>
            </a:r>
            <a:r>
              <a:rPr lang="en-US" sz="2400" b="1" dirty="0">
                <a:solidFill>
                  <a:srgbClr val="FF3300"/>
                </a:solidFill>
              </a:rPr>
              <a:t>PHANCONG (MANV, MADA, THOIGIAN)</a:t>
            </a:r>
          </a:p>
          <a:p>
            <a:pPr marL="0" indent="0">
              <a:buNone/>
            </a:pPr>
            <a:r>
              <a:rPr lang="en-US" sz="2400" b="1" i="1" dirty="0" err="1"/>
              <a:t>Mỗi</a:t>
            </a:r>
            <a:r>
              <a:rPr lang="en-US" sz="2400" b="1" i="1" dirty="0"/>
              <a:t> </a:t>
            </a:r>
            <a:r>
              <a:rPr lang="en-US" sz="2400" b="1" i="1" dirty="0" err="1"/>
              <a:t>nhân</a:t>
            </a:r>
            <a:r>
              <a:rPr lang="en-US" sz="2400" b="1" i="1" dirty="0"/>
              <a:t> </a:t>
            </a:r>
            <a:r>
              <a:rPr lang="en-US" sz="2400" b="1" i="1" dirty="0" err="1"/>
              <a:t>viên</a:t>
            </a:r>
            <a:r>
              <a:rPr lang="en-US" sz="2400" b="1" i="1" dirty="0"/>
              <a:t> </a:t>
            </a:r>
            <a:r>
              <a:rPr lang="en-US" sz="2400" b="1" i="1" dirty="0" err="1"/>
              <a:t>chỉ</a:t>
            </a:r>
            <a:r>
              <a:rPr lang="en-US" sz="2400" b="1" i="1" dirty="0"/>
              <a:t> </a:t>
            </a:r>
            <a:r>
              <a:rPr lang="en-US" sz="2400" b="1" i="1" dirty="0" err="1"/>
              <a:t>có</a:t>
            </a:r>
            <a:r>
              <a:rPr lang="en-US" sz="2400" b="1" i="1" dirty="0"/>
              <a:t> </a:t>
            </a:r>
            <a:r>
              <a:rPr lang="en-US" sz="2400" b="1" i="1" dirty="0" err="1"/>
              <a:t>thể</a:t>
            </a:r>
            <a:r>
              <a:rPr lang="en-US" sz="2400" b="1" i="1" dirty="0"/>
              <a:t> </a:t>
            </a:r>
            <a:r>
              <a:rPr lang="en-US" sz="2400" b="1" i="1" dirty="0" err="1"/>
              <a:t>tham</a:t>
            </a:r>
            <a:r>
              <a:rPr lang="en-US" sz="2400" b="1" i="1" dirty="0"/>
              <a:t> </a:t>
            </a:r>
            <a:r>
              <a:rPr lang="en-US" sz="2400" b="1" i="1" dirty="0" err="1"/>
              <a:t>gia</a:t>
            </a:r>
            <a:r>
              <a:rPr lang="en-US" sz="2400" b="1" i="1" dirty="0"/>
              <a:t> </a:t>
            </a:r>
            <a:r>
              <a:rPr lang="en-US" sz="2400" b="1" i="1" dirty="0" err="1"/>
              <a:t>không</a:t>
            </a:r>
            <a:r>
              <a:rPr lang="en-US" sz="2400" b="1" i="1" dirty="0"/>
              <a:t> </a:t>
            </a:r>
            <a:r>
              <a:rPr lang="en-US" sz="2400" b="1" i="1" dirty="0" err="1"/>
              <a:t>quá</a:t>
            </a:r>
            <a:r>
              <a:rPr lang="en-US" sz="2400" b="1" i="1" dirty="0"/>
              <a:t> 3 </a:t>
            </a:r>
            <a:r>
              <a:rPr lang="en-US" sz="2400" b="1" i="1" dirty="0" err="1"/>
              <a:t>đề</a:t>
            </a:r>
            <a:r>
              <a:rPr lang="en-US" sz="2400" b="1" i="1" dirty="0"/>
              <a:t> </a:t>
            </a:r>
            <a:r>
              <a:rPr lang="en-US" sz="2400" b="1" i="1" dirty="0" err="1"/>
              <a:t>án</a:t>
            </a:r>
            <a:r>
              <a:rPr lang="en-US" sz="2400" b="1" i="1" dirty="0"/>
              <a:t> </a:t>
            </a:r>
            <a:r>
              <a:rPr lang="en-US" sz="2400" b="1" i="1" dirty="0" err="1"/>
              <a:t>và</a:t>
            </a:r>
            <a:r>
              <a:rPr lang="en-US" sz="2400" b="1" i="1" dirty="0"/>
              <a:t> </a:t>
            </a:r>
            <a:r>
              <a:rPr lang="en-US" sz="2400" b="1" i="1" dirty="0" err="1"/>
              <a:t>các</a:t>
            </a:r>
            <a:r>
              <a:rPr lang="en-US" sz="2400" b="1" i="1" dirty="0"/>
              <a:t> </a:t>
            </a:r>
            <a:r>
              <a:rPr lang="en-US" sz="2400" b="1" i="1" dirty="0" err="1"/>
              <a:t>đề</a:t>
            </a:r>
            <a:r>
              <a:rPr lang="en-US" sz="2400" b="1" i="1" dirty="0"/>
              <a:t> </a:t>
            </a:r>
            <a:r>
              <a:rPr lang="en-US" sz="2400" b="1" i="1" dirty="0" err="1"/>
              <a:t>án</a:t>
            </a:r>
            <a:r>
              <a:rPr lang="en-US" sz="2400" b="1" i="1" dirty="0"/>
              <a:t> </a:t>
            </a:r>
            <a:r>
              <a:rPr lang="en-US" sz="2400" b="1" i="1" dirty="0" err="1"/>
              <a:t>phải</a:t>
            </a:r>
            <a:r>
              <a:rPr lang="en-US" sz="2400" b="1" i="1" dirty="0"/>
              <a:t> do </a:t>
            </a:r>
            <a:r>
              <a:rPr lang="en-US" sz="2400" b="1" i="1" dirty="0" err="1"/>
              <a:t>phòng</a:t>
            </a:r>
            <a:r>
              <a:rPr lang="en-US" sz="2400" b="1" i="1" dirty="0"/>
              <a:t> </a:t>
            </a:r>
            <a:r>
              <a:rPr lang="en-US" sz="2400" b="1" i="1" dirty="0" err="1"/>
              <a:t>của</a:t>
            </a:r>
            <a:r>
              <a:rPr lang="en-US" sz="2400" b="1" i="1" dirty="0"/>
              <a:t> </a:t>
            </a:r>
            <a:r>
              <a:rPr lang="en-US" sz="2400" b="1" i="1" dirty="0" err="1"/>
              <a:t>mình</a:t>
            </a:r>
            <a:r>
              <a:rPr lang="en-US" sz="2400" b="1" i="1" dirty="0"/>
              <a:t> </a:t>
            </a:r>
            <a:r>
              <a:rPr lang="en-US" sz="2400" b="1" i="1" dirty="0" err="1"/>
              <a:t>chủ</a:t>
            </a:r>
            <a:r>
              <a:rPr lang="en-US" sz="2400" b="1" i="1" dirty="0"/>
              <a:t> </a:t>
            </a:r>
            <a:r>
              <a:rPr lang="en-US" sz="2400" b="1" i="1" dirty="0" err="1"/>
              <a:t>trì</a:t>
            </a:r>
            <a:r>
              <a:rPr lang="en-US" sz="2400" b="1" i="1" dirty="0"/>
              <a:t>. </a:t>
            </a:r>
            <a:r>
              <a:rPr lang="en-US" sz="2400" b="1" i="1" dirty="0" err="1"/>
              <a:t>Tổng</a:t>
            </a:r>
            <a:r>
              <a:rPr lang="en-US" sz="2400" b="1" i="1" dirty="0"/>
              <a:t> </a:t>
            </a:r>
            <a:r>
              <a:rPr lang="en-US" sz="2400" b="1" i="1" dirty="0" err="1"/>
              <a:t>thời</a:t>
            </a:r>
            <a:r>
              <a:rPr lang="en-US" sz="2400" b="1" i="1" dirty="0"/>
              <a:t> </a:t>
            </a:r>
            <a:r>
              <a:rPr lang="en-US" sz="2400" b="1" i="1" dirty="0" err="1"/>
              <a:t>gian</a:t>
            </a:r>
            <a:r>
              <a:rPr lang="en-US" sz="2400" b="1" i="1" dirty="0"/>
              <a:t> </a:t>
            </a:r>
            <a:r>
              <a:rPr lang="en-US" sz="2400" b="1" i="1" dirty="0" err="1"/>
              <a:t>tham</a:t>
            </a:r>
            <a:r>
              <a:rPr lang="en-US" sz="2400" b="1" i="1" dirty="0"/>
              <a:t> </a:t>
            </a:r>
            <a:r>
              <a:rPr lang="en-US" sz="2400" b="1" i="1" dirty="0" err="1"/>
              <a:t>gia</a:t>
            </a:r>
            <a:r>
              <a:rPr lang="en-US" sz="2400" b="1" i="1" dirty="0"/>
              <a:t> </a:t>
            </a:r>
            <a:r>
              <a:rPr lang="en-US" sz="2400" b="1" i="1" dirty="0" err="1"/>
              <a:t>đề</a:t>
            </a:r>
            <a:r>
              <a:rPr lang="en-US" sz="2400" b="1" i="1" dirty="0"/>
              <a:t> </a:t>
            </a:r>
            <a:r>
              <a:rPr lang="en-US" sz="2400" b="1" i="1" dirty="0" err="1"/>
              <a:t>án</a:t>
            </a:r>
            <a:r>
              <a:rPr lang="en-US" sz="2400" b="1" i="1" dirty="0"/>
              <a:t> </a:t>
            </a:r>
            <a:r>
              <a:rPr lang="en-US" sz="2400" b="1" i="1" dirty="0" err="1"/>
              <a:t>của</a:t>
            </a:r>
            <a:r>
              <a:rPr lang="en-US" sz="2400" b="1" i="1" dirty="0"/>
              <a:t> </a:t>
            </a:r>
            <a:r>
              <a:rPr lang="en-US" sz="2400" b="1" i="1" dirty="0" err="1"/>
              <a:t>mỗi</a:t>
            </a:r>
            <a:r>
              <a:rPr lang="en-US" sz="2400" b="1" i="1" dirty="0"/>
              <a:t> NV </a:t>
            </a:r>
            <a:r>
              <a:rPr lang="en-US" sz="2400" b="1" i="1" dirty="0" err="1"/>
              <a:t>không</a:t>
            </a:r>
            <a:r>
              <a:rPr lang="en-US" sz="2400" b="1" i="1" dirty="0"/>
              <a:t> </a:t>
            </a:r>
            <a:r>
              <a:rPr lang="en-US" sz="2400" b="1" i="1" dirty="0" err="1"/>
              <a:t>quá</a:t>
            </a:r>
            <a:r>
              <a:rPr lang="en-US" sz="2400" b="1" i="1" dirty="0"/>
              <a:t> 40h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3300"/>
                </a:solidFill>
              </a:rPr>
              <a:t>8</a:t>
            </a:r>
            <a:r>
              <a:rPr lang="en-US" sz="2400" b="1" dirty="0" smtClean="0">
                <a:solidFill>
                  <a:srgbClr val="FF3300"/>
                </a:solidFill>
              </a:rPr>
              <a:t>. NV </a:t>
            </a:r>
            <a:r>
              <a:rPr lang="en-US" sz="2400" b="1" dirty="0" err="1" smtClean="0">
                <a:solidFill>
                  <a:srgbClr val="FF3300"/>
                </a:solidFill>
              </a:rPr>
              <a:t>tham</a:t>
            </a:r>
            <a:r>
              <a:rPr lang="en-US" sz="2400" b="1" dirty="0" smtClean="0">
                <a:solidFill>
                  <a:srgbClr val="FF3300"/>
                </a:solidFill>
              </a:rPr>
              <a:t> </a:t>
            </a:r>
            <a:r>
              <a:rPr lang="en-US" sz="2400" b="1" dirty="0" err="1" smtClean="0">
                <a:solidFill>
                  <a:srgbClr val="FF3300"/>
                </a:solidFill>
              </a:rPr>
              <a:t>gia</a:t>
            </a:r>
            <a:r>
              <a:rPr lang="en-US" sz="2400" b="1" dirty="0" smtClean="0">
                <a:solidFill>
                  <a:srgbClr val="FF3300"/>
                </a:solidFill>
              </a:rPr>
              <a:t> </a:t>
            </a:r>
            <a:r>
              <a:rPr lang="en-US" sz="2400" b="1" dirty="0" err="1" smtClean="0">
                <a:solidFill>
                  <a:srgbClr val="FF3300"/>
                </a:solidFill>
              </a:rPr>
              <a:t>không</a:t>
            </a:r>
            <a:r>
              <a:rPr lang="en-US" sz="2400" b="1" dirty="0" smtClean="0">
                <a:solidFill>
                  <a:srgbClr val="FF3300"/>
                </a:solidFill>
              </a:rPr>
              <a:t> </a:t>
            </a:r>
            <a:r>
              <a:rPr lang="en-US" sz="2400" b="1" dirty="0" err="1" smtClean="0">
                <a:solidFill>
                  <a:srgbClr val="FF3300"/>
                </a:solidFill>
              </a:rPr>
              <a:t>quá</a:t>
            </a:r>
            <a:r>
              <a:rPr lang="en-US" sz="2400" b="1" dirty="0" smtClean="0">
                <a:solidFill>
                  <a:srgbClr val="FF3300"/>
                </a:solidFill>
              </a:rPr>
              <a:t> 3 </a:t>
            </a:r>
            <a:r>
              <a:rPr lang="en-US" sz="2400" b="1" dirty="0" err="1" smtClean="0">
                <a:solidFill>
                  <a:srgbClr val="FF3300"/>
                </a:solidFill>
              </a:rPr>
              <a:t>đề</a:t>
            </a:r>
            <a:r>
              <a:rPr lang="en-US" sz="2400" b="1" dirty="0" smtClean="0">
                <a:solidFill>
                  <a:srgbClr val="FF3300"/>
                </a:solidFill>
              </a:rPr>
              <a:t> </a:t>
            </a:r>
            <a:r>
              <a:rPr lang="en-US" sz="2400" b="1" dirty="0" err="1" smtClean="0">
                <a:solidFill>
                  <a:srgbClr val="FF3300"/>
                </a:solidFill>
              </a:rPr>
              <a:t>án</a:t>
            </a:r>
            <a:r>
              <a:rPr lang="en-US" sz="2400" b="1" dirty="0" smtClean="0">
                <a:solidFill>
                  <a:srgbClr val="FF3300"/>
                </a:solidFill>
              </a:rPr>
              <a:t>:</a:t>
            </a:r>
          </a:p>
          <a:p>
            <a:pPr marL="0" indent="0">
              <a:buNone/>
            </a:pPr>
            <a:endParaRPr lang="en-US" sz="2400" b="1" dirty="0">
              <a:solidFill>
                <a:srgbClr val="FF3300"/>
              </a:solidFill>
            </a:endParaRPr>
          </a:p>
          <a:p>
            <a:pPr marL="0" indent="0">
              <a:buNone/>
            </a:pPr>
            <a:r>
              <a:rPr lang="en-US" sz="2400" b="1" dirty="0" smtClean="0">
                <a:solidFill>
                  <a:srgbClr val="FF3300"/>
                </a:solidFill>
              </a:rPr>
              <a:t>9. NV </a:t>
            </a:r>
            <a:r>
              <a:rPr lang="en-US" sz="2400" b="1" dirty="0" err="1" smtClean="0">
                <a:solidFill>
                  <a:srgbClr val="FF3300"/>
                </a:solidFill>
              </a:rPr>
              <a:t>tham</a:t>
            </a:r>
            <a:r>
              <a:rPr lang="en-US" sz="2400" b="1" dirty="0" smtClean="0">
                <a:solidFill>
                  <a:srgbClr val="FF3300"/>
                </a:solidFill>
              </a:rPr>
              <a:t> </a:t>
            </a:r>
            <a:r>
              <a:rPr lang="en-US" sz="2400" b="1" dirty="0" err="1" smtClean="0">
                <a:solidFill>
                  <a:srgbClr val="FF3300"/>
                </a:solidFill>
              </a:rPr>
              <a:t>gia</a:t>
            </a:r>
            <a:r>
              <a:rPr lang="en-US" sz="2400" b="1" dirty="0" smtClean="0">
                <a:solidFill>
                  <a:srgbClr val="FF3300"/>
                </a:solidFill>
              </a:rPr>
              <a:t> </a:t>
            </a:r>
            <a:r>
              <a:rPr lang="en-US" sz="2400" b="1" dirty="0" err="1" smtClean="0">
                <a:solidFill>
                  <a:srgbClr val="FF3300"/>
                </a:solidFill>
              </a:rPr>
              <a:t>đề</a:t>
            </a:r>
            <a:r>
              <a:rPr lang="en-US" sz="2400" b="1" dirty="0" smtClean="0">
                <a:solidFill>
                  <a:srgbClr val="FF3300"/>
                </a:solidFill>
              </a:rPr>
              <a:t> </a:t>
            </a:r>
            <a:r>
              <a:rPr lang="en-US" sz="2400" b="1" dirty="0" err="1" smtClean="0">
                <a:solidFill>
                  <a:srgbClr val="FF3300"/>
                </a:solidFill>
              </a:rPr>
              <a:t>án</a:t>
            </a:r>
            <a:r>
              <a:rPr lang="en-US" sz="2400" b="1" dirty="0" smtClean="0">
                <a:solidFill>
                  <a:srgbClr val="FF3300"/>
                </a:solidFill>
              </a:rPr>
              <a:t> do </a:t>
            </a:r>
            <a:r>
              <a:rPr lang="en-US" sz="2400" b="1" dirty="0" err="1" smtClean="0">
                <a:solidFill>
                  <a:srgbClr val="FF3300"/>
                </a:solidFill>
              </a:rPr>
              <a:t>phòng</a:t>
            </a:r>
            <a:r>
              <a:rPr lang="en-US" sz="2400" b="1" dirty="0" smtClean="0">
                <a:solidFill>
                  <a:srgbClr val="FF3300"/>
                </a:solidFill>
              </a:rPr>
              <a:t> </a:t>
            </a:r>
            <a:r>
              <a:rPr lang="en-US" sz="2400" b="1" dirty="0" err="1" smtClean="0">
                <a:solidFill>
                  <a:srgbClr val="FF3300"/>
                </a:solidFill>
              </a:rPr>
              <a:t>mình</a:t>
            </a:r>
            <a:r>
              <a:rPr lang="en-US" sz="2400" b="1" dirty="0" smtClean="0">
                <a:solidFill>
                  <a:srgbClr val="FF3300"/>
                </a:solidFill>
              </a:rPr>
              <a:t> </a:t>
            </a:r>
            <a:r>
              <a:rPr lang="en-US" sz="2400" b="1" dirty="0" err="1" smtClean="0">
                <a:solidFill>
                  <a:srgbClr val="FF3300"/>
                </a:solidFill>
              </a:rPr>
              <a:t>chủ</a:t>
            </a:r>
            <a:r>
              <a:rPr lang="en-US" sz="2400" b="1" dirty="0" smtClean="0">
                <a:solidFill>
                  <a:srgbClr val="FF3300"/>
                </a:solidFill>
              </a:rPr>
              <a:t> </a:t>
            </a:r>
            <a:r>
              <a:rPr lang="en-US" sz="2400" b="1" dirty="0" err="1" smtClean="0">
                <a:solidFill>
                  <a:srgbClr val="FF3300"/>
                </a:solidFill>
              </a:rPr>
              <a:t>trì</a:t>
            </a:r>
            <a:r>
              <a:rPr lang="en-US" sz="2400" b="1" dirty="0" smtClean="0">
                <a:solidFill>
                  <a:srgbClr val="FF3300"/>
                </a:solidFill>
              </a:rPr>
              <a:t>:</a:t>
            </a:r>
          </a:p>
          <a:p>
            <a:pPr marL="0" indent="0">
              <a:buNone/>
            </a:pPr>
            <a:endParaRPr lang="en-US" sz="2400" b="1" dirty="0">
              <a:solidFill>
                <a:srgbClr val="FF3300"/>
              </a:solidFill>
            </a:endParaRPr>
          </a:p>
          <a:p>
            <a:pPr marL="0" indent="0">
              <a:buNone/>
            </a:pPr>
            <a:endParaRPr lang="en-US" sz="2400" b="1" dirty="0" smtClean="0">
              <a:solidFill>
                <a:srgbClr val="FF3300"/>
              </a:solidFill>
            </a:endParaRPr>
          </a:p>
          <a:p>
            <a:pPr marL="0" indent="0">
              <a:buNone/>
            </a:pPr>
            <a:r>
              <a:rPr lang="en-US" sz="2400" b="1" dirty="0" smtClean="0">
                <a:solidFill>
                  <a:srgbClr val="FF3300"/>
                </a:solidFill>
              </a:rPr>
              <a:t>10. </a:t>
            </a:r>
            <a:r>
              <a:rPr lang="en-US" sz="2400" b="1" dirty="0" err="1" smtClean="0">
                <a:solidFill>
                  <a:srgbClr val="FF3300"/>
                </a:solidFill>
              </a:rPr>
              <a:t>Tổng</a:t>
            </a:r>
            <a:r>
              <a:rPr lang="en-US" sz="2400" b="1" dirty="0" smtClean="0">
                <a:solidFill>
                  <a:srgbClr val="FF3300"/>
                </a:solidFill>
              </a:rPr>
              <a:t> </a:t>
            </a:r>
            <a:r>
              <a:rPr lang="en-US" sz="2400" b="1" dirty="0" err="1" smtClean="0">
                <a:solidFill>
                  <a:srgbClr val="FF3300"/>
                </a:solidFill>
              </a:rPr>
              <a:t>thời</a:t>
            </a:r>
            <a:r>
              <a:rPr lang="en-US" sz="2400" b="1" dirty="0" smtClean="0">
                <a:solidFill>
                  <a:srgbClr val="FF3300"/>
                </a:solidFill>
              </a:rPr>
              <a:t> </a:t>
            </a:r>
            <a:r>
              <a:rPr lang="en-US" sz="2400" b="1" dirty="0" err="1" smtClean="0">
                <a:solidFill>
                  <a:srgbClr val="FF3300"/>
                </a:solidFill>
              </a:rPr>
              <a:t>gian</a:t>
            </a:r>
            <a:r>
              <a:rPr lang="en-US" sz="2400" b="1" dirty="0" smtClean="0">
                <a:solidFill>
                  <a:srgbClr val="FF3300"/>
                </a:solidFill>
              </a:rPr>
              <a:t> </a:t>
            </a:r>
            <a:r>
              <a:rPr lang="en-US" sz="2400" b="1" dirty="0" err="1" smtClean="0">
                <a:solidFill>
                  <a:srgbClr val="FF3300"/>
                </a:solidFill>
              </a:rPr>
              <a:t>tham</a:t>
            </a:r>
            <a:r>
              <a:rPr lang="en-US" sz="2400" b="1" dirty="0" smtClean="0">
                <a:solidFill>
                  <a:srgbClr val="FF3300"/>
                </a:solidFill>
              </a:rPr>
              <a:t> </a:t>
            </a:r>
            <a:r>
              <a:rPr lang="en-US" sz="2400" b="1" dirty="0" err="1" smtClean="0">
                <a:solidFill>
                  <a:srgbClr val="FF3300"/>
                </a:solidFill>
              </a:rPr>
              <a:t>gia</a:t>
            </a:r>
            <a:r>
              <a:rPr lang="en-US" sz="2400" b="1" dirty="0" smtClean="0">
                <a:solidFill>
                  <a:srgbClr val="FF3300"/>
                </a:solidFill>
              </a:rPr>
              <a:t> </a:t>
            </a:r>
            <a:r>
              <a:rPr lang="en-US" sz="2400" b="1" dirty="0" err="1" smtClean="0">
                <a:solidFill>
                  <a:srgbClr val="FF3300"/>
                </a:solidFill>
              </a:rPr>
              <a:t>đề</a:t>
            </a:r>
            <a:r>
              <a:rPr lang="en-US" sz="2400" b="1" dirty="0" smtClean="0">
                <a:solidFill>
                  <a:srgbClr val="FF3300"/>
                </a:solidFill>
              </a:rPr>
              <a:t> </a:t>
            </a:r>
            <a:r>
              <a:rPr lang="en-US" sz="2400" b="1" dirty="0" err="1" smtClean="0">
                <a:solidFill>
                  <a:srgbClr val="FF3300"/>
                </a:solidFill>
              </a:rPr>
              <a:t>án</a:t>
            </a:r>
            <a:r>
              <a:rPr lang="en-US" sz="2400" b="1" dirty="0" smtClean="0">
                <a:solidFill>
                  <a:srgbClr val="FF3300"/>
                </a:solidFill>
              </a:rPr>
              <a:t> </a:t>
            </a:r>
            <a:r>
              <a:rPr lang="en-US" sz="2400" b="1" dirty="0" err="1" smtClean="0">
                <a:solidFill>
                  <a:srgbClr val="FF3300"/>
                </a:solidFill>
              </a:rPr>
              <a:t>không</a:t>
            </a:r>
            <a:r>
              <a:rPr lang="en-US" sz="2400" b="1" dirty="0" smtClean="0">
                <a:solidFill>
                  <a:srgbClr val="FF3300"/>
                </a:solidFill>
              </a:rPr>
              <a:t> </a:t>
            </a:r>
            <a:r>
              <a:rPr lang="en-US" sz="2400" b="1" dirty="0" err="1" smtClean="0">
                <a:solidFill>
                  <a:srgbClr val="FF3300"/>
                </a:solidFill>
              </a:rPr>
              <a:t>quá</a:t>
            </a:r>
            <a:r>
              <a:rPr lang="en-US" sz="2400" b="1" dirty="0" smtClean="0">
                <a:solidFill>
                  <a:srgbClr val="FF3300"/>
                </a:solidFill>
              </a:rPr>
              <a:t> 40h</a:t>
            </a:r>
            <a:endParaRPr lang="en-US" sz="2400" b="1" dirty="0">
              <a:solidFill>
                <a:srgbClr val="FF3300"/>
              </a:solidFill>
            </a:endParaRPr>
          </a:p>
          <a:p>
            <a:pPr marL="0" indent="0">
              <a:buNone/>
            </a:pPr>
            <a:endParaRPr lang="en-US" sz="2800" b="1" dirty="0" smtClean="0">
              <a:solidFill>
                <a:srgbClr val="FF33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495300" y="2743200"/>
            <a:ext cx="8001000" cy="40011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000" b="1" dirty="0">
                <a:latin typeface="Arial" charset="0"/>
                <a:sym typeface="Symbol" pitchFamily="18" charset="2"/>
              </a:rPr>
              <a:t></a:t>
            </a:r>
            <a:r>
              <a:rPr lang="en-US" sz="2000" dirty="0">
                <a:latin typeface="Arial" charset="0"/>
                <a:sym typeface="Symbol" pitchFamily="18" charset="2"/>
              </a:rPr>
              <a:t>t </a:t>
            </a:r>
            <a:r>
              <a:rPr lang="en-US" sz="2000" b="1" dirty="0">
                <a:latin typeface="Arial" charset="0"/>
                <a:sym typeface="Symbol" pitchFamily="18" charset="2"/>
              </a:rPr>
              <a:t></a:t>
            </a:r>
            <a:r>
              <a:rPr lang="en-US" sz="2000" dirty="0">
                <a:latin typeface="Arial" charset="0"/>
                <a:sym typeface="Symbol" pitchFamily="18" charset="2"/>
              </a:rPr>
              <a:t> PHANCONG ( 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∑({ </a:t>
            </a:r>
            <a:r>
              <a:rPr lang="en-US" sz="2000" dirty="0">
                <a:latin typeface="Arial" charset="0"/>
                <a:sym typeface="Symbol" pitchFamily="18" charset="2"/>
              </a:rPr>
              <a:t>s </a:t>
            </a:r>
            <a:r>
              <a:rPr lang="en-US" sz="2000" b="1" dirty="0">
                <a:latin typeface="Arial" charset="0"/>
                <a:sym typeface="Symbol" pitchFamily="18" charset="2"/>
              </a:rPr>
              <a:t></a:t>
            </a:r>
            <a:r>
              <a:rPr lang="en-US" sz="2000" dirty="0">
                <a:latin typeface="Arial" charset="0"/>
                <a:sym typeface="Symbol" pitchFamily="18" charset="2"/>
              </a:rPr>
              <a:t> PHANCONG | </a:t>
            </a:r>
            <a:r>
              <a:rPr lang="en-US" sz="2000" dirty="0" err="1" smtClean="0">
                <a:latin typeface="Arial" charset="0"/>
                <a:sym typeface="Symbol" pitchFamily="18" charset="2"/>
              </a:rPr>
              <a:t>s.MANV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 </a:t>
            </a:r>
            <a:r>
              <a:rPr lang="en-US" sz="2000" b="1" dirty="0">
                <a:latin typeface="Arial" charset="0"/>
                <a:sym typeface="Symbol" pitchFamily="18" charset="2"/>
              </a:rPr>
              <a:t></a:t>
            </a:r>
            <a:r>
              <a:rPr lang="en-US" sz="2000" dirty="0">
                <a:latin typeface="Arial" charset="0"/>
                <a:sym typeface="Symbol" pitchFamily="18" charset="2"/>
              </a:rPr>
              <a:t> </a:t>
            </a:r>
            <a:r>
              <a:rPr lang="en-US" sz="2000" dirty="0" err="1" smtClean="0">
                <a:latin typeface="Arial" charset="0"/>
                <a:sym typeface="Symbol" pitchFamily="18" charset="2"/>
              </a:rPr>
              <a:t>t.MANV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}) </a:t>
            </a:r>
            <a:r>
              <a:rPr lang="en-US" sz="2000" b="1" dirty="0">
                <a:latin typeface="Arial" charset="0"/>
                <a:sym typeface="Symbol" pitchFamily="18" charset="2"/>
              </a:rPr>
              <a:t></a:t>
            </a:r>
            <a:r>
              <a:rPr lang="en-US" sz="2000" dirty="0">
                <a:latin typeface="Arial" charset="0"/>
                <a:sym typeface="Symbol" pitchFamily="18" charset="2"/>
              </a:rPr>
              <a:t> 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3 </a:t>
            </a:r>
            <a:r>
              <a:rPr lang="en-US" sz="2000" dirty="0">
                <a:latin typeface="Arial" charset="0"/>
                <a:sym typeface="Symbol" pitchFamily="18" charset="2"/>
              </a:rPr>
              <a:t>)</a:t>
            </a:r>
          </a:p>
        </p:txBody>
      </p:sp>
      <p:sp>
        <p:nvSpPr>
          <p:cNvPr id="8" name="Text Box 58"/>
          <p:cNvSpPr txBox="1">
            <a:spLocks noChangeArrowheads="1"/>
          </p:cNvSpPr>
          <p:nvPr/>
        </p:nvSpPr>
        <p:spPr bwMode="auto">
          <a:xfrm>
            <a:off x="184097" y="3657600"/>
            <a:ext cx="8686800" cy="861774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sz="2000" dirty="0">
                <a:latin typeface="Arial" charset="0"/>
                <a:sym typeface="Symbol" pitchFamily="18" charset="2"/>
              </a:rPr>
              <a:t>NVDA </a:t>
            </a:r>
            <a:r>
              <a:rPr lang="en-US" sz="2000" b="1" dirty="0">
                <a:latin typeface="Arial" charset="0"/>
                <a:sym typeface="Symbol" pitchFamily="18" charset="2"/>
              </a:rPr>
              <a:t></a:t>
            </a:r>
            <a:r>
              <a:rPr lang="en-US" sz="2000" dirty="0">
                <a:latin typeface="Arial" charset="0"/>
                <a:sym typeface="Symbol" pitchFamily="18" charset="2"/>
              </a:rPr>
              <a:t> NHANVIEN     </a:t>
            </a:r>
            <a:r>
              <a:rPr lang="en-US" sz="2000" baseline="-25000" dirty="0" smtClean="0">
                <a:latin typeface="Arial" charset="0"/>
                <a:sym typeface="Symbol" pitchFamily="18" charset="2"/>
              </a:rPr>
              <a:t>PHG=PHONG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 </a:t>
            </a:r>
            <a:r>
              <a:rPr lang="en-US" sz="2000" dirty="0">
                <a:latin typeface="Arial" charset="0"/>
                <a:sym typeface="Symbol" pitchFamily="18" charset="2"/>
              </a:rPr>
              <a:t>DEAN </a:t>
            </a:r>
          </a:p>
          <a:p>
            <a:pPr algn="l"/>
            <a:r>
              <a:rPr lang="en-US" sz="2000" b="1" dirty="0">
                <a:latin typeface="Arial" charset="0"/>
                <a:sym typeface="Symbol" pitchFamily="18" charset="2"/>
              </a:rPr>
              <a:t></a:t>
            </a:r>
            <a:r>
              <a:rPr lang="en-US" sz="2000" dirty="0">
                <a:latin typeface="Arial" charset="0"/>
                <a:sym typeface="Symbol" pitchFamily="18" charset="2"/>
              </a:rPr>
              <a:t>t </a:t>
            </a:r>
            <a:r>
              <a:rPr lang="en-US" sz="2000" b="1" dirty="0">
                <a:latin typeface="Arial" charset="0"/>
                <a:sym typeface="Symbol" pitchFamily="18" charset="2"/>
              </a:rPr>
              <a:t></a:t>
            </a:r>
            <a:r>
              <a:rPr lang="en-US" sz="2000" dirty="0">
                <a:latin typeface="Arial" charset="0"/>
                <a:sym typeface="Symbol" pitchFamily="18" charset="2"/>
              </a:rPr>
              <a:t> PHANCONG ( </a:t>
            </a:r>
            <a:r>
              <a:rPr lang="en-US" sz="2000" b="1" dirty="0">
                <a:latin typeface="Arial" charset="0"/>
                <a:sym typeface="Symbol" pitchFamily="18" charset="2"/>
              </a:rPr>
              <a:t></a:t>
            </a:r>
            <a:r>
              <a:rPr lang="en-US" sz="2000" dirty="0">
                <a:latin typeface="Arial" charset="0"/>
                <a:sym typeface="Symbol" pitchFamily="18" charset="2"/>
              </a:rPr>
              <a:t>s </a:t>
            </a:r>
            <a:r>
              <a:rPr lang="en-US" sz="2000" b="1" dirty="0">
                <a:latin typeface="Arial" charset="0"/>
                <a:sym typeface="Symbol" pitchFamily="18" charset="2"/>
              </a:rPr>
              <a:t></a:t>
            </a:r>
            <a:r>
              <a:rPr lang="en-US" sz="2000" dirty="0">
                <a:latin typeface="Arial" charset="0"/>
                <a:sym typeface="Symbol" pitchFamily="18" charset="2"/>
              </a:rPr>
              <a:t> NVDA ( </a:t>
            </a:r>
            <a:r>
              <a:rPr lang="en-US" sz="2000" dirty="0" err="1" smtClean="0">
                <a:latin typeface="Arial" charset="0"/>
                <a:sym typeface="Symbol" pitchFamily="18" charset="2"/>
              </a:rPr>
              <a:t>t.MANV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 </a:t>
            </a:r>
            <a:r>
              <a:rPr lang="en-US" sz="2000" b="1" dirty="0">
                <a:latin typeface="Arial" charset="0"/>
                <a:sym typeface="Symbol" pitchFamily="18" charset="2"/>
              </a:rPr>
              <a:t></a:t>
            </a:r>
            <a:r>
              <a:rPr lang="en-US" sz="2000" dirty="0">
                <a:latin typeface="Arial" charset="0"/>
                <a:sym typeface="Symbol" pitchFamily="18" charset="2"/>
              </a:rPr>
              <a:t> </a:t>
            </a:r>
            <a:r>
              <a:rPr lang="en-US" sz="2000" dirty="0" err="1">
                <a:latin typeface="Arial" charset="0"/>
                <a:sym typeface="Symbol" pitchFamily="18" charset="2"/>
              </a:rPr>
              <a:t>s.MANV</a:t>
            </a:r>
            <a:r>
              <a:rPr lang="en-US" sz="2000" dirty="0">
                <a:latin typeface="Arial" charset="0"/>
                <a:sym typeface="Symbol" pitchFamily="18" charset="2"/>
              </a:rPr>
              <a:t> </a:t>
            </a:r>
            <a:r>
              <a:rPr lang="en-US" sz="2000" b="1" dirty="0">
                <a:latin typeface="Arial" charset="0"/>
                <a:sym typeface="Symbol" pitchFamily="18" charset="2"/>
              </a:rPr>
              <a:t></a:t>
            </a:r>
            <a:r>
              <a:rPr lang="en-US" sz="2000" dirty="0">
                <a:latin typeface="Arial" charset="0"/>
                <a:sym typeface="Symbol" pitchFamily="18" charset="2"/>
              </a:rPr>
              <a:t> </a:t>
            </a:r>
            <a:r>
              <a:rPr lang="en-US" sz="2000" dirty="0" err="1">
                <a:latin typeface="Arial" charset="0"/>
                <a:sym typeface="Symbol" pitchFamily="18" charset="2"/>
              </a:rPr>
              <a:t>t.MADA</a:t>
            </a:r>
            <a:r>
              <a:rPr lang="en-US" sz="2000" dirty="0">
                <a:latin typeface="Arial" charset="0"/>
                <a:sym typeface="Symbol" pitchFamily="18" charset="2"/>
              </a:rPr>
              <a:t> </a:t>
            </a:r>
            <a:r>
              <a:rPr lang="en-US" sz="2000" b="1" dirty="0">
                <a:latin typeface="Arial" charset="0"/>
                <a:sym typeface="Symbol" pitchFamily="18" charset="2"/>
              </a:rPr>
              <a:t></a:t>
            </a:r>
            <a:r>
              <a:rPr lang="en-US" sz="2000" dirty="0">
                <a:latin typeface="Arial" charset="0"/>
                <a:sym typeface="Symbol" pitchFamily="18" charset="2"/>
              </a:rPr>
              <a:t> </a:t>
            </a:r>
            <a:r>
              <a:rPr lang="en-US" sz="2000" dirty="0" err="1">
                <a:latin typeface="Arial" charset="0"/>
                <a:sym typeface="Symbol" pitchFamily="18" charset="2"/>
              </a:rPr>
              <a:t>s.SODA</a:t>
            </a:r>
            <a:r>
              <a:rPr lang="en-US" sz="2000" dirty="0">
                <a:latin typeface="Arial" charset="0"/>
                <a:sym typeface="Symbol" pitchFamily="18" charset="2"/>
              </a:rPr>
              <a:t> ))</a:t>
            </a:r>
          </a:p>
        </p:txBody>
      </p:sp>
      <p:sp>
        <p:nvSpPr>
          <p:cNvPr id="9" name="AutoShape 59"/>
          <p:cNvSpPr>
            <a:spLocks noChangeArrowheads="1"/>
          </p:cNvSpPr>
          <p:nvPr/>
        </p:nvSpPr>
        <p:spPr bwMode="auto">
          <a:xfrm rot="16200000">
            <a:off x="2735284" y="4229100"/>
            <a:ext cx="152400" cy="228600"/>
          </a:xfrm>
          <a:prstGeom prst="flowChartCollat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454402" y="5223835"/>
            <a:ext cx="8001000" cy="861774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000" b="1" dirty="0">
                <a:latin typeface="Arial" charset="0"/>
                <a:sym typeface="Symbol" pitchFamily="18" charset="2"/>
              </a:rPr>
              <a:t></a:t>
            </a:r>
            <a:r>
              <a:rPr lang="en-US" sz="2000" dirty="0">
                <a:latin typeface="Arial" charset="0"/>
                <a:sym typeface="Symbol" pitchFamily="18" charset="2"/>
              </a:rPr>
              <a:t>t </a:t>
            </a:r>
            <a:r>
              <a:rPr lang="en-US" sz="2000" b="1" dirty="0">
                <a:latin typeface="Arial" charset="0"/>
                <a:sym typeface="Symbol" pitchFamily="18" charset="2"/>
              </a:rPr>
              <a:t></a:t>
            </a:r>
            <a:r>
              <a:rPr lang="en-US" sz="2000" dirty="0">
                <a:latin typeface="Arial" charset="0"/>
                <a:sym typeface="Symbol" pitchFamily="18" charset="2"/>
              </a:rPr>
              <a:t> PHANCONG 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(</a:t>
            </a:r>
            <a:r>
              <a:rPr lang="en-US" sz="2000" b="1" dirty="0" smtClean="0">
                <a:latin typeface="Arial" charset="0"/>
                <a:sym typeface="Symbol" pitchFamily="18" charset="2"/>
              </a:rPr>
              <a:t>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s </a:t>
            </a:r>
            <a:r>
              <a:rPr lang="en-US" sz="2000" b="1" dirty="0">
                <a:latin typeface="Arial" charset="0"/>
                <a:sym typeface="Symbol" pitchFamily="18" charset="2"/>
              </a:rPr>
              <a:t></a:t>
            </a:r>
            <a:r>
              <a:rPr lang="en-US" sz="2000" dirty="0">
                <a:latin typeface="Arial" charset="0"/>
                <a:sym typeface="Symbol" pitchFamily="18" charset="2"/>
              </a:rPr>
              <a:t> 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PHANCONG ( </a:t>
            </a:r>
            <a:r>
              <a:rPr lang="en-US" sz="2000" dirty="0" err="1" smtClean="0">
                <a:latin typeface="Arial" charset="0"/>
                <a:sym typeface="Symbol" pitchFamily="18" charset="2"/>
              </a:rPr>
              <a:t>s.MANV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 </a:t>
            </a:r>
            <a:r>
              <a:rPr lang="en-US" sz="2000" b="1" dirty="0">
                <a:latin typeface="Arial" charset="0"/>
                <a:sym typeface="Symbol" pitchFamily="18" charset="2"/>
              </a:rPr>
              <a:t></a:t>
            </a:r>
            <a:r>
              <a:rPr lang="en-US" sz="2000" dirty="0">
                <a:latin typeface="Arial" charset="0"/>
                <a:sym typeface="Symbol" pitchFamily="18" charset="2"/>
              </a:rPr>
              <a:t> </a:t>
            </a:r>
            <a:r>
              <a:rPr lang="en-US" sz="2000" dirty="0" err="1" smtClean="0">
                <a:latin typeface="Arial" charset="0"/>
                <a:sym typeface="Symbol" pitchFamily="18" charset="2"/>
              </a:rPr>
              <a:t>t.MANV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 </a:t>
            </a:r>
          </a:p>
          <a:p>
            <a:pPr algn="l"/>
            <a:r>
              <a:rPr lang="en-US" sz="2000" b="1" dirty="0">
                <a:latin typeface="Arial" charset="0"/>
                <a:sym typeface="Symbol" pitchFamily="18" charset="2"/>
              </a:rPr>
              <a:t>	</a:t>
            </a:r>
            <a:r>
              <a:rPr lang="en-US" sz="2000" b="1" dirty="0" smtClean="0">
                <a:latin typeface="Arial" charset="0"/>
                <a:sym typeface="Symbol" pitchFamily="18" charset="2"/>
              </a:rPr>
              <a:t>			         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 ∑ </a:t>
            </a:r>
            <a:r>
              <a:rPr lang="en-US" sz="2000" dirty="0" err="1" smtClean="0">
                <a:latin typeface="Arial" charset="0"/>
                <a:sym typeface="Symbol" pitchFamily="18" charset="2"/>
              </a:rPr>
              <a:t>s.THOIGIAN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 &lt;=40 ))  </a:t>
            </a:r>
            <a:endParaRPr lang="en-US" sz="2000" dirty="0">
              <a:latin typeface="Arial" charset="0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241281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44</a:t>
            </a:fld>
            <a:endParaRPr lang="en-US" altLang="en-US"/>
          </a:p>
        </p:txBody>
      </p:sp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0" y="152400"/>
            <a:ext cx="8229600" cy="533400"/>
          </a:xfrm>
        </p:spPr>
        <p:txBody>
          <a:bodyPr>
            <a:normAutofit fontScale="90000"/>
          </a:bodyPr>
          <a:lstStyle/>
          <a:p>
            <a:r>
              <a:rPr lang="en-US" sz="3200" dirty="0" err="1" smtClean="0"/>
              <a:t>Sửa</a:t>
            </a:r>
            <a:r>
              <a:rPr lang="en-US" sz="3200" dirty="0" smtClean="0"/>
              <a:t> </a:t>
            </a:r>
            <a:r>
              <a:rPr lang="en-US" sz="3200" dirty="0" err="1" smtClean="0"/>
              <a:t>bài</a:t>
            </a:r>
            <a:endParaRPr lang="en-US" sz="3200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4294967295"/>
          </p:nvPr>
        </p:nvSpPr>
        <p:spPr>
          <a:xfrm>
            <a:off x="228600" y="685800"/>
            <a:ext cx="8915400" cy="6096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 smtClean="0">
                <a:solidFill>
                  <a:srgbClr val="FF3300"/>
                </a:solidFill>
              </a:rPr>
              <a:t>•</a:t>
            </a:r>
            <a:r>
              <a:rPr lang="en-US" sz="2800" b="1" dirty="0">
                <a:solidFill>
                  <a:srgbClr val="FF3300"/>
                </a:solidFill>
              </a:rPr>
              <a:t>THANNHAN (MANV, MATN, TENTN, PHAI, NGSINH, QUANHE)</a:t>
            </a:r>
          </a:p>
          <a:p>
            <a:pPr marL="0" indent="0">
              <a:buNone/>
            </a:pPr>
            <a:r>
              <a:rPr lang="en-US" sz="2800" b="1" i="1" dirty="0" err="1"/>
              <a:t>Mỗi</a:t>
            </a:r>
            <a:r>
              <a:rPr lang="en-US" sz="2800" b="1" i="1" dirty="0"/>
              <a:t> </a:t>
            </a:r>
            <a:r>
              <a:rPr lang="en-US" sz="2800" b="1" i="1" dirty="0" err="1"/>
              <a:t>thân</a:t>
            </a:r>
            <a:r>
              <a:rPr lang="en-US" sz="2800" b="1" i="1" dirty="0"/>
              <a:t> </a:t>
            </a:r>
            <a:r>
              <a:rPr lang="en-US" sz="2800" b="1" i="1" dirty="0" err="1"/>
              <a:t>nhân</a:t>
            </a:r>
            <a:r>
              <a:rPr lang="en-US" sz="2800" b="1" i="1" dirty="0"/>
              <a:t> </a:t>
            </a:r>
            <a:r>
              <a:rPr lang="en-US" sz="2800" b="1" i="1" dirty="0" err="1"/>
              <a:t>phải</a:t>
            </a:r>
            <a:r>
              <a:rPr lang="en-US" sz="2800" b="1" i="1" dirty="0"/>
              <a:t> </a:t>
            </a:r>
            <a:r>
              <a:rPr lang="en-US" sz="2800" b="1" i="1" dirty="0" err="1"/>
              <a:t>có</a:t>
            </a:r>
            <a:r>
              <a:rPr lang="en-US" sz="2800" b="1" i="1" dirty="0"/>
              <a:t> </a:t>
            </a:r>
            <a:r>
              <a:rPr lang="en-US" sz="2800" b="1" i="1" dirty="0" err="1"/>
              <a:t>quan</a:t>
            </a:r>
            <a:r>
              <a:rPr lang="en-US" sz="2800" b="1" i="1" dirty="0"/>
              <a:t> </a:t>
            </a:r>
            <a:r>
              <a:rPr lang="en-US" sz="2800" b="1" i="1" dirty="0" err="1"/>
              <a:t>hệ</a:t>
            </a:r>
            <a:r>
              <a:rPr lang="en-US" sz="2800" b="1" i="1" dirty="0"/>
              <a:t> </a:t>
            </a:r>
            <a:r>
              <a:rPr lang="en-US" sz="2800" b="1" i="1" dirty="0" err="1"/>
              <a:t>với</a:t>
            </a:r>
            <a:r>
              <a:rPr lang="en-US" sz="2800" b="1" i="1" dirty="0"/>
              <a:t> </a:t>
            </a:r>
            <a:r>
              <a:rPr lang="en-US" sz="2800" b="1" i="1" dirty="0" err="1"/>
              <a:t>nhân</a:t>
            </a:r>
            <a:r>
              <a:rPr lang="en-US" sz="2800" b="1" i="1" dirty="0"/>
              <a:t> </a:t>
            </a:r>
            <a:r>
              <a:rPr lang="en-US" sz="2800" b="1" i="1" dirty="0" err="1"/>
              <a:t>viên</a:t>
            </a:r>
            <a:r>
              <a:rPr lang="en-US" sz="2800" b="1" i="1" dirty="0"/>
              <a:t> </a:t>
            </a:r>
            <a:r>
              <a:rPr lang="en-US" sz="2800" b="1" i="1" dirty="0" err="1"/>
              <a:t>trong</a:t>
            </a:r>
            <a:r>
              <a:rPr lang="en-US" sz="2800" b="1" i="1" dirty="0"/>
              <a:t> </a:t>
            </a:r>
            <a:r>
              <a:rPr lang="en-US" sz="2800" b="1" i="1" dirty="0" err="1"/>
              <a:t>công</a:t>
            </a:r>
            <a:r>
              <a:rPr lang="en-US" sz="2800" b="1" i="1" dirty="0"/>
              <a:t> ty, </a:t>
            </a:r>
            <a:r>
              <a:rPr lang="en-US" sz="2800" b="1" i="1" dirty="0" err="1"/>
              <a:t>và</a:t>
            </a:r>
            <a:r>
              <a:rPr lang="en-US" sz="2800" b="1" i="1" dirty="0"/>
              <a:t> </a:t>
            </a:r>
            <a:r>
              <a:rPr lang="en-US" sz="2800" b="1" i="1" dirty="0" err="1"/>
              <a:t>chỉ</a:t>
            </a:r>
            <a:r>
              <a:rPr lang="en-US" sz="2800" b="1" i="1" dirty="0"/>
              <a:t> </a:t>
            </a:r>
            <a:r>
              <a:rPr lang="en-US" sz="2800" b="1" i="1" dirty="0" err="1"/>
              <a:t>có</a:t>
            </a:r>
            <a:r>
              <a:rPr lang="en-US" sz="2800" b="1" i="1" dirty="0"/>
              <a:t> </a:t>
            </a:r>
            <a:r>
              <a:rPr lang="en-US" sz="2800" b="1" i="1" dirty="0" err="1"/>
              <a:t>thể</a:t>
            </a:r>
            <a:r>
              <a:rPr lang="en-US" sz="2800" b="1" i="1" dirty="0"/>
              <a:t> </a:t>
            </a:r>
            <a:r>
              <a:rPr lang="en-US" sz="2800" b="1" i="1" dirty="0" err="1"/>
              <a:t>là</a:t>
            </a:r>
            <a:r>
              <a:rPr lang="en-US" sz="2800" b="1" i="1" dirty="0"/>
              <a:t> </a:t>
            </a:r>
            <a:r>
              <a:rPr lang="en-US" sz="2800" b="1" i="1" dirty="0" err="1"/>
              <a:t>quan</a:t>
            </a:r>
            <a:r>
              <a:rPr lang="en-US" sz="2800" b="1" i="1" dirty="0"/>
              <a:t> </a:t>
            </a:r>
            <a:r>
              <a:rPr lang="en-US" sz="2800" b="1" i="1" dirty="0" err="1"/>
              <a:t>hệ</a:t>
            </a:r>
            <a:r>
              <a:rPr lang="en-US" sz="2800" b="1" i="1" dirty="0"/>
              <a:t> Vo </a:t>
            </a:r>
            <a:r>
              <a:rPr lang="en-US" sz="2800" b="1" i="1" dirty="0" err="1"/>
              <a:t>chong</a:t>
            </a:r>
            <a:r>
              <a:rPr lang="en-US" sz="2800" b="1" i="1" dirty="0"/>
              <a:t> </a:t>
            </a:r>
            <a:r>
              <a:rPr lang="en-US" sz="2800" b="1" i="1" dirty="0" err="1"/>
              <a:t>hoặc</a:t>
            </a:r>
            <a:r>
              <a:rPr lang="en-US" sz="2800" b="1" i="1" dirty="0"/>
              <a:t> Con</a:t>
            </a:r>
          </a:p>
          <a:p>
            <a:pPr marL="0" indent="0">
              <a:buNone/>
            </a:pPr>
            <a:r>
              <a:rPr lang="en-US" sz="2800" b="1" dirty="0" smtClean="0">
                <a:solidFill>
                  <a:srgbClr val="FF3300"/>
                </a:solidFill>
              </a:rPr>
              <a:t>11. </a:t>
            </a:r>
            <a:r>
              <a:rPr lang="en-US" sz="2800" b="1" dirty="0" err="1" smtClean="0">
                <a:solidFill>
                  <a:srgbClr val="FF3300"/>
                </a:solidFill>
              </a:rPr>
              <a:t>Thân</a:t>
            </a:r>
            <a:r>
              <a:rPr lang="en-US" sz="2800" b="1" dirty="0" smtClean="0">
                <a:solidFill>
                  <a:srgbClr val="FF3300"/>
                </a:solidFill>
              </a:rPr>
              <a:t> </a:t>
            </a:r>
            <a:r>
              <a:rPr lang="en-US" sz="2800" b="1" dirty="0" err="1" smtClean="0">
                <a:solidFill>
                  <a:srgbClr val="FF3300"/>
                </a:solidFill>
              </a:rPr>
              <a:t>nhân</a:t>
            </a:r>
            <a:r>
              <a:rPr lang="en-US" sz="2800" b="1" dirty="0" smtClean="0">
                <a:solidFill>
                  <a:srgbClr val="FF3300"/>
                </a:solidFill>
              </a:rPr>
              <a:t> </a:t>
            </a:r>
            <a:r>
              <a:rPr lang="en-US" sz="2800" b="1" dirty="0" err="1" smtClean="0">
                <a:solidFill>
                  <a:srgbClr val="FF3300"/>
                </a:solidFill>
              </a:rPr>
              <a:t>phải</a:t>
            </a:r>
            <a:r>
              <a:rPr lang="en-US" sz="2800" b="1" dirty="0" smtClean="0">
                <a:solidFill>
                  <a:srgbClr val="FF3300"/>
                </a:solidFill>
              </a:rPr>
              <a:t> </a:t>
            </a:r>
            <a:r>
              <a:rPr lang="en-US" sz="2800" b="1" dirty="0" err="1" smtClean="0">
                <a:solidFill>
                  <a:srgbClr val="FF3300"/>
                </a:solidFill>
              </a:rPr>
              <a:t>có</a:t>
            </a:r>
            <a:r>
              <a:rPr lang="en-US" sz="2800" b="1" dirty="0" smtClean="0">
                <a:solidFill>
                  <a:srgbClr val="FF3300"/>
                </a:solidFill>
              </a:rPr>
              <a:t> </a:t>
            </a:r>
            <a:r>
              <a:rPr lang="en-US" sz="2800" b="1" dirty="0" err="1" smtClean="0">
                <a:solidFill>
                  <a:srgbClr val="FF3300"/>
                </a:solidFill>
              </a:rPr>
              <a:t>quan</a:t>
            </a:r>
            <a:r>
              <a:rPr lang="en-US" sz="2800" b="1" dirty="0" smtClean="0">
                <a:solidFill>
                  <a:srgbClr val="FF3300"/>
                </a:solidFill>
              </a:rPr>
              <a:t> </a:t>
            </a:r>
            <a:r>
              <a:rPr lang="en-US" sz="2800" b="1" dirty="0" err="1" smtClean="0">
                <a:solidFill>
                  <a:srgbClr val="FF3300"/>
                </a:solidFill>
              </a:rPr>
              <a:t>hệ</a:t>
            </a:r>
            <a:r>
              <a:rPr lang="en-US" sz="2800" b="1" dirty="0" smtClean="0">
                <a:solidFill>
                  <a:srgbClr val="FF3300"/>
                </a:solidFill>
              </a:rPr>
              <a:t> </a:t>
            </a:r>
            <a:r>
              <a:rPr lang="en-US" sz="2800" b="1" dirty="0" err="1" smtClean="0">
                <a:solidFill>
                  <a:srgbClr val="FF3300"/>
                </a:solidFill>
              </a:rPr>
              <a:t>với</a:t>
            </a:r>
            <a:r>
              <a:rPr lang="en-US" sz="2800" b="1" dirty="0" smtClean="0">
                <a:solidFill>
                  <a:srgbClr val="FF3300"/>
                </a:solidFill>
              </a:rPr>
              <a:t> NV:</a:t>
            </a:r>
          </a:p>
          <a:p>
            <a:pPr marL="0" indent="0">
              <a:buNone/>
            </a:pPr>
            <a:endParaRPr lang="en-US" sz="2800" b="1" dirty="0">
              <a:solidFill>
                <a:srgbClr val="FF3300"/>
              </a:solidFill>
            </a:endParaRPr>
          </a:p>
          <a:p>
            <a:pPr marL="0" indent="0">
              <a:buNone/>
            </a:pPr>
            <a:r>
              <a:rPr lang="en-US" sz="2800" b="1" dirty="0" smtClean="0">
                <a:solidFill>
                  <a:srgbClr val="FF3300"/>
                </a:solidFill>
              </a:rPr>
              <a:t>12. </a:t>
            </a:r>
            <a:r>
              <a:rPr lang="en-US" sz="2800" b="1" dirty="0" err="1" smtClean="0">
                <a:solidFill>
                  <a:srgbClr val="FF3300"/>
                </a:solidFill>
              </a:rPr>
              <a:t>Quan</a:t>
            </a:r>
            <a:r>
              <a:rPr lang="en-US" sz="2800" b="1" dirty="0" smtClean="0">
                <a:solidFill>
                  <a:srgbClr val="FF3300"/>
                </a:solidFill>
              </a:rPr>
              <a:t> </a:t>
            </a:r>
            <a:r>
              <a:rPr lang="en-US" sz="2800" b="1" dirty="0" err="1" smtClean="0">
                <a:solidFill>
                  <a:srgbClr val="FF3300"/>
                </a:solidFill>
              </a:rPr>
              <a:t>hệ</a:t>
            </a:r>
            <a:r>
              <a:rPr lang="en-US" sz="2800" b="1" dirty="0" smtClean="0">
                <a:solidFill>
                  <a:srgbClr val="FF3300"/>
                </a:solidFill>
              </a:rPr>
              <a:t> </a:t>
            </a:r>
            <a:r>
              <a:rPr lang="en-US" sz="2800" b="1" dirty="0" err="1" smtClean="0">
                <a:solidFill>
                  <a:srgbClr val="FF3300"/>
                </a:solidFill>
              </a:rPr>
              <a:t>chỉ</a:t>
            </a:r>
            <a:r>
              <a:rPr lang="en-US" sz="2800" b="1" dirty="0" smtClean="0">
                <a:solidFill>
                  <a:srgbClr val="FF3300"/>
                </a:solidFill>
              </a:rPr>
              <a:t> </a:t>
            </a:r>
            <a:r>
              <a:rPr lang="en-US" sz="2800" b="1" dirty="0" err="1" smtClean="0">
                <a:solidFill>
                  <a:srgbClr val="FF3300"/>
                </a:solidFill>
              </a:rPr>
              <a:t>có</a:t>
            </a:r>
            <a:r>
              <a:rPr lang="en-US" sz="2800" b="1" dirty="0" smtClean="0">
                <a:solidFill>
                  <a:srgbClr val="FF3300"/>
                </a:solidFill>
              </a:rPr>
              <a:t> </a:t>
            </a:r>
            <a:r>
              <a:rPr lang="en-US" sz="2800" b="1" dirty="0" err="1" smtClean="0">
                <a:solidFill>
                  <a:srgbClr val="FF3300"/>
                </a:solidFill>
              </a:rPr>
              <a:t>thể</a:t>
            </a:r>
            <a:r>
              <a:rPr lang="en-US" sz="2800" b="1" dirty="0" smtClean="0">
                <a:solidFill>
                  <a:srgbClr val="FF3300"/>
                </a:solidFill>
              </a:rPr>
              <a:t> </a:t>
            </a:r>
            <a:r>
              <a:rPr lang="en-US" sz="2800" b="1" dirty="0" err="1" smtClean="0">
                <a:solidFill>
                  <a:srgbClr val="FF3300"/>
                </a:solidFill>
              </a:rPr>
              <a:t>là</a:t>
            </a:r>
            <a:r>
              <a:rPr lang="en-US" sz="2800" b="1" dirty="0" smtClean="0">
                <a:solidFill>
                  <a:srgbClr val="FF3300"/>
                </a:solidFill>
              </a:rPr>
              <a:t> Vo </a:t>
            </a:r>
            <a:r>
              <a:rPr lang="en-US" sz="2800" b="1" dirty="0" err="1" smtClean="0">
                <a:solidFill>
                  <a:srgbClr val="FF3300"/>
                </a:solidFill>
              </a:rPr>
              <a:t>chong</a:t>
            </a:r>
            <a:r>
              <a:rPr lang="en-US" sz="2800" b="1" dirty="0" smtClean="0">
                <a:solidFill>
                  <a:srgbClr val="FF3300"/>
                </a:solidFill>
              </a:rPr>
              <a:t> </a:t>
            </a:r>
            <a:r>
              <a:rPr lang="en-US" sz="2800" b="1" dirty="0" err="1" smtClean="0">
                <a:solidFill>
                  <a:srgbClr val="FF3300"/>
                </a:solidFill>
              </a:rPr>
              <a:t>hoặc</a:t>
            </a:r>
            <a:r>
              <a:rPr lang="en-US" sz="2800" b="1" dirty="0" smtClean="0">
                <a:solidFill>
                  <a:srgbClr val="FF3300"/>
                </a:solidFill>
              </a:rPr>
              <a:t> Con:</a:t>
            </a:r>
          </a:p>
          <a:p>
            <a:pPr marL="0" indent="0">
              <a:buNone/>
            </a:pPr>
            <a:endParaRPr lang="en-US" sz="2800" b="1" dirty="0" smtClean="0">
              <a:solidFill>
                <a:srgbClr val="FF33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515092" y="3162949"/>
            <a:ext cx="8001000" cy="40011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000" b="1" dirty="0">
                <a:latin typeface="Arial" charset="0"/>
                <a:sym typeface="Symbol" pitchFamily="18" charset="2"/>
              </a:rPr>
              <a:t></a:t>
            </a:r>
            <a:r>
              <a:rPr lang="en-US" sz="2000" dirty="0">
                <a:latin typeface="Arial" charset="0"/>
                <a:sym typeface="Symbol" pitchFamily="18" charset="2"/>
              </a:rPr>
              <a:t>t </a:t>
            </a:r>
            <a:r>
              <a:rPr lang="en-US" sz="2000" b="1" dirty="0">
                <a:latin typeface="Arial" charset="0"/>
                <a:sym typeface="Symbol" pitchFamily="18" charset="2"/>
              </a:rPr>
              <a:t></a:t>
            </a:r>
            <a:r>
              <a:rPr lang="en-US" sz="2000" dirty="0">
                <a:latin typeface="Arial" charset="0"/>
                <a:sym typeface="Symbol" pitchFamily="18" charset="2"/>
              </a:rPr>
              <a:t> 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THANNHAN (</a:t>
            </a:r>
            <a:r>
              <a:rPr lang="en-US" sz="2000" b="1" dirty="0" smtClean="0">
                <a:latin typeface="Arial" charset="0"/>
                <a:sym typeface="Symbol" pitchFamily="18" charset="2"/>
              </a:rPr>
              <a:t>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s </a:t>
            </a:r>
            <a:r>
              <a:rPr lang="en-US" sz="2000" b="1" dirty="0">
                <a:latin typeface="Arial" charset="0"/>
                <a:sym typeface="Symbol" pitchFamily="18" charset="2"/>
              </a:rPr>
              <a:t></a:t>
            </a:r>
            <a:r>
              <a:rPr lang="en-US" sz="2000" dirty="0">
                <a:latin typeface="Arial" charset="0"/>
                <a:sym typeface="Symbol" pitchFamily="18" charset="2"/>
              </a:rPr>
              <a:t> 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NHANVIEN ( </a:t>
            </a:r>
            <a:r>
              <a:rPr lang="en-US" sz="2000" dirty="0" err="1" smtClean="0">
                <a:latin typeface="Arial" charset="0"/>
                <a:sym typeface="Symbol" pitchFamily="18" charset="2"/>
              </a:rPr>
              <a:t>s.MANV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 </a:t>
            </a:r>
            <a:r>
              <a:rPr lang="en-US" sz="2000" b="1" dirty="0">
                <a:latin typeface="Arial" charset="0"/>
                <a:sym typeface="Symbol" pitchFamily="18" charset="2"/>
              </a:rPr>
              <a:t></a:t>
            </a:r>
            <a:r>
              <a:rPr lang="en-US" sz="2000" dirty="0">
                <a:latin typeface="Arial" charset="0"/>
                <a:sym typeface="Symbol" pitchFamily="18" charset="2"/>
              </a:rPr>
              <a:t> </a:t>
            </a:r>
            <a:r>
              <a:rPr lang="en-US" sz="2000" dirty="0" err="1" smtClean="0">
                <a:latin typeface="Arial" charset="0"/>
                <a:sym typeface="Symbol" pitchFamily="18" charset="2"/>
              </a:rPr>
              <a:t>t.MANV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))  </a:t>
            </a:r>
            <a:endParaRPr lang="en-US" sz="2000" dirty="0">
              <a:latin typeface="Arial" charset="0"/>
              <a:sym typeface="Symbol" pitchFamily="18" charset="2"/>
            </a:endParaRP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990600" y="4343400"/>
            <a:ext cx="6324600" cy="40011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sz="2000" b="1" dirty="0">
                <a:latin typeface="Arial" charset="0"/>
                <a:sym typeface="Symbol" pitchFamily="18" charset="2"/>
              </a:rPr>
              <a:t></a:t>
            </a:r>
            <a:r>
              <a:rPr lang="en-US" sz="2000" dirty="0">
                <a:latin typeface="Arial" charset="0"/>
                <a:sym typeface="Symbol" pitchFamily="18" charset="2"/>
              </a:rPr>
              <a:t>t </a:t>
            </a:r>
            <a:r>
              <a:rPr lang="en-US" sz="2000" b="1" dirty="0">
                <a:latin typeface="Arial" charset="0"/>
                <a:sym typeface="Symbol" pitchFamily="18" charset="2"/>
              </a:rPr>
              <a:t></a:t>
            </a:r>
            <a:r>
              <a:rPr lang="en-US" sz="2000" dirty="0">
                <a:latin typeface="Arial" charset="0"/>
                <a:sym typeface="Symbol" pitchFamily="18" charset="2"/>
              </a:rPr>
              <a:t> 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THANNHAN </a:t>
            </a:r>
            <a:r>
              <a:rPr lang="en-US" sz="2000" dirty="0">
                <a:latin typeface="Arial" charset="0"/>
                <a:sym typeface="Symbol" pitchFamily="18" charset="2"/>
              </a:rPr>
              <a:t>( </a:t>
            </a:r>
            <a:r>
              <a:rPr lang="en-US" sz="2000" dirty="0" err="1" smtClean="0">
                <a:latin typeface="Arial" charset="0"/>
                <a:sym typeface="Symbol" pitchFamily="18" charset="2"/>
              </a:rPr>
              <a:t>t.QUANHE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 </a:t>
            </a:r>
            <a:r>
              <a:rPr lang="en-US" sz="2000" b="1" dirty="0">
                <a:latin typeface="Arial" charset="0"/>
                <a:sym typeface="Symbol" pitchFamily="18" charset="2"/>
              </a:rPr>
              <a:t></a:t>
            </a:r>
            <a:r>
              <a:rPr lang="en-US" sz="2000" dirty="0">
                <a:latin typeface="Arial" charset="0"/>
                <a:sym typeface="Symbol" pitchFamily="18" charset="2"/>
              </a:rPr>
              <a:t> 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{‘</a:t>
            </a:r>
            <a:r>
              <a:rPr lang="en-US" sz="2000" dirty="0" err="1" smtClean="0">
                <a:latin typeface="Arial" charset="0"/>
                <a:sym typeface="Symbol" pitchFamily="18" charset="2"/>
              </a:rPr>
              <a:t>Vochong</a:t>
            </a:r>
            <a:r>
              <a:rPr lang="en-US" sz="2000" dirty="0" smtClean="0">
                <a:latin typeface="Arial" charset="0"/>
                <a:sym typeface="Symbol" pitchFamily="18" charset="2"/>
              </a:rPr>
              <a:t>’, ‘Con’} </a:t>
            </a:r>
            <a:r>
              <a:rPr lang="en-US" sz="2000" dirty="0">
                <a:latin typeface="Arial" charset="0"/>
                <a:sym typeface="Symbol" pitchFamily="18" charset="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1541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45</a:t>
            </a:fld>
            <a:endParaRPr lang="en-US" altLang="en-US"/>
          </a:p>
        </p:txBody>
      </p:sp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0" y="152400"/>
            <a:ext cx="8229600" cy="533400"/>
          </a:xfrm>
        </p:spPr>
        <p:txBody>
          <a:bodyPr>
            <a:normAutofit fontScale="90000"/>
          </a:bodyPr>
          <a:lstStyle/>
          <a:p>
            <a:r>
              <a:rPr lang="en-US" sz="3200" dirty="0" err="1" smtClean="0"/>
              <a:t>Bài</a:t>
            </a:r>
            <a:r>
              <a:rPr lang="en-US" sz="3200" dirty="0" smtClean="0"/>
              <a:t> </a:t>
            </a:r>
            <a:r>
              <a:rPr lang="en-US" sz="3200" dirty="0" err="1" smtClean="0"/>
              <a:t>tập</a:t>
            </a:r>
            <a:r>
              <a:rPr lang="en-US" sz="3200" dirty="0" smtClean="0"/>
              <a:t> 2 : </a:t>
            </a:r>
            <a:r>
              <a:rPr lang="en-US" sz="3200" dirty="0" err="1" smtClean="0"/>
              <a:t>Xác</a:t>
            </a:r>
            <a:r>
              <a:rPr lang="en-US" sz="3200" dirty="0" smtClean="0"/>
              <a:t> </a:t>
            </a:r>
            <a:r>
              <a:rPr lang="en-US" sz="3200" dirty="0" err="1" smtClean="0"/>
              <a:t>định</a:t>
            </a:r>
            <a:r>
              <a:rPr lang="en-US" sz="3200" dirty="0" smtClean="0"/>
              <a:t> PK, FK, RBTV</a:t>
            </a:r>
            <a:endParaRPr lang="en-US" sz="3200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4294967295"/>
          </p:nvPr>
        </p:nvSpPr>
        <p:spPr>
          <a:xfrm>
            <a:off x="228600" y="685800"/>
            <a:ext cx="8915400" cy="60960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200" dirty="0">
                <a:solidFill>
                  <a:srgbClr val="FF3300"/>
                </a:solidFill>
              </a:rPr>
              <a:t>•</a:t>
            </a:r>
            <a:r>
              <a:rPr lang="en-US" sz="2200" b="1" dirty="0">
                <a:solidFill>
                  <a:srgbClr val="FF3300"/>
                </a:solidFill>
              </a:rPr>
              <a:t>KHOA (MAKHOA, TENKHOA, NAMTHANHLAP)</a:t>
            </a:r>
            <a:endParaRPr lang="en-US" sz="2200" dirty="0">
              <a:solidFill>
                <a:srgbClr val="FF3300"/>
              </a:solidFill>
            </a:endParaRPr>
          </a:p>
          <a:p>
            <a:pPr marL="0" indent="0" algn="just">
              <a:buNone/>
            </a:pPr>
            <a:r>
              <a:rPr lang="en-US" sz="2200" b="1" i="1" dirty="0" err="1"/>
              <a:t>T</a:t>
            </a:r>
            <a:r>
              <a:rPr lang="en-US" sz="2200" b="1" i="1" dirty="0" err="1" smtClean="0"/>
              <a:t>ên</a:t>
            </a:r>
            <a:r>
              <a:rPr lang="en-US" sz="2200" b="1" i="1" dirty="0" smtClean="0"/>
              <a:t> </a:t>
            </a:r>
            <a:r>
              <a:rPr lang="en-US" sz="2200" b="1" i="1" dirty="0" err="1"/>
              <a:t>khoa</a:t>
            </a:r>
            <a:r>
              <a:rPr lang="en-US" sz="2200" b="1" i="1" dirty="0"/>
              <a:t> </a:t>
            </a:r>
            <a:r>
              <a:rPr lang="en-US" sz="2200" b="1" i="1" dirty="0" err="1" smtClean="0"/>
              <a:t>không</a:t>
            </a:r>
            <a:r>
              <a:rPr lang="en-US" sz="2200" b="1" i="1" dirty="0" smtClean="0"/>
              <a:t> </a:t>
            </a:r>
            <a:r>
              <a:rPr lang="en-US" sz="2200" b="1" i="1" dirty="0" err="1"/>
              <a:t>trùng</a:t>
            </a:r>
            <a:r>
              <a:rPr lang="en-US" sz="2200" b="1" i="1" dirty="0"/>
              <a:t> </a:t>
            </a:r>
            <a:r>
              <a:rPr lang="en-US" sz="2200" b="1" i="1" dirty="0" err="1"/>
              <a:t>lắp</a:t>
            </a:r>
            <a:r>
              <a:rPr lang="en-US" sz="2200" b="1" i="1" dirty="0"/>
              <a:t> </a:t>
            </a:r>
            <a:r>
              <a:rPr lang="en-US" sz="2200" b="1" i="1" dirty="0" err="1"/>
              <a:t>nhau</a:t>
            </a:r>
            <a:r>
              <a:rPr lang="en-US" sz="2200" b="1" i="1" dirty="0"/>
              <a:t>. </a:t>
            </a:r>
            <a:endParaRPr lang="en-US" sz="2200" b="1" i="1" dirty="0" smtClean="0"/>
          </a:p>
          <a:p>
            <a:pPr marL="0" indent="0" algn="just">
              <a:buNone/>
            </a:pPr>
            <a:r>
              <a:rPr lang="en-US" sz="2200" b="1" dirty="0" smtClean="0">
                <a:solidFill>
                  <a:srgbClr val="FF3300"/>
                </a:solidFill>
              </a:rPr>
              <a:t>•SVIEN (MASV, TEN, NAM, MAKH)</a:t>
            </a:r>
          </a:p>
          <a:p>
            <a:pPr marL="0" indent="0" algn="just">
              <a:buNone/>
            </a:pPr>
            <a:r>
              <a:rPr lang="en-US" sz="2200" b="1" i="1" dirty="0" err="1"/>
              <a:t>N</a:t>
            </a:r>
            <a:r>
              <a:rPr lang="en-US" sz="2200" b="1" i="1" dirty="0" err="1" smtClean="0"/>
              <a:t>ăm</a:t>
            </a:r>
            <a:r>
              <a:rPr lang="en-US" sz="2200" b="1" i="1" dirty="0" smtClean="0"/>
              <a:t> </a:t>
            </a:r>
            <a:r>
              <a:rPr lang="en-US" sz="2200" b="1" i="1" dirty="0" err="1"/>
              <a:t>học</a:t>
            </a:r>
            <a:r>
              <a:rPr lang="en-US" sz="2200" b="1" i="1" dirty="0"/>
              <a:t> </a:t>
            </a:r>
            <a:r>
              <a:rPr lang="en-US" sz="2200" b="1" i="1" dirty="0" err="1" smtClean="0"/>
              <a:t>là</a:t>
            </a:r>
            <a:r>
              <a:rPr lang="en-US" sz="2200" b="1" i="1" dirty="0" smtClean="0"/>
              <a:t> </a:t>
            </a:r>
            <a:r>
              <a:rPr lang="en-US" sz="2200" b="1" i="1" dirty="0" err="1"/>
              <a:t>một</a:t>
            </a:r>
            <a:r>
              <a:rPr lang="en-US" sz="2200" b="1" i="1" dirty="0"/>
              <a:t> </a:t>
            </a:r>
            <a:r>
              <a:rPr lang="en-US" sz="2200" b="1" i="1" dirty="0" err="1"/>
              <a:t>trong</a:t>
            </a:r>
            <a:r>
              <a:rPr lang="en-US" sz="2200" b="1" i="1" dirty="0"/>
              <a:t> </a:t>
            </a:r>
            <a:r>
              <a:rPr lang="en-US" sz="2200" b="1" i="1" dirty="0" err="1"/>
              <a:t>các</a:t>
            </a:r>
            <a:r>
              <a:rPr lang="en-US" sz="2200" b="1" i="1" dirty="0"/>
              <a:t> </a:t>
            </a:r>
            <a:r>
              <a:rPr lang="en-US" sz="2200" b="1" i="1" dirty="0" err="1"/>
              <a:t>năm</a:t>
            </a:r>
            <a:r>
              <a:rPr lang="en-US" sz="2200" b="1" i="1" dirty="0"/>
              <a:t> </a:t>
            </a:r>
            <a:r>
              <a:rPr lang="en-US" sz="2200" b="1" i="1" dirty="0" err="1"/>
              <a:t>từ</a:t>
            </a:r>
            <a:r>
              <a:rPr lang="en-US" sz="2200" b="1" i="1" dirty="0"/>
              <a:t> 1 </a:t>
            </a:r>
            <a:r>
              <a:rPr lang="en-US" sz="2200" b="1" i="1" dirty="0" err="1"/>
              <a:t>đến</a:t>
            </a:r>
            <a:r>
              <a:rPr lang="en-US" sz="2200" b="1" i="1" dirty="0"/>
              <a:t> 4.</a:t>
            </a:r>
          </a:p>
          <a:p>
            <a:pPr marL="0" indent="0" algn="just">
              <a:buNone/>
            </a:pPr>
            <a:r>
              <a:rPr lang="en-US" sz="2200" b="1" dirty="0">
                <a:solidFill>
                  <a:srgbClr val="FF3300"/>
                </a:solidFill>
              </a:rPr>
              <a:t>•MHOC ( MAMH,TENMH, TINCHI, MAKH)</a:t>
            </a:r>
          </a:p>
          <a:p>
            <a:pPr marL="0" indent="0" algn="just">
              <a:buNone/>
            </a:pPr>
            <a:r>
              <a:rPr lang="en-US" sz="2200" b="1" i="1" dirty="0" err="1"/>
              <a:t>T</a:t>
            </a:r>
            <a:r>
              <a:rPr lang="en-US" sz="2200" b="1" i="1" dirty="0" err="1" smtClean="0"/>
              <a:t>ên</a:t>
            </a:r>
            <a:r>
              <a:rPr lang="en-US" sz="2200" b="1" i="1" dirty="0" smtClean="0"/>
              <a:t> </a:t>
            </a:r>
            <a:r>
              <a:rPr lang="en-US" sz="2200" b="1" i="1" dirty="0" err="1"/>
              <a:t>môn</a:t>
            </a:r>
            <a:r>
              <a:rPr lang="en-US" sz="2200" b="1" i="1" dirty="0"/>
              <a:t> </a:t>
            </a:r>
            <a:r>
              <a:rPr lang="en-US" sz="2200" b="1" i="1" dirty="0" err="1" smtClean="0"/>
              <a:t>học</a:t>
            </a:r>
            <a:r>
              <a:rPr lang="en-US" sz="2200" b="1" i="1" dirty="0" smtClean="0"/>
              <a:t> </a:t>
            </a:r>
            <a:r>
              <a:rPr lang="en-US" sz="2200" b="1" i="1" dirty="0" err="1" smtClean="0"/>
              <a:t>không</a:t>
            </a:r>
            <a:r>
              <a:rPr lang="en-US" sz="2200" b="1" i="1" dirty="0" smtClean="0"/>
              <a:t> </a:t>
            </a:r>
            <a:r>
              <a:rPr lang="en-US" sz="2200" b="1" i="1" dirty="0" err="1"/>
              <a:t>trùng</a:t>
            </a:r>
            <a:r>
              <a:rPr lang="en-US" sz="2200" b="1" i="1" dirty="0"/>
              <a:t> </a:t>
            </a:r>
            <a:r>
              <a:rPr lang="en-US" sz="2200" b="1" i="1" dirty="0" err="1"/>
              <a:t>lắp</a:t>
            </a:r>
            <a:r>
              <a:rPr lang="en-US" sz="2200" b="1" i="1" dirty="0"/>
              <a:t> </a:t>
            </a:r>
            <a:r>
              <a:rPr lang="en-US" sz="2200" b="1" i="1" dirty="0" err="1"/>
              <a:t>nhau</a:t>
            </a:r>
            <a:r>
              <a:rPr lang="en-US" sz="2200" b="1" i="1" dirty="0"/>
              <a:t>. </a:t>
            </a:r>
            <a:r>
              <a:rPr lang="en-US" sz="2200" b="1" i="1" dirty="0" err="1" smtClean="0"/>
              <a:t>Số</a:t>
            </a:r>
            <a:r>
              <a:rPr lang="en-US" sz="2200" b="1" i="1" dirty="0" smtClean="0"/>
              <a:t> </a:t>
            </a:r>
            <a:r>
              <a:rPr lang="en-US" sz="2200" b="1" i="1" dirty="0" err="1" smtClean="0"/>
              <a:t>tín</a:t>
            </a:r>
            <a:r>
              <a:rPr lang="en-US" sz="2200" b="1" i="1" dirty="0" smtClean="0"/>
              <a:t> </a:t>
            </a:r>
            <a:r>
              <a:rPr lang="en-US" sz="2200" b="1" i="1" dirty="0" err="1" smtClean="0"/>
              <a:t>chỉ</a:t>
            </a:r>
            <a:r>
              <a:rPr lang="en-US" sz="2200" b="1" i="1" dirty="0" smtClean="0"/>
              <a:t> </a:t>
            </a:r>
            <a:r>
              <a:rPr lang="en-US" sz="2200" b="1" i="1" dirty="0" err="1" smtClean="0"/>
              <a:t>từ</a:t>
            </a:r>
            <a:r>
              <a:rPr lang="en-US" sz="2200" b="1" i="1" dirty="0" smtClean="0"/>
              <a:t> 1 </a:t>
            </a:r>
            <a:r>
              <a:rPr lang="en-US" sz="2200" b="1" i="1" dirty="0" err="1" smtClean="0"/>
              <a:t>đến</a:t>
            </a:r>
            <a:r>
              <a:rPr lang="en-US" sz="2200" b="1" i="1" dirty="0" smtClean="0"/>
              <a:t> 5</a:t>
            </a:r>
          </a:p>
          <a:p>
            <a:pPr marL="0" indent="0" algn="just">
              <a:buNone/>
            </a:pPr>
            <a:r>
              <a:rPr lang="en-US" sz="2200" b="1" dirty="0" smtClean="0">
                <a:solidFill>
                  <a:srgbClr val="FF3300"/>
                </a:solidFill>
              </a:rPr>
              <a:t>•</a:t>
            </a:r>
            <a:r>
              <a:rPr lang="en-US" sz="2200" b="1" dirty="0">
                <a:solidFill>
                  <a:srgbClr val="FF3300"/>
                </a:solidFill>
              </a:rPr>
              <a:t>DKIEN (MAMH, MAMH_TRUOC)</a:t>
            </a:r>
          </a:p>
          <a:p>
            <a:pPr marL="0" indent="0" algn="just">
              <a:buNone/>
            </a:pPr>
            <a:r>
              <a:rPr lang="en-US" sz="2200" b="1" i="1" dirty="0" err="1"/>
              <a:t>Mỗi</a:t>
            </a:r>
            <a:r>
              <a:rPr lang="en-US" sz="2200" b="1" i="1" dirty="0"/>
              <a:t> </a:t>
            </a:r>
            <a:r>
              <a:rPr lang="en-US" sz="2200" b="1" i="1" dirty="0" err="1"/>
              <a:t>môn</a:t>
            </a:r>
            <a:r>
              <a:rPr lang="en-US" sz="2200" b="1" i="1" dirty="0"/>
              <a:t> </a:t>
            </a:r>
            <a:r>
              <a:rPr lang="en-US" sz="2200" b="1" i="1" dirty="0" err="1"/>
              <a:t>học</a:t>
            </a:r>
            <a:r>
              <a:rPr lang="en-US" sz="2200" b="1" i="1" dirty="0"/>
              <a:t> </a:t>
            </a:r>
            <a:r>
              <a:rPr lang="en-US" sz="2200" b="1" i="1" dirty="0" err="1" smtClean="0"/>
              <a:t>có</a:t>
            </a:r>
            <a:r>
              <a:rPr lang="en-US" sz="2200" b="1" i="1" dirty="0" smtClean="0"/>
              <a:t> </a:t>
            </a:r>
            <a:r>
              <a:rPr lang="en-US" sz="2200" b="1" i="1" dirty="0" err="1" smtClean="0"/>
              <a:t>ít</a:t>
            </a:r>
            <a:r>
              <a:rPr lang="en-US" sz="2200" b="1" i="1" dirty="0" smtClean="0"/>
              <a:t> </a:t>
            </a:r>
            <a:r>
              <a:rPr lang="en-US" sz="2200" b="1" i="1" dirty="0" err="1" smtClean="0"/>
              <a:t>nhất</a:t>
            </a:r>
            <a:r>
              <a:rPr lang="en-US" sz="2200" b="1" i="1" dirty="0" smtClean="0"/>
              <a:t> </a:t>
            </a:r>
            <a:r>
              <a:rPr lang="en-US" sz="2200" b="1" i="1" dirty="0" err="1" smtClean="0"/>
              <a:t>một</a:t>
            </a:r>
            <a:r>
              <a:rPr lang="en-US" sz="2200" b="1" i="1" dirty="0" smtClean="0"/>
              <a:t> </a:t>
            </a:r>
            <a:r>
              <a:rPr lang="en-US" sz="2200" b="1" i="1" dirty="0" err="1" smtClean="0"/>
              <a:t>môn</a:t>
            </a:r>
            <a:r>
              <a:rPr lang="en-US" sz="2200" b="1" i="1" dirty="0" smtClean="0"/>
              <a:t> </a:t>
            </a:r>
            <a:r>
              <a:rPr lang="en-US" sz="2200" b="1" i="1" dirty="0" err="1"/>
              <a:t>học</a:t>
            </a:r>
            <a:r>
              <a:rPr lang="en-US" sz="2200" b="1" i="1" dirty="0"/>
              <a:t> </a:t>
            </a:r>
            <a:r>
              <a:rPr lang="en-US" sz="2200" b="1" i="1" dirty="0" err="1"/>
              <a:t>bắt</a:t>
            </a:r>
            <a:r>
              <a:rPr lang="en-US" sz="2200" b="1" i="1" dirty="0"/>
              <a:t> </a:t>
            </a:r>
            <a:r>
              <a:rPr lang="en-US" sz="2200" b="1" i="1" dirty="0" err="1"/>
              <a:t>buộc</a:t>
            </a:r>
            <a:r>
              <a:rPr lang="en-US" sz="2200" b="1" i="1" dirty="0"/>
              <a:t> </a:t>
            </a:r>
            <a:r>
              <a:rPr lang="en-US" sz="2200" b="1" i="1" dirty="0" err="1"/>
              <a:t>phải</a:t>
            </a:r>
            <a:r>
              <a:rPr lang="en-US" sz="2200" b="1" i="1" dirty="0"/>
              <a:t> </a:t>
            </a:r>
            <a:r>
              <a:rPr lang="en-US" sz="2200" b="1" i="1" dirty="0" err="1"/>
              <a:t>học</a:t>
            </a:r>
            <a:r>
              <a:rPr lang="en-US" sz="2200" b="1" i="1" dirty="0"/>
              <a:t> </a:t>
            </a:r>
            <a:r>
              <a:rPr lang="en-US" sz="2200" b="1" i="1" dirty="0" err="1" smtClean="0"/>
              <a:t>trước</a:t>
            </a:r>
            <a:endParaRPr lang="en-US" sz="2200" b="1" i="1" dirty="0"/>
          </a:p>
          <a:p>
            <a:pPr marL="0" indent="0" algn="just">
              <a:buNone/>
            </a:pPr>
            <a:r>
              <a:rPr lang="en-US" sz="2200" b="1" dirty="0">
                <a:solidFill>
                  <a:srgbClr val="FF3300"/>
                </a:solidFill>
              </a:rPr>
              <a:t>•HPHAN (MAHP, MAMH, HOCKY, NAM, GV)</a:t>
            </a:r>
          </a:p>
          <a:p>
            <a:pPr marL="0" indent="0" algn="just">
              <a:buNone/>
            </a:pPr>
            <a:r>
              <a:rPr lang="en-US" sz="2200" b="1" i="1" dirty="0" err="1"/>
              <a:t>Mỗi</a:t>
            </a:r>
            <a:r>
              <a:rPr lang="en-US" sz="2200" b="1" i="1" dirty="0"/>
              <a:t> </a:t>
            </a:r>
            <a:r>
              <a:rPr lang="en-US" sz="2200" b="1" i="1" dirty="0" err="1"/>
              <a:t>học</a:t>
            </a:r>
            <a:r>
              <a:rPr lang="en-US" sz="2200" b="1" i="1" dirty="0"/>
              <a:t> </a:t>
            </a:r>
            <a:r>
              <a:rPr lang="en-US" sz="2200" b="1" i="1" dirty="0" err="1"/>
              <a:t>phần</a:t>
            </a:r>
            <a:r>
              <a:rPr lang="en-US" sz="2200" b="1" i="1" dirty="0"/>
              <a:t> </a:t>
            </a:r>
            <a:r>
              <a:rPr lang="en-US" sz="2200" b="1" i="1" dirty="0" err="1" smtClean="0"/>
              <a:t>chỉ</a:t>
            </a:r>
            <a:r>
              <a:rPr lang="en-US" sz="2200" b="1" i="1" dirty="0" smtClean="0"/>
              <a:t> </a:t>
            </a:r>
            <a:r>
              <a:rPr lang="en-US" sz="2200" b="1" i="1" dirty="0" err="1" smtClean="0"/>
              <a:t>có</a:t>
            </a:r>
            <a:r>
              <a:rPr lang="en-US" sz="2200" b="1" i="1" dirty="0" smtClean="0"/>
              <a:t> </a:t>
            </a:r>
            <a:r>
              <a:rPr lang="en-US" sz="2200" b="1" i="1" dirty="0" err="1" smtClean="0"/>
              <a:t>thể</a:t>
            </a:r>
            <a:r>
              <a:rPr lang="en-US" sz="2200" b="1" i="1" dirty="0" smtClean="0"/>
              <a:t> </a:t>
            </a:r>
            <a:r>
              <a:rPr lang="en-US" sz="2200" b="1" i="1" dirty="0" err="1" smtClean="0"/>
              <a:t>mở</a:t>
            </a:r>
            <a:r>
              <a:rPr lang="en-US" sz="2200" b="1" i="1" dirty="0" smtClean="0"/>
              <a:t> </a:t>
            </a:r>
            <a:r>
              <a:rPr lang="en-US" sz="2200" b="1" i="1" dirty="0" err="1" smtClean="0"/>
              <a:t>tối</a:t>
            </a:r>
            <a:r>
              <a:rPr lang="en-US" sz="2200" b="1" i="1" dirty="0" smtClean="0"/>
              <a:t> </a:t>
            </a:r>
            <a:r>
              <a:rPr lang="en-US" sz="2200" b="1" i="1" dirty="0" err="1" smtClean="0"/>
              <a:t>đa</a:t>
            </a:r>
            <a:r>
              <a:rPr lang="en-US" sz="2200" b="1" i="1" dirty="0" smtClean="0"/>
              <a:t> 2 </a:t>
            </a:r>
            <a:r>
              <a:rPr lang="en-US" sz="2200" b="1" i="1" dirty="0" err="1" smtClean="0"/>
              <a:t>học</a:t>
            </a:r>
            <a:r>
              <a:rPr lang="en-US" sz="2200" b="1" i="1" dirty="0" smtClean="0"/>
              <a:t> </a:t>
            </a:r>
            <a:r>
              <a:rPr lang="en-US" sz="2200" b="1" i="1" dirty="0" err="1" smtClean="0"/>
              <a:t>kì</a:t>
            </a:r>
            <a:r>
              <a:rPr lang="en-US" sz="2200" b="1" i="1" dirty="0" smtClean="0"/>
              <a:t> </a:t>
            </a:r>
            <a:r>
              <a:rPr lang="en-US" sz="2200" b="1" i="1" dirty="0" err="1" smtClean="0"/>
              <a:t>trong</a:t>
            </a:r>
            <a:r>
              <a:rPr lang="en-US" sz="2200" b="1" i="1" dirty="0" smtClean="0"/>
              <a:t> </a:t>
            </a:r>
            <a:r>
              <a:rPr lang="en-US" sz="2200" b="1" i="1" dirty="0" err="1" smtClean="0"/>
              <a:t>cùng</a:t>
            </a:r>
            <a:r>
              <a:rPr lang="en-US" sz="2200" b="1" i="1" dirty="0" smtClean="0"/>
              <a:t> 1 </a:t>
            </a:r>
            <a:r>
              <a:rPr lang="en-US" sz="2200" b="1" i="1" dirty="0" err="1" smtClean="0"/>
              <a:t>năm</a:t>
            </a:r>
            <a:r>
              <a:rPr lang="en-US" sz="2200" b="1" i="1" dirty="0" smtClean="0"/>
              <a:t> </a:t>
            </a:r>
            <a:r>
              <a:rPr lang="en-US" sz="2200" b="1" i="1" dirty="0" err="1" smtClean="0"/>
              <a:t>học</a:t>
            </a:r>
            <a:endParaRPr lang="en-US" sz="2200" b="1" i="1" dirty="0"/>
          </a:p>
          <a:p>
            <a:pPr marL="0" indent="0" algn="just">
              <a:buNone/>
            </a:pPr>
            <a:r>
              <a:rPr lang="en-US" sz="2200" b="1" dirty="0">
                <a:solidFill>
                  <a:srgbClr val="FF3300"/>
                </a:solidFill>
              </a:rPr>
              <a:t>•KQUA (MASV, MAHP, DIEM)</a:t>
            </a:r>
          </a:p>
          <a:p>
            <a:pPr marL="0" indent="0" algn="just">
              <a:buNone/>
            </a:pPr>
            <a:r>
              <a:rPr lang="en-US" sz="2200" b="1" i="1" dirty="0" err="1" smtClean="0"/>
              <a:t>Sinh</a:t>
            </a:r>
            <a:r>
              <a:rPr lang="en-US" sz="2200" b="1" i="1" dirty="0" smtClean="0"/>
              <a:t> </a:t>
            </a:r>
            <a:r>
              <a:rPr lang="en-US" sz="2200" b="1" i="1" dirty="0" err="1"/>
              <a:t>viên</a:t>
            </a:r>
            <a:r>
              <a:rPr lang="en-US" sz="2200" b="1" i="1" dirty="0"/>
              <a:t> </a:t>
            </a:r>
            <a:r>
              <a:rPr lang="en-US" sz="2200" b="1" i="1" dirty="0" err="1"/>
              <a:t>chỉ</a:t>
            </a:r>
            <a:r>
              <a:rPr lang="en-US" sz="2200" b="1" i="1" dirty="0"/>
              <a:t> </a:t>
            </a:r>
            <a:r>
              <a:rPr lang="en-US" sz="2200" b="1" i="1" dirty="0" err="1"/>
              <a:t>theo</a:t>
            </a:r>
            <a:r>
              <a:rPr lang="en-US" sz="2200" b="1" i="1" dirty="0"/>
              <a:t> </a:t>
            </a:r>
            <a:r>
              <a:rPr lang="en-US" sz="2200" b="1" i="1" dirty="0" err="1"/>
              <a:t>học</a:t>
            </a:r>
            <a:r>
              <a:rPr lang="en-US" sz="2200" b="1" i="1" dirty="0"/>
              <a:t> </a:t>
            </a:r>
            <a:r>
              <a:rPr lang="en-US" sz="2200" b="1" i="1" dirty="0" err="1"/>
              <a:t>các</a:t>
            </a:r>
            <a:r>
              <a:rPr lang="en-US" sz="2200" b="1" i="1" dirty="0"/>
              <a:t> </a:t>
            </a:r>
            <a:r>
              <a:rPr lang="en-US" sz="2200" b="1" i="1" dirty="0" err="1"/>
              <a:t>khóa</a:t>
            </a:r>
            <a:r>
              <a:rPr lang="en-US" sz="2200" b="1" i="1" dirty="0"/>
              <a:t> </a:t>
            </a:r>
            <a:r>
              <a:rPr lang="en-US" sz="2200" b="1" i="1" dirty="0" err="1"/>
              <a:t>học</a:t>
            </a:r>
            <a:r>
              <a:rPr lang="en-US" sz="2200" b="1" i="1" dirty="0"/>
              <a:t> </a:t>
            </a:r>
            <a:r>
              <a:rPr lang="en-US" sz="2200" b="1" i="1" dirty="0" err="1"/>
              <a:t>mở</a:t>
            </a:r>
            <a:r>
              <a:rPr lang="en-US" sz="2200" b="1" i="1" dirty="0"/>
              <a:t> </a:t>
            </a:r>
            <a:r>
              <a:rPr lang="en-US" sz="2200" b="1" i="1" dirty="0" err="1"/>
              <a:t>môn</a:t>
            </a:r>
            <a:r>
              <a:rPr lang="en-US" sz="2200" b="1" i="1" dirty="0"/>
              <a:t> </a:t>
            </a:r>
            <a:r>
              <a:rPr lang="en-US" sz="2200" b="1" i="1" dirty="0" err="1"/>
              <a:t>học</a:t>
            </a:r>
            <a:r>
              <a:rPr lang="en-US" sz="2200" b="1" i="1" dirty="0"/>
              <a:t> </a:t>
            </a:r>
            <a:r>
              <a:rPr lang="en-US" sz="2200" b="1" i="1" dirty="0" err="1"/>
              <a:t>thuộc</a:t>
            </a:r>
            <a:r>
              <a:rPr lang="en-US" sz="2200" b="1" i="1" dirty="0"/>
              <a:t> </a:t>
            </a:r>
            <a:r>
              <a:rPr lang="en-US" sz="2200" b="1" i="1" dirty="0" err="1"/>
              <a:t>về</a:t>
            </a:r>
            <a:r>
              <a:rPr lang="en-US" sz="2200" b="1" i="1" dirty="0"/>
              <a:t> </a:t>
            </a:r>
            <a:r>
              <a:rPr lang="en-US" sz="2200" b="1" i="1" dirty="0" err="1"/>
              <a:t>khoa</a:t>
            </a:r>
            <a:r>
              <a:rPr lang="en-US" sz="2200" b="1" i="1" dirty="0"/>
              <a:t> </a:t>
            </a:r>
            <a:r>
              <a:rPr lang="en-US" sz="2200" b="1" i="1" dirty="0" err="1"/>
              <a:t>mà</a:t>
            </a:r>
            <a:r>
              <a:rPr lang="en-US" sz="2200" b="1" i="1" dirty="0"/>
              <a:t> </a:t>
            </a:r>
            <a:r>
              <a:rPr lang="en-US" sz="2200" b="1" i="1" dirty="0" err="1"/>
              <a:t>sinh</a:t>
            </a:r>
            <a:r>
              <a:rPr lang="en-US" sz="2200" b="1" i="1" dirty="0"/>
              <a:t> </a:t>
            </a:r>
            <a:r>
              <a:rPr lang="en-US" sz="2200" b="1" i="1" dirty="0" err="1"/>
              <a:t>viên</a:t>
            </a:r>
            <a:r>
              <a:rPr lang="en-US" sz="2200" b="1" i="1" dirty="0"/>
              <a:t> </a:t>
            </a:r>
            <a:r>
              <a:rPr lang="en-US" sz="2200" b="1" i="1" dirty="0" err="1"/>
              <a:t>đang</a:t>
            </a:r>
            <a:r>
              <a:rPr lang="en-US" sz="2200" b="1" i="1" dirty="0"/>
              <a:t> </a:t>
            </a:r>
            <a:r>
              <a:rPr lang="en-US" sz="2200" b="1" i="1" dirty="0" err="1"/>
              <a:t>theo</a:t>
            </a:r>
            <a:r>
              <a:rPr lang="en-US" sz="2200" b="1" i="1" dirty="0"/>
              <a:t> </a:t>
            </a:r>
            <a:r>
              <a:rPr lang="en-US" sz="2200" b="1" i="1" dirty="0" err="1"/>
              <a:t>học</a:t>
            </a:r>
            <a:r>
              <a:rPr lang="en-US" sz="2200" b="1" i="1" dirty="0"/>
              <a:t>. </a:t>
            </a:r>
            <a:r>
              <a:rPr lang="en-US" sz="2200" b="1" i="1" dirty="0" err="1"/>
              <a:t>Ứng</a:t>
            </a:r>
            <a:r>
              <a:rPr lang="en-US" sz="2200" b="1" i="1" dirty="0"/>
              <a:t> </a:t>
            </a:r>
            <a:r>
              <a:rPr lang="en-US" sz="2200" b="1" i="1" dirty="0" err="1"/>
              <a:t>với</a:t>
            </a:r>
            <a:r>
              <a:rPr lang="en-US" sz="2200" b="1" i="1" dirty="0"/>
              <a:t> </a:t>
            </a:r>
            <a:r>
              <a:rPr lang="en-US" sz="2200" b="1" i="1" dirty="0" err="1"/>
              <a:t>một</a:t>
            </a:r>
            <a:r>
              <a:rPr lang="en-US" sz="2200" b="1" i="1" dirty="0"/>
              <a:t> </a:t>
            </a:r>
            <a:r>
              <a:rPr lang="en-US" sz="2200" b="1" i="1" dirty="0" err="1"/>
              <a:t>khóa</a:t>
            </a:r>
            <a:r>
              <a:rPr lang="en-US" sz="2200" b="1" i="1" dirty="0"/>
              <a:t> </a:t>
            </a:r>
            <a:r>
              <a:rPr lang="en-US" sz="2200" b="1" i="1" dirty="0" err="1"/>
              <a:t>học</a:t>
            </a:r>
            <a:r>
              <a:rPr lang="en-US" sz="2200" b="1" i="1" dirty="0"/>
              <a:t> </a:t>
            </a:r>
            <a:r>
              <a:rPr lang="en-US" sz="2200" b="1" i="1" dirty="0" err="1"/>
              <a:t>mà</a:t>
            </a:r>
            <a:r>
              <a:rPr lang="en-US" sz="2200" b="1" i="1" dirty="0"/>
              <a:t> </a:t>
            </a:r>
            <a:r>
              <a:rPr lang="en-US" sz="2200" b="1" i="1" dirty="0" err="1"/>
              <a:t>sinh</a:t>
            </a:r>
            <a:r>
              <a:rPr lang="en-US" sz="2200" b="1" i="1" dirty="0"/>
              <a:t> </a:t>
            </a:r>
            <a:r>
              <a:rPr lang="en-US" sz="2200" b="1" i="1" dirty="0" err="1"/>
              <a:t>viên</a:t>
            </a:r>
            <a:r>
              <a:rPr lang="en-US" sz="2200" b="1" i="1" dirty="0"/>
              <a:t> </a:t>
            </a:r>
            <a:r>
              <a:rPr lang="en-US" sz="2200" b="1" i="1" dirty="0" err="1"/>
              <a:t>theo</a:t>
            </a:r>
            <a:r>
              <a:rPr lang="en-US" sz="2200" b="1" i="1" dirty="0"/>
              <a:t> </a:t>
            </a:r>
            <a:r>
              <a:rPr lang="en-US" sz="2200" b="1" i="1" dirty="0" err="1"/>
              <a:t>học</a:t>
            </a:r>
            <a:r>
              <a:rPr lang="en-US" sz="2200" b="1" i="1" dirty="0"/>
              <a:t>, </a:t>
            </a:r>
            <a:r>
              <a:rPr lang="en-US" sz="2200" b="1" i="1" dirty="0" err="1"/>
              <a:t>sinh</a:t>
            </a:r>
            <a:r>
              <a:rPr lang="en-US" sz="2200" b="1" i="1" dirty="0"/>
              <a:t> </a:t>
            </a:r>
            <a:r>
              <a:rPr lang="en-US" sz="2200" b="1" i="1" dirty="0" err="1"/>
              <a:t>viên</a:t>
            </a:r>
            <a:r>
              <a:rPr lang="en-US" sz="2200" b="1" i="1" dirty="0"/>
              <a:t> </a:t>
            </a:r>
            <a:r>
              <a:rPr lang="en-US" sz="2200" b="1" i="1" dirty="0" err="1"/>
              <a:t>có</a:t>
            </a:r>
            <a:r>
              <a:rPr lang="en-US" sz="2200" b="1" i="1" dirty="0"/>
              <a:t> </a:t>
            </a:r>
            <a:r>
              <a:rPr lang="en-US" sz="2200" b="1" i="1" dirty="0" err="1"/>
              <a:t>một</a:t>
            </a:r>
            <a:r>
              <a:rPr lang="en-US" sz="2200" b="1" i="1" dirty="0"/>
              <a:t> </a:t>
            </a:r>
            <a:r>
              <a:rPr lang="en-US" sz="2200" b="1" i="1" dirty="0" err="1"/>
              <a:t>điểm</a:t>
            </a:r>
            <a:r>
              <a:rPr lang="en-US" sz="2200" b="1" i="1" dirty="0"/>
              <a:t> </a:t>
            </a:r>
            <a:r>
              <a:rPr lang="en-US" sz="2200" b="1" i="1" dirty="0" err="1"/>
              <a:t>số</a:t>
            </a:r>
            <a:r>
              <a:rPr lang="en-US" sz="2200" b="1" i="1" dirty="0"/>
              <a:t> </a:t>
            </a:r>
            <a:r>
              <a:rPr lang="en-US" sz="2200" b="1" i="1" dirty="0" err="1"/>
              <a:t>duy</a:t>
            </a:r>
            <a:r>
              <a:rPr lang="en-US" sz="2200" b="1" i="1" dirty="0"/>
              <a:t> </a:t>
            </a:r>
            <a:r>
              <a:rPr lang="en-US" sz="2200" b="1" i="1" dirty="0" err="1"/>
              <a:t>nhất</a:t>
            </a:r>
            <a:r>
              <a:rPr lang="en-US" sz="2200" b="1" i="1" dirty="0"/>
              <a:t> (DIEM) </a:t>
            </a:r>
            <a:r>
              <a:rPr lang="en-US" sz="2200" b="1" i="1" dirty="0" err="1"/>
              <a:t>từ</a:t>
            </a:r>
            <a:r>
              <a:rPr lang="en-US" sz="2200" b="1" i="1" dirty="0"/>
              <a:t> 0 </a:t>
            </a:r>
            <a:r>
              <a:rPr lang="en-US" sz="2200" b="1" i="1" dirty="0" err="1"/>
              <a:t>đến</a:t>
            </a:r>
            <a:r>
              <a:rPr lang="en-US" sz="2200" b="1" i="1" dirty="0"/>
              <a:t> 10 </a:t>
            </a:r>
            <a:r>
              <a:rPr lang="en-US" sz="2200" b="1" i="1" dirty="0" err="1"/>
              <a:t>điểm</a:t>
            </a:r>
            <a:endParaRPr lang="en-US" sz="2200" b="1" i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2436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smtClean="0"/>
              <a:t>a) Assertion</a:t>
            </a:r>
            <a:endParaRPr lang="en-US" sz="3500" b="1" dirty="0"/>
          </a:p>
        </p:txBody>
      </p:sp>
      <p:sp>
        <p:nvSpPr>
          <p:cNvPr id="6604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pPr algn="just"/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SQL </a:t>
            </a:r>
            <a:r>
              <a:rPr lang="en-US" dirty="0" err="1"/>
              <a:t>luôn</a:t>
            </a:r>
            <a:r>
              <a:rPr lang="en-US" dirty="0"/>
              <a:t> </a:t>
            </a:r>
            <a:r>
              <a:rPr lang="en-US" dirty="0" err="1"/>
              <a:t>mang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TRUE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điểm</a:t>
            </a:r>
            <a:endParaRPr lang="en-US" dirty="0"/>
          </a:p>
          <a:p>
            <a:pPr lvl="1" algn="just"/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cái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 smtClean="0"/>
              <a:t>đúng</a:t>
            </a:r>
            <a:endParaRPr lang="en-US" dirty="0"/>
          </a:p>
          <a:p>
            <a:pPr algn="just"/>
            <a:r>
              <a:rPr lang="en-US" dirty="0" err="1"/>
              <a:t>Cú</a:t>
            </a:r>
            <a:r>
              <a:rPr lang="en-US" dirty="0"/>
              <a:t> </a:t>
            </a:r>
            <a:r>
              <a:rPr lang="en-US" dirty="0" err="1"/>
              <a:t>pháp</a:t>
            </a:r>
            <a:endParaRPr lang="en-US" dirty="0"/>
          </a:p>
          <a:p>
            <a:pPr lvl="1" algn="just"/>
            <a:endParaRPr lang="en-US" dirty="0"/>
          </a:p>
          <a:p>
            <a:pPr lvl="1" algn="just"/>
            <a:endParaRPr lang="en-US" dirty="0"/>
          </a:p>
          <a:p>
            <a:pPr lvl="1" algn="just"/>
            <a:endParaRPr lang="en-US" dirty="0"/>
          </a:p>
          <a:p>
            <a:pPr marL="274320" lvl="1" indent="0" algn="just">
              <a:buNone/>
            </a:pPr>
            <a:endParaRPr lang="en-US" dirty="0"/>
          </a:p>
          <a:p>
            <a:pPr algn="just"/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khó</a:t>
            </a:r>
            <a:r>
              <a:rPr lang="en-US" dirty="0"/>
              <a:t> </a:t>
            </a:r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Assertion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, do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HQT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Assertion.</a:t>
            </a:r>
          </a:p>
          <a:p>
            <a:pPr algn="just"/>
            <a:endParaRPr lang="en-US" dirty="0"/>
          </a:p>
        </p:txBody>
      </p:sp>
      <p:sp>
        <p:nvSpPr>
          <p:cNvPr id="660484" name="Text Box 4"/>
          <p:cNvSpPr txBox="1">
            <a:spLocks noChangeArrowheads="1"/>
          </p:cNvSpPr>
          <p:nvPr/>
        </p:nvSpPr>
        <p:spPr bwMode="auto">
          <a:xfrm>
            <a:off x="1066800" y="3657600"/>
            <a:ext cx="6858000" cy="379413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1800" b="1"/>
              <a:t>CREATE ASSERTION </a:t>
            </a:r>
            <a:r>
              <a:rPr lang="en-US" sz="1800"/>
              <a:t>&lt;Tên_assertion&gt; </a:t>
            </a:r>
            <a:r>
              <a:rPr lang="en-US" sz="1800" b="1"/>
              <a:t>CHECK</a:t>
            </a:r>
            <a:r>
              <a:rPr lang="en-US" sz="1800"/>
              <a:t> (&lt;Điều_kiện&gt;)</a:t>
            </a:r>
          </a:p>
        </p:txBody>
      </p:sp>
      <p:sp>
        <p:nvSpPr>
          <p:cNvPr id="660485" name="Text Box 5"/>
          <p:cNvSpPr txBox="1">
            <a:spLocks noChangeArrowheads="1"/>
          </p:cNvSpPr>
          <p:nvPr/>
        </p:nvSpPr>
        <p:spPr bwMode="auto">
          <a:xfrm>
            <a:off x="1066800" y="4341813"/>
            <a:ext cx="4114800" cy="379412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1800" b="1"/>
              <a:t>DROP ASSERTION </a:t>
            </a:r>
            <a:r>
              <a:rPr lang="en-US" sz="1800"/>
              <a:t>&lt;Tên_assertion&gt;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46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6269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12</a:t>
            </a:r>
          </a:p>
        </p:txBody>
      </p:sp>
      <p:sp>
        <p:nvSpPr>
          <p:cNvPr id="668686" name="Rectangle 14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229600" cy="4800600"/>
          </a:xfrm>
          <a:noFill/>
          <a:ln/>
        </p:spPr>
        <p:txBody>
          <a:bodyPr/>
          <a:lstStyle/>
          <a:p>
            <a:pPr algn="just"/>
            <a:r>
              <a:rPr lang="en-US" dirty="0" err="1"/>
              <a:t>Ngày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trưởng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nhỏ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ngày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chức</a:t>
            </a:r>
            <a:endParaRPr lang="en-US" dirty="0"/>
          </a:p>
        </p:txBody>
      </p:sp>
      <p:sp>
        <p:nvSpPr>
          <p:cNvPr id="668687" name="Text Box 15"/>
          <p:cNvSpPr txBox="1">
            <a:spLocks noChangeArrowheads="1"/>
          </p:cNvSpPr>
          <p:nvPr/>
        </p:nvSpPr>
        <p:spPr bwMode="auto">
          <a:xfrm>
            <a:off x="1295400" y="2719388"/>
            <a:ext cx="6172200" cy="284321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1800">
                <a:solidFill>
                  <a:srgbClr val="0000CC"/>
                </a:solidFill>
              </a:rPr>
              <a:t>CREATE ASSERTION</a:t>
            </a:r>
            <a:r>
              <a:rPr lang="en-US" sz="1800"/>
              <a:t> R12 </a:t>
            </a:r>
            <a:r>
              <a:rPr lang="en-US" sz="1800">
                <a:solidFill>
                  <a:srgbClr val="0000CC"/>
                </a:solidFill>
              </a:rPr>
              <a:t>CHECK</a:t>
            </a:r>
            <a:r>
              <a:rPr lang="en-US" sz="1800"/>
              <a:t> (</a:t>
            </a:r>
          </a:p>
          <a:p>
            <a:pPr algn="l"/>
            <a:r>
              <a:rPr lang="en-US" sz="1800"/>
              <a:t>	</a:t>
            </a:r>
            <a:r>
              <a:rPr lang="en-US" sz="1800">
                <a:solidFill>
                  <a:srgbClr val="777777"/>
                </a:solidFill>
              </a:rPr>
              <a:t>NOT EXISTS</a:t>
            </a:r>
            <a:r>
              <a:rPr lang="en-US" sz="1800"/>
              <a:t> (</a:t>
            </a:r>
          </a:p>
          <a:p>
            <a:pPr algn="l"/>
            <a:r>
              <a:rPr lang="en-US" sz="1800"/>
              <a:t>		</a:t>
            </a:r>
            <a:r>
              <a:rPr lang="en-US" sz="1800">
                <a:solidFill>
                  <a:srgbClr val="0000CC"/>
                </a:solidFill>
              </a:rPr>
              <a:t>SELECT</a:t>
            </a:r>
            <a:r>
              <a:rPr lang="en-US" sz="1800"/>
              <a:t> * </a:t>
            </a:r>
          </a:p>
          <a:p>
            <a:pPr algn="l"/>
            <a:r>
              <a:rPr lang="en-US" sz="1800"/>
              <a:t>		</a:t>
            </a:r>
            <a:r>
              <a:rPr lang="en-US" sz="1800">
                <a:solidFill>
                  <a:srgbClr val="0000CC"/>
                </a:solidFill>
              </a:rPr>
              <a:t>FROM</a:t>
            </a:r>
            <a:r>
              <a:rPr lang="en-US" sz="1800"/>
              <a:t> NHANVIEN, PHONGBAN</a:t>
            </a:r>
          </a:p>
          <a:p>
            <a:pPr algn="l"/>
            <a:r>
              <a:rPr lang="en-US" sz="1800"/>
              <a:t>		</a:t>
            </a:r>
            <a:r>
              <a:rPr lang="en-US" sz="1800">
                <a:solidFill>
                  <a:srgbClr val="0000CC"/>
                </a:solidFill>
              </a:rPr>
              <a:t>WHERE</a:t>
            </a:r>
            <a:r>
              <a:rPr lang="en-US" sz="1800"/>
              <a:t> MANV=TRPHG</a:t>
            </a:r>
          </a:p>
          <a:p>
            <a:pPr algn="l"/>
            <a:r>
              <a:rPr lang="en-US" sz="1800"/>
              <a:t>		</a:t>
            </a:r>
            <a:r>
              <a:rPr lang="en-US" sz="1800">
                <a:solidFill>
                  <a:srgbClr val="777777"/>
                </a:solidFill>
              </a:rPr>
              <a:t>AND</a:t>
            </a:r>
            <a:r>
              <a:rPr lang="en-US" sz="1800"/>
              <a:t> NGSINH &gt; NGAY_NHANCHUC )</a:t>
            </a:r>
          </a:p>
          <a:p>
            <a:pPr algn="l"/>
            <a:r>
              <a:rPr lang="en-US" sz="1800"/>
              <a:t>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47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452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68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868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15</a:t>
            </a:r>
          </a:p>
        </p:txBody>
      </p:sp>
      <p:sp>
        <p:nvSpPr>
          <p:cNvPr id="67277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0"/>
            <a:ext cx="8229600" cy="4876800"/>
          </a:xfrm>
          <a:noFill/>
          <a:ln/>
        </p:spPr>
        <p:txBody>
          <a:bodyPr/>
          <a:lstStyle/>
          <a:p>
            <a:pPr algn="just"/>
            <a:r>
              <a:rPr lang="en-US" dirty="0" err="1"/>
              <a:t>Lương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trưởng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50000</a:t>
            </a:r>
          </a:p>
        </p:txBody>
      </p:sp>
      <p:sp>
        <p:nvSpPr>
          <p:cNvPr id="672774" name="Text Box 6"/>
          <p:cNvSpPr txBox="1">
            <a:spLocks noChangeArrowheads="1"/>
          </p:cNvSpPr>
          <p:nvPr/>
        </p:nvSpPr>
        <p:spPr bwMode="auto">
          <a:xfrm>
            <a:off x="1295400" y="2262188"/>
            <a:ext cx="6172200" cy="284321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1800" dirty="0">
                <a:solidFill>
                  <a:srgbClr val="0000CC"/>
                </a:solidFill>
              </a:rPr>
              <a:t>CREATE ASSERTION</a:t>
            </a:r>
            <a:r>
              <a:rPr lang="en-US" sz="1800" dirty="0"/>
              <a:t> R15 </a:t>
            </a:r>
            <a:r>
              <a:rPr lang="en-US" sz="1800" dirty="0">
                <a:solidFill>
                  <a:srgbClr val="0000CC"/>
                </a:solidFill>
              </a:rPr>
              <a:t>CHECK</a:t>
            </a:r>
            <a:r>
              <a:rPr lang="en-US" sz="1800" dirty="0"/>
              <a:t> (</a:t>
            </a:r>
          </a:p>
          <a:p>
            <a:pPr algn="l"/>
            <a:r>
              <a:rPr lang="en-US" sz="1800" dirty="0"/>
              <a:t>	</a:t>
            </a:r>
            <a:r>
              <a:rPr lang="en-US" sz="1800" dirty="0">
                <a:solidFill>
                  <a:srgbClr val="777777"/>
                </a:solidFill>
              </a:rPr>
              <a:t>NOT EXISTS</a:t>
            </a:r>
            <a:r>
              <a:rPr lang="en-US" sz="1800" dirty="0"/>
              <a:t> (</a:t>
            </a:r>
          </a:p>
          <a:p>
            <a:pPr algn="l"/>
            <a:r>
              <a:rPr lang="en-US" sz="1800" dirty="0"/>
              <a:t>		</a:t>
            </a:r>
            <a:r>
              <a:rPr lang="en-US" sz="1800" dirty="0">
                <a:solidFill>
                  <a:srgbClr val="0000CC"/>
                </a:solidFill>
              </a:rPr>
              <a:t>SELECT</a:t>
            </a:r>
            <a:r>
              <a:rPr lang="en-US" sz="1800" dirty="0"/>
              <a:t> * </a:t>
            </a:r>
          </a:p>
          <a:p>
            <a:pPr algn="l"/>
            <a:r>
              <a:rPr lang="en-US" sz="1800" dirty="0"/>
              <a:t>		</a:t>
            </a:r>
            <a:r>
              <a:rPr lang="en-US" sz="1800" dirty="0">
                <a:solidFill>
                  <a:srgbClr val="0000CC"/>
                </a:solidFill>
              </a:rPr>
              <a:t>FROM</a:t>
            </a:r>
            <a:r>
              <a:rPr lang="en-US" sz="1800" dirty="0"/>
              <a:t> NHANVIEN, PHONGBAN</a:t>
            </a:r>
          </a:p>
          <a:p>
            <a:pPr algn="l"/>
            <a:r>
              <a:rPr lang="en-US" sz="1800" dirty="0"/>
              <a:t>		</a:t>
            </a:r>
            <a:r>
              <a:rPr lang="en-US" sz="1800" dirty="0">
                <a:solidFill>
                  <a:srgbClr val="0000CC"/>
                </a:solidFill>
              </a:rPr>
              <a:t>WHERE</a:t>
            </a:r>
            <a:r>
              <a:rPr lang="en-US" sz="1800" dirty="0"/>
              <a:t> MANV=TRPHG</a:t>
            </a:r>
          </a:p>
          <a:p>
            <a:pPr algn="l"/>
            <a:r>
              <a:rPr lang="en-US" sz="1800" dirty="0"/>
              <a:t>		</a:t>
            </a:r>
            <a:r>
              <a:rPr lang="en-US" sz="1800" dirty="0">
                <a:solidFill>
                  <a:srgbClr val="777777"/>
                </a:solidFill>
              </a:rPr>
              <a:t>AND</a:t>
            </a:r>
            <a:r>
              <a:rPr lang="en-US" sz="1800" dirty="0"/>
              <a:t> LUONG &lt; 50000 )</a:t>
            </a:r>
          </a:p>
          <a:p>
            <a:pPr algn="l"/>
            <a:r>
              <a:rPr lang="en-US" sz="1800" dirty="0"/>
              <a:t>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48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7548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7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277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</a:t>
            </a:r>
            <a:r>
              <a:rPr lang="en-US" sz="3500" b="1" dirty="0" smtClean="0"/>
              <a:t>15</a:t>
            </a:r>
            <a:endParaRPr lang="en-US" sz="3500" b="1" dirty="0"/>
          </a:p>
        </p:txBody>
      </p:sp>
      <p:sp>
        <p:nvSpPr>
          <p:cNvPr id="670727" name="Rectangle 7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229600" cy="4800600"/>
          </a:xfrm>
          <a:noFill/>
          <a:ln/>
        </p:spPr>
        <p:txBody>
          <a:bodyPr/>
          <a:lstStyle/>
          <a:p>
            <a:r>
              <a:rPr lang="en-US" dirty="0" err="1"/>
              <a:t>Lương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trưởng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50000</a:t>
            </a:r>
          </a:p>
        </p:txBody>
      </p:sp>
      <p:sp>
        <p:nvSpPr>
          <p:cNvPr id="670725" name="Text Box 5"/>
          <p:cNvSpPr txBox="1">
            <a:spLocks noChangeArrowheads="1"/>
          </p:cNvSpPr>
          <p:nvPr/>
        </p:nvSpPr>
        <p:spPr bwMode="auto">
          <a:xfrm>
            <a:off x="990600" y="2274888"/>
            <a:ext cx="7543800" cy="366871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1800">
                <a:solidFill>
                  <a:srgbClr val="0000CC"/>
                </a:solidFill>
              </a:rPr>
              <a:t>ALTER TABLE</a:t>
            </a:r>
            <a:r>
              <a:rPr lang="en-US" sz="1800"/>
              <a:t> PHONGBAN (</a:t>
            </a:r>
          </a:p>
          <a:p>
            <a:pPr algn="l"/>
            <a:r>
              <a:rPr lang="en-US" sz="1800"/>
              <a:t>	TENPB </a:t>
            </a:r>
            <a:r>
              <a:rPr lang="en-US" sz="1800">
                <a:solidFill>
                  <a:srgbClr val="0000CC"/>
                </a:solidFill>
              </a:rPr>
              <a:t>VARCHAR</a:t>
            </a:r>
            <a:r>
              <a:rPr lang="en-US" sz="1800"/>
              <a:t>(20) </a:t>
            </a:r>
            <a:r>
              <a:rPr lang="en-US" sz="1800">
                <a:solidFill>
                  <a:srgbClr val="0000CC"/>
                </a:solidFill>
              </a:rPr>
              <a:t>UNIQUE</a:t>
            </a:r>
            <a:r>
              <a:rPr lang="en-US" sz="1800"/>
              <a:t>,</a:t>
            </a:r>
          </a:p>
          <a:p>
            <a:pPr algn="l"/>
            <a:r>
              <a:rPr lang="en-US" sz="1800"/>
              <a:t>	MAPHG </a:t>
            </a:r>
            <a:r>
              <a:rPr lang="en-US" sz="1800">
                <a:solidFill>
                  <a:srgbClr val="0000CC"/>
                </a:solidFill>
              </a:rPr>
              <a:t>INT </a:t>
            </a:r>
            <a:r>
              <a:rPr lang="en-US" sz="1800">
                <a:solidFill>
                  <a:srgbClr val="777777"/>
                </a:solidFill>
              </a:rPr>
              <a:t>NOT NULL</a:t>
            </a:r>
            <a:r>
              <a:rPr lang="en-US" sz="1800"/>
              <a:t>,</a:t>
            </a:r>
          </a:p>
          <a:p>
            <a:pPr algn="l"/>
            <a:r>
              <a:rPr lang="en-US" sz="1800"/>
              <a:t>	TRPHG </a:t>
            </a:r>
            <a:r>
              <a:rPr lang="en-US" sz="1800">
                <a:solidFill>
                  <a:srgbClr val="0000CC"/>
                </a:solidFill>
              </a:rPr>
              <a:t>CHAR</a:t>
            </a:r>
            <a:r>
              <a:rPr lang="en-US" sz="1800"/>
              <a:t>(9),	</a:t>
            </a:r>
          </a:p>
          <a:p>
            <a:pPr algn="l"/>
            <a:r>
              <a:rPr lang="en-US" sz="1800"/>
              <a:t>	NG_NHANCHUC </a:t>
            </a:r>
            <a:r>
              <a:rPr lang="en-US" sz="1800">
                <a:solidFill>
                  <a:srgbClr val="0000CC"/>
                </a:solidFill>
              </a:rPr>
              <a:t>DATETIME,</a:t>
            </a:r>
          </a:p>
          <a:p>
            <a:pPr algn="l"/>
            <a:r>
              <a:rPr lang="en-US" sz="1800">
                <a:solidFill>
                  <a:srgbClr val="0000CC"/>
                </a:solidFill>
              </a:rPr>
              <a:t>	CONSTRAINT </a:t>
            </a:r>
            <a:r>
              <a:rPr lang="en-US" sz="1800"/>
              <a:t>CHK_PB_LUONGTRPHG </a:t>
            </a:r>
            <a:r>
              <a:rPr lang="en-US" sz="1800">
                <a:solidFill>
                  <a:srgbClr val="0000CC"/>
                </a:solidFill>
              </a:rPr>
              <a:t>CHECK </a:t>
            </a:r>
            <a:r>
              <a:rPr lang="en-US" sz="1800"/>
              <a:t>( </a:t>
            </a:r>
          </a:p>
          <a:p>
            <a:pPr algn="l"/>
            <a:r>
              <a:rPr lang="en-US" sz="1800"/>
              <a:t>		TRPHG </a:t>
            </a:r>
            <a:r>
              <a:rPr lang="en-US" sz="1800">
                <a:solidFill>
                  <a:srgbClr val="777777"/>
                </a:solidFill>
              </a:rPr>
              <a:t>NOT IN</a:t>
            </a:r>
            <a:r>
              <a:rPr lang="en-US" sz="1800"/>
              <a:t> (</a:t>
            </a:r>
            <a:r>
              <a:rPr lang="en-US" sz="1800">
                <a:solidFill>
                  <a:srgbClr val="0000CC"/>
                </a:solidFill>
              </a:rPr>
              <a:t>SELECT</a:t>
            </a:r>
            <a:r>
              <a:rPr lang="en-US" sz="1800"/>
              <a:t> MANV </a:t>
            </a:r>
            <a:r>
              <a:rPr lang="en-US" sz="1800">
                <a:solidFill>
                  <a:srgbClr val="0000CC"/>
                </a:solidFill>
              </a:rPr>
              <a:t>FROM</a:t>
            </a:r>
            <a:r>
              <a:rPr lang="en-US" sz="1800"/>
              <a:t> NHANVIEN </a:t>
            </a:r>
          </a:p>
          <a:p>
            <a:pPr algn="l"/>
            <a:r>
              <a:rPr lang="en-US" sz="1800"/>
              <a:t>				</a:t>
            </a:r>
            <a:r>
              <a:rPr lang="en-US" sz="1800">
                <a:solidFill>
                  <a:srgbClr val="0000CC"/>
                </a:solidFill>
              </a:rPr>
              <a:t>WHERE</a:t>
            </a:r>
            <a:r>
              <a:rPr lang="en-US" sz="1800"/>
              <a:t> LUONG &lt; 50000 ))</a:t>
            </a:r>
            <a:endParaRPr lang="en-US" sz="1800">
              <a:solidFill>
                <a:srgbClr val="0000CC"/>
              </a:solidFill>
            </a:endParaRPr>
          </a:p>
          <a:p>
            <a:pPr algn="l"/>
            <a:r>
              <a:rPr lang="en-US" sz="1800"/>
              <a:t>)</a:t>
            </a:r>
          </a:p>
        </p:txBody>
      </p:sp>
      <p:sp>
        <p:nvSpPr>
          <p:cNvPr id="670729" name="Text Box 9"/>
          <p:cNvSpPr txBox="1">
            <a:spLocks noChangeArrowheads="1"/>
          </p:cNvSpPr>
          <p:nvPr/>
        </p:nvSpPr>
        <p:spPr bwMode="auto">
          <a:xfrm>
            <a:off x="6172200" y="2209800"/>
            <a:ext cx="1905000" cy="379413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800"/>
              <a:t>Check Constraint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49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5563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7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072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16</a:t>
            </a:r>
          </a:p>
        </p:txBody>
      </p:sp>
      <p:sp>
        <p:nvSpPr>
          <p:cNvPr id="6748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447800"/>
            <a:ext cx="8229600" cy="4953000"/>
          </a:xfrm>
          <a:noFill/>
          <a:ln/>
        </p:spPr>
        <p:txBody>
          <a:bodyPr/>
          <a:lstStyle/>
          <a:p>
            <a:pPr algn="just"/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 ban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20 </a:t>
            </a:r>
            <a:r>
              <a:rPr lang="en-US" dirty="0" err="1"/>
              <a:t>người</a:t>
            </a:r>
            <a:endParaRPr lang="en-US" dirty="0"/>
          </a:p>
        </p:txBody>
      </p:sp>
      <p:sp>
        <p:nvSpPr>
          <p:cNvPr id="674820" name="Text Box 4"/>
          <p:cNvSpPr txBox="1">
            <a:spLocks noChangeArrowheads="1"/>
          </p:cNvSpPr>
          <p:nvPr/>
        </p:nvSpPr>
        <p:spPr bwMode="auto">
          <a:xfrm>
            <a:off x="1447800" y="2667000"/>
            <a:ext cx="5257800" cy="20177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1800">
                <a:solidFill>
                  <a:srgbClr val="0000CC"/>
                </a:solidFill>
              </a:rPr>
              <a:t>CREATE ASSERTION</a:t>
            </a:r>
            <a:r>
              <a:rPr lang="en-US" sz="1800"/>
              <a:t> R16 </a:t>
            </a:r>
            <a:r>
              <a:rPr lang="en-US" sz="1800">
                <a:solidFill>
                  <a:srgbClr val="0000CC"/>
                </a:solidFill>
              </a:rPr>
              <a:t>CHECK</a:t>
            </a:r>
            <a:r>
              <a:rPr lang="en-US" sz="1800"/>
              <a:t> (</a:t>
            </a:r>
          </a:p>
          <a:p>
            <a:pPr algn="l"/>
            <a:r>
              <a:rPr lang="en-US" sz="1800"/>
              <a:t>	20 &gt;= </a:t>
            </a:r>
            <a:r>
              <a:rPr lang="en-US" sz="1800">
                <a:solidFill>
                  <a:srgbClr val="777777"/>
                </a:solidFill>
              </a:rPr>
              <a:t>ALL</a:t>
            </a:r>
            <a:r>
              <a:rPr lang="en-US" sz="1800"/>
              <a:t> ( </a:t>
            </a:r>
            <a:r>
              <a:rPr lang="en-US" sz="1800">
                <a:solidFill>
                  <a:srgbClr val="0000CC"/>
                </a:solidFill>
              </a:rPr>
              <a:t>SELECT</a:t>
            </a:r>
            <a:r>
              <a:rPr lang="en-US" sz="1800"/>
              <a:t> </a:t>
            </a:r>
            <a:r>
              <a:rPr lang="en-US" sz="1800">
                <a:solidFill>
                  <a:srgbClr val="FF3399"/>
                </a:solidFill>
              </a:rPr>
              <a:t>COUNT</a:t>
            </a:r>
            <a:r>
              <a:rPr lang="en-US" sz="1800"/>
              <a:t>(MANV) </a:t>
            </a:r>
          </a:p>
          <a:p>
            <a:pPr algn="l"/>
            <a:r>
              <a:rPr lang="en-US" sz="1800"/>
              <a:t>		</a:t>
            </a:r>
            <a:r>
              <a:rPr lang="en-US" sz="1800">
                <a:solidFill>
                  <a:srgbClr val="0000CC"/>
                </a:solidFill>
              </a:rPr>
              <a:t>FROM</a:t>
            </a:r>
            <a:r>
              <a:rPr lang="en-US" sz="1800"/>
              <a:t> NHANVIEN</a:t>
            </a:r>
          </a:p>
          <a:p>
            <a:pPr algn="l"/>
            <a:r>
              <a:rPr lang="en-US" sz="1800"/>
              <a:t>		</a:t>
            </a:r>
            <a:r>
              <a:rPr lang="en-US" sz="1800">
                <a:solidFill>
                  <a:srgbClr val="0000CC"/>
                </a:solidFill>
              </a:rPr>
              <a:t>GROUP BY</a:t>
            </a:r>
            <a:r>
              <a:rPr lang="en-US" sz="1800"/>
              <a:t> PHG )</a:t>
            </a:r>
          </a:p>
          <a:p>
            <a:pPr algn="l"/>
            <a:r>
              <a:rPr lang="en-US" sz="1800"/>
              <a:t>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50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6897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7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4820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</a:t>
            </a:r>
            <a:r>
              <a:rPr lang="en-US" sz="3500" b="1" dirty="0" smtClean="0"/>
              <a:t>16</a:t>
            </a:r>
            <a:endParaRPr lang="en-US" sz="3500" b="1" dirty="0"/>
          </a:p>
        </p:txBody>
      </p:sp>
      <p:sp>
        <p:nvSpPr>
          <p:cNvPr id="67686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229600" cy="4800600"/>
          </a:xfrm>
          <a:noFill/>
          <a:ln/>
        </p:spPr>
        <p:txBody>
          <a:bodyPr/>
          <a:lstStyle/>
          <a:p>
            <a:pPr algn="just"/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 ban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20 </a:t>
            </a:r>
            <a:r>
              <a:rPr lang="en-US" dirty="0" err="1"/>
              <a:t>người</a:t>
            </a:r>
            <a:endParaRPr lang="en-US" dirty="0"/>
          </a:p>
        </p:txBody>
      </p:sp>
      <p:sp>
        <p:nvSpPr>
          <p:cNvPr id="676868" name="Text Box 4"/>
          <p:cNvSpPr txBox="1">
            <a:spLocks noChangeArrowheads="1"/>
          </p:cNvSpPr>
          <p:nvPr/>
        </p:nvSpPr>
        <p:spPr bwMode="auto">
          <a:xfrm>
            <a:off x="990600" y="2967038"/>
            <a:ext cx="7010400" cy="160496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1800">
                <a:solidFill>
                  <a:srgbClr val="0000CC"/>
                </a:solidFill>
              </a:rPr>
              <a:t>ALTER TABLE</a:t>
            </a:r>
            <a:r>
              <a:rPr lang="en-US" sz="1800"/>
              <a:t> NHANVIEN </a:t>
            </a:r>
            <a:r>
              <a:rPr lang="en-US" sz="1800">
                <a:solidFill>
                  <a:srgbClr val="0000CC"/>
                </a:solidFill>
              </a:rPr>
              <a:t>ADD</a:t>
            </a:r>
            <a:r>
              <a:rPr lang="en-US" sz="1800"/>
              <a:t> </a:t>
            </a:r>
          </a:p>
          <a:p>
            <a:pPr algn="l"/>
            <a:r>
              <a:rPr lang="en-US" sz="1800">
                <a:solidFill>
                  <a:srgbClr val="0000CC"/>
                </a:solidFill>
              </a:rPr>
              <a:t>CONSTRAINT</a:t>
            </a:r>
            <a:r>
              <a:rPr lang="en-US" sz="1800"/>
              <a:t> CHK_NV_SLNVPB </a:t>
            </a:r>
            <a:r>
              <a:rPr lang="en-US" sz="1800">
                <a:solidFill>
                  <a:srgbClr val="0000CC"/>
                </a:solidFill>
              </a:rPr>
              <a:t>CHECK</a:t>
            </a:r>
            <a:r>
              <a:rPr lang="en-US" sz="1800"/>
              <a:t> (</a:t>
            </a:r>
          </a:p>
          <a:p>
            <a:pPr algn="l"/>
            <a:r>
              <a:rPr lang="en-US" sz="1800"/>
              <a:t>	20 &gt;= ALL ( </a:t>
            </a:r>
            <a:r>
              <a:rPr lang="en-US" sz="1800">
                <a:solidFill>
                  <a:srgbClr val="0000CC"/>
                </a:solidFill>
              </a:rPr>
              <a:t>SELECT</a:t>
            </a:r>
            <a:r>
              <a:rPr lang="en-US" sz="1800"/>
              <a:t> </a:t>
            </a:r>
            <a:r>
              <a:rPr lang="en-US" sz="1800">
                <a:solidFill>
                  <a:srgbClr val="FF3399"/>
                </a:solidFill>
              </a:rPr>
              <a:t>COUNT</a:t>
            </a:r>
            <a:r>
              <a:rPr lang="en-US" sz="1800"/>
              <a:t>(MANV) </a:t>
            </a:r>
            <a:r>
              <a:rPr lang="en-US" sz="1800">
                <a:solidFill>
                  <a:srgbClr val="0000CC"/>
                </a:solidFill>
              </a:rPr>
              <a:t>FROM</a:t>
            </a:r>
            <a:r>
              <a:rPr lang="en-US" sz="1800"/>
              <a:t> NHANVIEN</a:t>
            </a:r>
          </a:p>
          <a:p>
            <a:pPr algn="l"/>
            <a:r>
              <a:rPr lang="en-US" sz="1800"/>
              <a:t>			</a:t>
            </a:r>
            <a:r>
              <a:rPr lang="en-US" sz="1800">
                <a:solidFill>
                  <a:srgbClr val="0000CC"/>
                </a:solidFill>
              </a:rPr>
              <a:t>GROUP BY</a:t>
            </a:r>
            <a:r>
              <a:rPr lang="en-US" sz="1800"/>
              <a:t> PHG ))</a:t>
            </a:r>
          </a:p>
        </p:txBody>
      </p:sp>
      <p:sp>
        <p:nvSpPr>
          <p:cNvPr id="676869" name="Text Box 5"/>
          <p:cNvSpPr txBox="1">
            <a:spLocks noChangeArrowheads="1"/>
          </p:cNvSpPr>
          <p:nvPr/>
        </p:nvSpPr>
        <p:spPr bwMode="auto">
          <a:xfrm>
            <a:off x="6172200" y="2663825"/>
            <a:ext cx="1905000" cy="379413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800"/>
              <a:t>Check Constraint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51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5951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7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6868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808288"/>
            <a:ext cx="8534400" cy="620712"/>
          </a:xfrm>
        </p:spPr>
        <p:txBody>
          <a:bodyPr>
            <a:normAutofit fontScale="90000"/>
          </a:bodyPr>
          <a:lstStyle/>
          <a:p>
            <a:r>
              <a:rPr lang="en-US" sz="3500" dirty="0"/>
              <a:t>Assertion hay Check Constraint ?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52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4290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smtClean="0"/>
              <a:t>b) Trigger</a:t>
            </a:r>
            <a:endParaRPr lang="en-US" sz="3500" b="1" dirty="0"/>
          </a:p>
        </p:txBody>
      </p:sp>
      <p:sp>
        <p:nvSpPr>
          <p:cNvPr id="67891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447800"/>
            <a:ext cx="8229600" cy="4953000"/>
          </a:xfrm>
        </p:spPr>
        <p:txBody>
          <a:bodyPr/>
          <a:lstStyle/>
          <a:p>
            <a:pPr algn="just"/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u="sng" dirty="0" err="1"/>
              <a:t>tự</a:t>
            </a:r>
            <a:r>
              <a:rPr lang="en-US" u="sng" dirty="0"/>
              <a:t> </a:t>
            </a:r>
            <a:r>
              <a:rPr lang="en-US" u="sng" dirty="0" err="1"/>
              <a:t>động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cố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đó</a:t>
            </a:r>
            <a:endParaRPr lang="en-US" dirty="0"/>
          </a:p>
        </p:txBody>
      </p:sp>
      <p:grpSp>
        <p:nvGrpSpPr>
          <p:cNvPr id="678960" name="Group 48"/>
          <p:cNvGrpSpPr>
            <a:grpSpLocks/>
          </p:cNvGrpSpPr>
          <p:nvPr/>
        </p:nvGrpSpPr>
        <p:grpSpPr bwMode="auto">
          <a:xfrm>
            <a:off x="1524000" y="2438400"/>
            <a:ext cx="6096000" cy="3810000"/>
            <a:chOff x="960" y="1440"/>
            <a:chExt cx="3840" cy="2400"/>
          </a:xfrm>
        </p:grpSpPr>
        <p:grpSp>
          <p:nvGrpSpPr>
            <p:cNvPr id="678959" name="Group 47"/>
            <p:cNvGrpSpPr>
              <a:grpSpLocks/>
            </p:cNvGrpSpPr>
            <p:nvPr/>
          </p:nvGrpSpPr>
          <p:grpSpPr bwMode="auto">
            <a:xfrm>
              <a:off x="3648" y="3120"/>
              <a:ext cx="1152" cy="480"/>
              <a:chOff x="3264" y="3120"/>
              <a:chExt cx="1152" cy="480"/>
            </a:xfrm>
          </p:grpSpPr>
          <p:sp>
            <p:nvSpPr>
              <p:cNvPr id="678956" name="AutoShape 44"/>
              <p:cNvSpPr>
                <a:spLocks noChangeArrowheads="1"/>
              </p:cNvSpPr>
              <p:nvPr/>
            </p:nvSpPr>
            <p:spPr bwMode="auto">
              <a:xfrm>
                <a:off x="3264" y="3120"/>
                <a:ext cx="1152" cy="480"/>
              </a:xfrm>
              <a:prstGeom prst="pentagon">
                <a:avLst/>
              </a:prstGeom>
              <a:solidFill>
                <a:srgbClr val="FFCC99"/>
              </a:solidFill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78953" name="Text Box 41"/>
              <p:cNvSpPr txBox="1">
                <a:spLocks noChangeArrowheads="1"/>
              </p:cNvSpPr>
              <p:nvPr/>
            </p:nvSpPr>
            <p:spPr bwMode="auto">
              <a:xfrm>
                <a:off x="3360" y="3216"/>
                <a:ext cx="960" cy="346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/>
                  <a:t>row-level</a:t>
                </a:r>
                <a:br>
                  <a:rPr lang="en-US"/>
                </a:br>
                <a:r>
                  <a:rPr lang="en-US"/>
                  <a:t>statement-level</a:t>
                </a:r>
              </a:p>
            </p:txBody>
          </p:sp>
        </p:grpSp>
        <p:grpSp>
          <p:nvGrpSpPr>
            <p:cNvPr id="678949" name="Group 37"/>
            <p:cNvGrpSpPr>
              <a:grpSpLocks/>
            </p:cNvGrpSpPr>
            <p:nvPr/>
          </p:nvGrpSpPr>
          <p:grpSpPr bwMode="auto">
            <a:xfrm>
              <a:off x="1392" y="1968"/>
              <a:ext cx="624" cy="528"/>
              <a:chOff x="1632" y="1968"/>
              <a:chExt cx="624" cy="528"/>
            </a:xfrm>
          </p:grpSpPr>
          <p:sp>
            <p:nvSpPr>
              <p:cNvPr id="678947" name="AutoShape 35"/>
              <p:cNvSpPr>
                <a:spLocks noChangeArrowheads="1"/>
              </p:cNvSpPr>
              <p:nvPr/>
            </p:nvSpPr>
            <p:spPr bwMode="auto">
              <a:xfrm rot="4703486">
                <a:off x="1728" y="1968"/>
                <a:ext cx="528" cy="528"/>
              </a:xfrm>
              <a:prstGeom prst="triangle">
                <a:avLst>
                  <a:gd name="adj" fmla="val 50000"/>
                </a:avLst>
              </a:prstGeom>
              <a:solidFill>
                <a:srgbClr val="CC99FF">
                  <a:alpha val="80000"/>
                </a:srgbClr>
              </a:solidFill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78945" name="Text Box 33"/>
              <p:cNvSpPr txBox="1">
                <a:spLocks noChangeArrowheads="1"/>
              </p:cNvSpPr>
              <p:nvPr/>
            </p:nvSpPr>
            <p:spPr bwMode="auto">
              <a:xfrm>
                <a:off x="1632" y="2054"/>
                <a:ext cx="528" cy="346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/>
                  <a:t>trước sau</a:t>
                </a:r>
              </a:p>
            </p:txBody>
          </p:sp>
        </p:grpSp>
        <p:grpSp>
          <p:nvGrpSpPr>
            <p:cNvPr id="678944" name="Group 32"/>
            <p:cNvGrpSpPr>
              <a:grpSpLocks/>
            </p:cNvGrpSpPr>
            <p:nvPr/>
          </p:nvGrpSpPr>
          <p:grpSpPr bwMode="auto">
            <a:xfrm>
              <a:off x="960" y="2784"/>
              <a:ext cx="864" cy="432"/>
              <a:chOff x="1152" y="2688"/>
              <a:chExt cx="864" cy="432"/>
            </a:xfrm>
          </p:grpSpPr>
          <p:sp>
            <p:nvSpPr>
              <p:cNvPr id="678943" name="Oval 31"/>
              <p:cNvSpPr>
                <a:spLocks noChangeArrowheads="1"/>
              </p:cNvSpPr>
              <p:nvPr/>
            </p:nvSpPr>
            <p:spPr bwMode="auto">
              <a:xfrm>
                <a:off x="1152" y="2688"/>
                <a:ext cx="864" cy="432"/>
              </a:xfrm>
              <a:prstGeom prst="ellipse">
                <a:avLst/>
              </a:prstGeom>
              <a:solidFill>
                <a:srgbClr val="FF99CC">
                  <a:alpha val="80000"/>
                </a:srgbClr>
              </a:solidFill>
              <a:ln w="127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78939" name="Text Box 27"/>
              <p:cNvSpPr txBox="1">
                <a:spLocks noChangeArrowheads="1"/>
              </p:cNvSpPr>
              <p:nvPr/>
            </p:nvSpPr>
            <p:spPr bwMode="auto">
              <a:xfrm>
                <a:off x="1200" y="2726"/>
                <a:ext cx="816" cy="346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/>
                  <a:t>giá trị mới giá trị cũ</a:t>
                </a:r>
              </a:p>
            </p:txBody>
          </p:sp>
        </p:grpSp>
        <p:grpSp>
          <p:nvGrpSpPr>
            <p:cNvPr id="678946" name="Group 34"/>
            <p:cNvGrpSpPr>
              <a:grpSpLocks/>
            </p:cNvGrpSpPr>
            <p:nvPr/>
          </p:nvGrpSpPr>
          <p:grpSpPr bwMode="auto">
            <a:xfrm>
              <a:off x="1392" y="1440"/>
              <a:ext cx="672" cy="624"/>
              <a:chOff x="1488" y="1440"/>
              <a:chExt cx="672" cy="624"/>
            </a:xfrm>
          </p:grpSpPr>
          <p:sp>
            <p:nvSpPr>
              <p:cNvPr id="678940" name="Oval 28"/>
              <p:cNvSpPr>
                <a:spLocks noChangeArrowheads="1"/>
              </p:cNvSpPr>
              <p:nvPr/>
            </p:nvSpPr>
            <p:spPr bwMode="auto">
              <a:xfrm>
                <a:off x="1488" y="1440"/>
                <a:ext cx="672" cy="624"/>
              </a:xfrm>
              <a:prstGeom prst="ellipse">
                <a:avLst/>
              </a:prstGeom>
              <a:solidFill>
                <a:srgbClr val="99CCFF">
                  <a:alpha val="80000"/>
                </a:srgbClr>
              </a:solidFill>
              <a:ln w="127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78938" name="Text Box 26"/>
              <p:cNvSpPr txBox="1">
                <a:spLocks noChangeArrowheads="1"/>
              </p:cNvSpPr>
              <p:nvPr/>
            </p:nvSpPr>
            <p:spPr bwMode="auto">
              <a:xfrm>
                <a:off x="1552" y="1510"/>
                <a:ext cx="560" cy="460"/>
              </a:xfrm>
              <a:prstGeom prst="rect">
                <a:avLst/>
              </a:prstGeom>
              <a:noFill/>
              <a:ln w="254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sz="1400"/>
                  <a:t>thêm xóa </a:t>
                </a:r>
                <a:br>
                  <a:rPr lang="en-US" sz="1400"/>
                </a:br>
                <a:r>
                  <a:rPr lang="en-US" sz="1400"/>
                  <a:t>sửa</a:t>
                </a:r>
              </a:p>
            </p:txBody>
          </p:sp>
        </p:grpSp>
        <p:grpSp>
          <p:nvGrpSpPr>
            <p:cNvPr id="678921" name="Group 9"/>
            <p:cNvGrpSpPr>
              <a:grpSpLocks/>
            </p:cNvGrpSpPr>
            <p:nvPr/>
          </p:nvGrpSpPr>
          <p:grpSpPr bwMode="auto">
            <a:xfrm>
              <a:off x="1680" y="2832"/>
              <a:ext cx="960" cy="384"/>
              <a:chOff x="1256" y="2528"/>
              <a:chExt cx="960" cy="384"/>
            </a:xfrm>
          </p:grpSpPr>
          <p:sp>
            <p:nvSpPr>
              <p:cNvPr id="678916" name="AutoShape 4"/>
              <p:cNvSpPr>
                <a:spLocks noChangeArrowheads="1"/>
              </p:cNvSpPr>
              <p:nvPr/>
            </p:nvSpPr>
            <p:spPr bwMode="auto">
              <a:xfrm>
                <a:off x="1256" y="2528"/>
                <a:ext cx="960" cy="384"/>
              </a:xfrm>
              <a:prstGeom prst="diamond">
                <a:avLst/>
              </a:prstGeom>
              <a:noFill/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78917" name="Text Box 5"/>
              <p:cNvSpPr txBox="1">
                <a:spLocks noChangeArrowheads="1"/>
              </p:cNvSpPr>
              <p:nvPr/>
            </p:nvSpPr>
            <p:spPr bwMode="auto">
              <a:xfrm>
                <a:off x="1344" y="2601"/>
                <a:ext cx="816" cy="231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sz="1800"/>
                  <a:t>Điều kiện</a:t>
                </a:r>
              </a:p>
            </p:txBody>
          </p:sp>
        </p:grpSp>
        <p:grpSp>
          <p:nvGrpSpPr>
            <p:cNvPr id="678925" name="Group 13"/>
            <p:cNvGrpSpPr>
              <a:grpSpLocks/>
            </p:cNvGrpSpPr>
            <p:nvPr/>
          </p:nvGrpSpPr>
          <p:grpSpPr bwMode="auto">
            <a:xfrm>
              <a:off x="3216" y="2880"/>
              <a:ext cx="1248" cy="336"/>
              <a:chOff x="2880" y="2544"/>
              <a:chExt cx="1248" cy="336"/>
            </a:xfrm>
          </p:grpSpPr>
          <p:sp>
            <p:nvSpPr>
              <p:cNvPr id="678918" name="Rectangle 6"/>
              <p:cNvSpPr>
                <a:spLocks noChangeArrowheads="1"/>
              </p:cNvSpPr>
              <p:nvPr/>
            </p:nvSpPr>
            <p:spPr bwMode="auto">
              <a:xfrm>
                <a:off x="2880" y="2544"/>
                <a:ext cx="1248" cy="336"/>
              </a:xfrm>
              <a:prstGeom prst="rect">
                <a:avLst/>
              </a:prstGeom>
              <a:noFill/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78919" name="Text Box 7"/>
              <p:cNvSpPr txBox="1">
                <a:spLocks noChangeArrowheads="1"/>
              </p:cNvSpPr>
              <p:nvPr/>
            </p:nvSpPr>
            <p:spPr bwMode="auto">
              <a:xfrm>
                <a:off x="2880" y="2592"/>
                <a:ext cx="1248" cy="231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sz="1800"/>
                  <a:t>Tập hợp các lệnh</a:t>
                </a:r>
              </a:p>
            </p:txBody>
          </p:sp>
        </p:grpSp>
        <p:grpSp>
          <p:nvGrpSpPr>
            <p:cNvPr id="678926" name="Group 14"/>
            <p:cNvGrpSpPr>
              <a:grpSpLocks/>
            </p:cNvGrpSpPr>
            <p:nvPr/>
          </p:nvGrpSpPr>
          <p:grpSpPr bwMode="auto">
            <a:xfrm>
              <a:off x="1680" y="3600"/>
              <a:ext cx="1008" cy="240"/>
              <a:chOff x="1344" y="3264"/>
              <a:chExt cx="1008" cy="240"/>
            </a:xfrm>
          </p:grpSpPr>
          <p:sp>
            <p:nvSpPr>
              <p:cNvPr id="678922" name="Rectangle 10"/>
              <p:cNvSpPr>
                <a:spLocks noChangeArrowheads="1"/>
              </p:cNvSpPr>
              <p:nvPr/>
            </p:nvSpPr>
            <p:spPr bwMode="auto">
              <a:xfrm>
                <a:off x="1344" y="3264"/>
                <a:ext cx="1008" cy="240"/>
              </a:xfrm>
              <a:prstGeom prst="rect">
                <a:avLst/>
              </a:prstGeom>
              <a:noFill/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78923" name="Text Box 11"/>
              <p:cNvSpPr txBox="1">
                <a:spLocks noChangeArrowheads="1"/>
              </p:cNvSpPr>
              <p:nvPr/>
            </p:nvSpPr>
            <p:spPr bwMode="auto">
              <a:xfrm>
                <a:off x="1344" y="3264"/>
                <a:ext cx="1008" cy="231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sz="1800"/>
                  <a:t>Thông báo lỗi</a:t>
                </a:r>
              </a:p>
            </p:txBody>
          </p:sp>
        </p:grpSp>
        <p:sp>
          <p:nvSpPr>
            <p:cNvPr id="678928" name="Text Box 16"/>
            <p:cNvSpPr txBox="1">
              <a:spLocks noChangeArrowheads="1"/>
            </p:cNvSpPr>
            <p:nvPr/>
          </p:nvSpPr>
          <p:spPr bwMode="auto">
            <a:xfrm>
              <a:off x="2640" y="2832"/>
              <a:ext cx="576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olidFill>
                    <a:srgbClr val="777777"/>
                  </a:solidFill>
                </a:rPr>
                <a:t>Thỏa</a:t>
              </a:r>
            </a:p>
          </p:txBody>
        </p:sp>
        <p:sp>
          <p:nvSpPr>
            <p:cNvPr id="678930" name="Text Box 18"/>
            <p:cNvSpPr txBox="1">
              <a:spLocks noChangeArrowheads="1"/>
            </p:cNvSpPr>
            <p:nvPr/>
          </p:nvSpPr>
          <p:spPr bwMode="auto">
            <a:xfrm>
              <a:off x="2160" y="3312"/>
              <a:ext cx="72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olidFill>
                    <a:srgbClr val="777777"/>
                  </a:solidFill>
                </a:rPr>
                <a:t>Không thỏa</a:t>
              </a:r>
            </a:p>
          </p:txBody>
        </p:sp>
        <p:grpSp>
          <p:nvGrpSpPr>
            <p:cNvPr id="678933" name="Group 21"/>
            <p:cNvGrpSpPr>
              <a:grpSpLocks/>
            </p:cNvGrpSpPr>
            <p:nvPr/>
          </p:nvGrpSpPr>
          <p:grpSpPr bwMode="auto">
            <a:xfrm>
              <a:off x="1872" y="1728"/>
              <a:ext cx="576" cy="528"/>
              <a:chOff x="672" y="1536"/>
              <a:chExt cx="576" cy="528"/>
            </a:xfrm>
          </p:grpSpPr>
          <p:sp>
            <p:nvSpPr>
              <p:cNvPr id="678931" name="Rectangle 19"/>
              <p:cNvSpPr>
                <a:spLocks noChangeArrowheads="1"/>
              </p:cNvSpPr>
              <p:nvPr/>
            </p:nvSpPr>
            <p:spPr bwMode="auto">
              <a:xfrm>
                <a:off x="672" y="1536"/>
                <a:ext cx="576" cy="528"/>
              </a:xfrm>
              <a:prstGeom prst="rect">
                <a:avLst/>
              </a:prstGeom>
              <a:noFill/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78932" name="Text Box 20"/>
              <p:cNvSpPr txBox="1">
                <a:spLocks noChangeArrowheads="1"/>
              </p:cNvSpPr>
              <p:nvPr/>
            </p:nvSpPr>
            <p:spPr bwMode="auto">
              <a:xfrm>
                <a:off x="720" y="1584"/>
                <a:ext cx="480" cy="404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sz="1800"/>
                  <a:t>Biến cố</a:t>
                </a:r>
              </a:p>
            </p:txBody>
          </p:sp>
        </p:grpSp>
        <p:sp>
          <p:nvSpPr>
            <p:cNvPr id="678934" name="Line 22"/>
            <p:cNvSpPr>
              <a:spLocks noChangeShapeType="1"/>
            </p:cNvSpPr>
            <p:nvPr/>
          </p:nvSpPr>
          <p:spPr bwMode="auto">
            <a:xfrm>
              <a:off x="2160" y="2256"/>
              <a:ext cx="0" cy="5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78935" name="Line 23"/>
            <p:cNvSpPr>
              <a:spLocks noChangeShapeType="1"/>
            </p:cNvSpPr>
            <p:nvPr/>
          </p:nvSpPr>
          <p:spPr bwMode="auto">
            <a:xfrm>
              <a:off x="2640" y="3024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8936" name="Line 24"/>
            <p:cNvSpPr>
              <a:spLocks noChangeShapeType="1"/>
            </p:cNvSpPr>
            <p:nvPr/>
          </p:nvSpPr>
          <p:spPr bwMode="auto">
            <a:xfrm>
              <a:off x="2160" y="3216"/>
              <a:ext cx="0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53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36834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/>
              <a:t>b) Trigger</a:t>
            </a:r>
            <a:endParaRPr lang="en-US" sz="3500" dirty="0"/>
          </a:p>
        </p:txBody>
      </p:sp>
      <p:sp>
        <p:nvSpPr>
          <p:cNvPr id="68096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r>
              <a:rPr lang="en-US" dirty="0" err="1"/>
              <a:t>Cú</a:t>
            </a:r>
            <a:r>
              <a:rPr lang="en-US" dirty="0"/>
              <a:t> </a:t>
            </a:r>
            <a:r>
              <a:rPr lang="en-US" dirty="0" err="1"/>
              <a:t>pháp</a:t>
            </a:r>
            <a:endParaRPr lang="en-US" dirty="0"/>
          </a:p>
        </p:txBody>
      </p:sp>
      <p:sp>
        <p:nvSpPr>
          <p:cNvPr id="680994" name="Text Box 34"/>
          <p:cNvSpPr txBox="1">
            <a:spLocks noChangeArrowheads="1"/>
          </p:cNvSpPr>
          <p:nvPr/>
        </p:nvSpPr>
        <p:spPr bwMode="auto">
          <a:xfrm>
            <a:off x="914400" y="2065338"/>
            <a:ext cx="7620000" cy="3268662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1800" b="1" dirty="0"/>
              <a:t>CREATE TRIGGER</a:t>
            </a:r>
            <a:r>
              <a:rPr lang="en-US" sz="1800" dirty="0"/>
              <a:t> &lt;</a:t>
            </a:r>
            <a:r>
              <a:rPr lang="en-US" sz="1800" dirty="0" err="1"/>
              <a:t>Tên_trigger</a:t>
            </a:r>
            <a:r>
              <a:rPr lang="en-US" sz="1800" dirty="0"/>
              <a:t>&gt; </a:t>
            </a:r>
          </a:p>
          <a:p>
            <a:pPr algn="l"/>
            <a:r>
              <a:rPr lang="en-US" sz="1800" b="1" dirty="0"/>
              <a:t>AFTER|BEFORE     INSERT|UPDATE|DELETE    ON</a:t>
            </a:r>
            <a:r>
              <a:rPr lang="en-US" sz="1800" dirty="0"/>
              <a:t>   &lt;</a:t>
            </a:r>
            <a:r>
              <a:rPr lang="en-US" sz="1800" dirty="0" err="1"/>
              <a:t>Tên_bảng</a:t>
            </a:r>
            <a:r>
              <a:rPr lang="en-US" sz="1800" dirty="0"/>
              <a:t>&gt;</a:t>
            </a:r>
          </a:p>
          <a:p>
            <a:pPr algn="l"/>
            <a:r>
              <a:rPr lang="en-US" sz="1800" b="1" dirty="0"/>
              <a:t>REFERENCING</a:t>
            </a:r>
          </a:p>
          <a:p>
            <a:pPr algn="l"/>
            <a:r>
              <a:rPr lang="en-US" sz="1800" dirty="0"/>
              <a:t>	</a:t>
            </a:r>
            <a:r>
              <a:rPr lang="en-US" sz="1800" b="1" dirty="0"/>
              <a:t>NEW   ROW|TABLE   AS</a:t>
            </a:r>
            <a:r>
              <a:rPr lang="en-US" sz="1800" dirty="0"/>
              <a:t>   &lt;Tên_1&gt;</a:t>
            </a:r>
          </a:p>
          <a:p>
            <a:pPr algn="l"/>
            <a:r>
              <a:rPr lang="en-US" sz="1800" dirty="0"/>
              <a:t>	</a:t>
            </a:r>
            <a:r>
              <a:rPr lang="en-US" sz="1800" b="1" dirty="0"/>
              <a:t>OLD    ROW|TABLE   AS</a:t>
            </a:r>
            <a:r>
              <a:rPr lang="en-US" sz="1800" dirty="0"/>
              <a:t>   &lt;Tên_2&gt;</a:t>
            </a:r>
          </a:p>
          <a:p>
            <a:pPr algn="l"/>
            <a:r>
              <a:rPr lang="en-US" sz="1800" b="1" dirty="0"/>
              <a:t>FOR EACH ROW | FOR EACH STATEMENT</a:t>
            </a:r>
          </a:p>
          <a:p>
            <a:pPr algn="l"/>
            <a:r>
              <a:rPr lang="en-US" sz="1800" b="1" dirty="0"/>
              <a:t>WHEN (</a:t>
            </a:r>
            <a:r>
              <a:rPr lang="en-US" sz="1800" dirty="0"/>
              <a:t>&lt;</a:t>
            </a:r>
            <a:r>
              <a:rPr lang="en-US" sz="1800" dirty="0" err="1"/>
              <a:t>Điều</a:t>
            </a:r>
            <a:r>
              <a:rPr lang="en-US" sz="1800" dirty="0"/>
              <a:t> </a:t>
            </a:r>
            <a:r>
              <a:rPr lang="en-US" sz="1800" dirty="0" err="1"/>
              <a:t>kiện</a:t>
            </a:r>
            <a:r>
              <a:rPr lang="en-US" sz="1800" dirty="0"/>
              <a:t>&gt;</a:t>
            </a:r>
            <a:r>
              <a:rPr lang="en-US" sz="1800" b="1" dirty="0"/>
              <a:t>)</a:t>
            </a:r>
          </a:p>
          <a:p>
            <a:pPr algn="l"/>
            <a:r>
              <a:rPr lang="en-US" sz="1800" dirty="0"/>
              <a:t>	&lt;</a:t>
            </a:r>
            <a:r>
              <a:rPr lang="en-US" sz="1800" dirty="0" err="1"/>
              <a:t>Tập_lệnh_SQL</a:t>
            </a:r>
            <a:r>
              <a:rPr lang="en-US" sz="1800" dirty="0"/>
              <a:t>&gt;</a:t>
            </a:r>
          </a:p>
        </p:txBody>
      </p:sp>
      <p:sp>
        <p:nvSpPr>
          <p:cNvPr id="680997" name="Text Box 37"/>
          <p:cNvSpPr txBox="1">
            <a:spLocks noChangeArrowheads="1"/>
          </p:cNvSpPr>
          <p:nvPr/>
        </p:nvSpPr>
        <p:spPr bwMode="auto">
          <a:xfrm>
            <a:off x="914400" y="5640388"/>
            <a:ext cx="4114800" cy="379412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1800" b="1"/>
              <a:t>DROP TRIGGER </a:t>
            </a:r>
            <a:r>
              <a:rPr lang="en-US" sz="1800"/>
              <a:t>&lt;Tên_trigger&gt;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54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27978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Trigger – FOR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vi-VN" smtClean="0"/>
              <a:t>Chương 5: Ràng buộc toàn vẹn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B646BEB-F8E8-4D57-B8E8-1CD82665229A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1046328" y="1752600"/>
            <a:ext cx="6781800" cy="3000821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0000CC"/>
                </a:solidFill>
              </a:rPr>
              <a:t>CREATE TRIGGER</a:t>
            </a:r>
            <a:r>
              <a:rPr lang="en-US" sz="1800" dirty="0"/>
              <a:t> </a:t>
            </a:r>
            <a:r>
              <a:rPr lang="en-US" sz="1800" dirty="0" err="1" smtClean="0"/>
              <a:t>TênTrigger</a:t>
            </a:r>
            <a:r>
              <a:rPr lang="en-US" sz="1800" dirty="0" smtClean="0"/>
              <a:t> </a:t>
            </a:r>
            <a:r>
              <a:rPr lang="en-US" sz="1800" dirty="0" smtClean="0">
                <a:solidFill>
                  <a:srgbClr val="0000CC"/>
                </a:solidFill>
              </a:rPr>
              <a:t>ON</a:t>
            </a:r>
            <a:r>
              <a:rPr lang="en-US" sz="1800" dirty="0" smtClean="0"/>
              <a:t> </a:t>
            </a:r>
            <a:r>
              <a:rPr lang="en-US" sz="1800" dirty="0" err="1" smtClean="0"/>
              <a:t>Tên</a:t>
            </a:r>
            <a:r>
              <a:rPr lang="en-US" sz="1800" dirty="0" smtClean="0"/>
              <a:t> </a:t>
            </a:r>
            <a:r>
              <a:rPr lang="en-US" sz="1800" dirty="0" err="1" smtClean="0"/>
              <a:t>Bảng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 smtClean="0">
                <a:solidFill>
                  <a:srgbClr val="0000CC"/>
                </a:solidFill>
              </a:rPr>
              <a:t>FOR </a:t>
            </a:r>
            <a:r>
              <a:rPr lang="en-US" sz="1800" dirty="0" err="1" smtClean="0"/>
              <a:t>Hành</a:t>
            </a:r>
            <a:r>
              <a:rPr lang="en-US" sz="1800" dirty="0" smtClean="0"/>
              <a:t> </a:t>
            </a:r>
            <a:r>
              <a:rPr lang="en-US" sz="1800" dirty="0" err="1" smtClean="0"/>
              <a:t>động</a:t>
            </a:r>
            <a:r>
              <a:rPr lang="en-US" sz="1800" dirty="0" smtClean="0"/>
              <a:t> </a:t>
            </a:r>
            <a:r>
              <a:rPr lang="en-US" sz="1800" dirty="0" err="1" smtClean="0"/>
              <a:t>cập</a:t>
            </a:r>
            <a:r>
              <a:rPr lang="en-US" sz="1800" dirty="0" smtClean="0"/>
              <a:t> </a:t>
            </a:r>
            <a:r>
              <a:rPr lang="en-US" sz="1800" dirty="0" err="1" smtClean="0"/>
              <a:t>nhật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 smtClean="0">
                <a:solidFill>
                  <a:srgbClr val="0000CC"/>
                </a:solidFill>
              </a:rPr>
              <a:t>AS</a:t>
            </a:r>
          </a:p>
          <a:p>
            <a:pPr algn="l">
              <a:lnSpc>
                <a:spcPct val="150000"/>
              </a:lnSpc>
            </a:pPr>
            <a:r>
              <a:rPr lang="en-US" sz="1800" dirty="0" smtClean="0">
                <a:solidFill>
                  <a:srgbClr val="0000CC"/>
                </a:solidFill>
              </a:rPr>
              <a:t>	</a:t>
            </a:r>
            <a:r>
              <a:rPr lang="en-US" sz="1800" dirty="0" err="1" smtClean="0"/>
              <a:t>Khai</a:t>
            </a:r>
            <a:r>
              <a:rPr lang="en-US" sz="1800" dirty="0" smtClean="0"/>
              <a:t> </a:t>
            </a:r>
            <a:r>
              <a:rPr lang="en-US" sz="1800" dirty="0" err="1" smtClean="0"/>
              <a:t>báo</a:t>
            </a:r>
            <a:r>
              <a:rPr lang="en-US" sz="1800" dirty="0" smtClean="0"/>
              <a:t> </a:t>
            </a:r>
            <a:r>
              <a:rPr lang="en-US" sz="1800" dirty="0" err="1" smtClean="0"/>
              <a:t>biến</a:t>
            </a:r>
            <a:r>
              <a:rPr lang="en-US" sz="1800" dirty="0" smtClean="0"/>
              <a:t> …</a:t>
            </a:r>
          </a:p>
          <a:p>
            <a:pPr algn="l">
              <a:lnSpc>
                <a:spcPct val="150000"/>
              </a:lnSpc>
            </a:pPr>
            <a:r>
              <a:rPr lang="en-US" dirty="0" smtClean="0">
                <a:solidFill>
                  <a:srgbClr val="0000CC"/>
                </a:solidFill>
              </a:rPr>
              <a:t>	</a:t>
            </a:r>
            <a:r>
              <a:rPr lang="en-US" dirty="0" err="1" smtClean="0"/>
              <a:t>Nhận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bảng</a:t>
            </a:r>
            <a:r>
              <a:rPr lang="en-US" dirty="0" smtClean="0"/>
              <a:t> </a:t>
            </a:r>
            <a:r>
              <a:rPr lang="en-US" dirty="0" err="1" smtClean="0"/>
              <a:t>trung</a:t>
            </a:r>
            <a:r>
              <a:rPr lang="en-US" dirty="0" smtClean="0"/>
              <a:t> </a:t>
            </a:r>
            <a:r>
              <a:rPr lang="en-US" dirty="0" err="1" smtClean="0"/>
              <a:t>gian</a:t>
            </a:r>
            <a:r>
              <a:rPr lang="en-US" dirty="0" smtClean="0"/>
              <a:t> …</a:t>
            </a:r>
          </a:p>
          <a:p>
            <a:pPr algn="l">
              <a:lnSpc>
                <a:spcPct val="150000"/>
              </a:lnSpc>
            </a:pPr>
            <a:r>
              <a:rPr lang="en-US" sz="1800" dirty="0" smtClean="0"/>
              <a:t>	</a:t>
            </a:r>
            <a:r>
              <a:rPr lang="en-US" sz="1800" dirty="0" err="1" smtClean="0"/>
              <a:t>Các</a:t>
            </a:r>
            <a:r>
              <a:rPr lang="en-US" sz="1800" dirty="0" smtClean="0"/>
              <a:t> </a:t>
            </a:r>
            <a:r>
              <a:rPr lang="en-US" sz="1800" dirty="0" err="1" smtClean="0"/>
              <a:t>kiểm</a:t>
            </a:r>
            <a:r>
              <a:rPr lang="en-US" sz="1800" dirty="0" smtClean="0"/>
              <a:t> </a:t>
            </a:r>
            <a:r>
              <a:rPr lang="en-US" sz="1800" dirty="0" err="1" smtClean="0"/>
              <a:t>tra</a:t>
            </a:r>
            <a:r>
              <a:rPr lang="en-US" sz="1800" dirty="0" smtClean="0"/>
              <a:t> ….</a:t>
            </a:r>
          </a:p>
          <a:p>
            <a:pPr algn="l">
              <a:lnSpc>
                <a:spcPct val="150000"/>
              </a:lnSpc>
            </a:pPr>
            <a:r>
              <a:rPr lang="en-US" dirty="0" smtClean="0">
                <a:solidFill>
                  <a:srgbClr val="0000CC"/>
                </a:solidFill>
              </a:rPr>
              <a:t>GO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101916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15</a:t>
            </a:r>
          </a:p>
        </p:txBody>
      </p:sp>
      <p:sp>
        <p:nvSpPr>
          <p:cNvPr id="683015" name="Rectangle 7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229600" cy="4800600"/>
          </a:xfrm>
          <a:noFill/>
          <a:ln/>
        </p:spPr>
        <p:txBody>
          <a:bodyPr/>
          <a:lstStyle/>
          <a:p>
            <a:r>
              <a:rPr lang="en-US" dirty="0" err="1"/>
              <a:t>Lương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trưởng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50000</a:t>
            </a:r>
          </a:p>
        </p:txBody>
      </p:sp>
      <p:sp>
        <p:nvSpPr>
          <p:cNvPr id="683016" name="Text Box 8"/>
          <p:cNvSpPr txBox="1">
            <a:spLocks noChangeArrowheads="1"/>
          </p:cNvSpPr>
          <p:nvPr/>
        </p:nvSpPr>
        <p:spPr bwMode="auto">
          <a:xfrm>
            <a:off x="1066800" y="2133600"/>
            <a:ext cx="6781800" cy="325596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1800" dirty="0">
                <a:solidFill>
                  <a:srgbClr val="0000CC"/>
                </a:solidFill>
              </a:rPr>
              <a:t>CREATE TRIGGER</a:t>
            </a:r>
            <a:r>
              <a:rPr lang="en-US" sz="1800" dirty="0"/>
              <a:t> TR_PB_UPD</a:t>
            </a:r>
          </a:p>
          <a:p>
            <a:pPr algn="l"/>
            <a:r>
              <a:rPr lang="en-US" sz="1800" dirty="0">
                <a:solidFill>
                  <a:srgbClr val="0000CC"/>
                </a:solidFill>
              </a:rPr>
              <a:t>AFTER UPDATE OF</a:t>
            </a:r>
            <a:r>
              <a:rPr lang="en-US" sz="1800" dirty="0"/>
              <a:t> TRPHG </a:t>
            </a:r>
            <a:r>
              <a:rPr lang="en-US" sz="1800" dirty="0">
                <a:solidFill>
                  <a:srgbClr val="0000CC"/>
                </a:solidFill>
              </a:rPr>
              <a:t>ON</a:t>
            </a:r>
            <a:r>
              <a:rPr lang="en-US" sz="1800" dirty="0"/>
              <a:t> PHONGBAN</a:t>
            </a:r>
          </a:p>
          <a:p>
            <a:pPr algn="l"/>
            <a:r>
              <a:rPr lang="en-US" sz="1800" dirty="0">
                <a:solidFill>
                  <a:srgbClr val="0000CC"/>
                </a:solidFill>
              </a:rPr>
              <a:t>REFERENCING</a:t>
            </a:r>
          </a:p>
          <a:p>
            <a:pPr algn="l"/>
            <a:r>
              <a:rPr lang="en-US" sz="1800" dirty="0"/>
              <a:t>	</a:t>
            </a:r>
            <a:r>
              <a:rPr lang="en-US" sz="1800" dirty="0">
                <a:solidFill>
                  <a:srgbClr val="0000CC"/>
                </a:solidFill>
              </a:rPr>
              <a:t>NEW ROW AS</a:t>
            </a:r>
            <a:r>
              <a:rPr lang="en-US" sz="1800" dirty="0"/>
              <a:t> </a:t>
            </a:r>
            <a:r>
              <a:rPr lang="en-US" sz="1800" dirty="0" err="1"/>
              <a:t>NewTuple</a:t>
            </a:r>
            <a:endParaRPr lang="en-US" sz="1800" dirty="0"/>
          </a:p>
          <a:p>
            <a:pPr algn="l"/>
            <a:r>
              <a:rPr lang="en-US" sz="1800" dirty="0">
                <a:solidFill>
                  <a:srgbClr val="0000CC"/>
                </a:solidFill>
              </a:rPr>
              <a:t>FOR EACH ROW</a:t>
            </a:r>
          </a:p>
          <a:p>
            <a:pPr algn="l"/>
            <a:r>
              <a:rPr lang="en-US" sz="1800" dirty="0">
                <a:solidFill>
                  <a:srgbClr val="0000CC"/>
                </a:solidFill>
              </a:rPr>
              <a:t>WHEN</a:t>
            </a:r>
            <a:r>
              <a:rPr lang="en-US" sz="1800" dirty="0"/>
              <a:t> (50000 &gt;= (</a:t>
            </a:r>
            <a:r>
              <a:rPr lang="en-US" sz="1800" dirty="0">
                <a:solidFill>
                  <a:srgbClr val="0000CC"/>
                </a:solidFill>
              </a:rPr>
              <a:t>SELECT</a:t>
            </a:r>
            <a:r>
              <a:rPr lang="en-US" sz="1800" dirty="0"/>
              <a:t> LUONG 	</a:t>
            </a:r>
            <a:r>
              <a:rPr lang="en-US" sz="1800" dirty="0">
                <a:solidFill>
                  <a:srgbClr val="0000CC"/>
                </a:solidFill>
              </a:rPr>
              <a:t>FROM</a:t>
            </a:r>
            <a:r>
              <a:rPr lang="en-US" sz="1800" dirty="0"/>
              <a:t> NHANVIEN</a:t>
            </a:r>
          </a:p>
          <a:p>
            <a:pPr algn="l"/>
            <a:r>
              <a:rPr lang="en-US" sz="1800" dirty="0"/>
              <a:t>			</a:t>
            </a:r>
            <a:r>
              <a:rPr lang="en-US" sz="1800" dirty="0">
                <a:solidFill>
                  <a:srgbClr val="0000CC"/>
                </a:solidFill>
              </a:rPr>
              <a:t>WHERE</a:t>
            </a:r>
            <a:r>
              <a:rPr lang="en-US" sz="1800" dirty="0"/>
              <a:t> MANV=</a:t>
            </a:r>
            <a:r>
              <a:rPr lang="en-US" sz="1800" dirty="0" err="1"/>
              <a:t>NewTuple.TRPHG</a:t>
            </a:r>
            <a:r>
              <a:rPr lang="en-US" sz="1800" dirty="0"/>
              <a:t>)) </a:t>
            </a:r>
          </a:p>
          <a:p>
            <a:pPr algn="l"/>
            <a:r>
              <a:rPr lang="en-US" sz="1800" dirty="0"/>
              <a:t>	</a:t>
            </a:r>
            <a:r>
              <a:rPr lang="en-US" sz="1800" dirty="0" err="1"/>
              <a:t>Thông</a:t>
            </a:r>
            <a:r>
              <a:rPr lang="en-US" sz="1800" dirty="0"/>
              <a:t> </a:t>
            </a:r>
            <a:r>
              <a:rPr lang="en-US" sz="1800" dirty="0" err="1"/>
              <a:t>báo</a:t>
            </a:r>
            <a:r>
              <a:rPr lang="en-US" sz="1800" dirty="0"/>
              <a:t> </a:t>
            </a:r>
            <a:r>
              <a:rPr lang="en-US" sz="1800" dirty="0" err="1"/>
              <a:t>lỗi</a:t>
            </a:r>
            <a:r>
              <a:rPr lang="en-US" sz="1800" dirty="0"/>
              <a:t> </a:t>
            </a:r>
            <a:r>
              <a:rPr lang="en-US" sz="1800" dirty="0" err="1"/>
              <a:t>cho</a:t>
            </a:r>
            <a:r>
              <a:rPr lang="en-US" sz="1800" dirty="0"/>
              <a:t> </a:t>
            </a:r>
            <a:r>
              <a:rPr lang="en-US" sz="1800" dirty="0" err="1"/>
              <a:t>người</a:t>
            </a:r>
            <a:r>
              <a:rPr lang="en-US" sz="1800" dirty="0"/>
              <a:t> </a:t>
            </a:r>
            <a:r>
              <a:rPr lang="en-US" sz="1800" dirty="0" err="1"/>
              <a:t>dùng</a:t>
            </a:r>
            <a:endParaRPr lang="en-US" sz="1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56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1028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83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3016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</a:t>
            </a:r>
            <a:r>
              <a:rPr lang="en-US" sz="3500" b="1" dirty="0" smtClean="0"/>
              <a:t>15</a:t>
            </a:r>
            <a:endParaRPr lang="en-US" sz="3500" b="1" dirty="0"/>
          </a:p>
        </p:txBody>
      </p:sp>
      <p:sp>
        <p:nvSpPr>
          <p:cNvPr id="68505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447800"/>
            <a:ext cx="8229600" cy="4953000"/>
          </a:xfrm>
          <a:noFill/>
          <a:ln/>
        </p:spPr>
        <p:txBody>
          <a:bodyPr/>
          <a:lstStyle/>
          <a:p>
            <a:r>
              <a:rPr lang="en-US" dirty="0" err="1"/>
              <a:t>Lương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trưởng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50000</a:t>
            </a:r>
          </a:p>
        </p:txBody>
      </p:sp>
      <p:sp>
        <p:nvSpPr>
          <p:cNvPr id="685060" name="Text Box 4"/>
          <p:cNvSpPr txBox="1">
            <a:spLocks noChangeArrowheads="1"/>
          </p:cNvSpPr>
          <p:nvPr/>
        </p:nvSpPr>
        <p:spPr bwMode="auto">
          <a:xfrm>
            <a:off x="990600" y="1905000"/>
            <a:ext cx="7696200" cy="44942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1800" dirty="0">
                <a:solidFill>
                  <a:srgbClr val="0000CC"/>
                </a:solidFill>
              </a:rPr>
              <a:t>CREATE TRIGGER</a:t>
            </a:r>
            <a:r>
              <a:rPr lang="en-US" sz="1800" dirty="0"/>
              <a:t> TR_PB_UPD</a:t>
            </a:r>
          </a:p>
          <a:p>
            <a:pPr algn="l"/>
            <a:r>
              <a:rPr lang="en-US" sz="1800" dirty="0">
                <a:solidFill>
                  <a:srgbClr val="0000CC"/>
                </a:solidFill>
              </a:rPr>
              <a:t>AFTER UPDATE OF</a:t>
            </a:r>
            <a:r>
              <a:rPr lang="en-US" sz="1800" dirty="0"/>
              <a:t> TRPHG </a:t>
            </a:r>
            <a:r>
              <a:rPr lang="en-US" sz="1800" dirty="0">
                <a:solidFill>
                  <a:srgbClr val="0000CC"/>
                </a:solidFill>
              </a:rPr>
              <a:t>ON</a:t>
            </a:r>
            <a:r>
              <a:rPr lang="en-US" sz="1800" dirty="0"/>
              <a:t> PHONGBAN</a:t>
            </a:r>
          </a:p>
          <a:p>
            <a:pPr algn="l"/>
            <a:r>
              <a:rPr lang="en-US" sz="1800" dirty="0">
                <a:solidFill>
                  <a:srgbClr val="0000CC"/>
                </a:solidFill>
              </a:rPr>
              <a:t>REFERENCING</a:t>
            </a:r>
          </a:p>
          <a:p>
            <a:pPr algn="l">
              <a:spcBef>
                <a:spcPts val="600"/>
              </a:spcBef>
            </a:pPr>
            <a:r>
              <a:rPr lang="en-US" sz="1800" dirty="0"/>
              <a:t>	</a:t>
            </a:r>
            <a:r>
              <a:rPr lang="en-US" sz="1800" dirty="0">
                <a:solidFill>
                  <a:srgbClr val="0000CC"/>
                </a:solidFill>
              </a:rPr>
              <a:t>NEW ROW AS</a:t>
            </a:r>
            <a:r>
              <a:rPr lang="en-US" sz="1800" dirty="0"/>
              <a:t> </a:t>
            </a:r>
            <a:r>
              <a:rPr lang="en-US" sz="1800" dirty="0" err="1"/>
              <a:t>NewTuple</a:t>
            </a:r>
            <a:endParaRPr lang="en-US" sz="1800" dirty="0"/>
          </a:p>
          <a:p>
            <a:pPr algn="l"/>
            <a:r>
              <a:rPr lang="en-US" sz="1800" dirty="0"/>
              <a:t>	</a:t>
            </a:r>
            <a:r>
              <a:rPr lang="en-US" sz="1800" dirty="0">
                <a:solidFill>
                  <a:srgbClr val="0000CC"/>
                </a:solidFill>
              </a:rPr>
              <a:t>OLD ROW AS</a:t>
            </a:r>
            <a:r>
              <a:rPr lang="en-US" sz="1800" dirty="0"/>
              <a:t> </a:t>
            </a:r>
            <a:r>
              <a:rPr lang="en-US" sz="1800" dirty="0" err="1"/>
              <a:t>OldTuple</a:t>
            </a:r>
            <a:endParaRPr lang="en-US" sz="1800" dirty="0"/>
          </a:p>
          <a:p>
            <a:pPr algn="l"/>
            <a:r>
              <a:rPr lang="en-US" sz="1800" dirty="0">
                <a:solidFill>
                  <a:srgbClr val="0000CC"/>
                </a:solidFill>
              </a:rPr>
              <a:t>FOR EACH ROW</a:t>
            </a:r>
          </a:p>
          <a:p>
            <a:pPr algn="l"/>
            <a:r>
              <a:rPr lang="en-US" sz="1800" dirty="0">
                <a:solidFill>
                  <a:srgbClr val="0000CC"/>
                </a:solidFill>
              </a:rPr>
              <a:t>WHEN</a:t>
            </a:r>
            <a:r>
              <a:rPr lang="en-US" sz="1800" dirty="0"/>
              <a:t> (50000 &gt;= (</a:t>
            </a:r>
            <a:r>
              <a:rPr lang="en-US" sz="1800" dirty="0">
                <a:solidFill>
                  <a:srgbClr val="0000CC"/>
                </a:solidFill>
              </a:rPr>
              <a:t>SELECT</a:t>
            </a:r>
            <a:r>
              <a:rPr lang="en-US" sz="1800" dirty="0"/>
              <a:t> LUONG 	</a:t>
            </a:r>
            <a:r>
              <a:rPr lang="en-US" sz="1800" dirty="0">
                <a:solidFill>
                  <a:srgbClr val="0000CC"/>
                </a:solidFill>
              </a:rPr>
              <a:t>FROM</a:t>
            </a:r>
            <a:r>
              <a:rPr lang="en-US" sz="1800" dirty="0"/>
              <a:t> NHANVIEN</a:t>
            </a:r>
          </a:p>
          <a:p>
            <a:pPr algn="l"/>
            <a:r>
              <a:rPr lang="en-US" sz="1800" dirty="0"/>
              <a:t>			</a:t>
            </a:r>
            <a:r>
              <a:rPr lang="en-US" sz="1800" dirty="0">
                <a:solidFill>
                  <a:srgbClr val="0000CC"/>
                </a:solidFill>
              </a:rPr>
              <a:t>WHERE</a:t>
            </a:r>
            <a:r>
              <a:rPr lang="en-US" sz="1800" dirty="0"/>
              <a:t> MANV=</a:t>
            </a:r>
            <a:r>
              <a:rPr lang="en-US" sz="1800" dirty="0" err="1"/>
              <a:t>NewTuple.TRPHG</a:t>
            </a:r>
            <a:r>
              <a:rPr lang="en-US" sz="1800" dirty="0"/>
              <a:t>)) </a:t>
            </a:r>
          </a:p>
          <a:p>
            <a:pPr algn="l"/>
            <a:r>
              <a:rPr lang="en-US" sz="1800" dirty="0"/>
              <a:t>	</a:t>
            </a:r>
            <a:r>
              <a:rPr lang="en-US" sz="1800" dirty="0">
                <a:solidFill>
                  <a:srgbClr val="0000CC"/>
                </a:solidFill>
              </a:rPr>
              <a:t>UPDATE</a:t>
            </a:r>
            <a:r>
              <a:rPr lang="en-US" sz="1800" dirty="0"/>
              <a:t> PHONGBAN</a:t>
            </a:r>
          </a:p>
          <a:p>
            <a:pPr algn="l"/>
            <a:r>
              <a:rPr lang="en-US" sz="1800" dirty="0"/>
              <a:t>	</a:t>
            </a:r>
            <a:r>
              <a:rPr lang="en-US" sz="1800" dirty="0">
                <a:solidFill>
                  <a:srgbClr val="0000CC"/>
                </a:solidFill>
              </a:rPr>
              <a:t>SET</a:t>
            </a:r>
            <a:r>
              <a:rPr lang="en-US" sz="1800" dirty="0"/>
              <a:t> TRPHG=</a:t>
            </a:r>
            <a:r>
              <a:rPr lang="en-US" sz="1800" dirty="0" err="1"/>
              <a:t>OldTuple.TRPHG</a:t>
            </a:r>
            <a:endParaRPr lang="en-US" sz="1800" dirty="0"/>
          </a:p>
          <a:p>
            <a:pPr algn="l"/>
            <a:r>
              <a:rPr lang="en-US" sz="1800" dirty="0"/>
              <a:t>	</a:t>
            </a:r>
            <a:r>
              <a:rPr lang="en-US" sz="1800" dirty="0">
                <a:solidFill>
                  <a:srgbClr val="0000CC"/>
                </a:solidFill>
              </a:rPr>
              <a:t>WHERE</a:t>
            </a:r>
            <a:r>
              <a:rPr lang="en-US" sz="1800" dirty="0"/>
              <a:t> TRPHG=</a:t>
            </a:r>
            <a:r>
              <a:rPr lang="en-US" sz="1800" dirty="0" err="1"/>
              <a:t>NewTuple.TRPHG</a:t>
            </a:r>
            <a:endParaRPr lang="en-US" sz="1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57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2018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</a:t>
            </a:r>
            <a:r>
              <a:rPr lang="en-US" sz="3500" b="1" dirty="0" smtClean="0"/>
              <a:t>15</a:t>
            </a:r>
            <a:endParaRPr lang="en-US" sz="3500" b="1" dirty="0"/>
          </a:p>
        </p:txBody>
      </p:sp>
      <p:sp>
        <p:nvSpPr>
          <p:cNvPr id="68710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447800"/>
            <a:ext cx="8229600" cy="4953000"/>
          </a:xfrm>
          <a:noFill/>
          <a:ln/>
        </p:spPr>
        <p:txBody>
          <a:bodyPr/>
          <a:lstStyle/>
          <a:p>
            <a:r>
              <a:rPr lang="en-US" dirty="0" err="1"/>
              <a:t>Lương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trưởng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50000</a:t>
            </a:r>
          </a:p>
        </p:txBody>
      </p:sp>
      <p:sp>
        <p:nvSpPr>
          <p:cNvPr id="687108" name="Text Box 4"/>
          <p:cNvSpPr txBox="1">
            <a:spLocks noChangeArrowheads="1"/>
          </p:cNvSpPr>
          <p:nvPr/>
        </p:nvSpPr>
        <p:spPr bwMode="auto">
          <a:xfrm>
            <a:off x="990600" y="1905000"/>
            <a:ext cx="7696200" cy="44942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1800" dirty="0">
                <a:solidFill>
                  <a:srgbClr val="0000CC"/>
                </a:solidFill>
              </a:rPr>
              <a:t>CREATE TRIGGER</a:t>
            </a:r>
            <a:r>
              <a:rPr lang="en-US" sz="1800" dirty="0"/>
              <a:t> TR_PB_UPD</a:t>
            </a:r>
          </a:p>
          <a:p>
            <a:pPr algn="l"/>
            <a:r>
              <a:rPr lang="en-US" sz="1800" dirty="0">
                <a:solidFill>
                  <a:srgbClr val="0000CC"/>
                </a:solidFill>
              </a:rPr>
              <a:t>AFTER UPDATE OF</a:t>
            </a:r>
            <a:r>
              <a:rPr lang="en-US" sz="1800" dirty="0"/>
              <a:t> LUONG </a:t>
            </a:r>
            <a:r>
              <a:rPr lang="en-US" sz="1800" dirty="0">
                <a:solidFill>
                  <a:srgbClr val="0000CC"/>
                </a:solidFill>
              </a:rPr>
              <a:t>ON</a:t>
            </a:r>
            <a:r>
              <a:rPr lang="en-US" sz="1800" dirty="0"/>
              <a:t> NHANVIEN</a:t>
            </a:r>
          </a:p>
          <a:p>
            <a:pPr algn="l"/>
            <a:r>
              <a:rPr lang="en-US" sz="1800" dirty="0">
                <a:solidFill>
                  <a:srgbClr val="0000CC"/>
                </a:solidFill>
              </a:rPr>
              <a:t>REFERENCING</a:t>
            </a:r>
          </a:p>
          <a:p>
            <a:pPr algn="l"/>
            <a:r>
              <a:rPr lang="en-US" sz="1800" dirty="0"/>
              <a:t>	</a:t>
            </a:r>
            <a:r>
              <a:rPr lang="en-US" sz="1800" dirty="0">
                <a:solidFill>
                  <a:srgbClr val="0000CC"/>
                </a:solidFill>
              </a:rPr>
              <a:t>NEW ROW AS</a:t>
            </a:r>
            <a:r>
              <a:rPr lang="en-US" sz="1800" dirty="0"/>
              <a:t> </a:t>
            </a:r>
            <a:r>
              <a:rPr lang="en-US" sz="1800" dirty="0" err="1"/>
              <a:t>NewTuple</a:t>
            </a:r>
            <a:endParaRPr lang="en-US" sz="1800" dirty="0"/>
          </a:p>
          <a:p>
            <a:pPr algn="l"/>
            <a:r>
              <a:rPr lang="en-US" sz="1800" dirty="0"/>
              <a:t>	</a:t>
            </a:r>
            <a:r>
              <a:rPr lang="en-US" sz="1800" dirty="0">
                <a:solidFill>
                  <a:srgbClr val="0000CC"/>
                </a:solidFill>
              </a:rPr>
              <a:t>OLD ROW AS</a:t>
            </a:r>
            <a:r>
              <a:rPr lang="en-US" sz="1800" dirty="0"/>
              <a:t> </a:t>
            </a:r>
            <a:r>
              <a:rPr lang="en-US" sz="1800" dirty="0" err="1"/>
              <a:t>OldTuple</a:t>
            </a:r>
            <a:endParaRPr lang="en-US" sz="1800" dirty="0"/>
          </a:p>
          <a:p>
            <a:pPr algn="l"/>
            <a:r>
              <a:rPr lang="en-US" sz="1800" dirty="0">
                <a:solidFill>
                  <a:srgbClr val="0000CC"/>
                </a:solidFill>
              </a:rPr>
              <a:t>FOR EACH ROW</a:t>
            </a:r>
          </a:p>
          <a:p>
            <a:pPr algn="l"/>
            <a:r>
              <a:rPr lang="en-US" sz="1800" dirty="0">
                <a:solidFill>
                  <a:srgbClr val="0000CC"/>
                </a:solidFill>
              </a:rPr>
              <a:t>WHEN</a:t>
            </a:r>
            <a:r>
              <a:rPr lang="en-US" sz="1800" dirty="0"/>
              <a:t> (</a:t>
            </a:r>
            <a:r>
              <a:rPr lang="en-US" sz="1800" dirty="0" err="1"/>
              <a:t>NewTuple.LUONG</a:t>
            </a:r>
            <a:r>
              <a:rPr lang="en-US" sz="1800" dirty="0"/>
              <a:t> &lt;= 50000 </a:t>
            </a:r>
            <a:r>
              <a:rPr lang="en-US" sz="1800" dirty="0">
                <a:solidFill>
                  <a:srgbClr val="777777"/>
                </a:solidFill>
              </a:rPr>
              <a:t>AND</a:t>
            </a:r>
            <a:r>
              <a:rPr lang="en-US" sz="1800" dirty="0"/>
              <a:t> </a:t>
            </a:r>
            <a:r>
              <a:rPr lang="en-US" sz="1800" dirty="0" err="1"/>
              <a:t>NewTuple.MANV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777777"/>
                </a:solidFill>
              </a:rPr>
              <a:t>IN</a:t>
            </a:r>
            <a:r>
              <a:rPr lang="en-US" sz="1800" dirty="0"/>
              <a:t> (</a:t>
            </a:r>
          </a:p>
          <a:p>
            <a:pPr algn="l"/>
            <a:r>
              <a:rPr lang="en-US" sz="1800" dirty="0"/>
              <a:t>		</a:t>
            </a:r>
            <a:r>
              <a:rPr lang="en-US" sz="1800" dirty="0">
                <a:solidFill>
                  <a:srgbClr val="0000CC"/>
                </a:solidFill>
              </a:rPr>
              <a:t>SELECT</a:t>
            </a:r>
            <a:r>
              <a:rPr lang="en-US" sz="1800" dirty="0"/>
              <a:t> TRPHG </a:t>
            </a:r>
            <a:r>
              <a:rPr lang="en-US" sz="1800" dirty="0">
                <a:solidFill>
                  <a:srgbClr val="0000CC"/>
                </a:solidFill>
              </a:rPr>
              <a:t>FROM</a:t>
            </a:r>
            <a:r>
              <a:rPr lang="en-US" sz="1800" dirty="0"/>
              <a:t> PHONGBAN )) </a:t>
            </a:r>
          </a:p>
          <a:p>
            <a:pPr algn="l"/>
            <a:r>
              <a:rPr lang="en-US" sz="1800" dirty="0"/>
              <a:t>	</a:t>
            </a:r>
            <a:r>
              <a:rPr lang="en-US" sz="1800" dirty="0">
                <a:solidFill>
                  <a:srgbClr val="0000CC"/>
                </a:solidFill>
              </a:rPr>
              <a:t>UPDATE</a:t>
            </a:r>
            <a:r>
              <a:rPr lang="en-US" sz="1800" dirty="0"/>
              <a:t> NHANVIEN</a:t>
            </a:r>
          </a:p>
          <a:p>
            <a:pPr algn="l"/>
            <a:r>
              <a:rPr lang="en-US" sz="1800" dirty="0"/>
              <a:t>	</a:t>
            </a:r>
            <a:r>
              <a:rPr lang="en-US" sz="1800" dirty="0">
                <a:solidFill>
                  <a:srgbClr val="0000CC"/>
                </a:solidFill>
              </a:rPr>
              <a:t>SET</a:t>
            </a:r>
            <a:r>
              <a:rPr lang="en-US" sz="1800" dirty="0"/>
              <a:t> LUONG=</a:t>
            </a:r>
            <a:r>
              <a:rPr lang="en-US" sz="1800" dirty="0" err="1"/>
              <a:t>OldTuple.LUONG</a:t>
            </a:r>
            <a:endParaRPr lang="en-US" sz="1800" dirty="0"/>
          </a:p>
          <a:p>
            <a:pPr algn="l"/>
            <a:r>
              <a:rPr lang="en-US" sz="1800" dirty="0"/>
              <a:t>	</a:t>
            </a:r>
            <a:r>
              <a:rPr lang="en-US" sz="1800" dirty="0">
                <a:solidFill>
                  <a:srgbClr val="0000CC"/>
                </a:solidFill>
              </a:rPr>
              <a:t>WHERE</a:t>
            </a:r>
            <a:r>
              <a:rPr lang="en-US" sz="1800" dirty="0"/>
              <a:t> LUONG=</a:t>
            </a:r>
            <a:r>
              <a:rPr lang="en-US" sz="1800" dirty="0" err="1"/>
              <a:t>NewTuple.LUONG</a:t>
            </a:r>
            <a:endParaRPr lang="en-US" sz="1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58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8983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8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smtClean="0"/>
              <a:t>c) Transaction</a:t>
            </a:r>
            <a:endParaRPr lang="en-US" sz="3500" b="1" dirty="0"/>
          </a:p>
        </p:txBody>
      </p:sp>
      <p:sp>
        <p:nvSpPr>
          <p:cNvPr id="63181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0"/>
            <a:ext cx="8382000" cy="4953000"/>
          </a:xfrm>
        </p:spPr>
        <p:txBody>
          <a:bodyPr/>
          <a:lstStyle/>
          <a:p>
            <a:pPr algn="just"/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CSDL,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cho</a:t>
            </a:r>
            <a:endParaRPr lang="en-US" dirty="0"/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Hoặc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là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tất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cả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lệnh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đều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được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thực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hiện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thành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công</a:t>
            </a:r>
            <a:endParaRPr lang="en-US" dirty="0">
              <a:solidFill>
                <a:schemeClr val="tx1"/>
              </a:solidFill>
            </a:endParaRP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Hoặc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là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không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có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lệnh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nào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được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thực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hiện</a:t>
            </a:r>
            <a:endParaRPr lang="en-US" dirty="0">
              <a:solidFill>
                <a:schemeClr val="tx1"/>
              </a:solidFill>
            </a:endParaRPr>
          </a:p>
          <a:p>
            <a:pPr algn="just"/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tiền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ngân</a:t>
            </a:r>
            <a:r>
              <a:rPr lang="en-US" dirty="0"/>
              <a:t> </a:t>
            </a:r>
            <a:r>
              <a:rPr lang="en-US" dirty="0" err="1"/>
              <a:t>hàng</a:t>
            </a:r>
            <a:endParaRPr lang="en-US" dirty="0"/>
          </a:p>
        </p:txBody>
      </p:sp>
      <p:sp>
        <p:nvSpPr>
          <p:cNvPr id="631812" name="Text Box 4"/>
          <p:cNvSpPr txBox="1">
            <a:spLocks noChangeArrowheads="1"/>
          </p:cNvSpPr>
          <p:nvPr/>
        </p:nvSpPr>
        <p:spPr bwMode="auto">
          <a:xfrm>
            <a:off x="1143000" y="3886200"/>
            <a:ext cx="6019800" cy="243046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1800" dirty="0" err="1">
                <a:solidFill>
                  <a:srgbClr val="0000CC"/>
                </a:solidFill>
              </a:rPr>
              <a:t>Giao</a:t>
            </a:r>
            <a:r>
              <a:rPr lang="en-US" sz="1800" dirty="0">
                <a:solidFill>
                  <a:srgbClr val="0000CC"/>
                </a:solidFill>
              </a:rPr>
              <a:t> </a:t>
            </a:r>
            <a:r>
              <a:rPr lang="en-US" sz="1800" dirty="0" err="1">
                <a:solidFill>
                  <a:srgbClr val="0000CC"/>
                </a:solidFill>
              </a:rPr>
              <a:t>tác</a:t>
            </a:r>
            <a:r>
              <a:rPr lang="en-US" sz="1800" dirty="0"/>
              <a:t> </a:t>
            </a:r>
            <a:r>
              <a:rPr lang="en-US" sz="1800" dirty="0" err="1"/>
              <a:t>Chuyển_tiền</a:t>
            </a:r>
            <a:endParaRPr lang="en-US" sz="1800" dirty="0"/>
          </a:p>
          <a:p>
            <a:pPr algn="l"/>
            <a:r>
              <a:rPr lang="en-US" sz="1800" dirty="0"/>
              <a:t>	</a:t>
            </a:r>
            <a:r>
              <a:rPr lang="en-US" sz="1800" dirty="0" err="1"/>
              <a:t>Giảm</a:t>
            </a:r>
            <a:r>
              <a:rPr lang="en-US" sz="1800" dirty="0"/>
              <a:t> </a:t>
            </a:r>
            <a:r>
              <a:rPr lang="en-US" sz="1800" dirty="0" err="1"/>
              <a:t>tiền</a:t>
            </a:r>
            <a:r>
              <a:rPr lang="en-US" sz="1800" dirty="0"/>
              <a:t> </a:t>
            </a:r>
            <a:r>
              <a:rPr lang="en-US" sz="1800" dirty="0" err="1"/>
              <a:t>trong</a:t>
            </a:r>
            <a:r>
              <a:rPr lang="en-US" sz="1800" dirty="0"/>
              <a:t> </a:t>
            </a:r>
            <a:r>
              <a:rPr lang="en-US" sz="1800" dirty="0" err="1"/>
              <a:t>tài</a:t>
            </a:r>
            <a:r>
              <a:rPr lang="en-US" sz="1800" dirty="0"/>
              <a:t> </a:t>
            </a:r>
            <a:r>
              <a:rPr lang="en-US" sz="1800" dirty="0" err="1"/>
              <a:t>khoản</a:t>
            </a:r>
            <a:r>
              <a:rPr lang="en-US" sz="1800" dirty="0"/>
              <a:t> </a:t>
            </a:r>
            <a:r>
              <a:rPr lang="en-US" sz="1800" dirty="0" err="1"/>
              <a:t>người</a:t>
            </a:r>
            <a:r>
              <a:rPr lang="en-US" sz="1800" dirty="0"/>
              <a:t> </a:t>
            </a:r>
            <a:r>
              <a:rPr lang="en-US" sz="1800" dirty="0" err="1"/>
              <a:t>gửi</a:t>
            </a:r>
            <a:endParaRPr lang="en-US" sz="1800" dirty="0"/>
          </a:p>
          <a:p>
            <a:pPr algn="l"/>
            <a:r>
              <a:rPr lang="en-US" sz="1800" dirty="0"/>
              <a:t>	</a:t>
            </a:r>
            <a:r>
              <a:rPr lang="en-US" sz="1800" dirty="0" err="1"/>
              <a:t>Tăng</a:t>
            </a:r>
            <a:r>
              <a:rPr lang="en-US" sz="1800" dirty="0"/>
              <a:t> </a:t>
            </a:r>
            <a:r>
              <a:rPr lang="en-US" sz="1800" dirty="0" err="1"/>
              <a:t>tiền</a:t>
            </a:r>
            <a:r>
              <a:rPr lang="en-US" sz="1800" dirty="0"/>
              <a:t> </a:t>
            </a:r>
            <a:r>
              <a:rPr lang="en-US" sz="1800" dirty="0" err="1"/>
              <a:t>trong</a:t>
            </a:r>
            <a:r>
              <a:rPr lang="en-US" sz="1800" dirty="0"/>
              <a:t> </a:t>
            </a:r>
            <a:r>
              <a:rPr lang="en-US" sz="1800" dirty="0" err="1"/>
              <a:t>tài</a:t>
            </a:r>
            <a:r>
              <a:rPr lang="en-US" sz="1800" dirty="0"/>
              <a:t> </a:t>
            </a:r>
            <a:r>
              <a:rPr lang="en-US" sz="1800" dirty="0" err="1"/>
              <a:t>khoản</a:t>
            </a:r>
            <a:r>
              <a:rPr lang="en-US" sz="1800" dirty="0"/>
              <a:t> </a:t>
            </a:r>
            <a:r>
              <a:rPr lang="en-US" sz="1800" dirty="0" err="1"/>
              <a:t>người</a:t>
            </a:r>
            <a:r>
              <a:rPr lang="en-US" sz="1800" dirty="0"/>
              <a:t> </a:t>
            </a:r>
            <a:r>
              <a:rPr lang="en-US" sz="1800" dirty="0" err="1"/>
              <a:t>nhận</a:t>
            </a:r>
            <a:endParaRPr lang="en-US" sz="1800" dirty="0"/>
          </a:p>
          <a:p>
            <a:pPr algn="l"/>
            <a:r>
              <a:rPr lang="en-US" sz="1800" dirty="0"/>
              <a:t>	</a:t>
            </a:r>
            <a:r>
              <a:rPr lang="en-US" sz="1800" dirty="0" err="1">
                <a:solidFill>
                  <a:srgbClr val="777777"/>
                </a:solidFill>
              </a:rPr>
              <a:t>Nếu</a:t>
            </a:r>
            <a:r>
              <a:rPr lang="en-US" sz="1800" dirty="0"/>
              <a:t> </a:t>
            </a:r>
            <a:r>
              <a:rPr lang="en-US" sz="1800" dirty="0" err="1"/>
              <a:t>tất</a:t>
            </a:r>
            <a:r>
              <a:rPr lang="en-US" sz="1800" dirty="0"/>
              <a:t> </a:t>
            </a:r>
            <a:r>
              <a:rPr lang="en-US" sz="1800" dirty="0" err="1"/>
              <a:t>cả</a:t>
            </a:r>
            <a:r>
              <a:rPr lang="en-US" sz="1800" dirty="0"/>
              <a:t> </a:t>
            </a:r>
            <a:r>
              <a:rPr lang="en-US" sz="1800" dirty="0" err="1"/>
              <a:t>đều</a:t>
            </a:r>
            <a:r>
              <a:rPr lang="en-US" sz="1800" dirty="0"/>
              <a:t> </a:t>
            </a:r>
            <a:r>
              <a:rPr lang="en-US" sz="1800" dirty="0" err="1"/>
              <a:t>thành</a:t>
            </a:r>
            <a:r>
              <a:rPr lang="en-US" sz="1800" dirty="0"/>
              <a:t> </a:t>
            </a:r>
            <a:r>
              <a:rPr lang="en-US" sz="1800" dirty="0" err="1"/>
              <a:t>công</a:t>
            </a:r>
            <a:r>
              <a:rPr lang="en-US" sz="1800" dirty="0"/>
              <a:t> </a:t>
            </a:r>
            <a:r>
              <a:rPr lang="en-US" sz="1800" dirty="0" err="1">
                <a:solidFill>
                  <a:srgbClr val="777777"/>
                </a:solidFill>
              </a:rPr>
              <a:t>thì</a:t>
            </a:r>
            <a:r>
              <a:rPr lang="en-US" sz="1800" dirty="0"/>
              <a:t> </a:t>
            </a:r>
            <a:r>
              <a:rPr lang="en-US" sz="1800" dirty="0" err="1">
                <a:solidFill>
                  <a:srgbClr val="0000CC"/>
                </a:solidFill>
              </a:rPr>
              <a:t>hoàn</a:t>
            </a:r>
            <a:r>
              <a:rPr lang="en-US" sz="1800" dirty="0">
                <a:solidFill>
                  <a:srgbClr val="0000CC"/>
                </a:solidFill>
              </a:rPr>
              <a:t> </a:t>
            </a:r>
            <a:r>
              <a:rPr lang="en-US" sz="1800" dirty="0" err="1">
                <a:solidFill>
                  <a:srgbClr val="0000CC"/>
                </a:solidFill>
              </a:rPr>
              <a:t>tất</a:t>
            </a:r>
            <a:r>
              <a:rPr lang="en-US" sz="1800" dirty="0">
                <a:solidFill>
                  <a:srgbClr val="0000CC"/>
                </a:solidFill>
              </a:rPr>
              <a:t> </a:t>
            </a:r>
            <a:r>
              <a:rPr lang="en-US" sz="1800" dirty="0" err="1">
                <a:solidFill>
                  <a:srgbClr val="0000CC"/>
                </a:solidFill>
              </a:rPr>
              <a:t>giao</a:t>
            </a:r>
            <a:r>
              <a:rPr lang="en-US" sz="1800" dirty="0">
                <a:solidFill>
                  <a:srgbClr val="0000CC"/>
                </a:solidFill>
              </a:rPr>
              <a:t> </a:t>
            </a:r>
            <a:r>
              <a:rPr lang="en-US" sz="1800" dirty="0" err="1">
                <a:solidFill>
                  <a:srgbClr val="0000CC"/>
                </a:solidFill>
              </a:rPr>
              <a:t>tác</a:t>
            </a:r>
            <a:endParaRPr lang="en-US" sz="1800" dirty="0">
              <a:solidFill>
                <a:srgbClr val="0000CC"/>
              </a:solidFill>
            </a:endParaRPr>
          </a:p>
          <a:p>
            <a:pPr algn="l"/>
            <a:r>
              <a:rPr lang="en-US" sz="1800" dirty="0"/>
              <a:t>	</a:t>
            </a:r>
            <a:r>
              <a:rPr lang="en-US" sz="1800" dirty="0" err="1">
                <a:solidFill>
                  <a:srgbClr val="777777"/>
                </a:solidFill>
              </a:rPr>
              <a:t>Ngược</a:t>
            </a:r>
            <a:r>
              <a:rPr lang="en-US" sz="1800" dirty="0">
                <a:solidFill>
                  <a:srgbClr val="777777"/>
                </a:solidFill>
              </a:rPr>
              <a:t> </a:t>
            </a:r>
            <a:r>
              <a:rPr lang="en-US" sz="1800" dirty="0" err="1">
                <a:solidFill>
                  <a:srgbClr val="777777"/>
                </a:solidFill>
              </a:rPr>
              <a:t>lại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0000CC"/>
                </a:solidFill>
              </a:rPr>
              <a:t>quay </a:t>
            </a:r>
            <a:r>
              <a:rPr lang="en-US" sz="1800" dirty="0" err="1">
                <a:solidFill>
                  <a:srgbClr val="0000CC"/>
                </a:solidFill>
              </a:rPr>
              <a:t>lui</a:t>
            </a:r>
            <a:r>
              <a:rPr lang="en-US" sz="1800" dirty="0">
                <a:solidFill>
                  <a:srgbClr val="0000CC"/>
                </a:solidFill>
              </a:rPr>
              <a:t> </a:t>
            </a:r>
            <a:r>
              <a:rPr lang="en-US" sz="1800" dirty="0" err="1">
                <a:solidFill>
                  <a:srgbClr val="0000CC"/>
                </a:solidFill>
              </a:rPr>
              <a:t>giao</a:t>
            </a:r>
            <a:r>
              <a:rPr lang="en-US" sz="1800" dirty="0">
                <a:solidFill>
                  <a:srgbClr val="0000CC"/>
                </a:solidFill>
              </a:rPr>
              <a:t> </a:t>
            </a:r>
            <a:r>
              <a:rPr lang="en-US" sz="1800" dirty="0" err="1">
                <a:solidFill>
                  <a:srgbClr val="0000CC"/>
                </a:solidFill>
              </a:rPr>
              <a:t>tác</a:t>
            </a:r>
            <a:endParaRPr lang="en-US" sz="1800" dirty="0">
              <a:solidFill>
                <a:srgbClr val="0000CC"/>
              </a:solidFill>
            </a:endParaRPr>
          </a:p>
          <a:p>
            <a:pPr algn="l"/>
            <a:r>
              <a:rPr lang="en-US" sz="1800" dirty="0" err="1">
                <a:solidFill>
                  <a:srgbClr val="0000CC"/>
                </a:solidFill>
              </a:rPr>
              <a:t>Cuối</a:t>
            </a:r>
            <a:r>
              <a:rPr lang="en-US" sz="1800" dirty="0">
                <a:solidFill>
                  <a:srgbClr val="0000CC"/>
                </a:solidFill>
              </a:rPr>
              <a:t> </a:t>
            </a:r>
            <a:r>
              <a:rPr lang="en-US" sz="1800" dirty="0" err="1">
                <a:solidFill>
                  <a:srgbClr val="0000CC"/>
                </a:solidFill>
              </a:rPr>
              <a:t>giao</a:t>
            </a:r>
            <a:r>
              <a:rPr lang="en-US" sz="1800" dirty="0">
                <a:solidFill>
                  <a:srgbClr val="0000CC"/>
                </a:solidFill>
              </a:rPr>
              <a:t> </a:t>
            </a:r>
            <a:r>
              <a:rPr lang="en-US" sz="1800" dirty="0" err="1">
                <a:solidFill>
                  <a:srgbClr val="0000CC"/>
                </a:solidFill>
              </a:rPr>
              <a:t>tác</a:t>
            </a:r>
            <a:r>
              <a:rPr lang="en-US" sz="1800" dirty="0"/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59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7144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8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/>
              <a:t>c) Transaction</a:t>
            </a:r>
            <a:endParaRPr lang="en-US" sz="3500" dirty="0"/>
          </a:p>
        </p:txBody>
      </p:sp>
      <p:sp>
        <p:nvSpPr>
          <p:cNvPr id="63385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76400"/>
            <a:ext cx="8229600" cy="4800600"/>
          </a:xfrm>
        </p:spPr>
        <p:txBody>
          <a:bodyPr/>
          <a:lstStyle/>
          <a:p>
            <a:pPr algn="just"/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đảm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Tính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nguyên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tố</a:t>
            </a:r>
            <a:r>
              <a:rPr lang="en-US" dirty="0">
                <a:solidFill>
                  <a:schemeClr val="tx1"/>
                </a:solidFill>
              </a:rPr>
              <a:t> (atomicity)</a:t>
            </a: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Tính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nhất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quán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của</a:t>
            </a:r>
            <a:r>
              <a:rPr lang="en-US" dirty="0">
                <a:solidFill>
                  <a:schemeClr val="tx1"/>
                </a:solidFill>
              </a:rPr>
              <a:t> CSDL (consistency)</a:t>
            </a:r>
          </a:p>
          <a:p>
            <a:pPr lvl="2" algn="just"/>
            <a:r>
              <a:rPr lang="en-US" dirty="0" err="1"/>
              <a:t>Các</a:t>
            </a:r>
            <a:r>
              <a:rPr lang="en-US" dirty="0"/>
              <a:t> RBTV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vi </a:t>
            </a:r>
            <a:r>
              <a:rPr lang="en-US" dirty="0" err="1"/>
              <a:t>phạm</a:t>
            </a:r>
            <a:endParaRPr lang="en-US" dirty="0"/>
          </a:p>
          <a:p>
            <a:pPr lvl="3" algn="just"/>
            <a:r>
              <a:rPr lang="en-US" dirty="0" err="1">
                <a:solidFill>
                  <a:schemeClr val="tx1"/>
                </a:solidFill>
              </a:rPr>
              <a:t>Trong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khi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thực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hiện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giao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tác</a:t>
            </a:r>
            <a:endParaRPr lang="en-US" dirty="0">
              <a:solidFill>
                <a:schemeClr val="tx1"/>
              </a:solidFill>
            </a:endParaRPr>
          </a:p>
          <a:p>
            <a:pPr lvl="3" algn="just"/>
            <a:r>
              <a:rPr lang="en-US" dirty="0" err="1">
                <a:solidFill>
                  <a:schemeClr val="tx1"/>
                </a:solidFill>
              </a:rPr>
              <a:t>Trước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và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sau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khi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thực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hiện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giao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tác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60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0019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9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</a:t>
            </a:r>
            <a:r>
              <a:rPr lang="en-US" sz="3500" b="1" dirty="0" smtClean="0"/>
              <a:t>7</a:t>
            </a:r>
            <a:endParaRPr lang="en-US" sz="3500" b="1" dirty="0"/>
          </a:p>
        </p:txBody>
      </p:sp>
      <p:sp>
        <p:nvSpPr>
          <p:cNvPr id="635908" name="Rectangle 4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0"/>
            <a:ext cx="8229600" cy="4876800"/>
          </a:xfrm>
          <a:noFill/>
          <a:ln/>
        </p:spPr>
        <p:txBody>
          <a:bodyPr/>
          <a:lstStyle/>
          <a:p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trận</a:t>
            </a:r>
            <a:r>
              <a:rPr lang="en-US" dirty="0"/>
              <a:t> </a:t>
            </a:r>
            <a:r>
              <a:rPr lang="en-US" dirty="0" err="1"/>
              <a:t>đấu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cuộc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đấu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đúng</a:t>
            </a:r>
            <a:r>
              <a:rPr lang="en-US" dirty="0"/>
              <a:t> 2 </a:t>
            </a:r>
            <a:r>
              <a:rPr lang="en-US" dirty="0" err="1"/>
              <a:t>đội</a:t>
            </a:r>
            <a:endParaRPr lang="en-US" dirty="0"/>
          </a:p>
        </p:txBody>
      </p:sp>
      <p:sp>
        <p:nvSpPr>
          <p:cNvPr id="635907" name="Text Box 3"/>
          <p:cNvSpPr txBox="1">
            <a:spLocks noChangeArrowheads="1"/>
          </p:cNvSpPr>
          <p:nvPr/>
        </p:nvSpPr>
        <p:spPr bwMode="auto">
          <a:xfrm>
            <a:off x="1828800" y="2057400"/>
            <a:ext cx="4724400" cy="36687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1800" dirty="0" err="1">
                <a:solidFill>
                  <a:srgbClr val="0000CC"/>
                </a:solidFill>
              </a:rPr>
              <a:t>Giao</a:t>
            </a:r>
            <a:r>
              <a:rPr lang="en-US" sz="1800" dirty="0">
                <a:solidFill>
                  <a:srgbClr val="0000CC"/>
                </a:solidFill>
              </a:rPr>
              <a:t> </a:t>
            </a:r>
            <a:r>
              <a:rPr lang="en-US" sz="1800" dirty="0" err="1">
                <a:solidFill>
                  <a:srgbClr val="0000CC"/>
                </a:solidFill>
              </a:rPr>
              <a:t>tác</a:t>
            </a:r>
            <a:r>
              <a:rPr lang="en-US" sz="1800" dirty="0"/>
              <a:t> </a:t>
            </a:r>
            <a:r>
              <a:rPr lang="en-US" sz="1800" dirty="0" err="1"/>
              <a:t>Thêm_trận_đấu</a:t>
            </a:r>
            <a:r>
              <a:rPr lang="en-US" sz="1800" dirty="0"/>
              <a:t>(t, s)</a:t>
            </a:r>
          </a:p>
          <a:p>
            <a:pPr algn="l"/>
            <a:r>
              <a:rPr lang="en-US" sz="1800" dirty="0"/>
              <a:t>	</a:t>
            </a:r>
            <a:r>
              <a:rPr lang="en-US" sz="1800" dirty="0" err="1"/>
              <a:t>Thêm</a:t>
            </a:r>
            <a:r>
              <a:rPr lang="en-US" sz="1800" dirty="0"/>
              <a:t> t </a:t>
            </a:r>
            <a:r>
              <a:rPr lang="en-US" sz="1800" dirty="0" err="1"/>
              <a:t>vào</a:t>
            </a:r>
            <a:r>
              <a:rPr lang="en-US" sz="1800" dirty="0"/>
              <a:t> THIDAU</a:t>
            </a:r>
          </a:p>
          <a:p>
            <a:pPr algn="l"/>
            <a:r>
              <a:rPr lang="en-US" sz="1800" dirty="0"/>
              <a:t>	</a:t>
            </a:r>
            <a:r>
              <a:rPr lang="en-US" sz="1800" dirty="0" err="1"/>
              <a:t>Thêm</a:t>
            </a:r>
            <a:r>
              <a:rPr lang="en-US" sz="1800" dirty="0"/>
              <a:t> s </a:t>
            </a:r>
            <a:r>
              <a:rPr lang="en-US" sz="1800" dirty="0" err="1"/>
              <a:t>vào</a:t>
            </a:r>
            <a:r>
              <a:rPr lang="en-US" sz="1800" dirty="0"/>
              <a:t> THIDAU</a:t>
            </a:r>
          </a:p>
          <a:p>
            <a:pPr algn="l"/>
            <a:r>
              <a:rPr lang="en-US" sz="1800" dirty="0"/>
              <a:t>	</a:t>
            </a:r>
            <a:r>
              <a:rPr lang="en-US" sz="1800" dirty="0" err="1">
                <a:solidFill>
                  <a:srgbClr val="777777"/>
                </a:solidFill>
              </a:rPr>
              <a:t>Nếu</a:t>
            </a:r>
            <a:r>
              <a:rPr lang="en-US" sz="1800" dirty="0"/>
              <a:t> </a:t>
            </a:r>
            <a:r>
              <a:rPr lang="en-US" sz="1800" dirty="0" err="1"/>
              <a:t>có</a:t>
            </a:r>
            <a:r>
              <a:rPr lang="en-US" sz="1800" dirty="0"/>
              <a:t> </a:t>
            </a:r>
            <a:r>
              <a:rPr lang="en-US" sz="1800" dirty="0" err="1"/>
              <a:t>một</a:t>
            </a:r>
            <a:r>
              <a:rPr lang="en-US" sz="1800" dirty="0"/>
              <a:t> </a:t>
            </a:r>
            <a:r>
              <a:rPr lang="en-US" sz="1800" dirty="0" err="1"/>
              <a:t>thao</a:t>
            </a:r>
            <a:r>
              <a:rPr lang="en-US" sz="1800" dirty="0"/>
              <a:t> </a:t>
            </a:r>
            <a:r>
              <a:rPr lang="en-US" sz="1800" dirty="0" err="1"/>
              <a:t>tác</a:t>
            </a:r>
            <a:r>
              <a:rPr lang="en-US" sz="1800" dirty="0"/>
              <a:t> </a:t>
            </a:r>
            <a:r>
              <a:rPr lang="en-US" sz="1800" dirty="0" err="1"/>
              <a:t>thất</a:t>
            </a:r>
            <a:r>
              <a:rPr lang="en-US" sz="1800" dirty="0"/>
              <a:t> </a:t>
            </a:r>
            <a:r>
              <a:rPr lang="en-US" sz="1800" dirty="0" err="1"/>
              <a:t>bại</a:t>
            </a:r>
            <a:r>
              <a:rPr lang="en-US" sz="1800" dirty="0"/>
              <a:t> </a:t>
            </a:r>
            <a:r>
              <a:rPr lang="en-US" sz="1800" dirty="0" err="1">
                <a:solidFill>
                  <a:srgbClr val="777777"/>
                </a:solidFill>
              </a:rPr>
              <a:t>thì</a:t>
            </a:r>
            <a:r>
              <a:rPr lang="en-US" sz="1800" dirty="0"/>
              <a:t> </a:t>
            </a:r>
          </a:p>
          <a:p>
            <a:pPr algn="l"/>
            <a:r>
              <a:rPr lang="en-US" sz="1800" dirty="0"/>
              <a:t>		</a:t>
            </a:r>
            <a:r>
              <a:rPr lang="en-US" sz="1800" dirty="0">
                <a:solidFill>
                  <a:srgbClr val="0000CC"/>
                </a:solidFill>
              </a:rPr>
              <a:t>Quay </a:t>
            </a:r>
            <a:r>
              <a:rPr lang="en-US" sz="1800" dirty="0" err="1">
                <a:solidFill>
                  <a:srgbClr val="0000CC"/>
                </a:solidFill>
              </a:rPr>
              <a:t>lui</a:t>
            </a:r>
            <a:r>
              <a:rPr lang="en-US" sz="1800" dirty="0">
                <a:solidFill>
                  <a:srgbClr val="0000CC"/>
                </a:solidFill>
              </a:rPr>
              <a:t> </a:t>
            </a:r>
            <a:r>
              <a:rPr lang="en-US" sz="1800" dirty="0" err="1">
                <a:solidFill>
                  <a:srgbClr val="0000CC"/>
                </a:solidFill>
              </a:rPr>
              <a:t>giao</a:t>
            </a:r>
            <a:r>
              <a:rPr lang="en-US" sz="1800" dirty="0">
                <a:solidFill>
                  <a:srgbClr val="0000CC"/>
                </a:solidFill>
              </a:rPr>
              <a:t> </a:t>
            </a:r>
            <a:r>
              <a:rPr lang="en-US" sz="1800" dirty="0" err="1">
                <a:solidFill>
                  <a:srgbClr val="0000CC"/>
                </a:solidFill>
              </a:rPr>
              <a:t>tác</a:t>
            </a:r>
            <a:endParaRPr lang="en-US" sz="1800" dirty="0">
              <a:solidFill>
                <a:srgbClr val="0000CC"/>
              </a:solidFill>
            </a:endParaRPr>
          </a:p>
          <a:p>
            <a:pPr algn="l"/>
            <a:r>
              <a:rPr lang="en-US" sz="1800" dirty="0"/>
              <a:t>	</a:t>
            </a:r>
            <a:r>
              <a:rPr lang="en-US" sz="1800" dirty="0" err="1">
                <a:solidFill>
                  <a:srgbClr val="777777"/>
                </a:solidFill>
              </a:rPr>
              <a:t>Ngược</a:t>
            </a:r>
            <a:r>
              <a:rPr lang="en-US" sz="1800" dirty="0">
                <a:solidFill>
                  <a:srgbClr val="777777"/>
                </a:solidFill>
              </a:rPr>
              <a:t> </a:t>
            </a:r>
            <a:r>
              <a:rPr lang="en-US" sz="1800" dirty="0" err="1">
                <a:solidFill>
                  <a:srgbClr val="777777"/>
                </a:solidFill>
              </a:rPr>
              <a:t>lại</a:t>
            </a:r>
            <a:endParaRPr lang="en-US" sz="1800" dirty="0"/>
          </a:p>
          <a:p>
            <a:pPr algn="l"/>
            <a:r>
              <a:rPr lang="en-US" sz="1800" dirty="0"/>
              <a:t>		</a:t>
            </a:r>
            <a:r>
              <a:rPr lang="en-US" sz="1800" dirty="0" err="1">
                <a:solidFill>
                  <a:srgbClr val="0000CC"/>
                </a:solidFill>
              </a:rPr>
              <a:t>Hoàn</a:t>
            </a:r>
            <a:r>
              <a:rPr lang="en-US" sz="1800" dirty="0">
                <a:solidFill>
                  <a:srgbClr val="0000CC"/>
                </a:solidFill>
              </a:rPr>
              <a:t> </a:t>
            </a:r>
            <a:r>
              <a:rPr lang="en-US" sz="1800" dirty="0" err="1">
                <a:solidFill>
                  <a:srgbClr val="0000CC"/>
                </a:solidFill>
              </a:rPr>
              <a:t>tất</a:t>
            </a:r>
            <a:r>
              <a:rPr lang="en-US" sz="1800" dirty="0">
                <a:solidFill>
                  <a:srgbClr val="0000CC"/>
                </a:solidFill>
              </a:rPr>
              <a:t> </a:t>
            </a:r>
            <a:r>
              <a:rPr lang="en-US" sz="1800" dirty="0" err="1">
                <a:solidFill>
                  <a:srgbClr val="0000CC"/>
                </a:solidFill>
              </a:rPr>
              <a:t>giao</a:t>
            </a:r>
            <a:r>
              <a:rPr lang="en-US" sz="1800" dirty="0">
                <a:solidFill>
                  <a:srgbClr val="0000CC"/>
                </a:solidFill>
              </a:rPr>
              <a:t> </a:t>
            </a:r>
            <a:r>
              <a:rPr lang="en-US" sz="1800" dirty="0" err="1">
                <a:solidFill>
                  <a:srgbClr val="0000CC"/>
                </a:solidFill>
              </a:rPr>
              <a:t>tác</a:t>
            </a:r>
            <a:endParaRPr lang="en-US" sz="1800" dirty="0">
              <a:solidFill>
                <a:srgbClr val="0000CC"/>
              </a:solidFill>
            </a:endParaRPr>
          </a:p>
          <a:p>
            <a:pPr algn="l"/>
            <a:r>
              <a:rPr lang="en-US" sz="1800" dirty="0">
                <a:solidFill>
                  <a:srgbClr val="0000CC"/>
                </a:solidFill>
              </a:rPr>
              <a:t>	</a:t>
            </a:r>
            <a:r>
              <a:rPr lang="en-US" sz="1800" dirty="0" err="1">
                <a:solidFill>
                  <a:srgbClr val="777777"/>
                </a:solidFill>
              </a:rPr>
              <a:t>Cuối</a:t>
            </a:r>
            <a:r>
              <a:rPr lang="en-US" sz="1800" dirty="0">
                <a:solidFill>
                  <a:srgbClr val="777777"/>
                </a:solidFill>
              </a:rPr>
              <a:t> </a:t>
            </a:r>
            <a:r>
              <a:rPr lang="en-US" sz="1800" dirty="0" err="1">
                <a:solidFill>
                  <a:srgbClr val="777777"/>
                </a:solidFill>
              </a:rPr>
              <a:t>nếu</a:t>
            </a:r>
            <a:endParaRPr lang="en-US" sz="1800" dirty="0">
              <a:solidFill>
                <a:srgbClr val="777777"/>
              </a:solidFill>
            </a:endParaRPr>
          </a:p>
          <a:p>
            <a:pPr algn="l"/>
            <a:r>
              <a:rPr lang="en-US" sz="1800" dirty="0" err="1">
                <a:solidFill>
                  <a:srgbClr val="0000CC"/>
                </a:solidFill>
              </a:rPr>
              <a:t>Cuối</a:t>
            </a:r>
            <a:r>
              <a:rPr lang="en-US" sz="1800" dirty="0">
                <a:solidFill>
                  <a:srgbClr val="0000CC"/>
                </a:solidFill>
              </a:rPr>
              <a:t> </a:t>
            </a:r>
            <a:r>
              <a:rPr lang="en-US" sz="1800" dirty="0" err="1">
                <a:solidFill>
                  <a:srgbClr val="0000CC"/>
                </a:solidFill>
              </a:rPr>
              <a:t>giao</a:t>
            </a:r>
            <a:r>
              <a:rPr lang="en-US" sz="1800" dirty="0">
                <a:solidFill>
                  <a:srgbClr val="0000CC"/>
                </a:solidFill>
              </a:rPr>
              <a:t> </a:t>
            </a:r>
            <a:r>
              <a:rPr lang="en-US" sz="1800" dirty="0" err="1">
                <a:solidFill>
                  <a:srgbClr val="0000CC"/>
                </a:solidFill>
              </a:rPr>
              <a:t>tác</a:t>
            </a:r>
            <a:endParaRPr lang="en-US" sz="1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61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2934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9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</a:t>
            </a:r>
            <a:r>
              <a:rPr lang="en-US" sz="3500" b="1" dirty="0" smtClean="0"/>
              <a:t>7</a:t>
            </a:r>
            <a:endParaRPr lang="en-US" sz="3500" b="1" dirty="0"/>
          </a:p>
        </p:txBody>
      </p:sp>
      <p:sp>
        <p:nvSpPr>
          <p:cNvPr id="637955" name="Text Box 3"/>
          <p:cNvSpPr txBox="1">
            <a:spLocks noChangeArrowheads="1"/>
          </p:cNvSpPr>
          <p:nvPr/>
        </p:nvSpPr>
        <p:spPr bwMode="auto">
          <a:xfrm>
            <a:off x="1447800" y="1633538"/>
            <a:ext cx="6553200" cy="408146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1800">
                <a:solidFill>
                  <a:srgbClr val="0000CC"/>
                </a:solidFill>
              </a:rPr>
              <a:t>Giao tác</a:t>
            </a:r>
            <a:r>
              <a:rPr lang="en-US" sz="1800"/>
              <a:t> Xóa_trận_đấu(ngay, gio)</a:t>
            </a:r>
          </a:p>
          <a:p>
            <a:pPr algn="l"/>
            <a:r>
              <a:rPr lang="en-US" sz="1800"/>
              <a:t>	</a:t>
            </a:r>
            <a:r>
              <a:rPr lang="en-US" sz="1800">
                <a:solidFill>
                  <a:srgbClr val="777777"/>
                </a:solidFill>
              </a:rPr>
              <a:t>Với mọi</a:t>
            </a:r>
            <a:r>
              <a:rPr lang="en-US" sz="1800"/>
              <a:t> s</a:t>
            </a:r>
            <a:r>
              <a:rPr lang="en-US" sz="1800" b="1">
                <a:sym typeface="Symbol" pitchFamily="18" charset="2"/>
              </a:rPr>
              <a:t></a:t>
            </a:r>
            <a:r>
              <a:rPr lang="en-US" sz="1800">
                <a:sym typeface="Symbol" pitchFamily="18" charset="2"/>
              </a:rPr>
              <a:t>THIDAU (s.NGAYngay </a:t>
            </a:r>
            <a:r>
              <a:rPr lang="en-US" sz="1800" b="1">
                <a:sym typeface="Symbol" pitchFamily="18" charset="2"/>
              </a:rPr>
              <a:t></a:t>
            </a:r>
            <a:r>
              <a:rPr lang="en-US" sz="1800">
                <a:sym typeface="Symbol" pitchFamily="18" charset="2"/>
              </a:rPr>
              <a:t> s.GIOgio)</a:t>
            </a:r>
            <a:endParaRPr lang="en-US" sz="1800">
              <a:solidFill>
                <a:srgbClr val="777777"/>
              </a:solidFill>
              <a:sym typeface="Symbol" pitchFamily="18" charset="2"/>
            </a:endParaRPr>
          </a:p>
          <a:p>
            <a:pPr algn="l"/>
            <a:r>
              <a:rPr lang="en-US" sz="1800"/>
              <a:t>		Xóa s khỏi THIDAU</a:t>
            </a:r>
          </a:p>
          <a:p>
            <a:pPr algn="l"/>
            <a:r>
              <a:rPr lang="en-US" sz="1800"/>
              <a:t>	</a:t>
            </a:r>
            <a:r>
              <a:rPr lang="en-US" sz="1800">
                <a:solidFill>
                  <a:srgbClr val="777777"/>
                </a:solidFill>
              </a:rPr>
              <a:t>Cuối với mọi</a:t>
            </a:r>
          </a:p>
          <a:p>
            <a:pPr algn="l"/>
            <a:r>
              <a:rPr lang="en-US" sz="1800"/>
              <a:t>	</a:t>
            </a:r>
            <a:r>
              <a:rPr lang="en-US" sz="1800">
                <a:solidFill>
                  <a:srgbClr val="777777"/>
                </a:solidFill>
              </a:rPr>
              <a:t>Nếu</a:t>
            </a:r>
            <a:r>
              <a:rPr lang="en-US" sz="1800"/>
              <a:t> có một thao tác thất bại </a:t>
            </a:r>
            <a:r>
              <a:rPr lang="en-US" sz="1800">
                <a:solidFill>
                  <a:srgbClr val="777777"/>
                </a:solidFill>
              </a:rPr>
              <a:t>thì</a:t>
            </a:r>
            <a:r>
              <a:rPr lang="en-US" sz="1800"/>
              <a:t> </a:t>
            </a:r>
          </a:p>
          <a:p>
            <a:pPr algn="l"/>
            <a:r>
              <a:rPr lang="en-US" sz="1800"/>
              <a:t>		</a:t>
            </a:r>
            <a:r>
              <a:rPr lang="en-US" sz="1800">
                <a:solidFill>
                  <a:srgbClr val="0000CC"/>
                </a:solidFill>
              </a:rPr>
              <a:t>Quay lui giao tác</a:t>
            </a:r>
          </a:p>
          <a:p>
            <a:pPr algn="l"/>
            <a:r>
              <a:rPr lang="en-US" sz="1800"/>
              <a:t>	</a:t>
            </a:r>
            <a:r>
              <a:rPr lang="en-US" sz="1800">
                <a:solidFill>
                  <a:srgbClr val="777777"/>
                </a:solidFill>
              </a:rPr>
              <a:t>Ngược lại</a:t>
            </a:r>
            <a:endParaRPr lang="en-US" sz="1800"/>
          </a:p>
          <a:p>
            <a:pPr algn="l"/>
            <a:r>
              <a:rPr lang="en-US" sz="1800"/>
              <a:t>		</a:t>
            </a:r>
            <a:r>
              <a:rPr lang="en-US" sz="1800">
                <a:solidFill>
                  <a:srgbClr val="0000CC"/>
                </a:solidFill>
              </a:rPr>
              <a:t>Hoàn tất giao tác</a:t>
            </a:r>
          </a:p>
          <a:p>
            <a:pPr algn="l"/>
            <a:r>
              <a:rPr lang="en-US" sz="1800">
                <a:solidFill>
                  <a:srgbClr val="0000CC"/>
                </a:solidFill>
              </a:rPr>
              <a:t>	</a:t>
            </a:r>
            <a:r>
              <a:rPr lang="en-US" sz="1800">
                <a:solidFill>
                  <a:srgbClr val="777777"/>
                </a:solidFill>
              </a:rPr>
              <a:t>Cuối nếu</a:t>
            </a:r>
          </a:p>
          <a:p>
            <a:pPr algn="l"/>
            <a:r>
              <a:rPr lang="en-US" sz="1800">
                <a:solidFill>
                  <a:srgbClr val="0000CC"/>
                </a:solidFill>
              </a:rPr>
              <a:t>Cuối giao tác</a:t>
            </a:r>
            <a:endParaRPr lang="en-US" sz="180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62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48168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37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7955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0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11</a:t>
            </a:r>
          </a:p>
        </p:txBody>
      </p:sp>
      <p:sp>
        <p:nvSpPr>
          <p:cNvPr id="640004" name="Rectangle 4"/>
          <p:cNvSpPr>
            <a:spLocks noGrp="1" noChangeArrowheads="1"/>
          </p:cNvSpPr>
          <p:nvPr>
            <p:ph sz="quarter" idx="1"/>
          </p:nvPr>
        </p:nvSpPr>
        <p:spPr>
          <a:xfrm>
            <a:off x="457200" y="1447800"/>
            <a:ext cx="8229600" cy="4876800"/>
          </a:xfrm>
          <a:noFill/>
          <a:ln/>
        </p:spPr>
        <p:txBody>
          <a:bodyPr/>
          <a:lstStyle/>
          <a:p>
            <a:pPr algn="just"/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ít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chi </a:t>
            </a:r>
            <a:r>
              <a:rPr lang="en-US" dirty="0" err="1"/>
              <a:t>tiết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đơn</a:t>
            </a:r>
            <a:endParaRPr lang="en-US" dirty="0"/>
          </a:p>
        </p:txBody>
      </p:sp>
      <p:sp>
        <p:nvSpPr>
          <p:cNvPr id="640003" name="Text Box 3"/>
          <p:cNvSpPr txBox="1">
            <a:spLocks noChangeArrowheads="1"/>
          </p:cNvSpPr>
          <p:nvPr/>
        </p:nvSpPr>
        <p:spPr bwMode="auto">
          <a:xfrm>
            <a:off x="1295400" y="1906588"/>
            <a:ext cx="6172200" cy="449421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1800" dirty="0" err="1">
                <a:solidFill>
                  <a:srgbClr val="0000CC"/>
                </a:solidFill>
              </a:rPr>
              <a:t>Giao</a:t>
            </a:r>
            <a:r>
              <a:rPr lang="en-US" sz="1800" dirty="0">
                <a:solidFill>
                  <a:srgbClr val="0000CC"/>
                </a:solidFill>
              </a:rPr>
              <a:t> </a:t>
            </a:r>
            <a:r>
              <a:rPr lang="en-US" sz="1800" dirty="0" err="1">
                <a:solidFill>
                  <a:srgbClr val="0000CC"/>
                </a:solidFill>
              </a:rPr>
              <a:t>tác</a:t>
            </a:r>
            <a:r>
              <a:rPr lang="en-US" sz="1800" dirty="0"/>
              <a:t> </a:t>
            </a:r>
            <a:r>
              <a:rPr lang="en-US" sz="1800" dirty="0" err="1"/>
              <a:t>Thêm_hóa_đơn</a:t>
            </a:r>
            <a:endParaRPr lang="en-US" sz="1800" dirty="0"/>
          </a:p>
          <a:p>
            <a:pPr algn="l"/>
            <a:r>
              <a:rPr lang="en-US" sz="1800" dirty="0"/>
              <a:t>	</a:t>
            </a:r>
            <a:r>
              <a:rPr lang="en-US" sz="1800" dirty="0" err="1"/>
              <a:t>Thêm</a:t>
            </a:r>
            <a:r>
              <a:rPr lang="en-US" sz="1800" dirty="0"/>
              <a:t> HOADON</a:t>
            </a:r>
          </a:p>
          <a:p>
            <a:pPr algn="l">
              <a:spcBef>
                <a:spcPts val="600"/>
              </a:spcBef>
            </a:pPr>
            <a:r>
              <a:rPr lang="en-US" sz="1800" dirty="0"/>
              <a:t>	</a:t>
            </a:r>
            <a:r>
              <a:rPr lang="en-US" sz="1800" dirty="0" err="1"/>
              <a:t>Thêm</a:t>
            </a:r>
            <a:r>
              <a:rPr lang="en-US" sz="1800" dirty="0"/>
              <a:t> chi </a:t>
            </a:r>
            <a:r>
              <a:rPr lang="en-US" sz="1800" dirty="0" err="1"/>
              <a:t>tiết</a:t>
            </a:r>
            <a:r>
              <a:rPr lang="en-US" sz="1800" dirty="0"/>
              <a:t> </a:t>
            </a:r>
            <a:r>
              <a:rPr lang="en-US" sz="1800" dirty="0" err="1"/>
              <a:t>thứ</a:t>
            </a:r>
            <a:r>
              <a:rPr lang="en-US" sz="1800" dirty="0"/>
              <a:t> 1 </a:t>
            </a:r>
            <a:r>
              <a:rPr lang="en-US" sz="1800" dirty="0" err="1"/>
              <a:t>vào</a:t>
            </a:r>
            <a:r>
              <a:rPr lang="en-US" sz="1800" dirty="0"/>
              <a:t> CTHD </a:t>
            </a:r>
          </a:p>
          <a:p>
            <a:pPr algn="l"/>
            <a:r>
              <a:rPr lang="en-US" sz="1800" dirty="0"/>
              <a:t>	</a:t>
            </a:r>
            <a:r>
              <a:rPr lang="en-US" sz="1800" dirty="0" err="1"/>
              <a:t>Thêm</a:t>
            </a:r>
            <a:r>
              <a:rPr lang="en-US" sz="1800" dirty="0"/>
              <a:t> chi </a:t>
            </a:r>
            <a:r>
              <a:rPr lang="en-US" sz="1800" dirty="0" err="1"/>
              <a:t>tiết</a:t>
            </a:r>
            <a:r>
              <a:rPr lang="en-US" sz="1800" dirty="0"/>
              <a:t> </a:t>
            </a:r>
            <a:r>
              <a:rPr lang="en-US" sz="1800" dirty="0" err="1"/>
              <a:t>thứ</a:t>
            </a:r>
            <a:r>
              <a:rPr lang="en-US" sz="1800" dirty="0"/>
              <a:t> 2 </a:t>
            </a:r>
            <a:r>
              <a:rPr lang="en-US" sz="1800" dirty="0" err="1"/>
              <a:t>vào</a:t>
            </a:r>
            <a:r>
              <a:rPr lang="en-US" sz="1800" dirty="0"/>
              <a:t> CTHD</a:t>
            </a:r>
          </a:p>
          <a:p>
            <a:pPr algn="l"/>
            <a:r>
              <a:rPr lang="en-US" sz="1800" dirty="0"/>
              <a:t>	…</a:t>
            </a:r>
          </a:p>
          <a:p>
            <a:pPr algn="l"/>
            <a:r>
              <a:rPr lang="en-US" sz="1800" dirty="0"/>
              <a:t>	</a:t>
            </a:r>
            <a:r>
              <a:rPr lang="en-US" sz="1800" dirty="0" err="1">
                <a:solidFill>
                  <a:srgbClr val="777777"/>
                </a:solidFill>
              </a:rPr>
              <a:t>Nếu</a:t>
            </a:r>
            <a:r>
              <a:rPr lang="en-US" sz="1800" dirty="0"/>
              <a:t> </a:t>
            </a:r>
            <a:r>
              <a:rPr lang="en-US" sz="1800" dirty="0" err="1"/>
              <a:t>có</a:t>
            </a:r>
            <a:r>
              <a:rPr lang="en-US" sz="1800" dirty="0"/>
              <a:t> </a:t>
            </a:r>
            <a:r>
              <a:rPr lang="en-US" sz="1800" dirty="0" err="1"/>
              <a:t>một</a:t>
            </a:r>
            <a:r>
              <a:rPr lang="en-US" sz="1800" dirty="0"/>
              <a:t> </a:t>
            </a:r>
            <a:r>
              <a:rPr lang="en-US" sz="1800" dirty="0" err="1"/>
              <a:t>thao</a:t>
            </a:r>
            <a:r>
              <a:rPr lang="en-US" sz="1800" dirty="0"/>
              <a:t> </a:t>
            </a:r>
            <a:r>
              <a:rPr lang="en-US" sz="1800" dirty="0" err="1"/>
              <a:t>tác</a:t>
            </a:r>
            <a:r>
              <a:rPr lang="en-US" sz="1800" dirty="0"/>
              <a:t> </a:t>
            </a:r>
            <a:r>
              <a:rPr lang="en-US" sz="1800" dirty="0" err="1"/>
              <a:t>thêm</a:t>
            </a:r>
            <a:r>
              <a:rPr lang="en-US" sz="1800" dirty="0"/>
              <a:t> </a:t>
            </a:r>
            <a:r>
              <a:rPr lang="en-US" sz="1800" dirty="0" err="1"/>
              <a:t>thất</a:t>
            </a:r>
            <a:r>
              <a:rPr lang="en-US" sz="1800" dirty="0"/>
              <a:t> </a:t>
            </a:r>
            <a:r>
              <a:rPr lang="en-US" sz="1800" dirty="0" err="1"/>
              <a:t>bại</a:t>
            </a:r>
            <a:r>
              <a:rPr lang="en-US" sz="1800" dirty="0"/>
              <a:t> </a:t>
            </a:r>
            <a:r>
              <a:rPr lang="en-US" sz="1800" dirty="0" err="1">
                <a:solidFill>
                  <a:srgbClr val="777777"/>
                </a:solidFill>
              </a:rPr>
              <a:t>thì</a:t>
            </a:r>
            <a:r>
              <a:rPr lang="en-US" sz="1800" dirty="0"/>
              <a:t> </a:t>
            </a:r>
          </a:p>
          <a:p>
            <a:pPr algn="l"/>
            <a:r>
              <a:rPr lang="en-US" sz="1800" dirty="0"/>
              <a:t>		</a:t>
            </a:r>
            <a:r>
              <a:rPr lang="en-US" sz="1800" dirty="0">
                <a:solidFill>
                  <a:srgbClr val="0000CC"/>
                </a:solidFill>
              </a:rPr>
              <a:t>Quay </a:t>
            </a:r>
            <a:r>
              <a:rPr lang="en-US" sz="1800" dirty="0" err="1">
                <a:solidFill>
                  <a:srgbClr val="0000CC"/>
                </a:solidFill>
              </a:rPr>
              <a:t>lui</a:t>
            </a:r>
            <a:r>
              <a:rPr lang="en-US" sz="1800" dirty="0">
                <a:solidFill>
                  <a:srgbClr val="0000CC"/>
                </a:solidFill>
              </a:rPr>
              <a:t> </a:t>
            </a:r>
            <a:r>
              <a:rPr lang="en-US" sz="1800" dirty="0" err="1">
                <a:solidFill>
                  <a:srgbClr val="0000CC"/>
                </a:solidFill>
              </a:rPr>
              <a:t>giao</a:t>
            </a:r>
            <a:r>
              <a:rPr lang="en-US" sz="1800" dirty="0">
                <a:solidFill>
                  <a:srgbClr val="0000CC"/>
                </a:solidFill>
              </a:rPr>
              <a:t> </a:t>
            </a:r>
            <a:r>
              <a:rPr lang="en-US" sz="1800" dirty="0" err="1">
                <a:solidFill>
                  <a:srgbClr val="0000CC"/>
                </a:solidFill>
              </a:rPr>
              <a:t>tác</a:t>
            </a:r>
            <a:endParaRPr lang="en-US" sz="1800" dirty="0">
              <a:solidFill>
                <a:srgbClr val="0000CC"/>
              </a:solidFill>
            </a:endParaRPr>
          </a:p>
          <a:p>
            <a:pPr algn="l"/>
            <a:r>
              <a:rPr lang="en-US" sz="1800" dirty="0"/>
              <a:t>	</a:t>
            </a:r>
            <a:r>
              <a:rPr lang="en-US" sz="1800" dirty="0" err="1">
                <a:solidFill>
                  <a:srgbClr val="777777"/>
                </a:solidFill>
              </a:rPr>
              <a:t>Ngược</a:t>
            </a:r>
            <a:r>
              <a:rPr lang="en-US" sz="1800" dirty="0">
                <a:solidFill>
                  <a:srgbClr val="777777"/>
                </a:solidFill>
              </a:rPr>
              <a:t> </a:t>
            </a:r>
            <a:r>
              <a:rPr lang="en-US" sz="1800" dirty="0" err="1">
                <a:solidFill>
                  <a:srgbClr val="777777"/>
                </a:solidFill>
              </a:rPr>
              <a:t>lại</a:t>
            </a:r>
            <a:endParaRPr lang="en-US" sz="1800" dirty="0"/>
          </a:p>
          <a:p>
            <a:pPr algn="l"/>
            <a:r>
              <a:rPr lang="en-US" sz="1800" dirty="0"/>
              <a:t>		</a:t>
            </a:r>
            <a:r>
              <a:rPr lang="en-US" sz="1800" dirty="0" err="1">
                <a:solidFill>
                  <a:srgbClr val="0000CC"/>
                </a:solidFill>
              </a:rPr>
              <a:t>Hoàn</a:t>
            </a:r>
            <a:r>
              <a:rPr lang="en-US" sz="1800" dirty="0">
                <a:solidFill>
                  <a:srgbClr val="0000CC"/>
                </a:solidFill>
              </a:rPr>
              <a:t> </a:t>
            </a:r>
            <a:r>
              <a:rPr lang="en-US" sz="1800" dirty="0" err="1">
                <a:solidFill>
                  <a:srgbClr val="0000CC"/>
                </a:solidFill>
              </a:rPr>
              <a:t>tất</a:t>
            </a:r>
            <a:r>
              <a:rPr lang="en-US" sz="1800" dirty="0">
                <a:solidFill>
                  <a:srgbClr val="0000CC"/>
                </a:solidFill>
              </a:rPr>
              <a:t> </a:t>
            </a:r>
            <a:r>
              <a:rPr lang="en-US" sz="1800" dirty="0" err="1">
                <a:solidFill>
                  <a:srgbClr val="0000CC"/>
                </a:solidFill>
              </a:rPr>
              <a:t>giao</a:t>
            </a:r>
            <a:r>
              <a:rPr lang="en-US" sz="1800" dirty="0">
                <a:solidFill>
                  <a:srgbClr val="0000CC"/>
                </a:solidFill>
              </a:rPr>
              <a:t> </a:t>
            </a:r>
            <a:r>
              <a:rPr lang="en-US" sz="1800" dirty="0" err="1">
                <a:solidFill>
                  <a:srgbClr val="0000CC"/>
                </a:solidFill>
              </a:rPr>
              <a:t>tác</a:t>
            </a:r>
            <a:endParaRPr lang="en-US" sz="1800" dirty="0">
              <a:solidFill>
                <a:srgbClr val="0000CC"/>
              </a:solidFill>
            </a:endParaRPr>
          </a:p>
          <a:p>
            <a:pPr algn="l"/>
            <a:r>
              <a:rPr lang="en-US" sz="1800" dirty="0">
                <a:solidFill>
                  <a:srgbClr val="0000CC"/>
                </a:solidFill>
              </a:rPr>
              <a:t>	</a:t>
            </a:r>
            <a:r>
              <a:rPr lang="en-US" sz="1800" dirty="0" err="1">
                <a:solidFill>
                  <a:srgbClr val="777777"/>
                </a:solidFill>
              </a:rPr>
              <a:t>Cuối</a:t>
            </a:r>
            <a:r>
              <a:rPr lang="en-US" sz="1800" dirty="0">
                <a:solidFill>
                  <a:srgbClr val="777777"/>
                </a:solidFill>
              </a:rPr>
              <a:t> </a:t>
            </a:r>
            <a:r>
              <a:rPr lang="en-US" sz="1800" dirty="0" err="1">
                <a:solidFill>
                  <a:srgbClr val="777777"/>
                </a:solidFill>
              </a:rPr>
              <a:t>nếu</a:t>
            </a:r>
            <a:endParaRPr lang="en-US" sz="1800" dirty="0">
              <a:solidFill>
                <a:srgbClr val="777777"/>
              </a:solidFill>
            </a:endParaRPr>
          </a:p>
          <a:p>
            <a:pPr algn="l"/>
            <a:r>
              <a:rPr lang="en-US" sz="1800" dirty="0" err="1">
                <a:solidFill>
                  <a:srgbClr val="0000CC"/>
                </a:solidFill>
              </a:rPr>
              <a:t>Cuối</a:t>
            </a:r>
            <a:r>
              <a:rPr lang="en-US" sz="1800" dirty="0">
                <a:solidFill>
                  <a:srgbClr val="0000CC"/>
                </a:solidFill>
              </a:rPr>
              <a:t> </a:t>
            </a:r>
            <a:r>
              <a:rPr lang="en-US" sz="1800" dirty="0" err="1">
                <a:solidFill>
                  <a:srgbClr val="0000CC"/>
                </a:solidFill>
              </a:rPr>
              <a:t>giao</a:t>
            </a:r>
            <a:r>
              <a:rPr lang="en-US" sz="1800" dirty="0">
                <a:solidFill>
                  <a:srgbClr val="0000CC"/>
                </a:solidFill>
              </a:rPr>
              <a:t> </a:t>
            </a:r>
            <a:r>
              <a:rPr lang="en-US" sz="1800" dirty="0" err="1">
                <a:solidFill>
                  <a:srgbClr val="0000CC"/>
                </a:solidFill>
              </a:rPr>
              <a:t>tác</a:t>
            </a:r>
            <a:endParaRPr lang="en-US" sz="1800" dirty="0">
              <a:solidFill>
                <a:srgbClr val="0000CC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63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3982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40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0003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11</a:t>
            </a:r>
            <a:endParaRPr lang="en-US" sz="3500" dirty="0"/>
          </a:p>
        </p:txBody>
      </p:sp>
      <p:sp>
        <p:nvSpPr>
          <p:cNvPr id="642051" name="Text Box 3"/>
          <p:cNvSpPr txBox="1">
            <a:spLocks noChangeArrowheads="1"/>
          </p:cNvSpPr>
          <p:nvPr/>
        </p:nvSpPr>
        <p:spPr bwMode="auto">
          <a:xfrm>
            <a:off x="1600200" y="1525588"/>
            <a:ext cx="6172200" cy="449421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1800">
                <a:solidFill>
                  <a:srgbClr val="0000CC"/>
                </a:solidFill>
              </a:rPr>
              <a:t>Giao tác</a:t>
            </a:r>
            <a:r>
              <a:rPr lang="en-US" sz="1800"/>
              <a:t> Thêm_hóa_đơn</a:t>
            </a:r>
          </a:p>
          <a:p>
            <a:pPr algn="l"/>
            <a:r>
              <a:rPr lang="en-US" sz="1800"/>
              <a:t>	Thêm HOADON</a:t>
            </a:r>
          </a:p>
          <a:p>
            <a:pPr algn="l"/>
            <a:r>
              <a:rPr lang="en-US" sz="1800"/>
              <a:t>	Thêm chi tiết thứ 1 vào CTHD </a:t>
            </a:r>
          </a:p>
          <a:p>
            <a:pPr algn="l"/>
            <a:r>
              <a:rPr lang="en-US" sz="1800"/>
              <a:t>	Thêm chi tiết thứ 2 vào CTHD</a:t>
            </a:r>
          </a:p>
          <a:p>
            <a:pPr algn="l"/>
            <a:r>
              <a:rPr lang="en-US" sz="1800"/>
              <a:t>	…</a:t>
            </a:r>
          </a:p>
          <a:p>
            <a:pPr algn="l"/>
            <a:r>
              <a:rPr lang="en-US" sz="1800"/>
              <a:t>	</a:t>
            </a:r>
            <a:r>
              <a:rPr lang="en-US" sz="1800">
                <a:solidFill>
                  <a:srgbClr val="777777"/>
                </a:solidFill>
              </a:rPr>
              <a:t>Nếu</a:t>
            </a:r>
            <a:r>
              <a:rPr lang="en-US" sz="1800"/>
              <a:t> có một thao tác thêm thất bại </a:t>
            </a:r>
            <a:r>
              <a:rPr lang="en-US" sz="1800">
                <a:solidFill>
                  <a:srgbClr val="777777"/>
                </a:solidFill>
              </a:rPr>
              <a:t>thì</a:t>
            </a:r>
            <a:r>
              <a:rPr lang="en-US" sz="1800"/>
              <a:t> </a:t>
            </a:r>
          </a:p>
          <a:p>
            <a:pPr algn="l"/>
            <a:r>
              <a:rPr lang="en-US" sz="1800"/>
              <a:t>		</a:t>
            </a:r>
            <a:r>
              <a:rPr lang="en-US" sz="1800">
                <a:solidFill>
                  <a:srgbClr val="0000CC"/>
                </a:solidFill>
              </a:rPr>
              <a:t>Quay lui giao tác</a:t>
            </a:r>
          </a:p>
          <a:p>
            <a:pPr algn="l"/>
            <a:r>
              <a:rPr lang="en-US" sz="1800"/>
              <a:t>	</a:t>
            </a:r>
            <a:r>
              <a:rPr lang="en-US" sz="1800">
                <a:solidFill>
                  <a:srgbClr val="777777"/>
                </a:solidFill>
              </a:rPr>
              <a:t>Ngược lại</a:t>
            </a:r>
            <a:endParaRPr lang="en-US" sz="1800"/>
          </a:p>
          <a:p>
            <a:pPr algn="l"/>
            <a:r>
              <a:rPr lang="en-US" sz="1800"/>
              <a:t>		</a:t>
            </a:r>
            <a:r>
              <a:rPr lang="en-US" sz="1800">
                <a:solidFill>
                  <a:srgbClr val="0000CC"/>
                </a:solidFill>
              </a:rPr>
              <a:t>Hoàn tất giao tác</a:t>
            </a:r>
          </a:p>
          <a:p>
            <a:pPr algn="l"/>
            <a:r>
              <a:rPr lang="en-US" sz="1800">
                <a:solidFill>
                  <a:srgbClr val="0000CC"/>
                </a:solidFill>
              </a:rPr>
              <a:t>	</a:t>
            </a:r>
            <a:r>
              <a:rPr lang="en-US" sz="1800">
                <a:solidFill>
                  <a:srgbClr val="777777"/>
                </a:solidFill>
              </a:rPr>
              <a:t>Cuối nếu</a:t>
            </a:r>
          </a:p>
          <a:p>
            <a:pPr algn="l"/>
            <a:r>
              <a:rPr lang="en-US" sz="1800">
                <a:solidFill>
                  <a:srgbClr val="0000CC"/>
                </a:solidFill>
              </a:rPr>
              <a:t>Cuối giao tác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64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4847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4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205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smtClean="0"/>
              <a:t>d) Stored </a:t>
            </a:r>
            <a:r>
              <a:rPr lang="en-US" sz="3500" b="1" dirty="0"/>
              <a:t>Procedure</a:t>
            </a:r>
          </a:p>
        </p:txBody>
      </p:sp>
      <p:sp>
        <p:nvSpPr>
          <p:cNvPr id="65433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pPr algn="just"/>
            <a:r>
              <a:rPr lang="en-US" dirty="0" err="1"/>
              <a:t>Các</a:t>
            </a:r>
            <a:r>
              <a:rPr lang="en-US" dirty="0"/>
              <a:t> DBMS </a:t>
            </a:r>
            <a:r>
              <a:rPr lang="en-US" dirty="0" err="1"/>
              <a:t>thương</a:t>
            </a:r>
            <a:r>
              <a:rPr lang="en-US" dirty="0"/>
              <a:t> </a:t>
            </a:r>
            <a:r>
              <a:rPr lang="en-US" dirty="0" err="1"/>
              <a:t>mại</a:t>
            </a:r>
            <a:r>
              <a:rPr lang="en-US" dirty="0"/>
              <a:t> </a:t>
            </a:r>
            <a:r>
              <a:rPr lang="en-US" dirty="0" err="1"/>
              <a:t>cung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u="sng" dirty="0" err="1"/>
              <a:t>cách</a:t>
            </a:r>
            <a:r>
              <a:rPr lang="en-US" u="sng" dirty="0"/>
              <a:t> </a:t>
            </a:r>
            <a:r>
              <a:rPr lang="en-US" u="sng" dirty="0" err="1"/>
              <a:t>thức</a:t>
            </a:r>
            <a:r>
              <a:rPr lang="en-US" u="sng" dirty="0"/>
              <a:t> </a:t>
            </a:r>
            <a:r>
              <a:rPr lang="en-US" u="sng" dirty="0" err="1"/>
              <a:t>lưu</a:t>
            </a:r>
            <a:r>
              <a:rPr lang="en-US" u="sng" dirty="0"/>
              <a:t> </a:t>
            </a:r>
            <a:r>
              <a:rPr lang="en-US" u="sng" dirty="0" err="1"/>
              <a:t>trữ</a:t>
            </a:r>
            <a:r>
              <a:rPr lang="en-US" u="sng" dirty="0"/>
              <a:t> </a:t>
            </a:r>
            <a:r>
              <a:rPr lang="en-US" u="sng" dirty="0" err="1"/>
              <a:t>các</a:t>
            </a:r>
            <a:r>
              <a:rPr lang="en-US" u="sng" dirty="0"/>
              <a:t> </a:t>
            </a:r>
            <a:r>
              <a:rPr lang="en-US" u="sng" dirty="0" err="1"/>
              <a:t>hàm</a:t>
            </a:r>
            <a:r>
              <a:rPr lang="en-US" u="sng" dirty="0"/>
              <a:t> hay </a:t>
            </a:r>
            <a:r>
              <a:rPr lang="en-US" u="sng" dirty="0" err="1"/>
              <a:t>thủ</a:t>
            </a:r>
            <a:r>
              <a:rPr lang="en-US" u="sng" dirty="0"/>
              <a:t> </a:t>
            </a:r>
            <a:r>
              <a:rPr lang="en-US" u="sng" dirty="0" err="1"/>
              <a:t>tục</a:t>
            </a:r>
            <a:r>
              <a:rPr lang="en-US" dirty="0"/>
              <a:t> </a:t>
            </a: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Được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lưu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trữ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trong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lược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đồ</a:t>
            </a:r>
            <a:r>
              <a:rPr lang="en-US" dirty="0">
                <a:solidFill>
                  <a:schemeClr val="tx1"/>
                </a:solidFill>
              </a:rPr>
              <a:t> CSDL</a:t>
            </a: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Được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sử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dụng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trong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câu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lệnh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SQL</a:t>
            </a:r>
            <a:endParaRPr lang="en-US" dirty="0">
              <a:solidFill>
                <a:schemeClr val="tx1"/>
              </a:solidFill>
            </a:endParaRPr>
          </a:p>
          <a:p>
            <a:pPr algn="just"/>
            <a:r>
              <a:rPr lang="en-US" dirty="0" err="1"/>
              <a:t>Cú</a:t>
            </a:r>
            <a:r>
              <a:rPr lang="en-US" dirty="0"/>
              <a:t> </a:t>
            </a:r>
            <a:r>
              <a:rPr lang="en-US" dirty="0" err="1"/>
              <a:t>pháp</a:t>
            </a:r>
            <a:endParaRPr lang="en-US" dirty="0"/>
          </a:p>
        </p:txBody>
      </p:sp>
      <p:sp>
        <p:nvSpPr>
          <p:cNvPr id="654340" name="Text Box 4"/>
          <p:cNvSpPr txBox="1">
            <a:spLocks noChangeArrowheads="1"/>
          </p:cNvSpPr>
          <p:nvPr/>
        </p:nvSpPr>
        <p:spPr bwMode="auto">
          <a:xfrm>
            <a:off x="1600200" y="3810000"/>
            <a:ext cx="6096000" cy="2443162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1800" b="1" dirty="0"/>
              <a:t>CREATE PROCEDURE</a:t>
            </a:r>
            <a:r>
              <a:rPr lang="en-US" sz="1800" dirty="0"/>
              <a:t> &lt;</a:t>
            </a:r>
            <a:r>
              <a:rPr lang="en-US" sz="1800" dirty="0" err="1"/>
              <a:t>Tên_thủ_tục</a:t>
            </a:r>
            <a:r>
              <a:rPr lang="en-US" sz="1800" dirty="0"/>
              <a:t>&gt; &lt;</a:t>
            </a:r>
            <a:r>
              <a:rPr lang="en-US" sz="1800" dirty="0" err="1"/>
              <a:t>DS_tham_số</a:t>
            </a:r>
            <a:r>
              <a:rPr lang="en-US" sz="1800" dirty="0"/>
              <a:t>&gt;</a:t>
            </a:r>
          </a:p>
          <a:p>
            <a:pPr algn="l"/>
            <a:r>
              <a:rPr lang="en-US" sz="1800" b="1" dirty="0"/>
              <a:t>AS</a:t>
            </a:r>
          </a:p>
          <a:p>
            <a:pPr algn="l"/>
            <a:r>
              <a:rPr lang="en-US" sz="1800" dirty="0"/>
              <a:t>	</a:t>
            </a:r>
            <a:r>
              <a:rPr lang="en-US" sz="1800" dirty="0" err="1"/>
              <a:t>Khai</a:t>
            </a:r>
            <a:r>
              <a:rPr lang="en-US" sz="1800" dirty="0"/>
              <a:t> </a:t>
            </a:r>
            <a:r>
              <a:rPr lang="en-US" sz="1800" dirty="0" err="1"/>
              <a:t>báo</a:t>
            </a:r>
            <a:r>
              <a:rPr lang="en-US" sz="1800" dirty="0"/>
              <a:t> </a:t>
            </a:r>
            <a:r>
              <a:rPr lang="en-US" sz="1800" dirty="0" err="1"/>
              <a:t>biến</a:t>
            </a:r>
            <a:r>
              <a:rPr lang="en-US" sz="1800" dirty="0"/>
              <a:t> </a:t>
            </a:r>
            <a:r>
              <a:rPr lang="en-US" sz="1800" dirty="0" err="1"/>
              <a:t>cục</a:t>
            </a:r>
            <a:r>
              <a:rPr lang="en-US" sz="1800" dirty="0"/>
              <a:t> </a:t>
            </a:r>
            <a:r>
              <a:rPr lang="en-US" sz="1800" dirty="0" err="1"/>
              <a:t>bộ</a:t>
            </a:r>
            <a:endParaRPr lang="en-US" sz="1800" dirty="0"/>
          </a:p>
          <a:p>
            <a:pPr algn="l"/>
            <a:r>
              <a:rPr lang="en-US" sz="1800" dirty="0"/>
              <a:t>	</a:t>
            </a:r>
            <a:r>
              <a:rPr lang="en-US" sz="1800" dirty="0" err="1"/>
              <a:t>Thân</a:t>
            </a:r>
            <a:r>
              <a:rPr lang="en-US" sz="1800" dirty="0"/>
              <a:t> </a:t>
            </a:r>
            <a:r>
              <a:rPr lang="en-US" sz="1800" dirty="0" err="1"/>
              <a:t>chương</a:t>
            </a:r>
            <a:r>
              <a:rPr lang="en-US" sz="1800" dirty="0"/>
              <a:t> </a:t>
            </a:r>
            <a:r>
              <a:rPr lang="en-US" sz="1800" dirty="0" err="1"/>
              <a:t>trình</a:t>
            </a:r>
            <a:endParaRPr lang="en-US" sz="1800" dirty="0"/>
          </a:p>
          <a:p>
            <a:pPr algn="l"/>
            <a:r>
              <a:rPr lang="en-US" sz="1800" b="1" dirty="0"/>
              <a:t>GO</a:t>
            </a:r>
            <a:r>
              <a:rPr lang="en-US" sz="1800" dirty="0"/>
              <a:t> </a:t>
            </a:r>
          </a:p>
          <a:p>
            <a:pPr algn="l"/>
            <a:r>
              <a:rPr lang="en-US" sz="1800" b="1" dirty="0"/>
              <a:t>EXEC</a:t>
            </a:r>
            <a:r>
              <a:rPr lang="en-US" sz="1800" dirty="0"/>
              <a:t> &lt;</a:t>
            </a:r>
            <a:r>
              <a:rPr lang="en-US" sz="1800" dirty="0" err="1"/>
              <a:t>Tên_thủ_tục</a:t>
            </a:r>
            <a:r>
              <a:rPr lang="en-US" sz="1800" dirty="0"/>
              <a:t>&gt; &lt;DS_ </a:t>
            </a:r>
            <a:r>
              <a:rPr lang="en-US" sz="1800" dirty="0" err="1"/>
              <a:t>tham_số</a:t>
            </a:r>
            <a:r>
              <a:rPr lang="en-US" sz="1800" dirty="0"/>
              <a:t>&gt;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65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2081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7</a:t>
            </a:r>
          </a:p>
        </p:txBody>
      </p:sp>
      <p:sp>
        <p:nvSpPr>
          <p:cNvPr id="656390" name="Rectangle 6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0"/>
            <a:ext cx="8229600" cy="4876800"/>
          </a:xfrm>
          <a:noFill/>
          <a:ln/>
        </p:spPr>
        <p:txBody>
          <a:bodyPr/>
          <a:lstStyle/>
          <a:p>
            <a:pPr algn="just"/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trận</a:t>
            </a:r>
            <a:r>
              <a:rPr lang="en-US" dirty="0"/>
              <a:t> </a:t>
            </a:r>
            <a:r>
              <a:rPr lang="en-US" dirty="0" err="1"/>
              <a:t>đấu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cuộc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đấu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đúng</a:t>
            </a:r>
            <a:r>
              <a:rPr lang="en-US" dirty="0"/>
              <a:t> 2 </a:t>
            </a:r>
            <a:r>
              <a:rPr lang="en-US" dirty="0" err="1"/>
              <a:t>đội</a:t>
            </a:r>
            <a:endParaRPr lang="en-US" dirty="0"/>
          </a:p>
        </p:txBody>
      </p:sp>
      <p:sp>
        <p:nvSpPr>
          <p:cNvPr id="656391" name="Text Box 7"/>
          <p:cNvSpPr txBox="1">
            <a:spLocks noChangeArrowheads="1"/>
          </p:cNvSpPr>
          <p:nvPr/>
        </p:nvSpPr>
        <p:spPr bwMode="auto">
          <a:xfrm>
            <a:off x="1143000" y="2133600"/>
            <a:ext cx="6248400" cy="40767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1800">
                <a:solidFill>
                  <a:srgbClr val="0000CC"/>
                </a:solidFill>
              </a:rPr>
              <a:t>CREATE PROCEDURE </a:t>
            </a:r>
            <a:r>
              <a:rPr lang="en-US" sz="1800"/>
              <a:t>Thêm_trận_đấu</a:t>
            </a:r>
            <a:br>
              <a:rPr lang="en-US" sz="1800"/>
            </a:br>
            <a:r>
              <a:rPr lang="en-US" sz="1800"/>
              <a:t>t THIDAU , s THIDAU</a:t>
            </a:r>
            <a:br>
              <a:rPr lang="en-US" sz="1800"/>
            </a:br>
            <a:r>
              <a:rPr lang="en-US" sz="1800">
                <a:solidFill>
                  <a:srgbClr val="0000CC"/>
                </a:solidFill>
              </a:rPr>
              <a:t>AS</a:t>
            </a:r>
            <a:br>
              <a:rPr lang="en-US" sz="1800">
                <a:solidFill>
                  <a:srgbClr val="0000CC"/>
                </a:solidFill>
              </a:rPr>
            </a:br>
            <a:r>
              <a:rPr lang="en-US" sz="1800"/>
              <a:t>	</a:t>
            </a:r>
            <a:r>
              <a:rPr lang="en-US" sz="1800">
                <a:solidFill>
                  <a:srgbClr val="0000CC"/>
                </a:solidFill>
              </a:rPr>
              <a:t>begin tran</a:t>
            </a:r>
            <a:br>
              <a:rPr lang="en-US" sz="1800">
                <a:solidFill>
                  <a:srgbClr val="0000CC"/>
                </a:solidFill>
              </a:rPr>
            </a:br>
            <a:r>
              <a:rPr lang="en-US" sz="1800">
                <a:solidFill>
                  <a:srgbClr val="0000CC"/>
                </a:solidFill>
              </a:rPr>
              <a:t>	</a:t>
            </a:r>
            <a:r>
              <a:rPr lang="en-US" sz="1800"/>
              <a:t>	Thêm t vào THIDAU</a:t>
            </a:r>
            <a:br>
              <a:rPr lang="en-US" sz="1800"/>
            </a:br>
            <a:r>
              <a:rPr lang="en-US" sz="1800"/>
              <a:t>		</a:t>
            </a:r>
            <a:r>
              <a:rPr lang="en-US" sz="1800">
                <a:solidFill>
                  <a:srgbClr val="0000CC"/>
                </a:solidFill>
              </a:rPr>
              <a:t>If</a:t>
            </a:r>
            <a:r>
              <a:rPr lang="en-US" sz="1800"/>
              <a:t> </a:t>
            </a:r>
            <a:r>
              <a:rPr lang="en-US" sz="1800">
                <a:solidFill>
                  <a:srgbClr val="FF3399"/>
                </a:solidFill>
              </a:rPr>
              <a:t>@@error</a:t>
            </a:r>
            <a:r>
              <a:rPr lang="en-US" sz="1800"/>
              <a:t>&lt;&gt;0 </a:t>
            </a:r>
            <a:r>
              <a:rPr lang="en-US" sz="1800">
                <a:solidFill>
                  <a:srgbClr val="0000CC"/>
                </a:solidFill>
              </a:rPr>
              <a:t>rollback tran</a:t>
            </a:r>
            <a:br>
              <a:rPr lang="en-US" sz="1800">
                <a:solidFill>
                  <a:srgbClr val="0000CC"/>
                </a:solidFill>
              </a:rPr>
            </a:br>
            <a:r>
              <a:rPr lang="en-US" sz="1800">
                <a:solidFill>
                  <a:srgbClr val="0000CC"/>
                </a:solidFill>
              </a:rPr>
              <a:t/>
            </a:r>
            <a:br>
              <a:rPr lang="en-US" sz="1800">
                <a:solidFill>
                  <a:srgbClr val="0000CC"/>
                </a:solidFill>
              </a:rPr>
            </a:br>
            <a:r>
              <a:rPr lang="en-US" sz="1800"/>
              <a:t>		Thêm s vào THIDAU</a:t>
            </a:r>
            <a:br>
              <a:rPr lang="en-US" sz="1800"/>
            </a:br>
            <a:r>
              <a:rPr lang="en-US" sz="1800"/>
              <a:t>		</a:t>
            </a:r>
            <a:r>
              <a:rPr lang="en-US" sz="1800">
                <a:solidFill>
                  <a:srgbClr val="0000CC"/>
                </a:solidFill>
              </a:rPr>
              <a:t>If</a:t>
            </a:r>
            <a:r>
              <a:rPr lang="en-US" sz="1800"/>
              <a:t> </a:t>
            </a:r>
            <a:r>
              <a:rPr lang="en-US" sz="1800">
                <a:solidFill>
                  <a:srgbClr val="FF3399"/>
                </a:solidFill>
              </a:rPr>
              <a:t>@@error</a:t>
            </a:r>
            <a:r>
              <a:rPr lang="en-US" sz="1800"/>
              <a:t>&lt;&gt;0 	</a:t>
            </a:r>
            <a:r>
              <a:rPr lang="en-US" sz="1800">
                <a:solidFill>
                  <a:srgbClr val="0000CC"/>
                </a:solidFill>
              </a:rPr>
              <a:t>rollback tran</a:t>
            </a:r>
            <a:br>
              <a:rPr lang="en-US" sz="1800">
                <a:solidFill>
                  <a:srgbClr val="0000CC"/>
                </a:solidFill>
              </a:rPr>
            </a:br>
            <a:r>
              <a:rPr lang="en-US" sz="1800"/>
              <a:t>	</a:t>
            </a:r>
            <a:r>
              <a:rPr lang="en-US" sz="1800">
                <a:solidFill>
                  <a:srgbClr val="0000CC"/>
                </a:solidFill>
              </a:rPr>
              <a:t>commit tran</a:t>
            </a:r>
            <a:endParaRPr lang="en-US" sz="1800">
              <a:solidFill>
                <a:srgbClr val="777777"/>
              </a:solidFill>
            </a:endParaRPr>
          </a:p>
          <a:p>
            <a:pPr algn="l"/>
            <a:r>
              <a:rPr lang="en-US" sz="1800">
                <a:solidFill>
                  <a:srgbClr val="0000CC"/>
                </a:solidFill>
              </a:rPr>
              <a:t>GO</a:t>
            </a:r>
          </a:p>
          <a:p>
            <a:pPr algn="l"/>
            <a:endParaRPr lang="en-US" sz="1800">
              <a:solidFill>
                <a:srgbClr val="0000CC"/>
              </a:solidFill>
            </a:endParaRPr>
          </a:p>
          <a:p>
            <a:pPr algn="l"/>
            <a:r>
              <a:rPr lang="en-US" sz="1800">
                <a:solidFill>
                  <a:srgbClr val="0000CC"/>
                </a:solidFill>
              </a:rPr>
              <a:t>EXEC</a:t>
            </a:r>
            <a:r>
              <a:rPr lang="en-US" sz="1800"/>
              <a:t> Thêm_trận_đấu  x, y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66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3610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5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6391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Nhận</a:t>
            </a:r>
            <a:r>
              <a:rPr lang="en-US" sz="3500" b="1" dirty="0"/>
              <a:t> </a:t>
            </a:r>
            <a:r>
              <a:rPr lang="en-US" sz="3500" b="1" dirty="0" err="1"/>
              <a:t>xét</a:t>
            </a:r>
            <a:endParaRPr lang="en-US" sz="3500" b="1" dirty="0"/>
          </a:p>
        </p:txBody>
      </p:sp>
      <p:sp>
        <p:nvSpPr>
          <p:cNvPr id="65843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pPr algn="just"/>
            <a:r>
              <a:rPr lang="en-US" dirty="0"/>
              <a:t>DBMS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RBTV</a:t>
            </a: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Sau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khi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một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thao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cập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nhật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diễn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trên</a:t>
            </a:r>
            <a:r>
              <a:rPr lang="en-US" dirty="0">
                <a:solidFill>
                  <a:schemeClr val="tx1"/>
                </a:solidFill>
              </a:rPr>
              <a:t> CSDL</a:t>
            </a:r>
          </a:p>
          <a:p>
            <a:pPr lvl="1" algn="just"/>
            <a:r>
              <a:rPr lang="en-US" dirty="0" err="1">
                <a:solidFill>
                  <a:schemeClr val="tx1"/>
                </a:solidFill>
              </a:rPr>
              <a:t>Cuối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mỗi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giao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tác</a:t>
            </a:r>
            <a:endParaRPr lang="en-US" dirty="0">
              <a:solidFill>
                <a:schemeClr val="tx1"/>
              </a:solidFill>
            </a:endParaRPr>
          </a:p>
          <a:p>
            <a:pPr lvl="1" algn="just"/>
            <a:endParaRPr lang="en-US" dirty="0">
              <a:solidFill>
                <a:schemeClr val="tx1"/>
              </a:solidFill>
            </a:endParaRPr>
          </a:p>
          <a:p>
            <a:pPr algn="just"/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RBTV ở </a:t>
            </a:r>
            <a:r>
              <a:rPr lang="en-US" dirty="0" err="1"/>
              <a:t>đâu</a:t>
            </a:r>
            <a:r>
              <a:rPr lang="en-US" dirty="0"/>
              <a:t> ???</a:t>
            </a:r>
          </a:p>
          <a:p>
            <a:pPr lvl="1" algn="just"/>
            <a:r>
              <a:rPr lang="en-US" dirty="0">
                <a:solidFill>
                  <a:schemeClr val="tx1"/>
                </a:solidFill>
              </a:rPr>
              <a:t>DBMS</a:t>
            </a:r>
          </a:p>
          <a:p>
            <a:pPr lvl="1" algn="just"/>
            <a:r>
              <a:rPr lang="en-US" dirty="0">
                <a:solidFill>
                  <a:schemeClr val="tx1"/>
                </a:solidFill>
              </a:rPr>
              <a:t>Application</a:t>
            </a:r>
          </a:p>
          <a:p>
            <a:pPr lvl="1" algn="just"/>
            <a:endParaRPr lang="en-US" dirty="0">
              <a:solidFill>
                <a:schemeClr val="tx1"/>
              </a:solidFill>
            </a:endParaRPr>
          </a:p>
          <a:p>
            <a:pPr lvl="1" algn="just"/>
            <a:r>
              <a:rPr lang="en-US" dirty="0">
                <a:solidFill>
                  <a:schemeClr val="tx1"/>
                </a:solidFill>
              </a:rPr>
              <a:t>Trigger </a:t>
            </a:r>
            <a:r>
              <a:rPr lang="en-US" dirty="0" err="1">
                <a:solidFill>
                  <a:schemeClr val="tx1"/>
                </a:solidFill>
              </a:rPr>
              <a:t>quá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nhiều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  <a:sym typeface="Symbol" pitchFamily="18" charset="2"/>
              </a:rPr>
              <a:t> </a:t>
            </a:r>
            <a:r>
              <a:rPr lang="en-US" dirty="0" err="1">
                <a:solidFill>
                  <a:schemeClr val="tx1"/>
                </a:solidFill>
                <a:sym typeface="Symbol" pitchFamily="18" charset="2"/>
              </a:rPr>
              <a:t>hệ</a:t>
            </a:r>
            <a:r>
              <a:rPr lang="en-US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dirty="0" err="1">
                <a:solidFill>
                  <a:schemeClr val="tx1"/>
                </a:solidFill>
                <a:sym typeface="Symbol" pitchFamily="18" charset="2"/>
              </a:rPr>
              <a:t>thống</a:t>
            </a:r>
            <a:r>
              <a:rPr lang="en-US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chậm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chạm</a:t>
            </a:r>
            <a:endParaRPr lang="en-US" dirty="0">
              <a:solidFill>
                <a:schemeClr val="tx1"/>
              </a:solidFill>
            </a:endParaRPr>
          </a:p>
          <a:p>
            <a:pPr lvl="1" algn="just"/>
            <a:r>
              <a:rPr lang="en-US" dirty="0">
                <a:solidFill>
                  <a:schemeClr val="tx1"/>
                </a:solidFill>
              </a:rPr>
              <a:t>Stored Procedure </a:t>
            </a:r>
            <a:r>
              <a:rPr lang="en-US" dirty="0">
                <a:solidFill>
                  <a:schemeClr val="tx1"/>
                </a:solidFill>
                <a:sym typeface="Symbol" pitchFamily="18" charset="2"/>
              </a:rPr>
              <a:t>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hiệu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quả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cao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67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7198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Civic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5901</TotalTime>
  <Words>4223</Words>
  <Application>Microsoft Macintosh PowerPoint</Application>
  <PresentationFormat>On-screen Show (4:3)</PresentationFormat>
  <Paragraphs>1191</Paragraphs>
  <Slides>67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6" baseType="lpstr">
      <vt:lpstr>Calibri</vt:lpstr>
      <vt:lpstr>Symbol</vt:lpstr>
      <vt:lpstr>Tahoma</vt:lpstr>
      <vt:lpstr>Times New Roman</vt:lpstr>
      <vt:lpstr>Verdana</vt:lpstr>
      <vt:lpstr>Wingdings</vt:lpstr>
      <vt:lpstr>Wingdings 2</vt:lpstr>
      <vt:lpstr>Arial</vt:lpstr>
      <vt:lpstr>Civic</vt:lpstr>
      <vt:lpstr>PowerPoint Presentation</vt:lpstr>
      <vt:lpstr>Nội dung chi tiết</vt:lpstr>
      <vt:lpstr>1. Khái niệm</vt:lpstr>
      <vt:lpstr>1. Khái niệm</vt:lpstr>
      <vt:lpstr>2. Các đặc trưng của RBTV</vt:lpstr>
      <vt:lpstr>a) Bối cảnh</vt:lpstr>
      <vt:lpstr>a) Bối cảnh</vt:lpstr>
      <vt:lpstr>b) Nội dung</vt:lpstr>
      <vt:lpstr>b) Nội dung</vt:lpstr>
      <vt:lpstr>b) Nội dung</vt:lpstr>
      <vt:lpstr>c) Bảng tầm ảnh hưởng</vt:lpstr>
      <vt:lpstr>Bảng tầm ảnh hưởng một RBTV</vt:lpstr>
      <vt:lpstr>Bảng tầm ảnh hưởng tổng hợp</vt:lpstr>
      <vt:lpstr>3. Phân loại</vt:lpstr>
      <vt:lpstr>3.1.1. RBTV - Miền giá trị</vt:lpstr>
      <vt:lpstr>Ví dụ 3 </vt:lpstr>
      <vt:lpstr>Ví dụ 4 </vt:lpstr>
      <vt:lpstr>3.1.2. RBTV - Liên bộ</vt:lpstr>
      <vt:lpstr>Ví dụ 5 </vt:lpstr>
      <vt:lpstr>Ví dụ 6 </vt:lpstr>
      <vt:lpstr>Ví dụ 7 </vt:lpstr>
      <vt:lpstr>3.1.3. RBTV - Liên thuộc tính</vt:lpstr>
      <vt:lpstr>Ví dụ 8 </vt:lpstr>
      <vt:lpstr>Ví dụ 9 </vt:lpstr>
      <vt:lpstr>3.2.1. RBTV - Tham chiếu</vt:lpstr>
      <vt:lpstr>Ví dụ 10 </vt:lpstr>
      <vt:lpstr>3.2.1. RBTV - Tham chiếu</vt:lpstr>
      <vt:lpstr>3.2.2. RBTV - Liên bộ, liên quan hệ</vt:lpstr>
      <vt:lpstr>Ví dụ 11 </vt:lpstr>
      <vt:lpstr>3.2.3. RBTV - Liên thuộc tính, liên quan hệ</vt:lpstr>
      <vt:lpstr>Ví dụ 12 </vt:lpstr>
      <vt:lpstr>3.2.4. RBTV - Thuộc tính tổng hợp</vt:lpstr>
      <vt:lpstr>Ví dụ 13 </vt:lpstr>
      <vt:lpstr>3.2.5. RBTV – Chu trình</vt:lpstr>
      <vt:lpstr>Ví dụ 14 </vt:lpstr>
      <vt:lpstr>Ví dụ 14</vt:lpstr>
      <vt:lpstr>4. Cài đặt</vt:lpstr>
      <vt:lpstr>4. Cài đặt</vt:lpstr>
      <vt:lpstr>Bài tập 1 : Xác định PK, FK, RBTV</vt:lpstr>
      <vt:lpstr>Sửa bài</vt:lpstr>
      <vt:lpstr>Sửa bài</vt:lpstr>
      <vt:lpstr>Sửa bài</vt:lpstr>
      <vt:lpstr>Sửa bài</vt:lpstr>
      <vt:lpstr>Sửa bài</vt:lpstr>
      <vt:lpstr>Bài tập 2 : Xác định PK, FK, RBTV</vt:lpstr>
      <vt:lpstr>a) Assertion</vt:lpstr>
      <vt:lpstr>Ví dụ 12</vt:lpstr>
      <vt:lpstr>Ví dụ 15</vt:lpstr>
      <vt:lpstr>Ví dụ 15</vt:lpstr>
      <vt:lpstr>Ví dụ 16</vt:lpstr>
      <vt:lpstr>Ví dụ 16</vt:lpstr>
      <vt:lpstr>Assertion hay Check Constraint ?</vt:lpstr>
      <vt:lpstr>b) Trigger</vt:lpstr>
      <vt:lpstr>b) Trigger</vt:lpstr>
      <vt:lpstr>Trigger – FOR</vt:lpstr>
      <vt:lpstr>Ví dụ 15</vt:lpstr>
      <vt:lpstr>Ví dụ 15</vt:lpstr>
      <vt:lpstr>Ví dụ 15</vt:lpstr>
      <vt:lpstr>c) Transaction</vt:lpstr>
      <vt:lpstr>c) Transaction</vt:lpstr>
      <vt:lpstr>Ví dụ 7</vt:lpstr>
      <vt:lpstr>Ví dụ 7</vt:lpstr>
      <vt:lpstr>Ví dụ 11</vt:lpstr>
      <vt:lpstr>Ví dụ 11</vt:lpstr>
      <vt:lpstr>d) Stored Procedure</vt:lpstr>
      <vt:lpstr>Ví dụ 7</vt:lpstr>
      <vt:lpstr>Nhận xét</vt:lpstr>
    </vt:vector>
  </TitlesOfParts>
  <Company>SRDC METU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Semantics of Web Services</dc:title>
  <dc:creator>phuonglien</dc:creator>
  <cp:lastModifiedBy>Microsoft Office User</cp:lastModifiedBy>
  <cp:revision>392</cp:revision>
  <cp:lastPrinted>2014-08-27T14:26:20Z</cp:lastPrinted>
  <dcterms:created xsi:type="dcterms:W3CDTF">2003-05-25T12:47:52Z</dcterms:created>
  <dcterms:modified xsi:type="dcterms:W3CDTF">2017-04-24T03:21:19Z</dcterms:modified>
</cp:coreProperties>
</file>